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44"/>
    <p:sldId id="285" r:id="rId45"/>
    <p:sldId id="286" r:id="rId46"/>
    <p:sldId id="287" r:id="rId47"/>
    <p:sldId id="288" r:id="rId48"/>
    <p:sldId id="289" r:id="rId49"/>
    <p:sldId id="290" r:id="rId50"/>
    <p:sldId id="291" r:id="rId51"/>
    <p:sldId id="292" r:id="rId52"/>
    <p:sldId id="293" r:id="rId53"/>
    <p:sldId id="294" r:id="rId54"/>
    <p:sldId id="295" r:id="rId55"/>
    <p:sldId id="296" r:id="rId56"/>
    <p:sldId id="297" r:id="rId57"/>
    <p:sldId id="298" r:id="rId58"/>
    <p:sldId id="299" r:id="rId59"/>
    <p:sldId id="300" r:id="rId60"/>
    <p:sldId id="301" r:id="rId61"/>
    <p:sldId id="302" r:id="rId62"/>
    <p:sldId id="303" r:id="rId63"/>
    <p:sldId id="304" r:id="rId64"/>
    <p:sldId id="305" r:id="rId65"/>
    <p:sldId id="306" r:id="rId66"/>
    <p:sldId id="307" r:id="rId67"/>
    <p:sldId id="308" r:id="rId68"/>
    <p:sldId id="309" r:id="rId69"/>
    <p:sldId id="310" r:id="rId70"/>
    <p:sldId id="311" r:id="rId71"/>
    <p:sldId id="312" r:id="rId72"/>
    <p:sldId id="313" r:id="rId73"/>
    <p:sldId id="314" r:id="rId74"/>
    <p:sldId id="315" r:id="rId75"/>
    <p:sldId id="316" r:id="rId76"/>
    <p:sldId id="317" r:id="rId77"/>
    <p:sldId id="318" r:id="rId78"/>
    <p:sldId id="319" r:id="rId79"/>
    <p:sldId id="320" r:id="rId80"/>
    <p:sldId id="321" r:id="rId81"/>
    <p:sldId id="322" r:id="rId82"/>
    <p:sldId id="323" r:id="rId83"/>
  </p:sldIdLst>
  <p:sldSz cy="5143500" cx="9144000"/>
  <p:notesSz cx="6858000" cy="9144000"/>
  <p:embeddedFontLst>
    <p:embeddedFont>
      <p:font typeface="Alef"/>
      <p:regular r:id="rId34"/>
      <p:bold r:id="rId35"/>
    </p:embeddedFont>
    <p:embeddedFont>
      <p:font typeface="Source Code Pro"/>
      <p:regular r:id="rId36"/>
      <p:bold r:id="rId37"/>
      <p:italic r:id="rId38"/>
      <p:boldItalic r:id="rId39"/>
    </p:embeddedFont>
    <p:embeddedFont>
      <p:font typeface="Open Sans ExtraBold"/>
      <p:bold r:id="rId40"/>
      <p:boldItalic r:id="rId41"/>
    </p:embeddedFont>
    <p:embeddedFont>
      <p:font typeface="Oswald"/>
      <p:regular r:id="rId42"/>
      <p:bold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font" Target="fonts/Alef-regular.fntdata"/><Relationship Id="rId35" Type="http://schemas.openxmlformats.org/officeDocument/2006/relationships/font" Target="fonts/Alef-bold.fntdata"/><Relationship Id="rId36" Type="http://schemas.openxmlformats.org/officeDocument/2006/relationships/font" Target="fonts/SourceCodePro-regular.fntdata"/><Relationship Id="rId37" Type="http://schemas.openxmlformats.org/officeDocument/2006/relationships/font" Target="fonts/SourceCodePro-bold.fntdata"/><Relationship Id="rId38" Type="http://schemas.openxmlformats.org/officeDocument/2006/relationships/font" Target="fonts/SourceCodePro-italic.fntdata"/><Relationship Id="rId39" Type="http://schemas.openxmlformats.org/officeDocument/2006/relationships/font" Target="fonts/SourceCodePro-boldItalic.fntdata"/><Relationship Id="rId40" Type="http://schemas.openxmlformats.org/officeDocument/2006/relationships/font" Target="fonts/OpenSansExtraBold-bold.fntdata"/><Relationship Id="rId41" Type="http://schemas.openxmlformats.org/officeDocument/2006/relationships/font" Target="fonts/OpenSansExtraBold-boldItalic.fntdata"/><Relationship Id="rId42" Type="http://schemas.openxmlformats.org/officeDocument/2006/relationships/font" Target="fonts/Oswald-regular.fntdata"/><Relationship Id="rId43" Type="http://schemas.openxmlformats.org/officeDocument/2006/relationships/font" Target="fonts/Oswald-bold.fntdata"/><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slide" Target="slides/slide31.xml"/><Relationship Id="rId47" Type="http://schemas.openxmlformats.org/officeDocument/2006/relationships/slide" Target="slides/slide32.xml"/><Relationship Id="rId48" Type="http://schemas.openxmlformats.org/officeDocument/2006/relationships/slide" Target="slides/slide33.xml"/><Relationship Id="rId49" Type="http://schemas.openxmlformats.org/officeDocument/2006/relationships/slide" Target="slides/slide34.xml"/><Relationship Id="rId50" Type="http://schemas.openxmlformats.org/officeDocument/2006/relationships/slide" Target="slides/slide35.xml"/><Relationship Id="rId51" Type="http://schemas.openxmlformats.org/officeDocument/2006/relationships/slide" Target="slides/slide36.xml"/><Relationship Id="rId52" Type="http://schemas.openxmlformats.org/officeDocument/2006/relationships/slide" Target="slides/slide37.xml"/><Relationship Id="rId53" Type="http://schemas.openxmlformats.org/officeDocument/2006/relationships/slide" Target="slides/slide38.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 Id="rId80" Type="http://schemas.openxmlformats.org/officeDocument/2006/relationships/slide" Target="slides/slide65.xml"/><Relationship Id="rId81" Type="http://schemas.openxmlformats.org/officeDocument/2006/relationships/slide" Target="slides/slide66.xml"/><Relationship Id="rId82" Type="http://schemas.openxmlformats.org/officeDocument/2006/relationships/slide" Target="slides/slide67.xml"/><Relationship Id="rId83" Type="http://schemas.openxmlformats.org/officeDocument/2006/relationships/slide" Target="slides/slide6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a864257c7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a864257c70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a9e67c81e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a9e67c81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e60e980508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e60e98050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a9e5842528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a9e584252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e60e980508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e60e980508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e60e980508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e60e980508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aa5aa5dd7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aa5aa5dd7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ab12fc6ba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ab12fc6ba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aa5aa5dd7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aa5aa5dd7e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aa5aa5dd7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aa5aa5dd7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aa5aa5dd7e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aa5aa5dd7e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aa5aa5dd7e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aa5aa5dd7e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aa5aa5dd7e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aa5aa5dd7e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aa5aa5dd7e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aa5aa5dd7e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aa5aa5dd7e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aa5aa5dd7e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aa5aa5dd7e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aa5aa5dd7e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aa5aa5dd7e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aa5aa5dd7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aa5aa5dd7e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aa5aa5dd7e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lnSpc>
                <a:spcPct val="115000"/>
              </a:lnSpc>
              <a:spcBef>
                <a:spcPts val="0"/>
              </a:spcBef>
              <a:spcAft>
                <a:spcPts val="1500"/>
              </a:spcAft>
              <a:buClr>
                <a:schemeClr val="dk1"/>
              </a:buClr>
              <a:buSzPts val="1100"/>
              <a:buFont typeface="Arial"/>
              <a:buNone/>
            </a:pPr>
            <a:r>
              <a:rPr lang="iw" sz="1400">
                <a:solidFill>
                  <a:srgbClr val="2C3687"/>
                </a:solidFill>
                <a:latin typeface="Alef"/>
                <a:ea typeface="Alef"/>
                <a:cs typeface="Alef"/>
                <a:sym typeface="Alef"/>
              </a:rPr>
              <a:t>(חשוב לוודא עם התלמידים שיש להם שם משתמש</a:t>
            </a:r>
            <a:br>
              <a:rPr lang="iw" sz="1400">
                <a:solidFill>
                  <a:srgbClr val="2C3687"/>
                </a:solidFill>
                <a:latin typeface="Alef"/>
                <a:ea typeface="Alef"/>
                <a:cs typeface="Alef"/>
                <a:sym typeface="Alef"/>
              </a:rPr>
            </a:br>
            <a:r>
              <a:rPr lang="iw" sz="1400">
                <a:solidFill>
                  <a:srgbClr val="2C3687"/>
                </a:solidFill>
                <a:latin typeface="Alef"/>
                <a:ea typeface="Alef"/>
                <a:cs typeface="Alef"/>
                <a:sym typeface="Alef"/>
              </a:rPr>
              <a:t> וסיסמה לגוגל לפני תחילת השיעור).</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aa5aa5dd7e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aa5aa5dd7e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aa5aa5dd7e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aa5aa5dd7e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aa5aa5dd7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aa5aa5dd7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aa5aa5dd7e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2aa5aa5dd7e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aa5aa5dd7e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2aa5aa5dd7e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aa5aa5dd7e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2aa5aa5dd7e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aa5aa5dd7e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2aa5aa5dd7e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aa5aa5dd7e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aa5aa5dd7e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e60e98050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e60e98050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rtl="0" algn="ctr">
              <a:spcBef>
                <a:spcPts val="0"/>
              </a:spcBef>
              <a:spcAft>
                <a:spcPts val="0"/>
              </a:spcAft>
              <a:buClr>
                <a:schemeClr val="lt1"/>
              </a:buClr>
              <a:buSzPts val="6000"/>
              <a:buNone/>
              <a:defRPr sz="60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SzPts val="3600"/>
              <a:buFont typeface="Oswald"/>
              <a:buNone/>
              <a:defRPr sz="3600">
                <a:latin typeface="Oswald"/>
                <a:ea typeface="Oswald"/>
                <a:cs typeface="Oswald"/>
                <a:sym typeface="Oswald"/>
              </a:defRPr>
            </a:lvl1pPr>
            <a:lvl2pPr lvl="1" rtl="0" algn="ctr">
              <a:lnSpc>
                <a:spcPct val="100000"/>
              </a:lnSpc>
              <a:spcBef>
                <a:spcPts val="0"/>
              </a:spcBef>
              <a:spcAft>
                <a:spcPts val="0"/>
              </a:spcAft>
              <a:buSzPts val="3600"/>
              <a:buFont typeface="Oswald"/>
              <a:buNone/>
              <a:defRPr sz="3600">
                <a:latin typeface="Oswald"/>
                <a:ea typeface="Oswald"/>
                <a:cs typeface="Oswald"/>
                <a:sym typeface="Oswald"/>
              </a:defRPr>
            </a:lvl2pPr>
            <a:lvl3pPr lvl="2" rtl="0" algn="ctr">
              <a:lnSpc>
                <a:spcPct val="100000"/>
              </a:lnSpc>
              <a:spcBef>
                <a:spcPts val="0"/>
              </a:spcBef>
              <a:spcAft>
                <a:spcPts val="0"/>
              </a:spcAft>
              <a:buSzPts val="3600"/>
              <a:buFont typeface="Oswald"/>
              <a:buNone/>
              <a:defRPr sz="3600">
                <a:latin typeface="Oswald"/>
                <a:ea typeface="Oswald"/>
                <a:cs typeface="Oswald"/>
                <a:sym typeface="Oswald"/>
              </a:defRPr>
            </a:lvl3pPr>
            <a:lvl4pPr lvl="3" rtl="0" algn="ctr">
              <a:lnSpc>
                <a:spcPct val="100000"/>
              </a:lnSpc>
              <a:spcBef>
                <a:spcPts val="0"/>
              </a:spcBef>
              <a:spcAft>
                <a:spcPts val="0"/>
              </a:spcAft>
              <a:buSzPts val="3600"/>
              <a:buFont typeface="Oswald"/>
              <a:buNone/>
              <a:defRPr sz="3600">
                <a:latin typeface="Oswald"/>
                <a:ea typeface="Oswald"/>
                <a:cs typeface="Oswald"/>
                <a:sym typeface="Oswald"/>
              </a:defRPr>
            </a:lvl4pPr>
            <a:lvl5pPr lvl="4" rtl="0" algn="ctr">
              <a:lnSpc>
                <a:spcPct val="100000"/>
              </a:lnSpc>
              <a:spcBef>
                <a:spcPts val="0"/>
              </a:spcBef>
              <a:spcAft>
                <a:spcPts val="0"/>
              </a:spcAft>
              <a:buSzPts val="3600"/>
              <a:buFont typeface="Oswald"/>
              <a:buNone/>
              <a:defRPr sz="3600">
                <a:latin typeface="Oswald"/>
                <a:ea typeface="Oswald"/>
                <a:cs typeface="Oswald"/>
                <a:sym typeface="Oswald"/>
              </a:defRPr>
            </a:lvl5pPr>
            <a:lvl6pPr lvl="5" rtl="0" algn="ctr">
              <a:lnSpc>
                <a:spcPct val="100000"/>
              </a:lnSpc>
              <a:spcBef>
                <a:spcPts val="0"/>
              </a:spcBef>
              <a:spcAft>
                <a:spcPts val="0"/>
              </a:spcAft>
              <a:buSzPts val="3600"/>
              <a:buFont typeface="Oswald"/>
              <a:buNone/>
              <a:defRPr sz="3600">
                <a:latin typeface="Oswald"/>
                <a:ea typeface="Oswald"/>
                <a:cs typeface="Oswald"/>
                <a:sym typeface="Oswald"/>
              </a:defRPr>
            </a:lvl6pPr>
            <a:lvl7pPr lvl="6" rtl="0" algn="ctr">
              <a:lnSpc>
                <a:spcPct val="100000"/>
              </a:lnSpc>
              <a:spcBef>
                <a:spcPts val="0"/>
              </a:spcBef>
              <a:spcAft>
                <a:spcPts val="0"/>
              </a:spcAft>
              <a:buSzPts val="3600"/>
              <a:buFont typeface="Oswald"/>
              <a:buNone/>
              <a:defRPr sz="3600">
                <a:latin typeface="Oswald"/>
                <a:ea typeface="Oswald"/>
                <a:cs typeface="Oswald"/>
                <a:sym typeface="Oswald"/>
              </a:defRPr>
            </a:lvl7pPr>
            <a:lvl8pPr lvl="7" rtl="0" algn="ctr">
              <a:lnSpc>
                <a:spcPct val="100000"/>
              </a:lnSpc>
              <a:spcBef>
                <a:spcPts val="0"/>
              </a:spcBef>
              <a:spcAft>
                <a:spcPts val="0"/>
              </a:spcAft>
              <a:buSzPts val="3600"/>
              <a:buFont typeface="Oswald"/>
              <a:buNone/>
              <a:defRPr sz="3600">
                <a:latin typeface="Oswald"/>
                <a:ea typeface="Oswald"/>
                <a:cs typeface="Oswald"/>
                <a:sym typeface="Oswald"/>
              </a:defRPr>
            </a:lvl8pPr>
            <a:lvl9pPr lvl="8" rtl="0"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600"/>
              <a:buNone/>
              <a:defRPr sz="3600">
                <a:solidFill>
                  <a:schemeClr val="lt1"/>
                </a:solidFill>
              </a:defRPr>
            </a:lvl1pPr>
            <a:lvl2pPr lvl="1" rtl="0" algn="ctr">
              <a:spcBef>
                <a:spcPts val="0"/>
              </a:spcBef>
              <a:spcAft>
                <a:spcPts val="0"/>
              </a:spcAft>
              <a:buClr>
                <a:schemeClr val="lt1"/>
              </a:buClr>
              <a:buSzPts val="3600"/>
              <a:buNone/>
              <a:defRPr sz="3600">
                <a:solidFill>
                  <a:schemeClr val="lt1"/>
                </a:solidFill>
              </a:defRPr>
            </a:lvl2pPr>
            <a:lvl3pPr lvl="2" rtl="0" algn="ctr">
              <a:spcBef>
                <a:spcPts val="0"/>
              </a:spcBef>
              <a:spcAft>
                <a:spcPts val="0"/>
              </a:spcAft>
              <a:buClr>
                <a:schemeClr val="lt1"/>
              </a:buClr>
              <a:buSzPts val="3600"/>
              <a:buNone/>
              <a:defRPr sz="3600">
                <a:solidFill>
                  <a:schemeClr val="lt1"/>
                </a:solidFill>
              </a:defRPr>
            </a:lvl3pPr>
            <a:lvl4pPr lvl="3" rtl="0" algn="ctr">
              <a:spcBef>
                <a:spcPts val="0"/>
              </a:spcBef>
              <a:spcAft>
                <a:spcPts val="0"/>
              </a:spcAft>
              <a:buClr>
                <a:schemeClr val="lt1"/>
              </a:buClr>
              <a:buSzPts val="3600"/>
              <a:buNone/>
              <a:defRPr sz="3600">
                <a:solidFill>
                  <a:schemeClr val="lt1"/>
                </a:solidFill>
              </a:defRPr>
            </a:lvl4pPr>
            <a:lvl5pPr lvl="4" rtl="0" algn="ctr">
              <a:spcBef>
                <a:spcPts val="0"/>
              </a:spcBef>
              <a:spcAft>
                <a:spcPts val="0"/>
              </a:spcAft>
              <a:buClr>
                <a:schemeClr val="lt1"/>
              </a:buClr>
              <a:buSzPts val="3600"/>
              <a:buNone/>
              <a:defRPr sz="3600">
                <a:solidFill>
                  <a:schemeClr val="lt1"/>
                </a:solidFill>
              </a:defRPr>
            </a:lvl5pPr>
            <a:lvl6pPr lvl="5" rtl="0" algn="ctr">
              <a:spcBef>
                <a:spcPts val="0"/>
              </a:spcBef>
              <a:spcAft>
                <a:spcPts val="0"/>
              </a:spcAft>
              <a:buClr>
                <a:schemeClr val="lt1"/>
              </a:buClr>
              <a:buSzPts val="3600"/>
              <a:buNone/>
              <a:defRPr sz="3600">
                <a:solidFill>
                  <a:schemeClr val="lt1"/>
                </a:solidFill>
              </a:defRPr>
            </a:lvl6pPr>
            <a:lvl7pPr lvl="6" rtl="0" algn="ctr">
              <a:spcBef>
                <a:spcPts val="0"/>
              </a:spcBef>
              <a:spcAft>
                <a:spcPts val="0"/>
              </a:spcAft>
              <a:buClr>
                <a:schemeClr val="lt1"/>
              </a:buClr>
              <a:buSzPts val="3600"/>
              <a:buNone/>
              <a:defRPr sz="3600">
                <a:solidFill>
                  <a:schemeClr val="lt1"/>
                </a:solidFill>
              </a:defRPr>
            </a:lvl7pPr>
            <a:lvl8pPr lvl="7" rtl="0" algn="ctr">
              <a:spcBef>
                <a:spcPts val="0"/>
              </a:spcBef>
              <a:spcAft>
                <a:spcPts val="0"/>
              </a:spcAft>
              <a:buClr>
                <a:schemeClr val="lt1"/>
              </a:buClr>
              <a:buSzPts val="3600"/>
              <a:buNone/>
              <a:defRPr sz="3600">
                <a:solidFill>
                  <a:schemeClr val="lt1"/>
                </a:solidFill>
              </a:defRPr>
            </a:lvl8pPr>
            <a:lvl9pPr lvl="8" rtl="0" algn="ctr">
              <a:spcBef>
                <a:spcPts val="0"/>
              </a:spcBef>
              <a:spcAft>
                <a:spcPts val="0"/>
              </a:spcAft>
              <a:buClr>
                <a:schemeClr val="lt1"/>
              </a:buClr>
              <a:buSzPts val="3600"/>
              <a:buNone/>
              <a:defRPr sz="3600">
                <a:solidFill>
                  <a:schemeClr val="l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cxnSp>
        <p:nvCxnSpPr>
          <p:cNvPr id="20" name="Google Shape;20;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1" name="Google Shape;21;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2" name="Google Shape;22;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cxnSp>
        <p:nvCxnSpPr>
          <p:cNvPr id="25" name="Google Shape;25;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6" name="Google Shape;26;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7" name="Google Shape;27;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 name="Google Shape;28;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cxnSp>
        <p:nvCxnSpPr>
          <p:cNvPr id="34" name="Google Shape;34;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35" name="Google Shape;35;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6" name="Google Shape;36;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7" name="Google Shape;37;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8" name="Shape 38"/>
        <p:cNvGrpSpPr/>
        <p:nvPr/>
      </p:nvGrpSpPr>
      <p:grpSpPr>
        <a:xfrm>
          <a:off x="0" y="0"/>
          <a:ext cx="0" cy="0"/>
          <a:chOff x="0" y="0"/>
          <a:chExt cx="0" cy="0"/>
        </a:xfrm>
      </p:grpSpPr>
      <p:sp>
        <p:nvSpPr>
          <p:cNvPr id="39" name="Google Shape;39;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lt1"/>
              </a:buClr>
              <a:buSzPts val="5400"/>
              <a:buNone/>
              <a:defRPr sz="5400">
                <a:solidFill>
                  <a:schemeClr val="lt1"/>
                </a:solidFill>
              </a:defRPr>
            </a:lvl1pPr>
            <a:lvl2pPr lvl="1" rtl="0">
              <a:spcBef>
                <a:spcPts val="0"/>
              </a:spcBef>
              <a:spcAft>
                <a:spcPts val="0"/>
              </a:spcAft>
              <a:buClr>
                <a:schemeClr val="lt1"/>
              </a:buClr>
              <a:buSzPts val="5400"/>
              <a:buNone/>
              <a:defRPr sz="5400">
                <a:solidFill>
                  <a:schemeClr val="lt1"/>
                </a:solidFill>
              </a:defRPr>
            </a:lvl2pPr>
            <a:lvl3pPr lvl="2" rtl="0">
              <a:spcBef>
                <a:spcPts val="0"/>
              </a:spcBef>
              <a:spcAft>
                <a:spcPts val="0"/>
              </a:spcAft>
              <a:buClr>
                <a:schemeClr val="lt1"/>
              </a:buClr>
              <a:buSzPts val="5400"/>
              <a:buNone/>
              <a:defRPr sz="5400">
                <a:solidFill>
                  <a:schemeClr val="lt1"/>
                </a:solidFill>
              </a:defRPr>
            </a:lvl3pPr>
            <a:lvl4pPr lvl="3" rtl="0">
              <a:spcBef>
                <a:spcPts val="0"/>
              </a:spcBef>
              <a:spcAft>
                <a:spcPts val="0"/>
              </a:spcAft>
              <a:buClr>
                <a:schemeClr val="lt1"/>
              </a:buClr>
              <a:buSzPts val="5400"/>
              <a:buNone/>
              <a:defRPr sz="5400">
                <a:solidFill>
                  <a:schemeClr val="lt1"/>
                </a:solidFill>
              </a:defRPr>
            </a:lvl4pPr>
            <a:lvl5pPr lvl="4" rtl="0">
              <a:spcBef>
                <a:spcPts val="0"/>
              </a:spcBef>
              <a:spcAft>
                <a:spcPts val="0"/>
              </a:spcAft>
              <a:buClr>
                <a:schemeClr val="lt1"/>
              </a:buClr>
              <a:buSzPts val="5400"/>
              <a:buNone/>
              <a:defRPr sz="5400">
                <a:solidFill>
                  <a:schemeClr val="lt1"/>
                </a:solidFill>
              </a:defRPr>
            </a:lvl5pPr>
            <a:lvl6pPr lvl="5" rtl="0">
              <a:spcBef>
                <a:spcPts val="0"/>
              </a:spcBef>
              <a:spcAft>
                <a:spcPts val="0"/>
              </a:spcAft>
              <a:buClr>
                <a:schemeClr val="lt1"/>
              </a:buClr>
              <a:buSzPts val="5400"/>
              <a:buNone/>
              <a:defRPr sz="5400">
                <a:solidFill>
                  <a:schemeClr val="lt1"/>
                </a:solidFill>
              </a:defRPr>
            </a:lvl6pPr>
            <a:lvl7pPr lvl="6" rtl="0">
              <a:spcBef>
                <a:spcPts val="0"/>
              </a:spcBef>
              <a:spcAft>
                <a:spcPts val="0"/>
              </a:spcAft>
              <a:buClr>
                <a:schemeClr val="lt1"/>
              </a:buClr>
              <a:buSzPts val="5400"/>
              <a:buNone/>
              <a:defRPr sz="5400">
                <a:solidFill>
                  <a:schemeClr val="lt1"/>
                </a:solidFill>
              </a:defRPr>
            </a:lvl7pPr>
            <a:lvl8pPr lvl="7" rtl="0">
              <a:spcBef>
                <a:spcPts val="0"/>
              </a:spcBef>
              <a:spcAft>
                <a:spcPts val="0"/>
              </a:spcAft>
              <a:buClr>
                <a:schemeClr val="lt1"/>
              </a:buClr>
              <a:buSzPts val="5400"/>
              <a:buNone/>
              <a:defRPr sz="5400">
                <a:solidFill>
                  <a:schemeClr val="lt1"/>
                </a:solidFill>
              </a:defRPr>
            </a:lvl8pPr>
            <a:lvl9pPr lvl="8" rtl="0">
              <a:spcBef>
                <a:spcPts val="0"/>
              </a:spcBef>
              <a:spcAft>
                <a:spcPts val="0"/>
              </a:spcAft>
              <a:buClr>
                <a:schemeClr val="lt1"/>
              </a:buClr>
              <a:buSzPts val="5400"/>
              <a:buNone/>
              <a:defRPr sz="5400">
                <a:solidFill>
                  <a:schemeClr val="lt1"/>
                </a:solidFill>
              </a:defRPr>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1" name="Shape 41"/>
        <p:cNvGrpSpPr/>
        <p:nvPr/>
      </p:nvGrpSpPr>
      <p:grpSpPr>
        <a:xfrm>
          <a:off x="0" y="0"/>
          <a:ext cx="0" cy="0"/>
          <a:chOff x="0" y="0"/>
          <a:chExt cx="0" cy="0"/>
        </a:xfrm>
      </p:grpSpPr>
      <p:sp>
        <p:nvSpPr>
          <p:cNvPr id="42" name="Google Shape;42;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44" name="Google Shape;44;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rtl="0" algn="ctr">
              <a:spcBef>
                <a:spcPts val="0"/>
              </a:spcBef>
              <a:spcAft>
                <a:spcPts val="0"/>
              </a:spcAft>
              <a:buClr>
                <a:schemeClr val="lt1"/>
              </a:buClr>
              <a:buSzPts val="4600"/>
              <a:buNone/>
              <a:defRPr sz="4600">
                <a:solidFill>
                  <a:schemeClr val="lt1"/>
                </a:solidFill>
              </a:defRPr>
            </a:lvl1pPr>
            <a:lvl2pPr lvl="1" rtl="0" algn="ctr">
              <a:spcBef>
                <a:spcPts val="0"/>
              </a:spcBef>
              <a:spcAft>
                <a:spcPts val="0"/>
              </a:spcAft>
              <a:buClr>
                <a:schemeClr val="lt1"/>
              </a:buClr>
              <a:buSzPts val="4600"/>
              <a:buNone/>
              <a:defRPr sz="4600">
                <a:solidFill>
                  <a:schemeClr val="lt1"/>
                </a:solidFill>
              </a:defRPr>
            </a:lvl2pPr>
            <a:lvl3pPr lvl="2" rtl="0" algn="ctr">
              <a:spcBef>
                <a:spcPts val="0"/>
              </a:spcBef>
              <a:spcAft>
                <a:spcPts val="0"/>
              </a:spcAft>
              <a:buClr>
                <a:schemeClr val="lt1"/>
              </a:buClr>
              <a:buSzPts val="4600"/>
              <a:buNone/>
              <a:defRPr sz="4600">
                <a:solidFill>
                  <a:schemeClr val="lt1"/>
                </a:solidFill>
              </a:defRPr>
            </a:lvl3pPr>
            <a:lvl4pPr lvl="3" rtl="0" algn="ctr">
              <a:spcBef>
                <a:spcPts val="0"/>
              </a:spcBef>
              <a:spcAft>
                <a:spcPts val="0"/>
              </a:spcAft>
              <a:buClr>
                <a:schemeClr val="lt1"/>
              </a:buClr>
              <a:buSzPts val="4600"/>
              <a:buNone/>
              <a:defRPr sz="4600">
                <a:solidFill>
                  <a:schemeClr val="lt1"/>
                </a:solidFill>
              </a:defRPr>
            </a:lvl4pPr>
            <a:lvl5pPr lvl="4" rtl="0" algn="ctr">
              <a:spcBef>
                <a:spcPts val="0"/>
              </a:spcBef>
              <a:spcAft>
                <a:spcPts val="0"/>
              </a:spcAft>
              <a:buClr>
                <a:schemeClr val="lt1"/>
              </a:buClr>
              <a:buSzPts val="4600"/>
              <a:buNone/>
              <a:defRPr sz="4600">
                <a:solidFill>
                  <a:schemeClr val="lt1"/>
                </a:solidFill>
              </a:defRPr>
            </a:lvl5pPr>
            <a:lvl6pPr lvl="5" rtl="0" algn="ctr">
              <a:spcBef>
                <a:spcPts val="0"/>
              </a:spcBef>
              <a:spcAft>
                <a:spcPts val="0"/>
              </a:spcAft>
              <a:buClr>
                <a:schemeClr val="lt1"/>
              </a:buClr>
              <a:buSzPts val="4600"/>
              <a:buNone/>
              <a:defRPr sz="4600">
                <a:solidFill>
                  <a:schemeClr val="lt1"/>
                </a:solidFill>
              </a:defRPr>
            </a:lvl6pPr>
            <a:lvl7pPr lvl="6" rtl="0" algn="ctr">
              <a:spcBef>
                <a:spcPts val="0"/>
              </a:spcBef>
              <a:spcAft>
                <a:spcPts val="0"/>
              </a:spcAft>
              <a:buClr>
                <a:schemeClr val="lt1"/>
              </a:buClr>
              <a:buSzPts val="4600"/>
              <a:buNone/>
              <a:defRPr sz="4600">
                <a:solidFill>
                  <a:schemeClr val="lt1"/>
                </a:solidFill>
              </a:defRPr>
            </a:lvl7pPr>
            <a:lvl8pPr lvl="7" rtl="0" algn="ctr">
              <a:spcBef>
                <a:spcPts val="0"/>
              </a:spcBef>
              <a:spcAft>
                <a:spcPts val="0"/>
              </a:spcAft>
              <a:buClr>
                <a:schemeClr val="lt1"/>
              </a:buClr>
              <a:buSzPts val="4600"/>
              <a:buNone/>
              <a:defRPr sz="4600">
                <a:solidFill>
                  <a:schemeClr val="lt1"/>
                </a:solidFill>
              </a:defRPr>
            </a:lvl8pPr>
            <a:lvl9pPr lvl="8" rtl="0" algn="ctr">
              <a:spcBef>
                <a:spcPts val="0"/>
              </a:spcBef>
              <a:spcAft>
                <a:spcPts val="0"/>
              </a:spcAft>
              <a:buClr>
                <a:schemeClr val="lt1"/>
              </a:buClr>
              <a:buSzPts val="4600"/>
              <a:buNone/>
              <a:defRPr sz="4600">
                <a:solidFill>
                  <a:schemeClr val="lt1"/>
                </a:solidFill>
              </a:defRPr>
            </a:lvl9pPr>
          </a:lstStyle>
          <a:p/>
        </p:txBody>
      </p:sp>
      <p:sp>
        <p:nvSpPr>
          <p:cNvPr id="45" name="Google Shape;45;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chemeClr val="lt1"/>
              </a:buClr>
              <a:buSzPts val="1900"/>
              <a:buNone/>
              <a:defRPr sz="1900">
                <a:solidFill>
                  <a:schemeClr val="lt1"/>
                </a:solidFill>
              </a:defRPr>
            </a:lvl1pPr>
            <a:lvl2pPr lvl="1" rtl="0" algn="ctr">
              <a:lnSpc>
                <a:spcPct val="100000"/>
              </a:lnSpc>
              <a:spcBef>
                <a:spcPts val="0"/>
              </a:spcBef>
              <a:spcAft>
                <a:spcPts val="0"/>
              </a:spcAft>
              <a:buClr>
                <a:schemeClr val="lt1"/>
              </a:buClr>
              <a:buSzPts val="1900"/>
              <a:buNone/>
              <a:defRPr sz="1900">
                <a:solidFill>
                  <a:schemeClr val="lt1"/>
                </a:solidFill>
              </a:defRPr>
            </a:lvl2pPr>
            <a:lvl3pPr lvl="2" rtl="0" algn="ctr">
              <a:lnSpc>
                <a:spcPct val="100000"/>
              </a:lnSpc>
              <a:spcBef>
                <a:spcPts val="0"/>
              </a:spcBef>
              <a:spcAft>
                <a:spcPts val="0"/>
              </a:spcAft>
              <a:buClr>
                <a:schemeClr val="lt1"/>
              </a:buClr>
              <a:buSzPts val="1900"/>
              <a:buNone/>
              <a:defRPr sz="1900">
                <a:solidFill>
                  <a:schemeClr val="lt1"/>
                </a:solidFill>
              </a:defRPr>
            </a:lvl3pPr>
            <a:lvl4pPr lvl="3" rtl="0" algn="ctr">
              <a:lnSpc>
                <a:spcPct val="100000"/>
              </a:lnSpc>
              <a:spcBef>
                <a:spcPts val="0"/>
              </a:spcBef>
              <a:spcAft>
                <a:spcPts val="0"/>
              </a:spcAft>
              <a:buClr>
                <a:schemeClr val="lt1"/>
              </a:buClr>
              <a:buSzPts val="1900"/>
              <a:buNone/>
              <a:defRPr sz="1900">
                <a:solidFill>
                  <a:schemeClr val="lt1"/>
                </a:solidFill>
              </a:defRPr>
            </a:lvl4pPr>
            <a:lvl5pPr lvl="4" rtl="0" algn="ctr">
              <a:lnSpc>
                <a:spcPct val="100000"/>
              </a:lnSpc>
              <a:spcBef>
                <a:spcPts val="0"/>
              </a:spcBef>
              <a:spcAft>
                <a:spcPts val="0"/>
              </a:spcAft>
              <a:buClr>
                <a:schemeClr val="lt1"/>
              </a:buClr>
              <a:buSzPts val="1900"/>
              <a:buNone/>
              <a:defRPr sz="1900">
                <a:solidFill>
                  <a:schemeClr val="lt1"/>
                </a:solidFill>
              </a:defRPr>
            </a:lvl5pPr>
            <a:lvl6pPr lvl="5" rtl="0" algn="ctr">
              <a:lnSpc>
                <a:spcPct val="100000"/>
              </a:lnSpc>
              <a:spcBef>
                <a:spcPts val="0"/>
              </a:spcBef>
              <a:spcAft>
                <a:spcPts val="0"/>
              </a:spcAft>
              <a:buClr>
                <a:schemeClr val="lt1"/>
              </a:buClr>
              <a:buSzPts val="1900"/>
              <a:buNone/>
              <a:defRPr sz="1900">
                <a:solidFill>
                  <a:schemeClr val="lt1"/>
                </a:solidFill>
              </a:defRPr>
            </a:lvl6pPr>
            <a:lvl7pPr lvl="6" rtl="0" algn="ctr">
              <a:lnSpc>
                <a:spcPct val="100000"/>
              </a:lnSpc>
              <a:spcBef>
                <a:spcPts val="0"/>
              </a:spcBef>
              <a:spcAft>
                <a:spcPts val="0"/>
              </a:spcAft>
              <a:buClr>
                <a:schemeClr val="lt1"/>
              </a:buClr>
              <a:buSzPts val="1900"/>
              <a:buNone/>
              <a:defRPr sz="1900">
                <a:solidFill>
                  <a:schemeClr val="lt1"/>
                </a:solidFill>
              </a:defRPr>
            </a:lvl7pPr>
            <a:lvl8pPr lvl="7" rtl="0" algn="ctr">
              <a:lnSpc>
                <a:spcPct val="100000"/>
              </a:lnSpc>
              <a:spcBef>
                <a:spcPts val="0"/>
              </a:spcBef>
              <a:spcAft>
                <a:spcPts val="0"/>
              </a:spcAft>
              <a:buClr>
                <a:schemeClr val="lt1"/>
              </a:buClr>
              <a:buSzPts val="1900"/>
              <a:buNone/>
              <a:defRPr sz="1900">
                <a:solidFill>
                  <a:schemeClr val="lt1"/>
                </a:solidFill>
              </a:defRPr>
            </a:lvl8pPr>
            <a:lvl9pPr lvl="8" rtl="0" algn="ctr">
              <a:lnSpc>
                <a:spcPct val="100000"/>
              </a:lnSpc>
              <a:spcBef>
                <a:spcPts val="0"/>
              </a:spcBef>
              <a:spcAft>
                <a:spcPts val="0"/>
              </a:spcAft>
              <a:buClr>
                <a:schemeClr val="lt1"/>
              </a:buClr>
              <a:buSzPts val="1900"/>
              <a:buNone/>
              <a:defRPr sz="1900">
                <a:solidFill>
                  <a:schemeClr val="lt1"/>
                </a:solidFill>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cxnSp>
        <p:nvCxnSpPr>
          <p:cNvPr id="52" name="Google Shape;52;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53" name="Google Shape;53;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spcBef>
                <a:spcPts val="0"/>
              </a:spcBef>
              <a:spcAft>
                <a:spcPts val="0"/>
              </a:spcAft>
              <a:buSzPts val="12000"/>
              <a:buNone/>
              <a:defRPr sz="12000"/>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54" name="Google Shape;54;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rt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rt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rt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rt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rt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rt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rt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rt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rt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rtl="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rtl="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rtl="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rtl="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rtl="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rtl="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rtl="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rtl="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latin typeface="Source Code Pro"/>
                <a:ea typeface="Source Code Pro"/>
                <a:cs typeface="Source Code Pro"/>
                <a:sym typeface="Source Code Pro"/>
              </a:defRPr>
            </a:lvl1pPr>
            <a:lvl2pPr lvl="1" rtl="0" algn="r">
              <a:buNone/>
              <a:defRPr sz="1000">
                <a:solidFill>
                  <a:schemeClr val="dk2"/>
                </a:solidFill>
                <a:latin typeface="Source Code Pro"/>
                <a:ea typeface="Source Code Pro"/>
                <a:cs typeface="Source Code Pro"/>
                <a:sym typeface="Source Code Pro"/>
              </a:defRPr>
            </a:lvl2pPr>
            <a:lvl3pPr lvl="2" rtl="0" algn="r">
              <a:buNone/>
              <a:defRPr sz="1000">
                <a:solidFill>
                  <a:schemeClr val="dk2"/>
                </a:solidFill>
                <a:latin typeface="Source Code Pro"/>
                <a:ea typeface="Source Code Pro"/>
                <a:cs typeface="Source Code Pro"/>
                <a:sym typeface="Source Code Pro"/>
              </a:defRPr>
            </a:lvl3pPr>
            <a:lvl4pPr lvl="3" rtl="0" algn="r">
              <a:buNone/>
              <a:defRPr sz="1000">
                <a:solidFill>
                  <a:schemeClr val="dk2"/>
                </a:solidFill>
                <a:latin typeface="Source Code Pro"/>
                <a:ea typeface="Source Code Pro"/>
                <a:cs typeface="Source Code Pro"/>
                <a:sym typeface="Source Code Pro"/>
              </a:defRPr>
            </a:lvl4pPr>
            <a:lvl5pPr lvl="4" rtl="0" algn="r">
              <a:buNone/>
              <a:defRPr sz="1000">
                <a:solidFill>
                  <a:schemeClr val="dk2"/>
                </a:solidFill>
                <a:latin typeface="Source Code Pro"/>
                <a:ea typeface="Source Code Pro"/>
                <a:cs typeface="Source Code Pro"/>
                <a:sym typeface="Source Code Pro"/>
              </a:defRPr>
            </a:lvl5pPr>
            <a:lvl6pPr lvl="5" rtl="0" algn="r">
              <a:buNone/>
              <a:defRPr sz="1000">
                <a:solidFill>
                  <a:schemeClr val="dk2"/>
                </a:solidFill>
                <a:latin typeface="Source Code Pro"/>
                <a:ea typeface="Source Code Pro"/>
                <a:cs typeface="Source Code Pro"/>
                <a:sym typeface="Source Code Pro"/>
              </a:defRPr>
            </a:lvl6pPr>
            <a:lvl7pPr lvl="6" rtl="0" algn="r">
              <a:buNone/>
              <a:defRPr sz="1000">
                <a:solidFill>
                  <a:schemeClr val="dk2"/>
                </a:solidFill>
                <a:latin typeface="Source Code Pro"/>
                <a:ea typeface="Source Code Pro"/>
                <a:cs typeface="Source Code Pro"/>
                <a:sym typeface="Source Code Pro"/>
              </a:defRPr>
            </a:lvl7pPr>
            <a:lvl8pPr lvl="7" rtl="0" algn="r">
              <a:buNone/>
              <a:defRPr sz="1000">
                <a:solidFill>
                  <a:schemeClr val="dk2"/>
                </a:solidFill>
                <a:latin typeface="Source Code Pro"/>
                <a:ea typeface="Source Code Pro"/>
                <a:cs typeface="Source Code Pro"/>
                <a:sym typeface="Source Code Pro"/>
              </a:defRPr>
            </a:lvl8pPr>
            <a:lvl9pPr lvl="8" rtl="0"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i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8.png"/><Relationship Id="rId9" Type="http://schemas.openxmlformats.org/officeDocument/2006/relationships/image" Target="../media/image10.png"/><Relationship Id="rId10" Type="http://schemas.openxmlformats.org/officeDocument/2006/relationships/image" Target="../media/image7.png"/><Relationship Id="rId11" Type="http://schemas.openxmlformats.org/officeDocument/2006/relationships/image" Target="../media/image21.png"/><Relationship Id="rId12" Type="http://schemas.openxmlformats.org/officeDocument/2006/relationships/image" Target="../media/image5.png"/><Relationship Id="rId13" Type="http://schemas.openxmlformats.org/officeDocument/2006/relationships/image" Target="../media/image2.png"/><Relationship Id="rId14" Type="http://schemas.openxmlformats.org/officeDocument/2006/relationships/image" Target="../media/image20.png"/><Relationship Id="rId15"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6.png"/><Relationship Id="rId9" Type="http://schemas.openxmlformats.org/officeDocument/2006/relationships/image" Target="../media/image11.png"/><Relationship Id="rId10"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image" Target="../media/image29.png"/><Relationship Id="rId11"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24.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hyperlink" Target="https://appinventor.mit.edu/" TargetMode="External"/><Relationship Id="rId5" Type="http://schemas.openxmlformats.org/officeDocument/2006/relationships/image" Target="../media/image14.png"/><Relationship Id="rId6" Type="http://schemas.openxmlformats.org/officeDocument/2006/relationships/image" Target="../media/image4.png"/><Relationship Id="rId7" Type="http://schemas.openxmlformats.org/officeDocument/2006/relationships/image" Target="../media/image1.png"/><Relationship Id="rId8" Type="http://schemas.openxmlformats.org/officeDocument/2006/relationships/image" Target="../media/image3.png"/><Relationship Id="rId9" Type="http://schemas.openxmlformats.org/officeDocument/2006/relationships/image" Target="../media/image35.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38.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14.png"/><Relationship Id="rId7" Type="http://schemas.openxmlformats.org/officeDocument/2006/relationships/image" Target="../media/image3.png"/><Relationship Id="rId8"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14.png"/><Relationship Id="rId7" Type="http://schemas.openxmlformats.org/officeDocument/2006/relationships/image" Target="../media/image3.png"/><Relationship Id="rId8" Type="http://schemas.openxmlformats.org/officeDocument/2006/relationships/image" Target="../media/image3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14.png"/><Relationship Id="rId7" Type="http://schemas.openxmlformats.org/officeDocument/2006/relationships/image" Target="../media/image3.png"/><Relationship Id="rId8"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14.png"/><Relationship Id="rId7" Type="http://schemas.openxmlformats.org/officeDocument/2006/relationships/image" Target="../media/image3.png"/><Relationship Id="rId8"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6.png"/><Relationship Id="rId4" Type="http://schemas.openxmlformats.org/officeDocument/2006/relationships/hyperlink" Target="https://mit-cml.github.io/yrtoolkit/yr/images/hour_of_code/icon.png" TargetMode="External"/><Relationship Id="rId5" Type="http://schemas.openxmlformats.org/officeDocument/2006/relationships/hyperlink" Target="https://mit-cml.github.io/yrtoolkit/yr/images/hour_of_code/Bee-Sound.mp3" TargetMode="External"/><Relationship Id="rId6" Type="http://schemas.openxmlformats.org/officeDocument/2006/relationships/hyperlink" Target="https://mit-cml.github.io/yrtoolkit/yr/images/hour_of_code/codi.jpg" TargetMode="External"/><Relationship Id="rId7" Type="http://schemas.openxmlformats.org/officeDocument/2006/relationships/image" Target="../media/image4.png"/><Relationship Id="rId8" Type="http://schemas.openxmlformats.org/officeDocument/2006/relationships/image" Target="../media/image1.png"/><Relationship Id="rId9" Type="http://schemas.openxmlformats.org/officeDocument/2006/relationships/image" Target="../media/image14.png"/><Relationship Id="rId10" Type="http://schemas.openxmlformats.org/officeDocument/2006/relationships/image" Target="../media/image3.png"/><Relationship Id="rId11" Type="http://schemas.openxmlformats.org/officeDocument/2006/relationships/image" Target="../media/image25.png"/><Relationship Id="rId12"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14.png"/><Relationship Id="rId7" Type="http://schemas.openxmlformats.org/officeDocument/2006/relationships/image" Target="../media/image3.png"/><Relationship Id="rId8"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14.png"/><Relationship Id="rId7"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41.png"/><Relationship Id="rId8" Type="http://schemas.openxmlformats.org/officeDocument/2006/relationships/image" Target="../media/image4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4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4.png"/><Relationship Id="rId10" Type="http://schemas.openxmlformats.org/officeDocument/2006/relationships/image" Target="../media/image45.png"/><Relationship Id="rId11" Type="http://schemas.openxmlformats.org/officeDocument/2006/relationships/image" Target="../media/image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4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4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4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4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50.png"/><Relationship Id="rId8" Type="http://schemas.openxmlformats.org/officeDocument/2006/relationships/image" Target="../media/image4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5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52.png"/><Relationship Id="rId8" Type="http://schemas.openxmlformats.org/officeDocument/2006/relationships/image" Target="../media/image4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5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46.png"/><Relationship Id="rId8" Type="http://schemas.openxmlformats.org/officeDocument/2006/relationships/image" Target="../media/image5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5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5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57.png"/><Relationship Id="rId8" Type="http://schemas.openxmlformats.org/officeDocument/2006/relationships/image" Target="../media/image4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5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5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2076000" y="497825"/>
            <a:ext cx="4875000" cy="2352600"/>
          </a:xfrm>
          <a:prstGeom prst="rect">
            <a:avLst/>
          </a:prstGeom>
        </p:spPr>
        <p:txBody>
          <a:bodyPr anchorCtr="0" anchor="b" bIns="91425" lIns="91425" spcFirstLastPara="1" rIns="91425" wrap="square" tIns="91425">
            <a:noAutofit/>
          </a:bodyPr>
          <a:lstStyle/>
          <a:p>
            <a:pPr indent="0" lvl="0" marL="0" rtl="1" algn="ctr">
              <a:spcBef>
                <a:spcPts val="0"/>
              </a:spcBef>
              <a:spcAft>
                <a:spcPts val="0"/>
              </a:spcAft>
              <a:buSzPts val="990"/>
              <a:buNone/>
            </a:pPr>
            <a:r>
              <a:rPr lang="iw" sz="4630" b="1">
                <a:latin typeface="Assistant"/>
                <a:ea typeface="Assistant"/>
                <a:cs typeface="Assistant"/>
                <a:sym typeface="Assistant"/>
              </a:rPr>
              <a:t>פיתוח </a:t>
            </a:r>
            <a:endParaRPr sz="4630" b="1">
              <a:latin typeface="Assistant"/>
              <a:ea typeface="Assistant"/>
              <a:cs typeface="Assistant"/>
              <a:sym typeface="Assistant"/>
            </a:endParaRPr>
          </a:p>
          <a:p>
            <a:pPr indent="0" lvl="0" marL="0" rtl="1" algn="ctr">
              <a:spcBef>
                <a:spcPts val="0"/>
              </a:spcBef>
              <a:spcAft>
                <a:spcPts val="0"/>
              </a:spcAft>
              <a:buSzPts val="990"/>
              <a:buNone/>
            </a:pPr>
            <a:r>
              <a:rPr lang="iw" sz="4630" b="1">
                <a:latin typeface="Assistant"/>
                <a:ea typeface="Assistant"/>
                <a:cs typeface="Assistant"/>
                <a:sym typeface="Assistant"/>
              </a:rPr>
              <a:t>אפליקציות</a:t>
            </a:r>
            <a:endParaRPr sz="4630" b="1">
              <a:latin typeface="Assistant"/>
              <a:ea typeface="Assistant"/>
              <a:cs typeface="Assistant"/>
              <a:sym typeface="Assistant"/>
            </a:endParaRPr>
          </a:p>
          <a:p>
            <a:pPr indent="0" lvl="0" marL="0" rtl="1" algn="ctr">
              <a:spcBef>
                <a:spcPts val="0"/>
              </a:spcBef>
              <a:spcAft>
                <a:spcPts val="0"/>
              </a:spcAft>
              <a:buSzPts val="990"/>
              <a:buNone/>
            </a:pPr>
            <a:r>
              <a:rPr lang="iw" sz="2900" b="1">
                <a:latin typeface="Assistant"/>
                <a:ea typeface="Assistant"/>
                <a:cs typeface="Assistant"/>
                <a:sym typeface="Assistant"/>
              </a:rPr>
              <a:t>שיעור 1</a:t>
            </a:r>
            <a:endParaRPr sz="3010" b="1">
              <a:latin typeface="Assistant"/>
              <a:ea typeface="Assistant"/>
              <a:cs typeface="Assistant"/>
              <a:sym typeface="Assistant"/>
            </a:endParaRPr>
          </a:p>
        </p:txBody>
      </p:sp>
      <p:pic>
        <p:nvPicPr>
          <p:cNvPr id="63" name="Google Shape;63;p13"/>
          <p:cNvPicPr preferRelativeResize="0"/>
          <p:nvPr/>
        </p:nvPicPr>
        <p:blipFill>
          <a:blip r:embed="rId3">
            <a:alphaModFix/>
          </a:blip>
          <a:stretch>
            <a:fillRect/>
          </a:stretch>
        </p:blipFill>
        <p:spPr>
          <a:xfrm>
            <a:off x="147275" y="4421075"/>
            <a:ext cx="663425" cy="579149"/>
          </a:xfrm>
          <a:prstGeom prst="rect">
            <a:avLst/>
          </a:prstGeom>
          <a:noFill/>
          <a:ln>
            <a:noFill/>
          </a:ln>
        </p:spPr>
      </p:pic>
      <p:pic>
        <p:nvPicPr>
          <p:cNvPr id="64" name="Google Shape;64;p13"/>
          <p:cNvPicPr preferRelativeResize="0"/>
          <p:nvPr/>
        </p:nvPicPr>
        <p:blipFill>
          <a:blip r:embed="rId4">
            <a:alphaModFix/>
          </a:blip>
          <a:stretch>
            <a:fillRect/>
          </a:stretch>
        </p:blipFill>
        <p:spPr>
          <a:xfrm>
            <a:off x="7751950" y="4511000"/>
            <a:ext cx="1277450" cy="489225"/>
          </a:xfrm>
          <a:prstGeom prst="rect">
            <a:avLst/>
          </a:prstGeom>
          <a:noFill/>
          <a:ln>
            <a:noFill/>
          </a:ln>
        </p:spPr>
      </p:pic>
      <p:pic>
        <p:nvPicPr>
          <p:cNvPr id="65" name="Google Shape;65;p13"/>
          <p:cNvPicPr preferRelativeResize="0"/>
          <p:nvPr/>
        </p:nvPicPr>
        <p:blipFill>
          <a:blip r:embed="rId5">
            <a:alphaModFix/>
          </a:blip>
          <a:stretch>
            <a:fillRect/>
          </a:stretch>
        </p:blipFill>
        <p:spPr>
          <a:xfrm>
            <a:off x="1021025" y="4658825"/>
            <a:ext cx="691995" cy="341400"/>
          </a:xfrm>
          <a:prstGeom prst="rect">
            <a:avLst/>
          </a:prstGeom>
          <a:noFill/>
          <a:ln>
            <a:noFill/>
          </a:ln>
        </p:spPr>
      </p:pic>
      <p:pic>
        <p:nvPicPr>
          <p:cNvPr id="66" name="Google Shape;66;p13"/>
          <p:cNvPicPr preferRelativeResize="0"/>
          <p:nvPr/>
        </p:nvPicPr>
        <p:blipFill>
          <a:blip r:embed="rId6">
            <a:alphaModFix/>
          </a:blip>
          <a:stretch>
            <a:fillRect/>
          </a:stretch>
        </p:blipFill>
        <p:spPr>
          <a:xfrm>
            <a:off x="7979226" y="69350"/>
            <a:ext cx="1050175" cy="6229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14"/>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72" name="Google Shape;72;p14"/>
          <p:cNvSpPr txBox="1"/>
          <p:nvPr>
            <p:ph idx="1" type="body"/>
          </p:nvPr>
        </p:nvSpPr>
        <p:spPr>
          <a:xfrm>
            <a:off x="311700" y="1468825"/>
            <a:ext cx="8520600" cy="2967900"/>
          </a:xfrm>
          <a:prstGeom prst="rect">
            <a:avLst/>
          </a:prstGeom>
        </p:spPr>
        <p:txBody>
          <a:bodyPr anchorCtr="0" anchor="t" bIns="91425" lIns="91425" spcFirstLastPara="1" rIns="91425" wrap="square" tIns="91425">
            <a:noAutofit/>
          </a:bodyPr>
          <a:lstStyle/>
          <a:p>
            <a:pPr indent="0" lvl="0" marL="0" rtl="1" algn="r">
              <a:lnSpc>
                <a:spcPct val="105000"/>
              </a:lnSpc>
              <a:spcBef>
                <a:spcPts val="0"/>
              </a:spcBef>
              <a:spcAft>
                <a:spcPts val="0"/>
              </a:spcAft>
              <a:buSzPts val="853"/>
              <a:buNone/>
            </a:pPr>
            <a:r>
              <a:rPr lang="iw" sz="1400">
                <a:solidFill>
                  <a:srgbClr val="2C3687"/>
                </a:solidFill>
                <a:latin typeface="Assistant"/>
                <a:ea typeface="Assistant"/>
                <a:cs typeface="Assistant"/>
                <a:sym typeface="Assistant"/>
              </a:rPr>
              <a:t>איזה סוגי אפליקציות אנחנו מכירים? </a:t>
            </a:r>
            <a:br>
              <a:rPr lang="iw" sz="1400">
                <a:solidFill>
                  <a:srgbClr val="2C3687"/>
                </a:solidFill>
                <a:latin typeface="Assistant"/>
                <a:ea typeface="Assistant"/>
                <a:cs typeface="Assistant"/>
                <a:sym typeface="Assistant"/>
              </a:rPr>
            </a:br>
            <a:endParaRPr sz="1400">
              <a:solidFill>
                <a:srgbClr val="2C3687"/>
              </a:solidFill>
              <a:latin typeface="Assistant"/>
              <a:ea typeface="Assistant"/>
              <a:cs typeface="Assistant"/>
              <a:sym typeface="Assistant"/>
            </a:endParaRPr>
          </a:p>
          <a:p>
            <a:pPr indent="0" lvl="0" marL="457200" rtl="0" algn="l">
              <a:lnSpc>
                <a:spcPct val="105000"/>
              </a:lnSpc>
              <a:spcBef>
                <a:spcPts val="1500"/>
              </a:spcBef>
              <a:spcAft>
                <a:spcPts val="0"/>
              </a:spcAft>
              <a:buSzPts val="853"/>
              <a:buNone/>
            </a:pPr>
            <a:r>
              <a:t/>
            </a:r>
            <a:endParaRPr sz="1400">
              <a:solidFill>
                <a:srgbClr val="374151"/>
              </a:solidFill>
              <a:latin typeface="Arial"/>
              <a:ea typeface="Arial"/>
              <a:cs typeface="Arial"/>
              <a:sym typeface="Arial"/>
            </a:endParaRPr>
          </a:p>
          <a:p>
            <a:pPr indent="0" lvl="0" marL="0" rtl="1" algn="r">
              <a:lnSpc>
                <a:spcPct val="105000"/>
              </a:lnSpc>
              <a:spcBef>
                <a:spcPts val="0"/>
              </a:spcBef>
              <a:spcAft>
                <a:spcPts val="1500"/>
              </a:spcAft>
              <a:buSzPts val="853"/>
              <a:buNone/>
            </a:pPr>
            <a:r>
              <a:t/>
            </a:r>
            <a:endParaRPr sz="1400">
              <a:solidFill>
                <a:srgbClr val="374151"/>
              </a:solidFill>
              <a:highlight>
                <a:schemeClr val="lt1"/>
              </a:highlight>
              <a:latin typeface="Assistant"/>
              <a:ea typeface="Assistant"/>
              <a:cs typeface="Assistant"/>
              <a:sym typeface="Assistant"/>
            </a:endParaRPr>
          </a:p>
        </p:txBody>
      </p:sp>
      <p:sp>
        <p:nvSpPr>
          <p:cNvPr id="73" name="Google Shape;73;p14"/>
          <p:cNvSpPr txBox="1"/>
          <p:nvPr>
            <p:ph type="title"/>
          </p:nvPr>
        </p:nvSpPr>
        <p:spPr>
          <a:xfrm>
            <a:off x="311700" y="372500"/>
            <a:ext cx="85206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rgbClr val="17B3A9"/>
                </a:solidFill>
                <a:latin typeface="Assistant"/>
                <a:ea typeface="Assistant"/>
                <a:cs typeface="Assistant"/>
                <a:sym typeface="Assistant"/>
              </a:rPr>
              <a:t>סוגי אפליקציות</a:t>
            </a:r>
            <a:endParaRPr sz="2800" b="1">
              <a:solidFill>
                <a:srgbClr val="17B3A9"/>
              </a:solidFill>
              <a:latin typeface="Assistant"/>
              <a:ea typeface="Assistant"/>
              <a:cs typeface="Assistant"/>
              <a:sym typeface="Assistant"/>
            </a:endParaRPr>
          </a:p>
        </p:txBody>
      </p:sp>
      <p:pic>
        <p:nvPicPr>
          <p:cNvPr id="74" name="Google Shape;74;p14"/>
          <p:cNvPicPr preferRelativeResize="0"/>
          <p:nvPr/>
        </p:nvPicPr>
        <p:blipFill>
          <a:blip r:embed="rId4">
            <a:alphaModFix/>
          </a:blip>
          <a:stretch>
            <a:fillRect/>
          </a:stretch>
        </p:blipFill>
        <p:spPr>
          <a:xfrm>
            <a:off x="175925" y="4557100"/>
            <a:ext cx="448904" cy="391875"/>
          </a:xfrm>
          <a:prstGeom prst="rect">
            <a:avLst/>
          </a:prstGeom>
          <a:noFill/>
          <a:ln>
            <a:noFill/>
          </a:ln>
        </p:spPr>
      </p:pic>
      <p:pic>
        <p:nvPicPr>
          <p:cNvPr id="75" name="Google Shape;75;p14"/>
          <p:cNvPicPr preferRelativeResize="0"/>
          <p:nvPr/>
        </p:nvPicPr>
        <p:blipFill>
          <a:blip r:embed="rId5">
            <a:alphaModFix/>
          </a:blip>
          <a:stretch>
            <a:fillRect/>
          </a:stretch>
        </p:blipFill>
        <p:spPr>
          <a:xfrm>
            <a:off x="8220675" y="126222"/>
            <a:ext cx="771001" cy="250876"/>
          </a:xfrm>
          <a:prstGeom prst="rect">
            <a:avLst/>
          </a:prstGeom>
          <a:noFill/>
          <a:ln>
            <a:noFill/>
          </a:ln>
        </p:spPr>
      </p:pic>
      <p:pic>
        <p:nvPicPr>
          <p:cNvPr id="76" name="Google Shape;76;p14"/>
          <p:cNvPicPr preferRelativeResize="0"/>
          <p:nvPr/>
        </p:nvPicPr>
        <p:blipFill>
          <a:blip r:embed="rId6">
            <a:alphaModFix/>
          </a:blip>
          <a:stretch>
            <a:fillRect/>
          </a:stretch>
        </p:blipFill>
        <p:spPr>
          <a:xfrm>
            <a:off x="175925" y="126225"/>
            <a:ext cx="1023225" cy="391875"/>
          </a:xfrm>
          <a:prstGeom prst="rect">
            <a:avLst/>
          </a:prstGeom>
          <a:noFill/>
          <a:ln>
            <a:noFill/>
          </a:ln>
        </p:spPr>
      </p:pic>
      <p:pic>
        <p:nvPicPr>
          <p:cNvPr id="77" name="Google Shape;77;p14"/>
          <p:cNvPicPr preferRelativeResize="0"/>
          <p:nvPr/>
        </p:nvPicPr>
        <p:blipFill>
          <a:blip r:embed="rId7">
            <a:alphaModFix/>
          </a:blip>
          <a:stretch>
            <a:fillRect/>
          </a:stretch>
        </p:blipFill>
        <p:spPr>
          <a:xfrm>
            <a:off x="794775" y="4723425"/>
            <a:ext cx="457185" cy="2255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id="82" name="Google Shape;82;p15"/>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83" name="Google Shape;83;p15"/>
          <p:cNvSpPr txBox="1"/>
          <p:nvPr>
            <p:ph idx="1" type="body"/>
          </p:nvPr>
        </p:nvSpPr>
        <p:spPr>
          <a:xfrm>
            <a:off x="311700" y="1468825"/>
            <a:ext cx="8520600" cy="2967900"/>
          </a:xfrm>
          <a:prstGeom prst="rect">
            <a:avLst/>
          </a:prstGeom>
        </p:spPr>
        <p:txBody>
          <a:bodyPr anchorCtr="0" anchor="t" bIns="91425" lIns="91425" spcFirstLastPara="1" rIns="91425" wrap="square" tIns="91425">
            <a:noAutofit/>
          </a:bodyPr>
          <a:lstStyle/>
          <a:p>
            <a:pPr indent="0" lvl="0" marL="0" rtl="1" algn="r">
              <a:lnSpc>
                <a:spcPct val="105000"/>
              </a:lnSpc>
              <a:spcBef>
                <a:spcPts val="0"/>
              </a:spcBef>
              <a:spcAft>
                <a:spcPts val="0"/>
              </a:spcAft>
              <a:buSzPts val="853"/>
              <a:buNone/>
            </a:pPr>
            <a:r>
              <a:rPr lang="iw" sz="1400">
                <a:solidFill>
                  <a:srgbClr val="B7B7B7"/>
                </a:solidFill>
                <a:latin typeface="Assistant"/>
                <a:ea typeface="Assistant"/>
                <a:cs typeface="Assistant"/>
                <a:sym typeface="Assistant"/>
              </a:rPr>
              <a:t>איזה סוגי אפליקציות אנחנו מכירים? </a:t>
            </a: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משחקים, חדשות, רשתות חברתיות, תקשורת, כושר, ניווט, קניות </a:t>
            </a:r>
            <a:endParaRPr sz="1400">
              <a:solidFill>
                <a:srgbClr val="2C3687"/>
              </a:solidFill>
              <a:latin typeface="Assistant"/>
              <a:ea typeface="Assistant"/>
              <a:cs typeface="Assistant"/>
              <a:sym typeface="Assistant"/>
            </a:endParaRPr>
          </a:p>
          <a:p>
            <a:pPr indent="0" lvl="0" marL="457200" rtl="0" algn="l">
              <a:lnSpc>
                <a:spcPct val="105000"/>
              </a:lnSpc>
              <a:spcBef>
                <a:spcPts val="1500"/>
              </a:spcBef>
              <a:spcAft>
                <a:spcPts val="0"/>
              </a:spcAft>
              <a:buSzPts val="853"/>
              <a:buNone/>
            </a:pPr>
            <a:r>
              <a:t/>
            </a:r>
            <a:endParaRPr sz="1400">
              <a:solidFill>
                <a:srgbClr val="374151"/>
              </a:solidFill>
              <a:latin typeface="Arial"/>
              <a:ea typeface="Arial"/>
              <a:cs typeface="Arial"/>
              <a:sym typeface="Arial"/>
            </a:endParaRPr>
          </a:p>
          <a:p>
            <a:pPr indent="0" lvl="0" marL="0" rtl="1" algn="r">
              <a:lnSpc>
                <a:spcPct val="105000"/>
              </a:lnSpc>
              <a:spcBef>
                <a:spcPts val="0"/>
              </a:spcBef>
              <a:spcAft>
                <a:spcPts val="1500"/>
              </a:spcAft>
              <a:buSzPts val="853"/>
              <a:buNone/>
            </a:pPr>
            <a:r>
              <a:t/>
            </a:r>
            <a:endParaRPr sz="1400">
              <a:solidFill>
                <a:srgbClr val="374151"/>
              </a:solidFill>
              <a:highlight>
                <a:schemeClr val="lt1"/>
              </a:highlight>
              <a:latin typeface="Assistant"/>
              <a:ea typeface="Assistant"/>
              <a:cs typeface="Assistant"/>
              <a:sym typeface="Assistant"/>
            </a:endParaRPr>
          </a:p>
        </p:txBody>
      </p:sp>
      <p:sp>
        <p:nvSpPr>
          <p:cNvPr id="84" name="Google Shape;84;p15"/>
          <p:cNvSpPr txBox="1"/>
          <p:nvPr>
            <p:ph type="title"/>
          </p:nvPr>
        </p:nvSpPr>
        <p:spPr>
          <a:xfrm>
            <a:off x="311700" y="372500"/>
            <a:ext cx="85206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rgbClr val="17B3A9"/>
                </a:solidFill>
                <a:latin typeface="Assistant"/>
                <a:ea typeface="Assistant"/>
                <a:cs typeface="Assistant"/>
                <a:sym typeface="Assistant"/>
              </a:rPr>
              <a:t>סוגי אפליקציות</a:t>
            </a:r>
            <a:endParaRPr sz="2800" b="1">
              <a:solidFill>
                <a:srgbClr val="17B3A9"/>
              </a:solidFill>
              <a:latin typeface="Assistant"/>
              <a:ea typeface="Assistant"/>
              <a:cs typeface="Assistant"/>
              <a:sym typeface="Assistant"/>
            </a:endParaRPr>
          </a:p>
        </p:txBody>
      </p:sp>
      <p:pic>
        <p:nvPicPr>
          <p:cNvPr id="85" name="Google Shape;85;p15"/>
          <p:cNvPicPr preferRelativeResize="0"/>
          <p:nvPr/>
        </p:nvPicPr>
        <p:blipFill>
          <a:blip r:embed="rId4">
            <a:alphaModFix/>
          </a:blip>
          <a:stretch>
            <a:fillRect/>
          </a:stretch>
        </p:blipFill>
        <p:spPr>
          <a:xfrm>
            <a:off x="175925" y="4557100"/>
            <a:ext cx="448904" cy="391875"/>
          </a:xfrm>
          <a:prstGeom prst="rect">
            <a:avLst/>
          </a:prstGeom>
          <a:noFill/>
          <a:ln>
            <a:noFill/>
          </a:ln>
        </p:spPr>
      </p:pic>
      <p:pic>
        <p:nvPicPr>
          <p:cNvPr id="86" name="Google Shape;86;p15"/>
          <p:cNvPicPr preferRelativeResize="0"/>
          <p:nvPr/>
        </p:nvPicPr>
        <p:blipFill>
          <a:blip r:embed="rId5">
            <a:alphaModFix/>
          </a:blip>
          <a:stretch>
            <a:fillRect/>
          </a:stretch>
        </p:blipFill>
        <p:spPr>
          <a:xfrm>
            <a:off x="8220675" y="126222"/>
            <a:ext cx="771001" cy="250876"/>
          </a:xfrm>
          <a:prstGeom prst="rect">
            <a:avLst/>
          </a:prstGeom>
          <a:noFill/>
          <a:ln>
            <a:noFill/>
          </a:ln>
        </p:spPr>
      </p:pic>
      <p:pic>
        <p:nvPicPr>
          <p:cNvPr id="87" name="Google Shape;87;p15"/>
          <p:cNvPicPr preferRelativeResize="0"/>
          <p:nvPr/>
        </p:nvPicPr>
        <p:blipFill>
          <a:blip r:embed="rId6">
            <a:alphaModFix/>
          </a:blip>
          <a:stretch>
            <a:fillRect/>
          </a:stretch>
        </p:blipFill>
        <p:spPr>
          <a:xfrm>
            <a:off x="175925" y="126225"/>
            <a:ext cx="1023225" cy="391875"/>
          </a:xfrm>
          <a:prstGeom prst="rect">
            <a:avLst/>
          </a:prstGeom>
          <a:noFill/>
          <a:ln>
            <a:noFill/>
          </a:ln>
        </p:spPr>
      </p:pic>
      <p:pic>
        <p:nvPicPr>
          <p:cNvPr id="88" name="Google Shape;88;p15"/>
          <p:cNvPicPr preferRelativeResize="0"/>
          <p:nvPr/>
        </p:nvPicPr>
        <p:blipFill>
          <a:blip r:embed="rId7">
            <a:alphaModFix/>
          </a:blip>
          <a:stretch>
            <a:fillRect/>
          </a:stretch>
        </p:blipFill>
        <p:spPr>
          <a:xfrm>
            <a:off x="794775" y="4723425"/>
            <a:ext cx="457185" cy="225550"/>
          </a:xfrm>
          <a:prstGeom prst="rect">
            <a:avLst/>
          </a:prstGeom>
          <a:noFill/>
          <a:ln>
            <a:noFill/>
          </a:ln>
        </p:spPr>
      </p:pic>
      <p:pic>
        <p:nvPicPr>
          <p:cNvPr id="89" name="Google Shape;89;p15"/>
          <p:cNvPicPr preferRelativeResize="0"/>
          <p:nvPr/>
        </p:nvPicPr>
        <p:blipFill>
          <a:blip r:embed="rId8">
            <a:alphaModFix/>
          </a:blip>
          <a:stretch>
            <a:fillRect/>
          </a:stretch>
        </p:blipFill>
        <p:spPr>
          <a:xfrm>
            <a:off x="5823637" y="2483625"/>
            <a:ext cx="675250" cy="675276"/>
          </a:xfrm>
          <a:prstGeom prst="rect">
            <a:avLst/>
          </a:prstGeom>
          <a:noFill/>
          <a:ln>
            <a:noFill/>
          </a:ln>
        </p:spPr>
      </p:pic>
      <p:pic>
        <p:nvPicPr>
          <p:cNvPr id="90" name="Google Shape;90;p15"/>
          <p:cNvPicPr preferRelativeResize="0"/>
          <p:nvPr/>
        </p:nvPicPr>
        <p:blipFill rotWithShape="1">
          <a:blip r:embed="rId9">
            <a:alphaModFix/>
          </a:blip>
          <a:srcRect b="17373" l="34140" r="33444" t="15987"/>
          <a:stretch/>
        </p:blipFill>
        <p:spPr>
          <a:xfrm>
            <a:off x="5101975" y="3507949"/>
            <a:ext cx="771000" cy="792524"/>
          </a:xfrm>
          <a:prstGeom prst="rect">
            <a:avLst/>
          </a:prstGeom>
          <a:noFill/>
          <a:ln>
            <a:noFill/>
          </a:ln>
        </p:spPr>
      </p:pic>
      <p:pic>
        <p:nvPicPr>
          <p:cNvPr id="91" name="Google Shape;91;p15"/>
          <p:cNvPicPr preferRelativeResize="0"/>
          <p:nvPr/>
        </p:nvPicPr>
        <p:blipFill>
          <a:blip r:embed="rId10">
            <a:alphaModFix/>
          </a:blip>
          <a:stretch>
            <a:fillRect/>
          </a:stretch>
        </p:blipFill>
        <p:spPr>
          <a:xfrm>
            <a:off x="7016925" y="3574250"/>
            <a:ext cx="675250" cy="675272"/>
          </a:xfrm>
          <a:prstGeom prst="rect">
            <a:avLst/>
          </a:prstGeom>
          <a:noFill/>
          <a:ln>
            <a:noFill/>
          </a:ln>
        </p:spPr>
      </p:pic>
      <p:pic>
        <p:nvPicPr>
          <p:cNvPr id="92" name="Google Shape;92;p15"/>
          <p:cNvPicPr preferRelativeResize="0"/>
          <p:nvPr/>
        </p:nvPicPr>
        <p:blipFill>
          <a:blip r:embed="rId11">
            <a:alphaModFix/>
          </a:blip>
          <a:stretch>
            <a:fillRect/>
          </a:stretch>
        </p:blipFill>
        <p:spPr>
          <a:xfrm>
            <a:off x="4393113" y="2483925"/>
            <a:ext cx="675249" cy="674701"/>
          </a:xfrm>
          <a:prstGeom prst="rect">
            <a:avLst/>
          </a:prstGeom>
          <a:noFill/>
          <a:ln>
            <a:noFill/>
          </a:ln>
        </p:spPr>
      </p:pic>
      <p:pic>
        <p:nvPicPr>
          <p:cNvPr id="93" name="Google Shape;93;p15"/>
          <p:cNvPicPr preferRelativeResize="0"/>
          <p:nvPr/>
        </p:nvPicPr>
        <p:blipFill>
          <a:blip r:embed="rId12">
            <a:alphaModFix/>
          </a:blip>
          <a:stretch>
            <a:fillRect/>
          </a:stretch>
        </p:blipFill>
        <p:spPr>
          <a:xfrm>
            <a:off x="3266050" y="3597025"/>
            <a:ext cx="675226" cy="675226"/>
          </a:xfrm>
          <a:prstGeom prst="rect">
            <a:avLst/>
          </a:prstGeom>
          <a:noFill/>
          <a:ln>
            <a:noFill/>
          </a:ln>
        </p:spPr>
      </p:pic>
      <p:pic>
        <p:nvPicPr>
          <p:cNvPr id="94" name="Google Shape;94;p15"/>
          <p:cNvPicPr preferRelativeResize="0"/>
          <p:nvPr/>
        </p:nvPicPr>
        <p:blipFill>
          <a:blip r:embed="rId13">
            <a:alphaModFix/>
          </a:blip>
          <a:stretch>
            <a:fillRect/>
          </a:stretch>
        </p:blipFill>
        <p:spPr>
          <a:xfrm>
            <a:off x="7254175" y="2422220"/>
            <a:ext cx="675250" cy="675231"/>
          </a:xfrm>
          <a:prstGeom prst="rect">
            <a:avLst/>
          </a:prstGeom>
          <a:noFill/>
          <a:ln>
            <a:noFill/>
          </a:ln>
        </p:spPr>
      </p:pic>
      <p:pic>
        <p:nvPicPr>
          <p:cNvPr id="95" name="Google Shape;95;p15"/>
          <p:cNvPicPr preferRelativeResize="0"/>
          <p:nvPr/>
        </p:nvPicPr>
        <p:blipFill>
          <a:blip r:embed="rId14">
            <a:alphaModFix/>
          </a:blip>
          <a:stretch>
            <a:fillRect/>
          </a:stretch>
        </p:blipFill>
        <p:spPr>
          <a:xfrm>
            <a:off x="2696150" y="2422225"/>
            <a:ext cx="675226" cy="675226"/>
          </a:xfrm>
          <a:prstGeom prst="rect">
            <a:avLst/>
          </a:prstGeom>
          <a:noFill/>
          <a:ln>
            <a:noFill/>
          </a:ln>
        </p:spPr>
      </p:pic>
      <p:pic>
        <p:nvPicPr>
          <p:cNvPr id="96" name="Google Shape;96;p15"/>
          <p:cNvPicPr preferRelativeResize="0"/>
          <p:nvPr/>
        </p:nvPicPr>
        <p:blipFill>
          <a:blip r:embed="rId15">
            <a:alphaModFix/>
          </a:blip>
          <a:stretch>
            <a:fillRect/>
          </a:stretch>
        </p:blipFill>
        <p:spPr>
          <a:xfrm>
            <a:off x="1436300" y="2909375"/>
            <a:ext cx="771000" cy="771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16"/>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102" name="Google Shape;102;p16"/>
          <p:cNvSpPr txBox="1"/>
          <p:nvPr>
            <p:ph idx="1" type="body"/>
          </p:nvPr>
        </p:nvSpPr>
        <p:spPr>
          <a:xfrm>
            <a:off x="6794350" y="1614525"/>
            <a:ext cx="1263000" cy="532500"/>
          </a:xfrm>
          <a:prstGeom prst="rect">
            <a:avLst/>
          </a:prstGeom>
        </p:spPr>
        <p:txBody>
          <a:bodyPr anchorCtr="0" anchor="t" bIns="91425" lIns="91425" spcFirstLastPara="1" rIns="91425" wrap="square" tIns="91425">
            <a:noAutofit/>
          </a:bodyPr>
          <a:lstStyle/>
          <a:p>
            <a:pPr indent="0" lvl="0" marL="0" rtl="1" algn="r">
              <a:lnSpc>
                <a:spcPct val="105000"/>
              </a:lnSpc>
              <a:spcBef>
                <a:spcPts val="0"/>
              </a:spcBef>
              <a:spcAft>
                <a:spcPts val="1500"/>
              </a:spcAft>
              <a:buSzPts val="853"/>
              <a:buNone/>
            </a:pPr>
            <a:r>
              <a:rPr lang="iw" sz="1600">
                <a:latin typeface="Assistant"/>
                <a:ea typeface="Assistant"/>
                <a:cs typeface="Assistant"/>
                <a:sym typeface="Assistant"/>
              </a:rPr>
              <a:t>שלב התכנון</a:t>
            </a:r>
            <a:endParaRPr sz="1600">
              <a:highlight>
                <a:schemeClr val="lt1"/>
              </a:highlight>
              <a:latin typeface="Assistant"/>
              <a:ea typeface="Assistant"/>
              <a:cs typeface="Assistant"/>
              <a:sym typeface="Assistant"/>
            </a:endParaRPr>
          </a:p>
        </p:txBody>
      </p:sp>
      <p:sp>
        <p:nvSpPr>
          <p:cNvPr id="103" name="Google Shape;103;p16"/>
          <p:cNvSpPr txBox="1"/>
          <p:nvPr>
            <p:ph type="title"/>
          </p:nvPr>
        </p:nvSpPr>
        <p:spPr>
          <a:xfrm>
            <a:off x="311700" y="377100"/>
            <a:ext cx="85206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rgbClr val="17B3A9"/>
                </a:solidFill>
                <a:latin typeface="Assistant"/>
                <a:ea typeface="Assistant"/>
                <a:cs typeface="Assistant"/>
                <a:sym typeface="Assistant"/>
              </a:rPr>
              <a:t>תהליך פיתוח אפליקציה מורכב משלושה שלבים:</a:t>
            </a:r>
            <a:endParaRPr sz="2800" b="1">
              <a:solidFill>
                <a:srgbClr val="17B3A9"/>
              </a:solidFill>
              <a:latin typeface="Assistant"/>
              <a:ea typeface="Assistant"/>
              <a:cs typeface="Assistant"/>
              <a:sym typeface="Assistant"/>
            </a:endParaRPr>
          </a:p>
        </p:txBody>
      </p:sp>
      <p:pic>
        <p:nvPicPr>
          <p:cNvPr id="104" name="Google Shape;104;p16"/>
          <p:cNvPicPr preferRelativeResize="0"/>
          <p:nvPr/>
        </p:nvPicPr>
        <p:blipFill>
          <a:blip r:embed="rId4">
            <a:alphaModFix/>
          </a:blip>
          <a:stretch>
            <a:fillRect/>
          </a:stretch>
        </p:blipFill>
        <p:spPr>
          <a:xfrm>
            <a:off x="175925" y="4557100"/>
            <a:ext cx="448904" cy="391875"/>
          </a:xfrm>
          <a:prstGeom prst="rect">
            <a:avLst/>
          </a:prstGeom>
          <a:noFill/>
          <a:ln>
            <a:noFill/>
          </a:ln>
        </p:spPr>
      </p:pic>
      <p:pic>
        <p:nvPicPr>
          <p:cNvPr id="105" name="Google Shape;105;p16"/>
          <p:cNvPicPr preferRelativeResize="0"/>
          <p:nvPr/>
        </p:nvPicPr>
        <p:blipFill>
          <a:blip r:embed="rId5">
            <a:alphaModFix/>
          </a:blip>
          <a:stretch>
            <a:fillRect/>
          </a:stretch>
        </p:blipFill>
        <p:spPr>
          <a:xfrm>
            <a:off x="8220675" y="126222"/>
            <a:ext cx="771001" cy="250876"/>
          </a:xfrm>
          <a:prstGeom prst="rect">
            <a:avLst/>
          </a:prstGeom>
          <a:noFill/>
          <a:ln>
            <a:noFill/>
          </a:ln>
        </p:spPr>
      </p:pic>
      <p:pic>
        <p:nvPicPr>
          <p:cNvPr id="106" name="Google Shape;106;p16"/>
          <p:cNvPicPr preferRelativeResize="0"/>
          <p:nvPr/>
        </p:nvPicPr>
        <p:blipFill>
          <a:blip r:embed="rId6">
            <a:alphaModFix/>
          </a:blip>
          <a:stretch>
            <a:fillRect/>
          </a:stretch>
        </p:blipFill>
        <p:spPr>
          <a:xfrm>
            <a:off x="175925" y="126225"/>
            <a:ext cx="1023225" cy="391875"/>
          </a:xfrm>
          <a:prstGeom prst="rect">
            <a:avLst/>
          </a:prstGeom>
          <a:noFill/>
          <a:ln>
            <a:noFill/>
          </a:ln>
        </p:spPr>
      </p:pic>
      <p:pic>
        <p:nvPicPr>
          <p:cNvPr id="107" name="Google Shape;107;p16"/>
          <p:cNvPicPr preferRelativeResize="0"/>
          <p:nvPr/>
        </p:nvPicPr>
        <p:blipFill>
          <a:blip r:embed="rId7">
            <a:alphaModFix/>
          </a:blip>
          <a:stretch>
            <a:fillRect/>
          </a:stretch>
        </p:blipFill>
        <p:spPr>
          <a:xfrm>
            <a:off x="794775" y="4723425"/>
            <a:ext cx="457185" cy="225550"/>
          </a:xfrm>
          <a:prstGeom prst="rect">
            <a:avLst/>
          </a:prstGeom>
          <a:noFill/>
          <a:ln>
            <a:noFill/>
          </a:ln>
        </p:spPr>
      </p:pic>
      <p:pic>
        <p:nvPicPr>
          <p:cNvPr id="108" name="Google Shape;108;p16"/>
          <p:cNvPicPr preferRelativeResize="0"/>
          <p:nvPr/>
        </p:nvPicPr>
        <p:blipFill>
          <a:blip r:embed="rId8">
            <a:alphaModFix/>
          </a:blip>
          <a:stretch>
            <a:fillRect/>
          </a:stretch>
        </p:blipFill>
        <p:spPr>
          <a:xfrm>
            <a:off x="5974775" y="2288250"/>
            <a:ext cx="2857500" cy="1600200"/>
          </a:xfrm>
          <a:prstGeom prst="rect">
            <a:avLst/>
          </a:prstGeom>
          <a:noFill/>
          <a:ln>
            <a:noFill/>
          </a:ln>
        </p:spPr>
      </p:pic>
      <p:pic>
        <p:nvPicPr>
          <p:cNvPr id="109" name="Google Shape;109;p16"/>
          <p:cNvPicPr preferRelativeResize="0"/>
          <p:nvPr/>
        </p:nvPicPr>
        <p:blipFill>
          <a:blip r:embed="rId9">
            <a:alphaModFix/>
          </a:blip>
          <a:stretch>
            <a:fillRect/>
          </a:stretch>
        </p:blipFill>
        <p:spPr>
          <a:xfrm>
            <a:off x="3753880" y="2288250"/>
            <a:ext cx="1636240" cy="1600200"/>
          </a:xfrm>
          <a:prstGeom prst="rect">
            <a:avLst/>
          </a:prstGeom>
          <a:noFill/>
          <a:ln>
            <a:noFill/>
          </a:ln>
        </p:spPr>
      </p:pic>
      <p:sp>
        <p:nvSpPr>
          <p:cNvPr id="110" name="Google Shape;110;p16"/>
          <p:cNvSpPr txBox="1"/>
          <p:nvPr>
            <p:ph idx="1" type="body"/>
          </p:nvPr>
        </p:nvSpPr>
        <p:spPr>
          <a:xfrm>
            <a:off x="3753875" y="1614525"/>
            <a:ext cx="1371000" cy="532500"/>
          </a:xfrm>
          <a:prstGeom prst="rect">
            <a:avLst/>
          </a:prstGeom>
        </p:spPr>
        <p:txBody>
          <a:bodyPr anchorCtr="0" anchor="t" bIns="91425" lIns="91425" spcFirstLastPara="1" rIns="91425" wrap="square" tIns="91425">
            <a:noAutofit/>
          </a:bodyPr>
          <a:lstStyle/>
          <a:p>
            <a:pPr indent="0" lvl="0" marL="0" rtl="1" algn="r">
              <a:lnSpc>
                <a:spcPct val="105000"/>
              </a:lnSpc>
              <a:spcBef>
                <a:spcPts val="0"/>
              </a:spcBef>
              <a:spcAft>
                <a:spcPts val="1500"/>
              </a:spcAft>
              <a:buSzPts val="853"/>
              <a:buNone/>
            </a:pPr>
            <a:r>
              <a:rPr lang="iw" sz="1600">
                <a:latin typeface="Assistant"/>
                <a:ea typeface="Assistant"/>
                <a:cs typeface="Assistant"/>
                <a:sym typeface="Assistant"/>
              </a:rPr>
              <a:t>שלב העיצוב</a:t>
            </a:r>
            <a:endParaRPr sz="1600">
              <a:highlight>
                <a:schemeClr val="lt1"/>
              </a:highlight>
              <a:latin typeface="Assistant"/>
              <a:ea typeface="Assistant"/>
              <a:cs typeface="Assistant"/>
              <a:sym typeface="Assistant"/>
            </a:endParaRPr>
          </a:p>
        </p:txBody>
      </p:sp>
      <p:pic>
        <p:nvPicPr>
          <p:cNvPr id="111" name="Google Shape;111;p16"/>
          <p:cNvPicPr preferRelativeResize="0"/>
          <p:nvPr/>
        </p:nvPicPr>
        <p:blipFill>
          <a:blip r:embed="rId10">
            <a:alphaModFix/>
          </a:blip>
          <a:stretch>
            <a:fillRect/>
          </a:stretch>
        </p:blipFill>
        <p:spPr>
          <a:xfrm>
            <a:off x="226000" y="2300813"/>
            <a:ext cx="2857500" cy="1428750"/>
          </a:xfrm>
          <a:prstGeom prst="rect">
            <a:avLst/>
          </a:prstGeom>
          <a:noFill/>
          <a:ln>
            <a:noFill/>
          </a:ln>
        </p:spPr>
      </p:pic>
      <p:sp>
        <p:nvSpPr>
          <p:cNvPr id="112" name="Google Shape;112;p16"/>
          <p:cNvSpPr txBox="1"/>
          <p:nvPr>
            <p:ph idx="1" type="body"/>
          </p:nvPr>
        </p:nvSpPr>
        <p:spPr>
          <a:xfrm>
            <a:off x="794775" y="1620813"/>
            <a:ext cx="1371000" cy="532500"/>
          </a:xfrm>
          <a:prstGeom prst="rect">
            <a:avLst/>
          </a:prstGeom>
        </p:spPr>
        <p:txBody>
          <a:bodyPr anchorCtr="0" anchor="t" bIns="91425" lIns="91425" spcFirstLastPara="1" rIns="91425" wrap="square" tIns="91425">
            <a:noAutofit/>
          </a:bodyPr>
          <a:lstStyle/>
          <a:p>
            <a:pPr indent="0" lvl="0" marL="0" rtl="1" algn="ctr">
              <a:lnSpc>
                <a:spcPct val="105000"/>
              </a:lnSpc>
              <a:spcBef>
                <a:spcPts val="0"/>
              </a:spcBef>
              <a:spcAft>
                <a:spcPts val="1500"/>
              </a:spcAft>
              <a:buSzPts val="853"/>
              <a:buNone/>
            </a:pPr>
            <a:r>
              <a:rPr lang="iw" sz="1600">
                <a:latin typeface="Assistant"/>
                <a:ea typeface="Assistant"/>
                <a:cs typeface="Assistant"/>
                <a:sym typeface="Assistant"/>
              </a:rPr>
              <a:t>שלב תכנות ההתנהגות</a:t>
            </a:r>
            <a:endParaRPr sz="1600">
              <a:highlight>
                <a:schemeClr val="lt1"/>
              </a:highlight>
              <a:latin typeface="Assistant"/>
              <a:ea typeface="Assistant"/>
              <a:cs typeface="Assistant"/>
              <a:sym typeface="Assistan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17"/>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118" name="Google Shape;118;p17"/>
          <p:cNvSpPr txBox="1"/>
          <p:nvPr>
            <p:ph idx="1" type="body"/>
          </p:nvPr>
        </p:nvSpPr>
        <p:spPr>
          <a:xfrm>
            <a:off x="311700" y="1468825"/>
            <a:ext cx="8520600" cy="2967900"/>
          </a:xfrm>
          <a:prstGeom prst="rect">
            <a:avLst/>
          </a:prstGeom>
        </p:spPr>
        <p:txBody>
          <a:bodyPr anchorCtr="0" anchor="t" bIns="91425" lIns="91425" spcFirstLastPara="1" rIns="91425" wrap="square" tIns="91425">
            <a:noAutofit/>
          </a:bodyPr>
          <a:lstStyle/>
          <a:p>
            <a:pPr indent="-317500" lvl="0" marL="457200" rtl="1" algn="r">
              <a:lnSpc>
                <a:spcPct val="105000"/>
              </a:lnSpc>
              <a:spcBef>
                <a:spcPts val="0"/>
              </a:spcBef>
              <a:spcAft>
                <a:spcPts val="0"/>
              </a:spcAft>
              <a:buClr>
                <a:srgbClr val="374151"/>
              </a:buClr>
              <a:buSzPts val="1400"/>
              <a:buFont typeface="Assistant"/>
              <a:buChar char="-"/>
            </a:pPr>
            <a:r>
              <a:rPr lang="iw" sz="1400">
                <a:solidFill>
                  <a:srgbClr val="2C3687"/>
                </a:solidFill>
                <a:latin typeface="Assistant"/>
                <a:ea typeface="Assistant"/>
                <a:cs typeface="Assistant"/>
                <a:sym typeface="Assistant"/>
              </a:rPr>
              <a:t>מה הצורך שאנחנו באים לפתור?</a:t>
            </a:r>
            <a:endParaRPr sz="1400">
              <a:solidFill>
                <a:srgbClr val="2C3687"/>
              </a:solidFill>
              <a:latin typeface="Assistant"/>
              <a:ea typeface="Assistant"/>
              <a:cs typeface="Assistant"/>
              <a:sym typeface="Assistant"/>
            </a:endParaRPr>
          </a:p>
          <a:p>
            <a:pPr indent="-317500" lvl="0" marL="457200" rtl="1" algn="r">
              <a:lnSpc>
                <a:spcPct val="105000"/>
              </a:lnSpc>
              <a:spcBef>
                <a:spcPts val="0"/>
              </a:spcBef>
              <a:spcAft>
                <a:spcPts val="0"/>
              </a:spcAft>
              <a:buClr>
                <a:srgbClr val="2C3687"/>
              </a:buClr>
              <a:buSzPts val="1400"/>
              <a:buFont typeface="Assistant"/>
              <a:buChar char="-"/>
            </a:pPr>
            <a:r>
              <a:rPr lang="iw" sz="1400">
                <a:solidFill>
                  <a:srgbClr val="2C3687"/>
                </a:solidFill>
                <a:latin typeface="Assistant"/>
                <a:ea typeface="Assistant"/>
                <a:cs typeface="Assistant"/>
                <a:sym typeface="Assistant"/>
              </a:rPr>
              <a:t>מה האפליקציה שנפתח?</a:t>
            </a:r>
            <a:endParaRPr sz="1400">
              <a:solidFill>
                <a:srgbClr val="2C3687"/>
              </a:solidFill>
              <a:latin typeface="Assistant"/>
              <a:ea typeface="Assistant"/>
              <a:cs typeface="Assistant"/>
              <a:sym typeface="Assistant"/>
            </a:endParaRPr>
          </a:p>
          <a:p>
            <a:pPr indent="-317500" lvl="0" marL="457200" rtl="1" algn="r">
              <a:lnSpc>
                <a:spcPct val="105000"/>
              </a:lnSpc>
              <a:spcBef>
                <a:spcPts val="0"/>
              </a:spcBef>
              <a:spcAft>
                <a:spcPts val="0"/>
              </a:spcAft>
              <a:buClr>
                <a:srgbClr val="2C3687"/>
              </a:buClr>
              <a:buSzPts val="1400"/>
              <a:buFont typeface="Assistant"/>
              <a:buChar char="-"/>
            </a:pPr>
            <a:r>
              <a:rPr lang="iw" sz="1400">
                <a:solidFill>
                  <a:srgbClr val="2C3687"/>
                </a:solidFill>
                <a:latin typeface="Assistant"/>
                <a:ea typeface="Assistant"/>
                <a:cs typeface="Assistant"/>
                <a:sym typeface="Assistant"/>
              </a:rPr>
              <a:t>מה היא תדע לעשות?</a:t>
            </a:r>
            <a:endParaRPr sz="1400">
              <a:solidFill>
                <a:srgbClr val="2C3687"/>
              </a:solidFill>
              <a:latin typeface="Assistant"/>
              <a:ea typeface="Assistant"/>
              <a:cs typeface="Assistant"/>
              <a:sym typeface="Assistant"/>
            </a:endParaRPr>
          </a:p>
          <a:p>
            <a:pPr indent="-317500" lvl="0" marL="457200" rtl="1" algn="r">
              <a:lnSpc>
                <a:spcPct val="105000"/>
              </a:lnSpc>
              <a:spcBef>
                <a:spcPts val="0"/>
              </a:spcBef>
              <a:spcAft>
                <a:spcPts val="0"/>
              </a:spcAft>
              <a:buClr>
                <a:srgbClr val="2C3687"/>
              </a:buClr>
              <a:buSzPts val="1400"/>
              <a:buFont typeface="Assistant"/>
              <a:buChar char="-"/>
            </a:pPr>
            <a:r>
              <a:rPr lang="iw" sz="1400">
                <a:solidFill>
                  <a:srgbClr val="2C3687"/>
                </a:solidFill>
                <a:latin typeface="Assistant"/>
                <a:ea typeface="Assistant"/>
                <a:cs typeface="Assistant"/>
                <a:sym typeface="Assistant"/>
              </a:rPr>
              <a:t>מה התקציב שיש לנו?</a:t>
            </a:r>
            <a:endParaRPr sz="1400">
              <a:solidFill>
                <a:srgbClr val="2C3687"/>
              </a:solidFill>
              <a:latin typeface="Assistant"/>
              <a:ea typeface="Assistant"/>
              <a:cs typeface="Assistant"/>
              <a:sym typeface="Assistant"/>
            </a:endParaRPr>
          </a:p>
          <a:p>
            <a:pPr indent="-317500" lvl="0" marL="457200" rtl="1" algn="r">
              <a:lnSpc>
                <a:spcPct val="105000"/>
              </a:lnSpc>
              <a:spcBef>
                <a:spcPts val="0"/>
              </a:spcBef>
              <a:spcAft>
                <a:spcPts val="0"/>
              </a:spcAft>
              <a:buClr>
                <a:srgbClr val="2C3687"/>
              </a:buClr>
              <a:buSzPts val="1400"/>
              <a:buFont typeface="Assistant"/>
              <a:buChar char="-"/>
            </a:pPr>
            <a:r>
              <a:rPr lang="iw" sz="1400">
                <a:solidFill>
                  <a:srgbClr val="2C3687"/>
                </a:solidFill>
                <a:latin typeface="Assistant"/>
                <a:ea typeface="Assistant"/>
                <a:cs typeface="Assistant"/>
                <a:sym typeface="Assistant"/>
              </a:rPr>
              <a:t>מה הם שלבי העבודה ואיך אנחנו ניגשים אליהם</a:t>
            </a:r>
            <a:endParaRPr sz="1400">
              <a:solidFill>
                <a:srgbClr val="2C3687"/>
              </a:solidFill>
              <a:latin typeface="Assistant"/>
              <a:ea typeface="Assistant"/>
              <a:cs typeface="Assistant"/>
              <a:sym typeface="Assistant"/>
            </a:endParaRPr>
          </a:p>
        </p:txBody>
      </p:sp>
      <p:sp>
        <p:nvSpPr>
          <p:cNvPr id="119" name="Google Shape;119;p17"/>
          <p:cNvSpPr txBox="1"/>
          <p:nvPr>
            <p:ph type="title"/>
          </p:nvPr>
        </p:nvSpPr>
        <p:spPr>
          <a:xfrm>
            <a:off x="311700" y="372500"/>
            <a:ext cx="85206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rgbClr val="17B3A9"/>
                </a:solidFill>
                <a:latin typeface="Assistant"/>
                <a:ea typeface="Assistant"/>
                <a:cs typeface="Assistant"/>
                <a:sym typeface="Assistant"/>
              </a:rPr>
              <a:t>מה כולל שלב התכנון?</a:t>
            </a:r>
            <a:endParaRPr sz="2800" b="1">
              <a:solidFill>
                <a:srgbClr val="17B3A9"/>
              </a:solidFill>
              <a:latin typeface="Assistant"/>
              <a:ea typeface="Assistant"/>
              <a:cs typeface="Assistant"/>
              <a:sym typeface="Assistant"/>
            </a:endParaRPr>
          </a:p>
        </p:txBody>
      </p:sp>
      <p:pic>
        <p:nvPicPr>
          <p:cNvPr id="120" name="Google Shape;120;p17"/>
          <p:cNvPicPr preferRelativeResize="0"/>
          <p:nvPr/>
        </p:nvPicPr>
        <p:blipFill>
          <a:blip r:embed="rId4">
            <a:alphaModFix/>
          </a:blip>
          <a:stretch>
            <a:fillRect/>
          </a:stretch>
        </p:blipFill>
        <p:spPr>
          <a:xfrm>
            <a:off x="175925" y="4557100"/>
            <a:ext cx="448904" cy="391875"/>
          </a:xfrm>
          <a:prstGeom prst="rect">
            <a:avLst/>
          </a:prstGeom>
          <a:noFill/>
          <a:ln>
            <a:noFill/>
          </a:ln>
        </p:spPr>
      </p:pic>
      <p:pic>
        <p:nvPicPr>
          <p:cNvPr id="121" name="Google Shape;121;p17"/>
          <p:cNvPicPr preferRelativeResize="0"/>
          <p:nvPr/>
        </p:nvPicPr>
        <p:blipFill>
          <a:blip r:embed="rId5">
            <a:alphaModFix/>
          </a:blip>
          <a:stretch>
            <a:fillRect/>
          </a:stretch>
        </p:blipFill>
        <p:spPr>
          <a:xfrm>
            <a:off x="8220675" y="126222"/>
            <a:ext cx="771001" cy="250876"/>
          </a:xfrm>
          <a:prstGeom prst="rect">
            <a:avLst/>
          </a:prstGeom>
          <a:noFill/>
          <a:ln>
            <a:noFill/>
          </a:ln>
        </p:spPr>
      </p:pic>
      <p:pic>
        <p:nvPicPr>
          <p:cNvPr id="122" name="Google Shape;122;p17"/>
          <p:cNvPicPr preferRelativeResize="0"/>
          <p:nvPr/>
        </p:nvPicPr>
        <p:blipFill>
          <a:blip r:embed="rId6">
            <a:alphaModFix/>
          </a:blip>
          <a:stretch>
            <a:fillRect/>
          </a:stretch>
        </p:blipFill>
        <p:spPr>
          <a:xfrm>
            <a:off x="175925" y="126225"/>
            <a:ext cx="1023225" cy="391875"/>
          </a:xfrm>
          <a:prstGeom prst="rect">
            <a:avLst/>
          </a:prstGeom>
          <a:noFill/>
          <a:ln>
            <a:noFill/>
          </a:ln>
        </p:spPr>
      </p:pic>
      <p:pic>
        <p:nvPicPr>
          <p:cNvPr id="123" name="Google Shape;123;p17"/>
          <p:cNvPicPr preferRelativeResize="0"/>
          <p:nvPr/>
        </p:nvPicPr>
        <p:blipFill>
          <a:blip r:embed="rId7">
            <a:alphaModFix/>
          </a:blip>
          <a:stretch>
            <a:fillRect/>
          </a:stretch>
        </p:blipFill>
        <p:spPr>
          <a:xfrm>
            <a:off x="794775" y="4723425"/>
            <a:ext cx="457185" cy="225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18"/>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129" name="Google Shape;129;p18"/>
          <p:cNvSpPr txBox="1"/>
          <p:nvPr>
            <p:ph idx="1" type="body"/>
          </p:nvPr>
        </p:nvSpPr>
        <p:spPr>
          <a:xfrm>
            <a:off x="311700" y="1468825"/>
            <a:ext cx="8520600" cy="2967900"/>
          </a:xfrm>
          <a:prstGeom prst="rect">
            <a:avLst/>
          </a:prstGeom>
        </p:spPr>
        <p:txBody>
          <a:bodyPr anchorCtr="0" anchor="t" bIns="91425" lIns="91425" spcFirstLastPara="1" rIns="91425" wrap="square" tIns="91425">
            <a:noAutofit/>
          </a:bodyPr>
          <a:lstStyle/>
          <a:p>
            <a:pPr indent="-317500" lvl="0" marL="457200" rtl="1" algn="r">
              <a:lnSpc>
                <a:spcPct val="105000"/>
              </a:lnSpc>
              <a:spcBef>
                <a:spcPts val="0"/>
              </a:spcBef>
              <a:spcAft>
                <a:spcPts val="0"/>
              </a:spcAft>
              <a:buClr>
                <a:srgbClr val="2C3687"/>
              </a:buClr>
              <a:buSzPts val="1400"/>
              <a:buFont typeface="Assistant"/>
              <a:buChar char="-"/>
            </a:pPr>
            <a:r>
              <a:rPr lang="iw" sz="1400">
                <a:solidFill>
                  <a:srgbClr val="2C3687"/>
                </a:solidFill>
                <a:latin typeface="Assistant"/>
                <a:ea typeface="Assistant"/>
                <a:cs typeface="Assistant"/>
                <a:sym typeface="Assistant"/>
              </a:rPr>
              <a:t>איך האפליקציה תיראה?</a:t>
            </a:r>
            <a:endParaRPr sz="1400">
              <a:solidFill>
                <a:srgbClr val="2C3687"/>
              </a:solidFill>
              <a:latin typeface="Assistant"/>
              <a:ea typeface="Assistant"/>
              <a:cs typeface="Assistant"/>
              <a:sym typeface="Assistant"/>
            </a:endParaRPr>
          </a:p>
          <a:p>
            <a:pPr indent="-317500" lvl="0" marL="457200" rtl="1" algn="r">
              <a:lnSpc>
                <a:spcPct val="105000"/>
              </a:lnSpc>
              <a:spcBef>
                <a:spcPts val="0"/>
              </a:spcBef>
              <a:spcAft>
                <a:spcPts val="0"/>
              </a:spcAft>
              <a:buClr>
                <a:srgbClr val="2C3687"/>
              </a:buClr>
              <a:buSzPts val="1400"/>
              <a:buFont typeface="Assistant"/>
              <a:buChar char="-"/>
            </a:pPr>
            <a:r>
              <a:rPr lang="iw" sz="1400">
                <a:solidFill>
                  <a:srgbClr val="2C3687"/>
                </a:solidFill>
                <a:latin typeface="Assistant"/>
                <a:ea typeface="Assistant"/>
                <a:cs typeface="Assistant"/>
                <a:sym typeface="Assistant"/>
              </a:rPr>
              <a:t>איזה כפתורים יהיו לה?</a:t>
            </a:r>
            <a:endParaRPr sz="1400">
              <a:solidFill>
                <a:srgbClr val="2C3687"/>
              </a:solidFill>
              <a:latin typeface="Assistant"/>
              <a:ea typeface="Assistant"/>
              <a:cs typeface="Assistant"/>
              <a:sym typeface="Assistant"/>
            </a:endParaRPr>
          </a:p>
          <a:p>
            <a:pPr indent="-317500" lvl="0" marL="457200" rtl="1" algn="r">
              <a:lnSpc>
                <a:spcPct val="105000"/>
              </a:lnSpc>
              <a:spcBef>
                <a:spcPts val="0"/>
              </a:spcBef>
              <a:spcAft>
                <a:spcPts val="0"/>
              </a:spcAft>
              <a:buClr>
                <a:srgbClr val="2C3687"/>
              </a:buClr>
              <a:buSzPts val="1400"/>
              <a:buFont typeface="Assistant"/>
              <a:buChar char="-"/>
            </a:pPr>
            <a:r>
              <a:rPr lang="iw" sz="1400">
                <a:solidFill>
                  <a:srgbClr val="2C3687"/>
                </a:solidFill>
                <a:latin typeface="Assistant"/>
                <a:ea typeface="Assistant"/>
                <a:cs typeface="Assistant"/>
                <a:sym typeface="Assistant"/>
              </a:rPr>
              <a:t>מה הצבעים המובילים?</a:t>
            </a:r>
            <a:endParaRPr sz="1400">
              <a:solidFill>
                <a:srgbClr val="2C3687"/>
              </a:solidFill>
              <a:latin typeface="Assistant"/>
              <a:ea typeface="Assistant"/>
              <a:cs typeface="Assistant"/>
              <a:sym typeface="Assistant"/>
            </a:endParaRPr>
          </a:p>
          <a:p>
            <a:pPr indent="-317500" lvl="0" marL="457200" rtl="1" algn="r">
              <a:lnSpc>
                <a:spcPct val="105000"/>
              </a:lnSpc>
              <a:spcBef>
                <a:spcPts val="0"/>
              </a:spcBef>
              <a:spcAft>
                <a:spcPts val="0"/>
              </a:spcAft>
              <a:buClr>
                <a:srgbClr val="2C3687"/>
              </a:buClr>
              <a:buSzPts val="1400"/>
              <a:buFont typeface="Assistant"/>
              <a:buChar char="-"/>
            </a:pPr>
            <a:r>
              <a:rPr lang="iw" sz="1400">
                <a:solidFill>
                  <a:srgbClr val="2C3687"/>
                </a:solidFill>
                <a:latin typeface="Assistant"/>
                <a:ea typeface="Assistant"/>
                <a:cs typeface="Assistant"/>
                <a:sym typeface="Assistant"/>
              </a:rPr>
              <a:t>איך יראו המסכים? מה יהיה כתוב בהם?</a:t>
            </a:r>
            <a:endParaRPr sz="1400">
              <a:solidFill>
                <a:srgbClr val="2C3687"/>
              </a:solidFill>
              <a:latin typeface="Assistant"/>
              <a:ea typeface="Assistant"/>
              <a:cs typeface="Assistant"/>
              <a:sym typeface="Assistant"/>
            </a:endParaRPr>
          </a:p>
          <a:p>
            <a:pPr indent="-317500" lvl="0" marL="457200" rtl="1" algn="r">
              <a:lnSpc>
                <a:spcPct val="105000"/>
              </a:lnSpc>
              <a:spcBef>
                <a:spcPts val="0"/>
              </a:spcBef>
              <a:spcAft>
                <a:spcPts val="0"/>
              </a:spcAft>
              <a:buClr>
                <a:srgbClr val="2C3687"/>
              </a:buClr>
              <a:buSzPts val="1400"/>
              <a:buFont typeface="Assistant"/>
              <a:buChar char="-"/>
            </a:pPr>
            <a:r>
              <a:rPr lang="iw" sz="1400">
                <a:solidFill>
                  <a:srgbClr val="2C3687"/>
                </a:solidFill>
                <a:latin typeface="Assistant"/>
                <a:ea typeface="Assistant"/>
                <a:cs typeface="Assistant"/>
                <a:sym typeface="Assistant"/>
              </a:rPr>
              <a:t>איך העיצוב שלי יזמין את הלקוח שלי להשתמש באפליקציה?</a:t>
            </a:r>
            <a:endParaRPr sz="1400">
              <a:solidFill>
                <a:srgbClr val="2C3687"/>
              </a:solidFill>
              <a:latin typeface="Assistant"/>
              <a:ea typeface="Assistant"/>
              <a:cs typeface="Assistant"/>
              <a:sym typeface="Assistant"/>
            </a:endParaRPr>
          </a:p>
        </p:txBody>
      </p:sp>
      <p:sp>
        <p:nvSpPr>
          <p:cNvPr id="130" name="Google Shape;130;p18"/>
          <p:cNvSpPr txBox="1"/>
          <p:nvPr>
            <p:ph type="title"/>
          </p:nvPr>
        </p:nvSpPr>
        <p:spPr>
          <a:xfrm>
            <a:off x="311700" y="372500"/>
            <a:ext cx="85206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rgbClr val="17B3A9"/>
                </a:solidFill>
                <a:latin typeface="Assistant"/>
                <a:ea typeface="Assistant"/>
                <a:cs typeface="Assistant"/>
                <a:sym typeface="Assistant"/>
              </a:rPr>
              <a:t>מה כולל שלב העיצוב?</a:t>
            </a:r>
            <a:endParaRPr sz="2800" b="1">
              <a:solidFill>
                <a:srgbClr val="17B3A9"/>
              </a:solidFill>
              <a:latin typeface="Assistant"/>
              <a:ea typeface="Assistant"/>
              <a:cs typeface="Assistant"/>
              <a:sym typeface="Assistant"/>
            </a:endParaRPr>
          </a:p>
        </p:txBody>
      </p:sp>
      <p:pic>
        <p:nvPicPr>
          <p:cNvPr id="131" name="Google Shape;131;p18"/>
          <p:cNvPicPr preferRelativeResize="0"/>
          <p:nvPr/>
        </p:nvPicPr>
        <p:blipFill>
          <a:blip r:embed="rId4">
            <a:alphaModFix/>
          </a:blip>
          <a:stretch>
            <a:fillRect/>
          </a:stretch>
        </p:blipFill>
        <p:spPr>
          <a:xfrm>
            <a:off x="175925" y="4557100"/>
            <a:ext cx="448904" cy="391875"/>
          </a:xfrm>
          <a:prstGeom prst="rect">
            <a:avLst/>
          </a:prstGeom>
          <a:noFill/>
          <a:ln>
            <a:noFill/>
          </a:ln>
        </p:spPr>
      </p:pic>
      <p:pic>
        <p:nvPicPr>
          <p:cNvPr id="132" name="Google Shape;132;p18"/>
          <p:cNvPicPr preferRelativeResize="0"/>
          <p:nvPr/>
        </p:nvPicPr>
        <p:blipFill>
          <a:blip r:embed="rId5">
            <a:alphaModFix/>
          </a:blip>
          <a:stretch>
            <a:fillRect/>
          </a:stretch>
        </p:blipFill>
        <p:spPr>
          <a:xfrm>
            <a:off x="8220675" y="126222"/>
            <a:ext cx="771001" cy="250876"/>
          </a:xfrm>
          <a:prstGeom prst="rect">
            <a:avLst/>
          </a:prstGeom>
          <a:noFill/>
          <a:ln>
            <a:noFill/>
          </a:ln>
        </p:spPr>
      </p:pic>
      <p:pic>
        <p:nvPicPr>
          <p:cNvPr id="133" name="Google Shape;133;p18"/>
          <p:cNvPicPr preferRelativeResize="0"/>
          <p:nvPr/>
        </p:nvPicPr>
        <p:blipFill>
          <a:blip r:embed="rId6">
            <a:alphaModFix/>
          </a:blip>
          <a:stretch>
            <a:fillRect/>
          </a:stretch>
        </p:blipFill>
        <p:spPr>
          <a:xfrm>
            <a:off x="175925" y="126225"/>
            <a:ext cx="1023225" cy="391875"/>
          </a:xfrm>
          <a:prstGeom prst="rect">
            <a:avLst/>
          </a:prstGeom>
          <a:noFill/>
          <a:ln>
            <a:noFill/>
          </a:ln>
        </p:spPr>
      </p:pic>
      <p:pic>
        <p:nvPicPr>
          <p:cNvPr id="134" name="Google Shape;134;p18"/>
          <p:cNvPicPr preferRelativeResize="0"/>
          <p:nvPr/>
        </p:nvPicPr>
        <p:blipFill>
          <a:blip r:embed="rId7">
            <a:alphaModFix/>
          </a:blip>
          <a:stretch>
            <a:fillRect/>
          </a:stretch>
        </p:blipFill>
        <p:spPr>
          <a:xfrm>
            <a:off x="794775" y="4723425"/>
            <a:ext cx="457185" cy="225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19"/>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140" name="Google Shape;140;p19"/>
          <p:cNvSpPr txBox="1"/>
          <p:nvPr>
            <p:ph idx="1" type="body"/>
          </p:nvPr>
        </p:nvSpPr>
        <p:spPr>
          <a:xfrm>
            <a:off x="311700" y="1468825"/>
            <a:ext cx="8520600" cy="2967900"/>
          </a:xfrm>
          <a:prstGeom prst="rect">
            <a:avLst/>
          </a:prstGeom>
        </p:spPr>
        <p:txBody>
          <a:bodyPr anchorCtr="0" anchor="t" bIns="91425" lIns="91425" spcFirstLastPara="1" rIns="91425" wrap="square" tIns="91425">
            <a:noAutofit/>
          </a:bodyPr>
          <a:lstStyle/>
          <a:p>
            <a:pPr indent="-317500" lvl="0" marL="457200" rtl="1" algn="r">
              <a:lnSpc>
                <a:spcPct val="105000"/>
              </a:lnSpc>
              <a:spcBef>
                <a:spcPts val="0"/>
              </a:spcBef>
              <a:spcAft>
                <a:spcPts val="0"/>
              </a:spcAft>
              <a:buClr>
                <a:srgbClr val="2C3687"/>
              </a:buClr>
              <a:buSzPts val="1400"/>
              <a:buFont typeface="Assistant"/>
              <a:buChar char="-"/>
            </a:pPr>
            <a:r>
              <a:rPr lang="iw" sz="1400">
                <a:solidFill>
                  <a:srgbClr val="2C3687"/>
                </a:solidFill>
                <a:latin typeface="Assistant"/>
                <a:ea typeface="Assistant"/>
                <a:cs typeface="Assistant"/>
                <a:sym typeface="Assistant"/>
              </a:rPr>
              <a:t>איך האפליקציה תתנהג בתגובה למשתמש?</a:t>
            </a:r>
            <a:endParaRPr sz="1400">
              <a:solidFill>
                <a:srgbClr val="2C3687"/>
              </a:solidFill>
              <a:latin typeface="Assistant"/>
              <a:ea typeface="Assistant"/>
              <a:cs typeface="Assistant"/>
              <a:sym typeface="Assistant"/>
            </a:endParaRPr>
          </a:p>
          <a:p>
            <a:pPr indent="-317500" lvl="0" marL="457200" rtl="1" algn="r">
              <a:lnSpc>
                <a:spcPct val="105000"/>
              </a:lnSpc>
              <a:spcBef>
                <a:spcPts val="0"/>
              </a:spcBef>
              <a:spcAft>
                <a:spcPts val="0"/>
              </a:spcAft>
              <a:buClr>
                <a:srgbClr val="2C3687"/>
              </a:buClr>
              <a:buSzPts val="1400"/>
              <a:buFont typeface="Assistant"/>
              <a:buChar char="-"/>
            </a:pPr>
            <a:r>
              <a:rPr lang="iw" sz="1400">
                <a:solidFill>
                  <a:srgbClr val="2C3687"/>
                </a:solidFill>
                <a:latin typeface="Assistant"/>
                <a:ea typeface="Assistant"/>
                <a:cs typeface="Assistant"/>
                <a:sym typeface="Assistant"/>
              </a:rPr>
              <a:t>האם האפליקציה תזהה את המשתמש?</a:t>
            </a:r>
            <a:endParaRPr sz="1400">
              <a:solidFill>
                <a:srgbClr val="2C3687"/>
              </a:solidFill>
              <a:latin typeface="Assistant"/>
              <a:ea typeface="Assistant"/>
              <a:cs typeface="Assistant"/>
              <a:sym typeface="Assistant"/>
            </a:endParaRPr>
          </a:p>
          <a:p>
            <a:pPr indent="-317500" lvl="0" marL="457200" rtl="1" algn="r">
              <a:lnSpc>
                <a:spcPct val="105000"/>
              </a:lnSpc>
              <a:spcBef>
                <a:spcPts val="0"/>
              </a:spcBef>
              <a:spcAft>
                <a:spcPts val="0"/>
              </a:spcAft>
              <a:buClr>
                <a:srgbClr val="2C3687"/>
              </a:buClr>
              <a:buSzPts val="1400"/>
              <a:buFont typeface="Assistant"/>
              <a:buChar char="-"/>
            </a:pPr>
            <a:r>
              <a:rPr lang="iw" sz="1400">
                <a:solidFill>
                  <a:srgbClr val="2C3687"/>
                </a:solidFill>
                <a:latin typeface="Assistant"/>
                <a:ea typeface="Assistant"/>
                <a:cs typeface="Assistant"/>
                <a:sym typeface="Assistant"/>
              </a:rPr>
              <a:t>מה יקרה כשנלחץ על כפתור מסויים? כשנחליק אצבע על המסך?</a:t>
            </a:r>
            <a:endParaRPr sz="1400">
              <a:solidFill>
                <a:srgbClr val="2C3687"/>
              </a:solidFill>
              <a:latin typeface="Assistant"/>
              <a:ea typeface="Assistant"/>
              <a:cs typeface="Assistant"/>
              <a:sym typeface="Assistant"/>
            </a:endParaRPr>
          </a:p>
          <a:p>
            <a:pPr indent="0" lvl="0" marL="0" rtl="1" algn="r">
              <a:lnSpc>
                <a:spcPct val="105000"/>
              </a:lnSpc>
              <a:spcBef>
                <a:spcPts val="1500"/>
              </a:spcBef>
              <a:spcAft>
                <a:spcPts val="1500"/>
              </a:spcAft>
              <a:buNone/>
            </a:pPr>
            <a:r>
              <a:rPr lang="iw" sz="1400">
                <a:solidFill>
                  <a:srgbClr val="2C3687"/>
                </a:solidFill>
                <a:latin typeface="Assistant"/>
                <a:ea typeface="Assistant"/>
                <a:cs typeface="Assistant"/>
                <a:sym typeface="Assistant"/>
              </a:rPr>
              <a:t>או בקיצור - קוד</a:t>
            </a:r>
            <a:endParaRPr sz="1400">
              <a:solidFill>
                <a:srgbClr val="2C3687"/>
              </a:solidFill>
              <a:latin typeface="Assistant"/>
              <a:ea typeface="Assistant"/>
              <a:cs typeface="Assistant"/>
              <a:sym typeface="Assistant"/>
            </a:endParaRPr>
          </a:p>
        </p:txBody>
      </p:sp>
      <p:sp>
        <p:nvSpPr>
          <p:cNvPr id="141" name="Google Shape;141;p19"/>
          <p:cNvSpPr txBox="1"/>
          <p:nvPr>
            <p:ph type="title"/>
          </p:nvPr>
        </p:nvSpPr>
        <p:spPr>
          <a:xfrm>
            <a:off x="311700" y="372500"/>
            <a:ext cx="85206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rgbClr val="17B3A9"/>
                </a:solidFill>
                <a:latin typeface="Assistant"/>
                <a:ea typeface="Assistant"/>
                <a:cs typeface="Assistant"/>
                <a:sym typeface="Assistant"/>
              </a:rPr>
              <a:t>מה כולל שלב תכנות ההתנהגות?</a:t>
            </a:r>
            <a:endParaRPr sz="2800" b="1">
              <a:solidFill>
                <a:srgbClr val="17B3A9"/>
              </a:solidFill>
              <a:latin typeface="Assistant"/>
              <a:ea typeface="Assistant"/>
              <a:cs typeface="Assistant"/>
              <a:sym typeface="Assistant"/>
            </a:endParaRPr>
          </a:p>
        </p:txBody>
      </p:sp>
      <p:pic>
        <p:nvPicPr>
          <p:cNvPr id="142" name="Google Shape;142;p19"/>
          <p:cNvPicPr preferRelativeResize="0"/>
          <p:nvPr/>
        </p:nvPicPr>
        <p:blipFill>
          <a:blip r:embed="rId4">
            <a:alphaModFix/>
          </a:blip>
          <a:stretch>
            <a:fillRect/>
          </a:stretch>
        </p:blipFill>
        <p:spPr>
          <a:xfrm>
            <a:off x="175925" y="4557100"/>
            <a:ext cx="448904" cy="391875"/>
          </a:xfrm>
          <a:prstGeom prst="rect">
            <a:avLst/>
          </a:prstGeom>
          <a:noFill/>
          <a:ln>
            <a:noFill/>
          </a:ln>
        </p:spPr>
      </p:pic>
      <p:pic>
        <p:nvPicPr>
          <p:cNvPr id="143" name="Google Shape;143;p19"/>
          <p:cNvPicPr preferRelativeResize="0"/>
          <p:nvPr/>
        </p:nvPicPr>
        <p:blipFill>
          <a:blip r:embed="rId5">
            <a:alphaModFix/>
          </a:blip>
          <a:stretch>
            <a:fillRect/>
          </a:stretch>
        </p:blipFill>
        <p:spPr>
          <a:xfrm>
            <a:off x="8220675" y="126222"/>
            <a:ext cx="771001" cy="250876"/>
          </a:xfrm>
          <a:prstGeom prst="rect">
            <a:avLst/>
          </a:prstGeom>
          <a:noFill/>
          <a:ln>
            <a:noFill/>
          </a:ln>
        </p:spPr>
      </p:pic>
      <p:pic>
        <p:nvPicPr>
          <p:cNvPr id="144" name="Google Shape;144;p19"/>
          <p:cNvPicPr preferRelativeResize="0"/>
          <p:nvPr/>
        </p:nvPicPr>
        <p:blipFill>
          <a:blip r:embed="rId6">
            <a:alphaModFix/>
          </a:blip>
          <a:stretch>
            <a:fillRect/>
          </a:stretch>
        </p:blipFill>
        <p:spPr>
          <a:xfrm>
            <a:off x="175925" y="126225"/>
            <a:ext cx="1023225" cy="391875"/>
          </a:xfrm>
          <a:prstGeom prst="rect">
            <a:avLst/>
          </a:prstGeom>
          <a:noFill/>
          <a:ln>
            <a:noFill/>
          </a:ln>
        </p:spPr>
      </p:pic>
      <p:pic>
        <p:nvPicPr>
          <p:cNvPr id="145" name="Google Shape;145;p19"/>
          <p:cNvPicPr preferRelativeResize="0"/>
          <p:nvPr/>
        </p:nvPicPr>
        <p:blipFill>
          <a:blip r:embed="rId7">
            <a:alphaModFix/>
          </a:blip>
          <a:stretch>
            <a:fillRect/>
          </a:stretch>
        </p:blipFill>
        <p:spPr>
          <a:xfrm>
            <a:off x="794775" y="4723425"/>
            <a:ext cx="457185" cy="225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20"/>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151" name="Google Shape;151;p20"/>
          <p:cNvSpPr txBox="1"/>
          <p:nvPr>
            <p:ph idx="1" type="body"/>
          </p:nvPr>
        </p:nvSpPr>
        <p:spPr>
          <a:xfrm>
            <a:off x="311700" y="1468825"/>
            <a:ext cx="8520600" cy="2967900"/>
          </a:xfrm>
          <a:prstGeom prst="rect">
            <a:avLst/>
          </a:prstGeom>
        </p:spPr>
        <p:txBody>
          <a:bodyPr anchorCtr="0" anchor="t" bIns="91425" lIns="91425" spcFirstLastPara="1" rIns="91425" wrap="square" tIns="91425">
            <a:noAutofit/>
          </a:bodyPr>
          <a:lstStyle/>
          <a:p>
            <a:pPr indent="0" lvl="0" marL="0" rtl="1" algn="r">
              <a:lnSpc>
                <a:spcPct val="105000"/>
              </a:lnSpc>
              <a:spcBef>
                <a:spcPts val="0"/>
              </a:spcBef>
              <a:spcAft>
                <a:spcPts val="0"/>
              </a:spcAft>
              <a:buSzPts val="853"/>
              <a:buNone/>
            </a:pPr>
            <a:r>
              <a:rPr lang="iw" sz="1400">
                <a:solidFill>
                  <a:srgbClr val="2C3687"/>
                </a:solidFill>
                <a:latin typeface="Assistant"/>
                <a:ea typeface="Assistant"/>
                <a:cs typeface="Assistant"/>
                <a:sym typeface="Assistant"/>
              </a:rPr>
              <a:t>עולם המחשבים והטלפונים בפרט, מורכבים ופועלים על ידי 2 חלקים עיקריים שעובדים ביחד:</a:t>
            </a: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 </a:t>
            </a:r>
            <a:r>
              <a:rPr lang="iw" sz="1400">
                <a:solidFill>
                  <a:srgbClr val="2C3687"/>
                </a:solidFill>
                <a:highlight>
                  <a:schemeClr val="accent6"/>
                </a:highlight>
                <a:latin typeface="Assistant"/>
                <a:ea typeface="Assistant"/>
                <a:cs typeface="Assistant"/>
                <a:sym typeface="Assistant"/>
              </a:rPr>
              <a:t> </a:t>
            </a:r>
            <a:r>
              <a:rPr b="1" lang="iw" sz="1400">
                <a:solidFill>
                  <a:schemeClr val="lt1"/>
                </a:solidFill>
                <a:highlight>
                  <a:schemeClr val="accent6"/>
                </a:highlight>
                <a:latin typeface="Assistant"/>
                <a:ea typeface="Assistant"/>
                <a:cs typeface="Assistant"/>
                <a:sym typeface="Assistant"/>
              </a:rPr>
              <a:t>חומרה </a:t>
            </a:r>
            <a:r>
              <a:rPr lang="iw" sz="1400">
                <a:solidFill>
                  <a:srgbClr val="2C3687"/>
                </a:solidFill>
                <a:latin typeface="Assistant"/>
                <a:ea typeface="Assistant"/>
                <a:cs typeface="Assistant"/>
                <a:sym typeface="Assistant"/>
              </a:rPr>
              <a:t> - מעבדים, שהם שבבים פיזיים שבנויים מסיליקון, זכרונות, אחסון וכו'.</a:t>
            </a:r>
            <a:br>
              <a:rPr lang="iw" sz="1400">
                <a:solidFill>
                  <a:srgbClr val="2C3687"/>
                </a:solidFill>
                <a:highlight>
                  <a:schemeClr val="accent6"/>
                </a:highlight>
                <a:latin typeface="Assistant"/>
                <a:ea typeface="Assistant"/>
                <a:cs typeface="Assistant"/>
                <a:sym typeface="Assistant"/>
              </a:rPr>
            </a:br>
            <a:r>
              <a:rPr lang="iw" sz="1400">
                <a:solidFill>
                  <a:srgbClr val="2C3687"/>
                </a:solidFill>
                <a:latin typeface="Assistant"/>
                <a:ea typeface="Assistant"/>
                <a:cs typeface="Assistant"/>
                <a:sym typeface="Assistant"/>
              </a:rPr>
              <a:t>* </a:t>
            </a:r>
            <a:r>
              <a:rPr b="1" lang="iw" sz="1400">
                <a:solidFill>
                  <a:schemeClr val="lt1"/>
                </a:solidFill>
                <a:highlight>
                  <a:schemeClr val="dk1"/>
                </a:highlight>
                <a:latin typeface="Assistant"/>
                <a:ea typeface="Assistant"/>
                <a:cs typeface="Assistant"/>
                <a:sym typeface="Assistant"/>
              </a:rPr>
              <a:t>תוכנה</a:t>
            </a:r>
            <a:r>
              <a:rPr b="1" lang="iw" sz="1400">
                <a:solidFill>
                  <a:srgbClr val="2C3687"/>
                </a:solidFill>
                <a:highlight>
                  <a:schemeClr val="dk1"/>
                </a:highlight>
                <a:latin typeface="Assistant"/>
                <a:ea typeface="Assistant"/>
                <a:cs typeface="Assistant"/>
                <a:sym typeface="Assistant"/>
              </a:rPr>
              <a:t> </a:t>
            </a:r>
            <a:r>
              <a:rPr lang="iw" sz="1400">
                <a:solidFill>
                  <a:srgbClr val="2C3687"/>
                </a:solidFill>
                <a:latin typeface="Assistant"/>
                <a:ea typeface="Assistant"/>
                <a:cs typeface="Assistant"/>
                <a:sym typeface="Assistant"/>
              </a:rPr>
              <a:t> - קוד מתמטי מבוסס היגיון מתמטי בסיסי שגורם למחשב לבצע פעולות ומשימות </a:t>
            </a:r>
            <a:br>
              <a:rPr lang="iw" sz="1400">
                <a:solidFill>
                  <a:srgbClr val="2C3687"/>
                </a:solidFill>
                <a:latin typeface="Assistant"/>
                <a:ea typeface="Assistant"/>
                <a:cs typeface="Assistant"/>
                <a:sym typeface="Assistant"/>
              </a:rPr>
            </a:b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התוכנה שאנחנו כותבים במחשב בעצם גורמת לשינויים פיזיים בחשמל ובחומר הפיזי של החומרה. אפשר לומר ששבבים הם המוח והתוכנה שמפעילה אותם היא התודעה והמחשבות של המחשב.</a:t>
            </a:r>
            <a:br>
              <a:rPr lang="iw" sz="1400">
                <a:solidFill>
                  <a:srgbClr val="2C3687"/>
                </a:solidFill>
                <a:latin typeface="Assistant"/>
                <a:ea typeface="Assistant"/>
                <a:cs typeface="Assistant"/>
                <a:sym typeface="Assistant"/>
              </a:rPr>
            </a:b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התוכנה ברמה הבסיסית שלה עובדת עם פעולות מתמטיות בסיסיות של כפל, חילוק, חיבור וחיסור ועם חוקים והיגיון שנקראים </a:t>
            </a:r>
            <a:r>
              <a:rPr b="1" lang="iw" sz="1400">
                <a:solidFill>
                  <a:schemeClr val="lt1"/>
                </a:solidFill>
                <a:highlight>
                  <a:srgbClr val="17B3A9"/>
                </a:highlight>
                <a:latin typeface="Assistant"/>
                <a:ea typeface="Assistant"/>
                <a:cs typeface="Assistant"/>
                <a:sym typeface="Assistant"/>
              </a:rPr>
              <a:t> לוגיקה </a:t>
            </a:r>
            <a:r>
              <a:rPr lang="iw" sz="1400">
                <a:solidFill>
                  <a:schemeClr val="lt1"/>
                </a:solidFill>
                <a:highlight>
                  <a:schemeClr val="lt1"/>
                </a:highlight>
                <a:latin typeface="Assistant"/>
                <a:ea typeface="Assistant"/>
                <a:cs typeface="Assistant"/>
                <a:sym typeface="Assistant"/>
              </a:rPr>
              <a:t>.</a:t>
            </a:r>
            <a:endParaRPr sz="1400">
              <a:solidFill>
                <a:schemeClr val="lt1"/>
              </a:solidFill>
              <a:highlight>
                <a:schemeClr val="lt1"/>
              </a:highlight>
              <a:latin typeface="Assistant"/>
              <a:ea typeface="Assistant"/>
              <a:cs typeface="Assistant"/>
              <a:sym typeface="Assistant"/>
            </a:endParaRPr>
          </a:p>
          <a:p>
            <a:pPr indent="0" lvl="0" marL="457200" rtl="0" algn="l">
              <a:lnSpc>
                <a:spcPct val="105000"/>
              </a:lnSpc>
              <a:spcBef>
                <a:spcPts val="1500"/>
              </a:spcBef>
              <a:spcAft>
                <a:spcPts val="0"/>
              </a:spcAft>
              <a:buSzPts val="853"/>
              <a:buNone/>
            </a:pPr>
            <a:r>
              <a:t/>
            </a:r>
            <a:endParaRPr sz="1400">
              <a:solidFill>
                <a:srgbClr val="374151"/>
              </a:solidFill>
              <a:latin typeface="Arial"/>
              <a:ea typeface="Arial"/>
              <a:cs typeface="Arial"/>
              <a:sym typeface="Arial"/>
            </a:endParaRPr>
          </a:p>
          <a:p>
            <a:pPr indent="0" lvl="0" marL="0" rtl="1" algn="r">
              <a:lnSpc>
                <a:spcPct val="105000"/>
              </a:lnSpc>
              <a:spcBef>
                <a:spcPts val="0"/>
              </a:spcBef>
              <a:spcAft>
                <a:spcPts val="1500"/>
              </a:spcAft>
              <a:buSzPts val="853"/>
              <a:buNone/>
            </a:pPr>
            <a:r>
              <a:t/>
            </a:r>
            <a:endParaRPr sz="1400">
              <a:solidFill>
                <a:srgbClr val="374151"/>
              </a:solidFill>
              <a:highlight>
                <a:schemeClr val="lt1"/>
              </a:highlight>
              <a:latin typeface="Assistant"/>
              <a:ea typeface="Assistant"/>
              <a:cs typeface="Assistant"/>
              <a:sym typeface="Assistant"/>
            </a:endParaRPr>
          </a:p>
        </p:txBody>
      </p:sp>
      <p:sp>
        <p:nvSpPr>
          <p:cNvPr id="152" name="Google Shape;152;p20"/>
          <p:cNvSpPr txBox="1"/>
          <p:nvPr>
            <p:ph type="title"/>
          </p:nvPr>
        </p:nvSpPr>
        <p:spPr>
          <a:xfrm>
            <a:off x="311700" y="372500"/>
            <a:ext cx="85206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rgbClr val="E91D63"/>
                </a:solidFill>
                <a:latin typeface="Assistant"/>
                <a:ea typeface="Assistant"/>
                <a:cs typeface="Assistant"/>
                <a:sym typeface="Assistant"/>
              </a:rPr>
              <a:t>חומרה ותוכנה</a:t>
            </a:r>
            <a:endParaRPr sz="2800" b="1">
              <a:solidFill>
                <a:srgbClr val="E91D63"/>
              </a:solidFill>
              <a:latin typeface="Assistant"/>
              <a:ea typeface="Assistant"/>
              <a:cs typeface="Assistant"/>
              <a:sym typeface="Assistant"/>
            </a:endParaRPr>
          </a:p>
        </p:txBody>
      </p:sp>
      <p:pic>
        <p:nvPicPr>
          <p:cNvPr id="153" name="Google Shape;153;p20"/>
          <p:cNvPicPr preferRelativeResize="0"/>
          <p:nvPr/>
        </p:nvPicPr>
        <p:blipFill>
          <a:blip r:embed="rId4">
            <a:alphaModFix/>
          </a:blip>
          <a:stretch>
            <a:fillRect/>
          </a:stretch>
        </p:blipFill>
        <p:spPr>
          <a:xfrm>
            <a:off x="175925" y="4557100"/>
            <a:ext cx="448904" cy="391875"/>
          </a:xfrm>
          <a:prstGeom prst="rect">
            <a:avLst/>
          </a:prstGeom>
          <a:noFill/>
          <a:ln>
            <a:noFill/>
          </a:ln>
        </p:spPr>
      </p:pic>
      <p:pic>
        <p:nvPicPr>
          <p:cNvPr id="154" name="Google Shape;154;p20"/>
          <p:cNvPicPr preferRelativeResize="0"/>
          <p:nvPr/>
        </p:nvPicPr>
        <p:blipFill>
          <a:blip r:embed="rId5">
            <a:alphaModFix/>
          </a:blip>
          <a:stretch>
            <a:fillRect/>
          </a:stretch>
        </p:blipFill>
        <p:spPr>
          <a:xfrm>
            <a:off x="8220675" y="126222"/>
            <a:ext cx="771001" cy="250876"/>
          </a:xfrm>
          <a:prstGeom prst="rect">
            <a:avLst/>
          </a:prstGeom>
          <a:noFill/>
          <a:ln>
            <a:noFill/>
          </a:ln>
        </p:spPr>
      </p:pic>
      <p:pic>
        <p:nvPicPr>
          <p:cNvPr id="155" name="Google Shape;155;p20"/>
          <p:cNvPicPr preferRelativeResize="0"/>
          <p:nvPr/>
        </p:nvPicPr>
        <p:blipFill>
          <a:blip r:embed="rId6">
            <a:alphaModFix/>
          </a:blip>
          <a:stretch>
            <a:fillRect/>
          </a:stretch>
        </p:blipFill>
        <p:spPr>
          <a:xfrm>
            <a:off x="175925" y="126225"/>
            <a:ext cx="1023225" cy="391875"/>
          </a:xfrm>
          <a:prstGeom prst="rect">
            <a:avLst/>
          </a:prstGeom>
          <a:noFill/>
          <a:ln>
            <a:noFill/>
          </a:ln>
        </p:spPr>
      </p:pic>
      <p:pic>
        <p:nvPicPr>
          <p:cNvPr id="156" name="Google Shape;156;p20"/>
          <p:cNvPicPr preferRelativeResize="0"/>
          <p:nvPr/>
        </p:nvPicPr>
        <p:blipFill>
          <a:blip r:embed="rId7">
            <a:alphaModFix/>
          </a:blip>
          <a:stretch>
            <a:fillRect/>
          </a:stretch>
        </p:blipFill>
        <p:spPr>
          <a:xfrm>
            <a:off x="794775" y="4723425"/>
            <a:ext cx="457185" cy="2255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21"/>
          <p:cNvPicPr preferRelativeResize="0"/>
          <p:nvPr/>
        </p:nvPicPr>
        <p:blipFill rotWithShape="1">
          <a:blip r:embed="rId3">
            <a:alphaModFix amt="39000"/>
          </a:blip>
          <a:srcRect b="42110" l="0" r="0" t="0"/>
          <a:stretch/>
        </p:blipFill>
        <p:spPr>
          <a:xfrm>
            <a:off x="152400" y="152400"/>
            <a:ext cx="9144000" cy="5143500"/>
          </a:xfrm>
          <a:prstGeom prst="rect">
            <a:avLst/>
          </a:prstGeom>
          <a:noFill/>
          <a:ln>
            <a:noFill/>
          </a:ln>
        </p:spPr>
      </p:pic>
      <p:sp>
        <p:nvSpPr>
          <p:cNvPr id="162" name="Google Shape;162;p21"/>
          <p:cNvSpPr txBox="1"/>
          <p:nvPr>
            <p:ph type="title"/>
          </p:nvPr>
        </p:nvSpPr>
        <p:spPr>
          <a:xfrm>
            <a:off x="311700" y="372500"/>
            <a:ext cx="85206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chemeClr val="dk1"/>
                </a:solidFill>
                <a:latin typeface="Assistant"/>
                <a:ea typeface="Assistant"/>
                <a:cs typeface="Assistant"/>
                <a:sym typeface="Assistant"/>
              </a:rPr>
              <a:t>חומרה ותוכנה</a:t>
            </a:r>
            <a:endParaRPr sz="2800" b="1">
              <a:solidFill>
                <a:srgbClr val="E91D63"/>
              </a:solidFill>
              <a:latin typeface="Assistant"/>
              <a:ea typeface="Assistant"/>
              <a:cs typeface="Assistant"/>
              <a:sym typeface="Assistant"/>
            </a:endParaRPr>
          </a:p>
        </p:txBody>
      </p:sp>
      <p:pic>
        <p:nvPicPr>
          <p:cNvPr id="163" name="Google Shape;163;p21"/>
          <p:cNvPicPr preferRelativeResize="0"/>
          <p:nvPr/>
        </p:nvPicPr>
        <p:blipFill>
          <a:blip r:embed="rId4">
            <a:alphaModFix/>
          </a:blip>
          <a:stretch>
            <a:fillRect/>
          </a:stretch>
        </p:blipFill>
        <p:spPr>
          <a:xfrm>
            <a:off x="175925" y="4557100"/>
            <a:ext cx="448904" cy="391875"/>
          </a:xfrm>
          <a:prstGeom prst="rect">
            <a:avLst/>
          </a:prstGeom>
          <a:noFill/>
          <a:ln>
            <a:noFill/>
          </a:ln>
        </p:spPr>
      </p:pic>
      <p:pic>
        <p:nvPicPr>
          <p:cNvPr id="164" name="Google Shape;164;p21"/>
          <p:cNvPicPr preferRelativeResize="0"/>
          <p:nvPr/>
        </p:nvPicPr>
        <p:blipFill>
          <a:blip r:embed="rId5">
            <a:alphaModFix/>
          </a:blip>
          <a:stretch>
            <a:fillRect/>
          </a:stretch>
        </p:blipFill>
        <p:spPr>
          <a:xfrm>
            <a:off x="8220675" y="126222"/>
            <a:ext cx="771001" cy="250876"/>
          </a:xfrm>
          <a:prstGeom prst="rect">
            <a:avLst/>
          </a:prstGeom>
          <a:noFill/>
          <a:ln>
            <a:noFill/>
          </a:ln>
        </p:spPr>
      </p:pic>
      <p:pic>
        <p:nvPicPr>
          <p:cNvPr id="165" name="Google Shape;165;p21"/>
          <p:cNvPicPr preferRelativeResize="0"/>
          <p:nvPr/>
        </p:nvPicPr>
        <p:blipFill>
          <a:blip r:embed="rId6">
            <a:alphaModFix/>
          </a:blip>
          <a:stretch>
            <a:fillRect/>
          </a:stretch>
        </p:blipFill>
        <p:spPr>
          <a:xfrm>
            <a:off x="175925" y="126225"/>
            <a:ext cx="1023225" cy="391875"/>
          </a:xfrm>
          <a:prstGeom prst="rect">
            <a:avLst/>
          </a:prstGeom>
          <a:noFill/>
          <a:ln>
            <a:noFill/>
          </a:ln>
        </p:spPr>
      </p:pic>
      <p:pic>
        <p:nvPicPr>
          <p:cNvPr id="166" name="Google Shape;166;p21"/>
          <p:cNvPicPr preferRelativeResize="0"/>
          <p:nvPr/>
        </p:nvPicPr>
        <p:blipFill>
          <a:blip r:embed="rId7">
            <a:alphaModFix/>
          </a:blip>
          <a:stretch>
            <a:fillRect/>
          </a:stretch>
        </p:blipFill>
        <p:spPr>
          <a:xfrm>
            <a:off x="794775" y="4723425"/>
            <a:ext cx="457185" cy="225550"/>
          </a:xfrm>
          <a:prstGeom prst="rect">
            <a:avLst/>
          </a:prstGeom>
          <a:noFill/>
          <a:ln>
            <a:noFill/>
          </a:ln>
        </p:spPr>
      </p:pic>
      <p:pic>
        <p:nvPicPr>
          <p:cNvPr id="167" name="Google Shape;167;p21"/>
          <p:cNvPicPr preferRelativeResize="0"/>
          <p:nvPr/>
        </p:nvPicPr>
        <p:blipFill rotWithShape="1">
          <a:blip r:embed="rId8">
            <a:alphaModFix/>
          </a:blip>
          <a:srcRect b="14281" l="-5197" r="20552" t="0"/>
          <a:stretch/>
        </p:blipFill>
        <p:spPr>
          <a:xfrm>
            <a:off x="2401550" y="3493575"/>
            <a:ext cx="2222500" cy="1455400"/>
          </a:xfrm>
          <a:prstGeom prst="rect">
            <a:avLst/>
          </a:prstGeom>
          <a:noFill/>
          <a:ln>
            <a:noFill/>
          </a:ln>
        </p:spPr>
      </p:pic>
      <p:pic>
        <p:nvPicPr>
          <p:cNvPr id="168" name="Google Shape;168;p21"/>
          <p:cNvPicPr preferRelativeResize="0"/>
          <p:nvPr/>
        </p:nvPicPr>
        <p:blipFill>
          <a:blip r:embed="rId9">
            <a:alphaModFix/>
          </a:blip>
          <a:stretch>
            <a:fillRect/>
          </a:stretch>
        </p:blipFill>
        <p:spPr>
          <a:xfrm>
            <a:off x="434525" y="1690675"/>
            <a:ext cx="2222500" cy="1437217"/>
          </a:xfrm>
          <a:prstGeom prst="rect">
            <a:avLst/>
          </a:prstGeom>
          <a:noFill/>
          <a:ln>
            <a:noFill/>
          </a:ln>
        </p:spPr>
      </p:pic>
      <p:pic>
        <p:nvPicPr>
          <p:cNvPr id="169" name="Google Shape;169;p21"/>
          <p:cNvPicPr preferRelativeResize="0"/>
          <p:nvPr/>
        </p:nvPicPr>
        <p:blipFill>
          <a:blip r:embed="rId10">
            <a:alphaModFix/>
          </a:blip>
          <a:stretch>
            <a:fillRect/>
          </a:stretch>
        </p:blipFill>
        <p:spPr>
          <a:xfrm>
            <a:off x="4284349" y="1686675"/>
            <a:ext cx="2222499" cy="1445224"/>
          </a:xfrm>
          <a:prstGeom prst="rect">
            <a:avLst/>
          </a:prstGeom>
          <a:noFill/>
          <a:ln>
            <a:noFill/>
          </a:ln>
        </p:spPr>
      </p:pic>
      <p:pic>
        <p:nvPicPr>
          <p:cNvPr id="170" name="Google Shape;170;p21"/>
          <p:cNvPicPr preferRelativeResize="0"/>
          <p:nvPr/>
        </p:nvPicPr>
        <p:blipFill rotWithShape="1">
          <a:blip r:embed="rId11">
            <a:alphaModFix/>
          </a:blip>
          <a:srcRect b="0" l="0" r="7106" t="5820"/>
          <a:stretch/>
        </p:blipFill>
        <p:spPr>
          <a:xfrm>
            <a:off x="6400775" y="3358962"/>
            <a:ext cx="2064626" cy="1437224"/>
          </a:xfrm>
          <a:prstGeom prst="rect">
            <a:avLst/>
          </a:prstGeom>
          <a:noFill/>
          <a:ln>
            <a:noFill/>
          </a:ln>
        </p:spPr>
      </p:pic>
      <p:sp>
        <p:nvSpPr>
          <p:cNvPr id="171" name="Google Shape;171;p21"/>
          <p:cNvSpPr txBox="1"/>
          <p:nvPr/>
        </p:nvSpPr>
        <p:spPr>
          <a:xfrm>
            <a:off x="6732700" y="3029800"/>
            <a:ext cx="1828200" cy="1500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b="1" lang="iw" sz="1100">
                <a:solidFill>
                  <a:schemeClr val="dk2"/>
                </a:solidFill>
                <a:latin typeface="Assistant"/>
                <a:ea typeface="Assistant"/>
                <a:cs typeface="Assistant"/>
                <a:sym typeface="Assistant"/>
              </a:rPr>
              <a:t>סלע סיליקון טהור</a:t>
            </a:r>
            <a:endParaRPr b="1" sz="1100">
              <a:solidFill>
                <a:schemeClr val="dk2"/>
              </a:solidFill>
              <a:latin typeface="Assistant"/>
              <a:ea typeface="Assistant"/>
              <a:cs typeface="Assistant"/>
              <a:sym typeface="Assistant"/>
            </a:endParaRPr>
          </a:p>
        </p:txBody>
      </p:sp>
      <p:sp>
        <p:nvSpPr>
          <p:cNvPr id="172" name="Google Shape;172;p21"/>
          <p:cNvSpPr txBox="1"/>
          <p:nvPr/>
        </p:nvSpPr>
        <p:spPr>
          <a:xfrm>
            <a:off x="3560125" y="1390325"/>
            <a:ext cx="3049800" cy="693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b="1" lang="iw" sz="1100">
                <a:solidFill>
                  <a:schemeClr val="dk2"/>
                </a:solidFill>
                <a:latin typeface="Assistant"/>
                <a:ea typeface="Assistant"/>
                <a:cs typeface="Assistant"/>
                <a:sym typeface="Assistant"/>
              </a:rPr>
              <a:t>פרוסות סיליקון לאחר עיבוד של הסלע</a:t>
            </a:r>
            <a:endParaRPr b="1" sz="1100">
              <a:solidFill>
                <a:schemeClr val="dk2"/>
              </a:solidFill>
              <a:latin typeface="Assistant"/>
              <a:ea typeface="Assistant"/>
              <a:cs typeface="Assistant"/>
              <a:sym typeface="Assistant"/>
            </a:endParaRPr>
          </a:p>
        </p:txBody>
      </p:sp>
      <p:sp>
        <p:nvSpPr>
          <p:cNvPr id="173" name="Google Shape;173;p21"/>
          <p:cNvSpPr txBox="1"/>
          <p:nvPr/>
        </p:nvSpPr>
        <p:spPr>
          <a:xfrm>
            <a:off x="2352400" y="3186688"/>
            <a:ext cx="2320800" cy="1500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b="1" lang="iw" sz="1100">
                <a:solidFill>
                  <a:schemeClr val="dk2"/>
                </a:solidFill>
                <a:latin typeface="Assistant"/>
                <a:ea typeface="Assistant"/>
                <a:cs typeface="Assistant"/>
                <a:sym typeface="Assistant"/>
              </a:rPr>
              <a:t>מעבד (CPU) שמיוצר מסיליקון</a:t>
            </a:r>
            <a:endParaRPr b="1" sz="1100">
              <a:solidFill>
                <a:schemeClr val="dk2"/>
              </a:solidFill>
              <a:latin typeface="Assistant"/>
              <a:ea typeface="Assistant"/>
              <a:cs typeface="Assistant"/>
              <a:sym typeface="Assistant"/>
            </a:endParaRPr>
          </a:p>
        </p:txBody>
      </p:sp>
      <p:sp>
        <p:nvSpPr>
          <p:cNvPr id="174" name="Google Shape;174;p21"/>
          <p:cNvSpPr txBox="1"/>
          <p:nvPr/>
        </p:nvSpPr>
        <p:spPr>
          <a:xfrm>
            <a:off x="-283625" y="1390325"/>
            <a:ext cx="3049800" cy="693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b="1" lang="iw" sz="1100">
                <a:solidFill>
                  <a:schemeClr val="dk2"/>
                </a:solidFill>
                <a:latin typeface="Assistant"/>
                <a:ea typeface="Assistant"/>
                <a:cs typeface="Assistant"/>
                <a:sym typeface="Assistant"/>
              </a:rPr>
              <a:t>קוד של תוכנה </a:t>
            </a:r>
            <a:endParaRPr b="1" sz="1100">
              <a:solidFill>
                <a:schemeClr val="dk2"/>
              </a:solidFill>
              <a:latin typeface="Assistant"/>
              <a:ea typeface="Assistant"/>
              <a:cs typeface="Assistant"/>
              <a:sym typeface="Assistan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p22"/>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180" name="Google Shape;180;p22"/>
          <p:cNvSpPr txBox="1"/>
          <p:nvPr>
            <p:ph idx="1" type="body"/>
          </p:nvPr>
        </p:nvSpPr>
        <p:spPr>
          <a:xfrm>
            <a:off x="311700" y="1468825"/>
            <a:ext cx="8520600" cy="2967900"/>
          </a:xfrm>
          <a:prstGeom prst="rect">
            <a:avLst/>
          </a:prstGeom>
        </p:spPr>
        <p:txBody>
          <a:bodyPr anchorCtr="0" anchor="t" bIns="91425" lIns="91425" spcFirstLastPara="1" rIns="91425" wrap="square" tIns="91425">
            <a:noAutofit/>
          </a:bodyPr>
          <a:lstStyle/>
          <a:p>
            <a:pPr indent="0" lvl="0" marL="0" rtl="1" algn="r">
              <a:lnSpc>
                <a:spcPct val="105000"/>
              </a:lnSpc>
              <a:spcBef>
                <a:spcPts val="0"/>
              </a:spcBef>
              <a:spcAft>
                <a:spcPts val="0"/>
              </a:spcAft>
              <a:buSzPts val="853"/>
              <a:buNone/>
            </a:pPr>
            <a:r>
              <a:rPr lang="iw" sz="1400">
                <a:solidFill>
                  <a:srgbClr val="2C3687"/>
                </a:solidFill>
                <a:latin typeface="Assistant"/>
                <a:ea typeface="Assistant"/>
                <a:cs typeface="Assistant"/>
                <a:sym typeface="Assistant"/>
              </a:rPr>
              <a:t>בעזרת תוכנה, שבנויה מלוגיקה אפשר לגרום לפעולות מאוד בסיסיות להפוך לפעולות מורכבות - לגרום למטוס לעוף, למצלמה לצלם ואפילו לגרום למסך שבו אתם רואים את האותיות האלה לפעול.</a:t>
            </a:r>
            <a:endParaRPr sz="1400">
              <a:solidFill>
                <a:srgbClr val="2C3687"/>
              </a:solidFill>
              <a:latin typeface="Assistant"/>
              <a:ea typeface="Assistant"/>
              <a:cs typeface="Assistant"/>
              <a:sym typeface="Assistant"/>
            </a:endParaRPr>
          </a:p>
          <a:p>
            <a:pPr indent="0" lvl="0" marL="0" rtl="1" algn="r">
              <a:lnSpc>
                <a:spcPct val="105000"/>
              </a:lnSpc>
              <a:spcBef>
                <a:spcPts val="1500"/>
              </a:spcBef>
              <a:spcAft>
                <a:spcPts val="0"/>
              </a:spcAft>
              <a:buSzPts val="853"/>
              <a:buNone/>
            </a:pPr>
            <a:r>
              <a:rPr lang="iw" sz="1400">
                <a:solidFill>
                  <a:srgbClr val="2C3687"/>
                </a:solidFill>
                <a:latin typeface="Assistant"/>
                <a:ea typeface="Assistant"/>
                <a:cs typeface="Assistant"/>
                <a:sym typeface="Assistant"/>
              </a:rPr>
              <a:t>ההיגיון של מחשבים, הוא היגיון ברמה הבסיסית ביותר, ובפעולה הכי פשוטה שאפשר לחשוב עליה -</a:t>
            </a:r>
            <a:endParaRPr sz="1400">
              <a:solidFill>
                <a:srgbClr val="2C3687"/>
              </a:solidFill>
              <a:latin typeface="Assistant"/>
              <a:ea typeface="Assistant"/>
              <a:cs typeface="Assistant"/>
              <a:sym typeface="Assistant"/>
            </a:endParaRPr>
          </a:p>
          <a:p>
            <a:pPr indent="0" lvl="0" marL="457200" rtl="0" algn="l">
              <a:lnSpc>
                <a:spcPct val="105000"/>
              </a:lnSpc>
              <a:spcBef>
                <a:spcPts val="1500"/>
              </a:spcBef>
              <a:spcAft>
                <a:spcPts val="0"/>
              </a:spcAft>
              <a:buSzPts val="853"/>
              <a:buNone/>
            </a:pPr>
            <a:r>
              <a:t/>
            </a:r>
            <a:endParaRPr sz="1400">
              <a:solidFill>
                <a:srgbClr val="374151"/>
              </a:solidFill>
              <a:latin typeface="Arial"/>
              <a:ea typeface="Arial"/>
              <a:cs typeface="Arial"/>
              <a:sym typeface="Arial"/>
            </a:endParaRPr>
          </a:p>
          <a:p>
            <a:pPr indent="0" lvl="0" marL="0" rtl="1" algn="r">
              <a:lnSpc>
                <a:spcPct val="105000"/>
              </a:lnSpc>
              <a:spcBef>
                <a:spcPts val="0"/>
              </a:spcBef>
              <a:spcAft>
                <a:spcPts val="1500"/>
              </a:spcAft>
              <a:buSzPts val="853"/>
              <a:buNone/>
            </a:pPr>
            <a:r>
              <a:t/>
            </a:r>
            <a:endParaRPr sz="1400">
              <a:solidFill>
                <a:srgbClr val="374151"/>
              </a:solidFill>
              <a:highlight>
                <a:schemeClr val="lt1"/>
              </a:highlight>
              <a:latin typeface="Assistant"/>
              <a:ea typeface="Assistant"/>
              <a:cs typeface="Assistant"/>
              <a:sym typeface="Assistant"/>
            </a:endParaRPr>
          </a:p>
        </p:txBody>
      </p:sp>
      <p:sp>
        <p:nvSpPr>
          <p:cNvPr id="181" name="Google Shape;181;p22"/>
          <p:cNvSpPr txBox="1"/>
          <p:nvPr>
            <p:ph type="title"/>
          </p:nvPr>
        </p:nvSpPr>
        <p:spPr>
          <a:xfrm>
            <a:off x="311700" y="372500"/>
            <a:ext cx="85206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rgbClr val="E91D63"/>
                </a:solidFill>
                <a:latin typeface="Assistant"/>
                <a:ea typeface="Assistant"/>
                <a:cs typeface="Assistant"/>
                <a:sym typeface="Assistant"/>
              </a:rPr>
              <a:t>איך בונים אפליקציה? מה זה קוד? מה זה תכנות?</a:t>
            </a:r>
            <a:endParaRPr sz="2800" b="1">
              <a:solidFill>
                <a:srgbClr val="E91D63"/>
              </a:solidFill>
              <a:latin typeface="Assistant"/>
              <a:ea typeface="Assistant"/>
              <a:cs typeface="Assistant"/>
              <a:sym typeface="Assistant"/>
            </a:endParaRPr>
          </a:p>
        </p:txBody>
      </p:sp>
      <p:pic>
        <p:nvPicPr>
          <p:cNvPr id="182" name="Google Shape;182;p22"/>
          <p:cNvPicPr preferRelativeResize="0"/>
          <p:nvPr/>
        </p:nvPicPr>
        <p:blipFill>
          <a:blip r:embed="rId4">
            <a:alphaModFix/>
          </a:blip>
          <a:stretch>
            <a:fillRect/>
          </a:stretch>
        </p:blipFill>
        <p:spPr>
          <a:xfrm>
            <a:off x="175925" y="4557100"/>
            <a:ext cx="448904" cy="391875"/>
          </a:xfrm>
          <a:prstGeom prst="rect">
            <a:avLst/>
          </a:prstGeom>
          <a:noFill/>
          <a:ln>
            <a:noFill/>
          </a:ln>
        </p:spPr>
      </p:pic>
      <p:pic>
        <p:nvPicPr>
          <p:cNvPr id="183" name="Google Shape;183;p22"/>
          <p:cNvPicPr preferRelativeResize="0"/>
          <p:nvPr/>
        </p:nvPicPr>
        <p:blipFill>
          <a:blip r:embed="rId5">
            <a:alphaModFix/>
          </a:blip>
          <a:stretch>
            <a:fillRect/>
          </a:stretch>
        </p:blipFill>
        <p:spPr>
          <a:xfrm>
            <a:off x="8220675" y="126222"/>
            <a:ext cx="771001" cy="250876"/>
          </a:xfrm>
          <a:prstGeom prst="rect">
            <a:avLst/>
          </a:prstGeom>
          <a:noFill/>
          <a:ln>
            <a:noFill/>
          </a:ln>
        </p:spPr>
      </p:pic>
      <p:pic>
        <p:nvPicPr>
          <p:cNvPr id="184" name="Google Shape;184;p22"/>
          <p:cNvPicPr preferRelativeResize="0"/>
          <p:nvPr/>
        </p:nvPicPr>
        <p:blipFill>
          <a:blip r:embed="rId6">
            <a:alphaModFix/>
          </a:blip>
          <a:stretch>
            <a:fillRect/>
          </a:stretch>
        </p:blipFill>
        <p:spPr>
          <a:xfrm>
            <a:off x="175925" y="126225"/>
            <a:ext cx="1023225" cy="391875"/>
          </a:xfrm>
          <a:prstGeom prst="rect">
            <a:avLst/>
          </a:prstGeom>
          <a:noFill/>
          <a:ln>
            <a:noFill/>
          </a:ln>
        </p:spPr>
      </p:pic>
      <p:pic>
        <p:nvPicPr>
          <p:cNvPr id="185" name="Google Shape;185;p22"/>
          <p:cNvPicPr preferRelativeResize="0"/>
          <p:nvPr/>
        </p:nvPicPr>
        <p:blipFill>
          <a:blip r:embed="rId7">
            <a:alphaModFix/>
          </a:blip>
          <a:stretch>
            <a:fillRect/>
          </a:stretch>
        </p:blipFill>
        <p:spPr>
          <a:xfrm>
            <a:off x="794775" y="4723425"/>
            <a:ext cx="457185" cy="225550"/>
          </a:xfrm>
          <a:prstGeom prst="rect">
            <a:avLst/>
          </a:prstGeom>
          <a:noFill/>
          <a:ln>
            <a:noFill/>
          </a:ln>
        </p:spPr>
      </p:pic>
      <p:sp>
        <p:nvSpPr>
          <p:cNvPr id="186" name="Google Shape;186;p22"/>
          <p:cNvSpPr/>
          <p:nvPr/>
        </p:nvSpPr>
        <p:spPr>
          <a:xfrm>
            <a:off x="1076250" y="2202450"/>
            <a:ext cx="686400" cy="250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23"/>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192" name="Google Shape;192;p23"/>
          <p:cNvSpPr txBox="1"/>
          <p:nvPr>
            <p:ph idx="1" type="body"/>
          </p:nvPr>
        </p:nvSpPr>
        <p:spPr>
          <a:xfrm>
            <a:off x="311700" y="1468825"/>
            <a:ext cx="8520600" cy="2967900"/>
          </a:xfrm>
          <a:prstGeom prst="rect">
            <a:avLst/>
          </a:prstGeom>
        </p:spPr>
        <p:txBody>
          <a:bodyPr anchorCtr="0" anchor="t" bIns="91425" lIns="91425" spcFirstLastPara="1" rIns="91425" wrap="square" tIns="91425">
            <a:noAutofit/>
          </a:bodyPr>
          <a:lstStyle/>
          <a:p>
            <a:pPr indent="0" lvl="0" marL="0" rtl="1" algn="r">
              <a:lnSpc>
                <a:spcPct val="105000"/>
              </a:lnSpc>
              <a:spcBef>
                <a:spcPts val="0"/>
              </a:spcBef>
              <a:spcAft>
                <a:spcPts val="0"/>
              </a:spcAft>
              <a:buSzPts val="853"/>
              <a:buNone/>
            </a:pPr>
            <a:r>
              <a:rPr lang="iw" sz="1400">
                <a:solidFill>
                  <a:srgbClr val="B7B7B7"/>
                </a:solidFill>
                <a:latin typeface="Assistant"/>
                <a:ea typeface="Assistant"/>
                <a:cs typeface="Assistant"/>
                <a:sym typeface="Assistant"/>
              </a:rPr>
              <a:t>בעזרת תוכנה, שבנויה מלוגיקה אפשר לגרום לפעולות מאוד בסיסיות להפוך לפעולות מורכבות - לגרום למטוס לעוף, למצלמה לצלם ואפילו לגרום למסך שבו אתם רואים את האותיות האלה לפעול.</a:t>
            </a:r>
            <a:endParaRPr sz="1400">
              <a:solidFill>
                <a:srgbClr val="B7B7B7"/>
              </a:solidFill>
              <a:latin typeface="Assistant"/>
              <a:ea typeface="Assistant"/>
              <a:cs typeface="Assistant"/>
              <a:sym typeface="Assistant"/>
            </a:endParaRPr>
          </a:p>
          <a:p>
            <a:pPr indent="0" lvl="0" marL="0" rtl="1" algn="r">
              <a:lnSpc>
                <a:spcPct val="105000"/>
              </a:lnSpc>
              <a:spcBef>
                <a:spcPts val="1500"/>
              </a:spcBef>
              <a:spcAft>
                <a:spcPts val="0"/>
              </a:spcAft>
              <a:buSzPts val="853"/>
              <a:buNone/>
            </a:pPr>
            <a:r>
              <a:rPr lang="iw" sz="1400">
                <a:solidFill>
                  <a:srgbClr val="2C3687"/>
                </a:solidFill>
                <a:latin typeface="Assistant"/>
                <a:ea typeface="Assistant"/>
                <a:cs typeface="Assistant"/>
                <a:sym typeface="Assistant"/>
              </a:rPr>
              <a:t>ההיגיון של מחשבים, הוא היגיון ברמה הבסיסית ביותר, ובפעולה הכי פשוטה שאפשר לחשוב עליה -  </a:t>
            </a:r>
            <a:r>
              <a:rPr b="1" lang="iw" sz="1400">
                <a:solidFill>
                  <a:srgbClr val="2C3687"/>
                </a:solidFill>
                <a:latin typeface="Assistant"/>
                <a:ea typeface="Assistant"/>
                <a:cs typeface="Assistant"/>
                <a:sym typeface="Assistant"/>
              </a:rPr>
              <a:t>כן או לא</a:t>
            </a: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למשל: </a:t>
            </a:r>
            <a:r>
              <a:rPr b="1" lang="iw" sz="1400">
                <a:solidFill>
                  <a:schemeClr val="lt1"/>
                </a:solidFill>
                <a:highlight>
                  <a:schemeClr val="accent6"/>
                </a:highlight>
                <a:latin typeface="Assistant"/>
                <a:ea typeface="Assistant"/>
                <a:cs typeface="Assistant"/>
                <a:sym typeface="Assistant"/>
              </a:rPr>
              <a:t>האם אתה אוהב פיצה?</a:t>
            </a:r>
            <a:br>
              <a:rPr lang="iw" sz="1400">
                <a:solidFill>
                  <a:srgbClr val="2C3687"/>
                </a:solidFill>
                <a:latin typeface="Assistant"/>
                <a:ea typeface="Assistant"/>
                <a:cs typeface="Assistant"/>
                <a:sym typeface="Assistant"/>
              </a:rPr>
            </a:b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מחשבים מדברים, בשפה של כן או לא, הנקראת שפה בינארית, שמבוססת על 1 ו-0, שבעזרתם אפשר לגרום לפעולות מאוד מורכבות, למשל </a:t>
            </a:r>
            <a:r>
              <a:rPr b="1" lang="iw" sz="1400">
                <a:solidFill>
                  <a:schemeClr val="lt1"/>
                </a:solidFill>
                <a:highlight>
                  <a:schemeClr val="dk2"/>
                </a:highlight>
                <a:latin typeface="Assistant"/>
                <a:ea typeface="Assistant"/>
                <a:cs typeface="Assistant"/>
                <a:sym typeface="Assistant"/>
              </a:rPr>
              <a:t>11010111 10101001 11010111 10011100 11010111 10010101 11010111 10011101</a:t>
            </a: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אומר בשפה הבינארית "שלום". </a:t>
            </a:r>
            <a:endParaRPr sz="1400">
              <a:solidFill>
                <a:srgbClr val="2C3687"/>
              </a:solidFill>
              <a:latin typeface="Assistant"/>
              <a:ea typeface="Assistant"/>
              <a:cs typeface="Assistant"/>
              <a:sym typeface="Assistant"/>
            </a:endParaRPr>
          </a:p>
          <a:p>
            <a:pPr indent="0" lvl="0" marL="0" rtl="1" algn="r">
              <a:lnSpc>
                <a:spcPct val="105000"/>
              </a:lnSpc>
              <a:spcBef>
                <a:spcPts val="1500"/>
              </a:spcBef>
              <a:spcAft>
                <a:spcPts val="0"/>
              </a:spcAft>
              <a:buSzPts val="853"/>
              <a:buNone/>
            </a:pPr>
            <a:r>
              <a:t/>
            </a:r>
            <a:endParaRPr sz="1400">
              <a:solidFill>
                <a:srgbClr val="2C3687"/>
              </a:solidFill>
              <a:latin typeface="Assistant"/>
              <a:ea typeface="Assistant"/>
              <a:cs typeface="Assistant"/>
              <a:sym typeface="Assistant"/>
            </a:endParaRPr>
          </a:p>
          <a:p>
            <a:pPr indent="0" lvl="0" marL="457200" rtl="0" algn="l">
              <a:lnSpc>
                <a:spcPct val="105000"/>
              </a:lnSpc>
              <a:spcBef>
                <a:spcPts val="1500"/>
              </a:spcBef>
              <a:spcAft>
                <a:spcPts val="0"/>
              </a:spcAft>
              <a:buSzPts val="853"/>
              <a:buNone/>
            </a:pPr>
            <a:r>
              <a:t/>
            </a:r>
            <a:endParaRPr sz="1400">
              <a:solidFill>
                <a:srgbClr val="374151"/>
              </a:solidFill>
              <a:latin typeface="Arial"/>
              <a:ea typeface="Arial"/>
              <a:cs typeface="Arial"/>
              <a:sym typeface="Arial"/>
            </a:endParaRPr>
          </a:p>
          <a:p>
            <a:pPr indent="0" lvl="0" marL="0" rtl="1" algn="r">
              <a:lnSpc>
                <a:spcPct val="105000"/>
              </a:lnSpc>
              <a:spcBef>
                <a:spcPts val="0"/>
              </a:spcBef>
              <a:spcAft>
                <a:spcPts val="1500"/>
              </a:spcAft>
              <a:buSzPts val="853"/>
              <a:buNone/>
            </a:pPr>
            <a:r>
              <a:t/>
            </a:r>
            <a:endParaRPr sz="1400">
              <a:solidFill>
                <a:srgbClr val="374151"/>
              </a:solidFill>
              <a:highlight>
                <a:schemeClr val="lt1"/>
              </a:highlight>
              <a:latin typeface="Assistant"/>
              <a:ea typeface="Assistant"/>
              <a:cs typeface="Assistant"/>
              <a:sym typeface="Assistant"/>
            </a:endParaRPr>
          </a:p>
        </p:txBody>
      </p:sp>
      <p:sp>
        <p:nvSpPr>
          <p:cNvPr id="193" name="Google Shape;193;p23"/>
          <p:cNvSpPr txBox="1"/>
          <p:nvPr>
            <p:ph type="title"/>
          </p:nvPr>
        </p:nvSpPr>
        <p:spPr>
          <a:xfrm>
            <a:off x="311700" y="372500"/>
            <a:ext cx="85206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rgbClr val="E91D63"/>
                </a:solidFill>
                <a:latin typeface="Assistant"/>
                <a:ea typeface="Assistant"/>
                <a:cs typeface="Assistant"/>
                <a:sym typeface="Assistant"/>
              </a:rPr>
              <a:t>איך בונים אפליקציה? מה זה קוד? מה זה תכנות?</a:t>
            </a:r>
            <a:endParaRPr sz="2800" b="1">
              <a:solidFill>
                <a:srgbClr val="E91D63"/>
              </a:solidFill>
              <a:latin typeface="Assistant"/>
              <a:ea typeface="Assistant"/>
              <a:cs typeface="Assistant"/>
              <a:sym typeface="Assistant"/>
            </a:endParaRPr>
          </a:p>
        </p:txBody>
      </p:sp>
      <p:pic>
        <p:nvPicPr>
          <p:cNvPr id="194" name="Google Shape;194;p23"/>
          <p:cNvPicPr preferRelativeResize="0"/>
          <p:nvPr/>
        </p:nvPicPr>
        <p:blipFill>
          <a:blip r:embed="rId4">
            <a:alphaModFix/>
          </a:blip>
          <a:stretch>
            <a:fillRect/>
          </a:stretch>
        </p:blipFill>
        <p:spPr>
          <a:xfrm>
            <a:off x="175925" y="4557100"/>
            <a:ext cx="448904" cy="391875"/>
          </a:xfrm>
          <a:prstGeom prst="rect">
            <a:avLst/>
          </a:prstGeom>
          <a:noFill/>
          <a:ln>
            <a:noFill/>
          </a:ln>
        </p:spPr>
      </p:pic>
      <p:pic>
        <p:nvPicPr>
          <p:cNvPr id="195" name="Google Shape;195;p23"/>
          <p:cNvPicPr preferRelativeResize="0"/>
          <p:nvPr/>
        </p:nvPicPr>
        <p:blipFill>
          <a:blip r:embed="rId5">
            <a:alphaModFix/>
          </a:blip>
          <a:stretch>
            <a:fillRect/>
          </a:stretch>
        </p:blipFill>
        <p:spPr>
          <a:xfrm>
            <a:off x="8220675" y="126222"/>
            <a:ext cx="771001" cy="250876"/>
          </a:xfrm>
          <a:prstGeom prst="rect">
            <a:avLst/>
          </a:prstGeom>
          <a:noFill/>
          <a:ln>
            <a:noFill/>
          </a:ln>
        </p:spPr>
      </p:pic>
      <p:pic>
        <p:nvPicPr>
          <p:cNvPr id="196" name="Google Shape;196;p23"/>
          <p:cNvPicPr preferRelativeResize="0"/>
          <p:nvPr/>
        </p:nvPicPr>
        <p:blipFill>
          <a:blip r:embed="rId6">
            <a:alphaModFix/>
          </a:blip>
          <a:stretch>
            <a:fillRect/>
          </a:stretch>
        </p:blipFill>
        <p:spPr>
          <a:xfrm>
            <a:off x="175925" y="126225"/>
            <a:ext cx="1023225" cy="391875"/>
          </a:xfrm>
          <a:prstGeom prst="rect">
            <a:avLst/>
          </a:prstGeom>
          <a:noFill/>
          <a:ln>
            <a:noFill/>
          </a:ln>
        </p:spPr>
      </p:pic>
      <p:pic>
        <p:nvPicPr>
          <p:cNvPr id="197" name="Google Shape;197;p23"/>
          <p:cNvPicPr preferRelativeResize="0"/>
          <p:nvPr/>
        </p:nvPicPr>
        <p:blipFill>
          <a:blip r:embed="rId7">
            <a:alphaModFix/>
          </a:blip>
          <a:stretch>
            <a:fillRect/>
          </a:stretch>
        </p:blipFill>
        <p:spPr>
          <a:xfrm>
            <a:off x="794775" y="4723425"/>
            <a:ext cx="457185" cy="225550"/>
          </a:xfrm>
          <a:prstGeom prst="rect">
            <a:avLst/>
          </a:prstGeom>
          <a:noFill/>
          <a:ln>
            <a:noFill/>
          </a:ln>
        </p:spPr>
      </p:pic>
      <p:sp>
        <p:nvSpPr>
          <p:cNvPr id="198" name="Google Shape;198;p23"/>
          <p:cNvSpPr/>
          <p:nvPr/>
        </p:nvSpPr>
        <p:spPr>
          <a:xfrm>
            <a:off x="1076250" y="2202450"/>
            <a:ext cx="686400" cy="250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ource Code Pro"/>
              <a:ea typeface="Source Code Pro"/>
              <a:cs typeface="Source Code Pro"/>
              <a:sym typeface="Source Code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24"/>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204" name="Google Shape;204;p24"/>
          <p:cNvSpPr txBox="1"/>
          <p:nvPr>
            <p:ph idx="1" type="body"/>
          </p:nvPr>
        </p:nvSpPr>
        <p:spPr>
          <a:xfrm>
            <a:off x="311700" y="1468825"/>
            <a:ext cx="8520600" cy="29679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b="1" lang="iw" sz="1400">
                <a:solidFill>
                  <a:schemeClr val="lt1"/>
                </a:solidFill>
                <a:highlight>
                  <a:srgbClr val="17B3A9"/>
                </a:highlight>
                <a:latin typeface="Assistant"/>
                <a:ea typeface="Assistant"/>
                <a:cs typeface="Assistant"/>
                <a:sym typeface="Assistant"/>
              </a:rPr>
              <a:t> לוגיקה </a:t>
            </a:r>
            <a:r>
              <a:rPr lang="iw" sz="1400">
                <a:solidFill>
                  <a:srgbClr val="2C3687"/>
                </a:solidFill>
                <a:latin typeface="Assistant"/>
                <a:ea typeface="Assistant"/>
                <a:cs typeface="Assistant"/>
                <a:sym typeface="Assistant"/>
              </a:rPr>
              <a:t>, או היגיון בעברית, הם חוקים, תנאים והוראות לפעולות על עצמים שונים. בעצם: סדר פעולות או תגובת שרשרת של </a:t>
            </a:r>
            <a:r>
              <a:rPr b="1" lang="iw" sz="1400">
                <a:solidFill>
                  <a:schemeClr val="lt1"/>
                </a:solidFill>
                <a:highlight>
                  <a:schemeClr val="accent6"/>
                </a:highlight>
                <a:latin typeface="Assistant"/>
                <a:ea typeface="Assistant"/>
                <a:cs typeface="Assistant"/>
                <a:sym typeface="Assistant"/>
              </a:rPr>
              <a:t>אירועים</a:t>
            </a:r>
            <a:r>
              <a:rPr lang="iw" sz="1400">
                <a:solidFill>
                  <a:srgbClr val="2C3687"/>
                </a:solidFill>
                <a:latin typeface="Assistant"/>
                <a:ea typeface="Assistant"/>
                <a:cs typeface="Assistant"/>
                <a:sym typeface="Assistant"/>
              </a:rPr>
              <a:t> שעובדים על פי </a:t>
            </a:r>
            <a:r>
              <a:rPr b="1" lang="iw" sz="1400">
                <a:solidFill>
                  <a:schemeClr val="lt1"/>
                </a:solidFill>
                <a:highlight>
                  <a:schemeClr val="accent6"/>
                </a:highlight>
                <a:latin typeface="Assistant"/>
                <a:ea typeface="Assistant"/>
                <a:cs typeface="Assistant"/>
                <a:sym typeface="Assistant"/>
              </a:rPr>
              <a:t>חוקים מסוימים</a:t>
            </a:r>
            <a:r>
              <a:rPr lang="iw" sz="1400">
                <a:solidFill>
                  <a:srgbClr val="2C3687"/>
                </a:solidFill>
                <a:latin typeface="Assistant"/>
                <a:ea typeface="Assistant"/>
                <a:cs typeface="Assistant"/>
                <a:sym typeface="Assistant"/>
              </a:rPr>
              <a:t>.</a:t>
            </a: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למשל, כאשר אני לוחץ על מתג האור, אני גורם לפעולה מסוימת בעזרת לוגיקה בסיסית, למשל:</a:t>
            </a:r>
            <a:endParaRPr sz="1400">
              <a:solidFill>
                <a:srgbClr val="2C3687"/>
              </a:solidFill>
              <a:latin typeface="Assistant"/>
              <a:ea typeface="Assistant"/>
              <a:cs typeface="Assistant"/>
              <a:sym typeface="Assistant"/>
            </a:endParaRPr>
          </a:p>
          <a:p>
            <a:pPr indent="0" lvl="0" marL="0" rtl="1" algn="ctr">
              <a:spcBef>
                <a:spcPts val="1500"/>
              </a:spcBef>
              <a:spcAft>
                <a:spcPts val="1500"/>
              </a:spcAft>
              <a:buNone/>
            </a:pPr>
            <a:r>
              <a:t/>
            </a:r>
            <a:endParaRPr sz="1400">
              <a:solidFill>
                <a:srgbClr val="374151"/>
              </a:solidFill>
              <a:highlight>
                <a:schemeClr val="lt1"/>
              </a:highlight>
              <a:latin typeface="Assistant"/>
              <a:ea typeface="Assistant"/>
              <a:cs typeface="Assistant"/>
              <a:sym typeface="Assistant"/>
            </a:endParaRPr>
          </a:p>
        </p:txBody>
      </p:sp>
      <p:sp>
        <p:nvSpPr>
          <p:cNvPr id="205" name="Google Shape;205;p24"/>
          <p:cNvSpPr txBox="1"/>
          <p:nvPr>
            <p:ph type="title"/>
          </p:nvPr>
        </p:nvSpPr>
        <p:spPr>
          <a:xfrm>
            <a:off x="311700" y="372500"/>
            <a:ext cx="85206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rgbClr val="E91D63"/>
                </a:solidFill>
                <a:latin typeface="Assistant"/>
                <a:ea typeface="Assistant"/>
                <a:cs typeface="Assistant"/>
                <a:sym typeface="Assistant"/>
              </a:rPr>
              <a:t>מה זאת לוגיקה?</a:t>
            </a:r>
            <a:endParaRPr sz="2800" b="1">
              <a:solidFill>
                <a:srgbClr val="E91D63"/>
              </a:solidFill>
              <a:latin typeface="Assistant"/>
              <a:ea typeface="Assistant"/>
              <a:cs typeface="Assistant"/>
              <a:sym typeface="Assistant"/>
            </a:endParaRPr>
          </a:p>
        </p:txBody>
      </p:sp>
      <p:pic>
        <p:nvPicPr>
          <p:cNvPr id="206" name="Google Shape;206;p24"/>
          <p:cNvPicPr preferRelativeResize="0"/>
          <p:nvPr/>
        </p:nvPicPr>
        <p:blipFill>
          <a:blip r:embed="rId4">
            <a:alphaModFix/>
          </a:blip>
          <a:stretch>
            <a:fillRect/>
          </a:stretch>
        </p:blipFill>
        <p:spPr>
          <a:xfrm>
            <a:off x="175925" y="4557100"/>
            <a:ext cx="448904" cy="391875"/>
          </a:xfrm>
          <a:prstGeom prst="rect">
            <a:avLst/>
          </a:prstGeom>
          <a:noFill/>
          <a:ln>
            <a:noFill/>
          </a:ln>
        </p:spPr>
      </p:pic>
      <p:pic>
        <p:nvPicPr>
          <p:cNvPr id="207" name="Google Shape;207;p24"/>
          <p:cNvPicPr preferRelativeResize="0"/>
          <p:nvPr/>
        </p:nvPicPr>
        <p:blipFill>
          <a:blip r:embed="rId5">
            <a:alphaModFix/>
          </a:blip>
          <a:stretch>
            <a:fillRect/>
          </a:stretch>
        </p:blipFill>
        <p:spPr>
          <a:xfrm>
            <a:off x="8220675" y="126222"/>
            <a:ext cx="771001" cy="250876"/>
          </a:xfrm>
          <a:prstGeom prst="rect">
            <a:avLst/>
          </a:prstGeom>
          <a:noFill/>
          <a:ln>
            <a:noFill/>
          </a:ln>
        </p:spPr>
      </p:pic>
      <p:pic>
        <p:nvPicPr>
          <p:cNvPr id="208" name="Google Shape;208;p24"/>
          <p:cNvPicPr preferRelativeResize="0"/>
          <p:nvPr/>
        </p:nvPicPr>
        <p:blipFill>
          <a:blip r:embed="rId6">
            <a:alphaModFix/>
          </a:blip>
          <a:stretch>
            <a:fillRect/>
          </a:stretch>
        </p:blipFill>
        <p:spPr>
          <a:xfrm>
            <a:off x="175925" y="126225"/>
            <a:ext cx="1023225" cy="391875"/>
          </a:xfrm>
          <a:prstGeom prst="rect">
            <a:avLst/>
          </a:prstGeom>
          <a:noFill/>
          <a:ln>
            <a:noFill/>
          </a:ln>
        </p:spPr>
      </p:pic>
      <p:pic>
        <p:nvPicPr>
          <p:cNvPr id="209" name="Google Shape;209;p24"/>
          <p:cNvPicPr preferRelativeResize="0"/>
          <p:nvPr/>
        </p:nvPicPr>
        <p:blipFill>
          <a:blip r:embed="rId7">
            <a:alphaModFix/>
          </a:blip>
          <a:stretch>
            <a:fillRect/>
          </a:stretch>
        </p:blipFill>
        <p:spPr>
          <a:xfrm>
            <a:off x="794775" y="4723425"/>
            <a:ext cx="457185" cy="2255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25"/>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215" name="Google Shape;215;p25"/>
          <p:cNvSpPr txBox="1"/>
          <p:nvPr>
            <p:ph idx="1" type="body"/>
          </p:nvPr>
        </p:nvSpPr>
        <p:spPr>
          <a:xfrm>
            <a:off x="311700" y="1468825"/>
            <a:ext cx="8520600" cy="29679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b="1" lang="iw" sz="1400">
                <a:solidFill>
                  <a:srgbClr val="B7B7B7"/>
                </a:solidFill>
                <a:highlight>
                  <a:srgbClr val="A4C2F4"/>
                </a:highlight>
                <a:latin typeface="Assistant"/>
                <a:ea typeface="Assistant"/>
                <a:cs typeface="Assistant"/>
                <a:sym typeface="Assistant"/>
              </a:rPr>
              <a:t> לוגיקה </a:t>
            </a:r>
            <a:r>
              <a:rPr lang="iw" sz="1400">
                <a:solidFill>
                  <a:srgbClr val="CCCCCC"/>
                </a:solidFill>
                <a:latin typeface="Assistant"/>
                <a:ea typeface="Assistant"/>
                <a:cs typeface="Assistant"/>
                <a:sym typeface="Assistant"/>
              </a:rPr>
              <a:t>, או היגיון בעברית, הם חוקים, תנאים והוראות לפעולות על עצמים שונים. בעצם: סדר פעולות או תגובת שרשרת </a:t>
            </a:r>
            <a:r>
              <a:rPr lang="iw" sz="1400">
                <a:solidFill>
                  <a:srgbClr val="B7B7B7"/>
                </a:solidFill>
                <a:latin typeface="Assistant"/>
                <a:ea typeface="Assistant"/>
                <a:cs typeface="Assistant"/>
                <a:sym typeface="Assistant"/>
              </a:rPr>
              <a:t>של </a:t>
            </a:r>
            <a:r>
              <a:rPr b="1" lang="iw" sz="1400">
                <a:solidFill>
                  <a:srgbClr val="B7B7B7"/>
                </a:solidFill>
                <a:highlight>
                  <a:srgbClr val="FFE599"/>
                </a:highlight>
                <a:latin typeface="Assistant"/>
                <a:ea typeface="Assistant"/>
                <a:cs typeface="Assistant"/>
                <a:sym typeface="Assistant"/>
              </a:rPr>
              <a:t>אירועים</a:t>
            </a:r>
            <a:r>
              <a:rPr lang="iw" sz="1400">
                <a:solidFill>
                  <a:srgbClr val="B7B7B7"/>
                </a:solidFill>
                <a:latin typeface="Assistant"/>
                <a:ea typeface="Assistant"/>
                <a:cs typeface="Assistant"/>
                <a:sym typeface="Assistant"/>
              </a:rPr>
              <a:t> שעובדים על פי </a:t>
            </a:r>
            <a:r>
              <a:rPr b="1" lang="iw" sz="1400">
                <a:solidFill>
                  <a:srgbClr val="B7B7B7"/>
                </a:solidFill>
                <a:highlight>
                  <a:srgbClr val="FFE599"/>
                </a:highlight>
                <a:latin typeface="Assistant"/>
                <a:ea typeface="Assistant"/>
                <a:cs typeface="Assistant"/>
                <a:sym typeface="Assistant"/>
              </a:rPr>
              <a:t>חוקים מסוימים</a:t>
            </a:r>
            <a:r>
              <a:rPr lang="iw" sz="1400">
                <a:solidFill>
                  <a:srgbClr val="B7B7B7"/>
                </a:solidFill>
                <a:latin typeface="Assistant"/>
                <a:ea typeface="Assistant"/>
                <a:cs typeface="Assistant"/>
                <a:sym typeface="Assistant"/>
              </a:rPr>
              <a:t>.</a:t>
            </a:r>
            <a:br>
              <a:rPr lang="iw" sz="1400">
                <a:solidFill>
                  <a:srgbClr val="CCCCCC"/>
                </a:solidFill>
                <a:latin typeface="Assistant"/>
                <a:ea typeface="Assistant"/>
                <a:cs typeface="Assistant"/>
                <a:sym typeface="Assistant"/>
              </a:rPr>
            </a:br>
            <a:r>
              <a:rPr lang="iw" sz="1400">
                <a:solidFill>
                  <a:srgbClr val="CCCCCC"/>
                </a:solidFill>
                <a:latin typeface="Assistant"/>
                <a:ea typeface="Assistant"/>
                <a:cs typeface="Assistant"/>
                <a:sym typeface="Assistant"/>
              </a:rPr>
              <a:t>למשל, כאשר אני לוחץ על מתג האור, אני גורם לפעולה מסוימת בעזרת לוגיקה בסיסית, למשל:</a:t>
            </a:r>
            <a:endParaRPr sz="1400">
              <a:solidFill>
                <a:srgbClr val="CCCCCC"/>
              </a:solidFill>
              <a:latin typeface="Assistant"/>
              <a:ea typeface="Assistant"/>
              <a:cs typeface="Assistant"/>
              <a:sym typeface="Assistant"/>
            </a:endParaRPr>
          </a:p>
          <a:p>
            <a:pPr indent="0" lvl="0" marL="0" rtl="1" algn="ctr">
              <a:spcBef>
                <a:spcPts val="1500"/>
              </a:spcBef>
              <a:spcAft>
                <a:spcPts val="0"/>
              </a:spcAft>
              <a:buNone/>
            </a:pPr>
            <a:r>
              <a:rPr lang="iw" sz="2500">
                <a:solidFill>
                  <a:schemeClr val="lt1"/>
                </a:solidFill>
                <a:highlight>
                  <a:schemeClr val="dk1"/>
                </a:highlight>
                <a:latin typeface="Assistant"/>
                <a:ea typeface="Assistant"/>
                <a:cs typeface="Assistant"/>
                <a:sym typeface="Assistant"/>
              </a:rPr>
              <a:t>  </a:t>
            </a:r>
            <a:r>
              <a:rPr i="1" lang="iw" sz="2500">
                <a:solidFill>
                  <a:schemeClr val="lt1"/>
                </a:solidFill>
                <a:highlight>
                  <a:schemeClr val="dk1"/>
                </a:highlight>
                <a:latin typeface="Assistant"/>
                <a:ea typeface="Assistant"/>
                <a:cs typeface="Assistant"/>
                <a:sym typeface="Assistant"/>
              </a:rPr>
              <a:t>אם אני</a:t>
            </a:r>
            <a:r>
              <a:rPr lang="iw" sz="2500">
                <a:solidFill>
                  <a:schemeClr val="lt1"/>
                </a:solidFill>
                <a:highlight>
                  <a:schemeClr val="dk1"/>
                </a:highlight>
                <a:latin typeface="Assistant"/>
                <a:ea typeface="Assistant"/>
                <a:cs typeface="Assistant"/>
                <a:sym typeface="Assistant"/>
              </a:rPr>
              <a:t>  </a:t>
            </a:r>
            <a:r>
              <a:rPr lang="iw" sz="2500">
                <a:solidFill>
                  <a:schemeClr val="lt1"/>
                </a:solidFill>
                <a:highlight>
                  <a:srgbClr val="2C3687"/>
                </a:highlight>
                <a:latin typeface="Assistant"/>
                <a:ea typeface="Assistant"/>
                <a:cs typeface="Assistant"/>
                <a:sym typeface="Assistant"/>
              </a:rPr>
              <a:t>  לוחץ על  </a:t>
            </a:r>
            <a:r>
              <a:rPr b="1" lang="iw" sz="2500">
                <a:solidFill>
                  <a:srgbClr val="2C3687"/>
                </a:solidFill>
                <a:highlight>
                  <a:srgbClr val="32DE84"/>
                </a:highlight>
                <a:latin typeface="Assistant"/>
                <a:ea typeface="Assistant"/>
                <a:cs typeface="Assistant"/>
                <a:sym typeface="Assistant"/>
              </a:rPr>
              <a:t>  </a:t>
            </a:r>
            <a:r>
              <a:rPr b="1" lang="iw" sz="2500">
                <a:solidFill>
                  <a:srgbClr val="FFFFFF"/>
                </a:solidFill>
                <a:highlight>
                  <a:srgbClr val="32DE84"/>
                </a:highlight>
                <a:latin typeface="Assistant"/>
                <a:ea typeface="Assistant"/>
                <a:cs typeface="Assistant"/>
                <a:sym typeface="Assistant"/>
              </a:rPr>
              <a:t>המתג</a:t>
            </a:r>
            <a:r>
              <a:rPr b="1" lang="iw" sz="2500">
                <a:solidFill>
                  <a:srgbClr val="2C3687"/>
                </a:solidFill>
                <a:highlight>
                  <a:srgbClr val="32DE84"/>
                </a:highlight>
                <a:latin typeface="Assistant"/>
                <a:ea typeface="Assistant"/>
                <a:cs typeface="Assistant"/>
                <a:sym typeface="Assistant"/>
              </a:rPr>
              <a:t>  </a:t>
            </a:r>
            <a:r>
              <a:rPr lang="iw" sz="2500">
                <a:solidFill>
                  <a:schemeClr val="lt1"/>
                </a:solidFill>
                <a:highlight>
                  <a:schemeClr val="dk1"/>
                </a:highlight>
                <a:latin typeface="Assistant"/>
                <a:ea typeface="Assistant"/>
                <a:cs typeface="Assistant"/>
                <a:sym typeface="Assistant"/>
              </a:rPr>
              <a:t>  </a:t>
            </a:r>
            <a:r>
              <a:rPr i="1" lang="iw" sz="2500">
                <a:solidFill>
                  <a:schemeClr val="lt1"/>
                </a:solidFill>
                <a:highlight>
                  <a:schemeClr val="dk1"/>
                </a:highlight>
                <a:latin typeface="Assistant"/>
                <a:ea typeface="Assistant"/>
                <a:cs typeface="Assistant"/>
                <a:sym typeface="Assistant"/>
              </a:rPr>
              <a:t>אז</a:t>
            </a:r>
            <a:r>
              <a:rPr lang="iw" sz="2500">
                <a:solidFill>
                  <a:schemeClr val="lt1"/>
                </a:solidFill>
                <a:highlight>
                  <a:schemeClr val="dk1"/>
                </a:highlight>
                <a:latin typeface="Assistant"/>
                <a:ea typeface="Assistant"/>
                <a:cs typeface="Assistant"/>
                <a:sym typeface="Assistant"/>
              </a:rPr>
              <a:t> </a:t>
            </a:r>
            <a:r>
              <a:rPr lang="iw" sz="2500">
                <a:solidFill>
                  <a:schemeClr val="lt1"/>
                </a:solidFill>
                <a:highlight>
                  <a:schemeClr val="accent6"/>
                </a:highlight>
                <a:latin typeface="Assistant"/>
                <a:ea typeface="Assistant"/>
                <a:cs typeface="Assistant"/>
                <a:sym typeface="Assistant"/>
              </a:rPr>
              <a:t>  האור נדלק  </a:t>
            </a:r>
            <a:r>
              <a:rPr lang="iw" sz="2500">
                <a:solidFill>
                  <a:schemeClr val="lt1"/>
                </a:solidFill>
                <a:highlight>
                  <a:schemeClr val="lt1"/>
                </a:highlight>
                <a:latin typeface="Assistant"/>
                <a:ea typeface="Assistant"/>
                <a:cs typeface="Assistant"/>
                <a:sym typeface="Assistant"/>
              </a:rPr>
              <a:t>,</a:t>
            </a:r>
            <a:r>
              <a:rPr lang="iw" sz="2500">
                <a:solidFill>
                  <a:schemeClr val="lt1"/>
                </a:solidFill>
                <a:highlight>
                  <a:schemeClr val="accent6"/>
                </a:highlight>
                <a:latin typeface="Assistant"/>
                <a:ea typeface="Assistant"/>
                <a:cs typeface="Assistant"/>
                <a:sym typeface="Assistant"/>
              </a:rPr>
              <a:t>    </a:t>
            </a:r>
            <a:endParaRPr sz="2500">
              <a:solidFill>
                <a:schemeClr val="lt1"/>
              </a:solidFill>
              <a:highlight>
                <a:schemeClr val="accent6"/>
              </a:highlight>
              <a:latin typeface="Assistant"/>
              <a:ea typeface="Assistant"/>
              <a:cs typeface="Assistant"/>
              <a:sym typeface="Assistant"/>
            </a:endParaRPr>
          </a:p>
          <a:p>
            <a:pPr indent="0" lvl="0" marL="0" rtl="1" algn="ctr">
              <a:spcBef>
                <a:spcPts val="1500"/>
              </a:spcBef>
              <a:spcAft>
                <a:spcPts val="1500"/>
              </a:spcAft>
              <a:buNone/>
            </a:pP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ההתנייה של </a:t>
            </a:r>
            <a:r>
              <a:rPr b="1" lang="iw" sz="1400">
                <a:solidFill>
                  <a:schemeClr val="lt1"/>
                </a:solidFill>
                <a:highlight>
                  <a:schemeClr val="dk1"/>
                </a:highlight>
                <a:latin typeface="Assistant"/>
                <a:ea typeface="Assistant"/>
                <a:cs typeface="Assistant"/>
                <a:sym typeface="Assistant"/>
              </a:rPr>
              <a:t>אם - אז</a:t>
            </a:r>
            <a:r>
              <a:rPr lang="iw" sz="1400">
                <a:solidFill>
                  <a:srgbClr val="2C36A6"/>
                </a:solidFill>
                <a:highlight>
                  <a:schemeClr val="lt1"/>
                </a:highlight>
                <a:latin typeface="Assistant"/>
                <a:ea typeface="Assistant"/>
                <a:cs typeface="Assistant"/>
                <a:sym typeface="Assistant"/>
              </a:rPr>
              <a:t> היא תנאי שאומר שאם אני עושה משהו, אז יקרה משהו.</a:t>
            </a:r>
            <a:br>
              <a:rPr lang="iw" sz="1400">
                <a:solidFill>
                  <a:srgbClr val="2C36A6"/>
                </a:solidFill>
                <a:highlight>
                  <a:schemeClr val="lt1"/>
                </a:highlight>
                <a:latin typeface="Assistant"/>
                <a:ea typeface="Assistant"/>
                <a:cs typeface="Assistant"/>
                <a:sym typeface="Assistant"/>
              </a:rPr>
            </a:br>
            <a:r>
              <a:rPr lang="iw" sz="1400">
                <a:solidFill>
                  <a:srgbClr val="2C36A6"/>
                </a:solidFill>
                <a:highlight>
                  <a:schemeClr val="lt1"/>
                </a:highlight>
                <a:latin typeface="Assistant"/>
                <a:ea typeface="Assistant"/>
                <a:cs typeface="Assistant"/>
                <a:sym typeface="Assistant"/>
              </a:rPr>
              <a:t>פעולת ה-</a:t>
            </a:r>
            <a:r>
              <a:rPr b="1" lang="iw" sz="1400">
                <a:solidFill>
                  <a:schemeClr val="lt1"/>
                </a:solidFill>
                <a:highlight>
                  <a:srgbClr val="2C3687"/>
                </a:highlight>
                <a:latin typeface="Assistant"/>
                <a:ea typeface="Assistant"/>
                <a:cs typeface="Assistant"/>
                <a:sym typeface="Assistant"/>
              </a:rPr>
              <a:t>לוחץ על</a:t>
            </a:r>
            <a:r>
              <a:rPr lang="iw" sz="1400">
                <a:solidFill>
                  <a:srgbClr val="2C36A6"/>
                </a:solidFill>
                <a:highlight>
                  <a:schemeClr val="lt1"/>
                </a:highlight>
                <a:latin typeface="Assistant"/>
                <a:ea typeface="Assistant"/>
                <a:cs typeface="Assistant"/>
                <a:sym typeface="Assistant"/>
              </a:rPr>
              <a:t> שהוא הפעולה שנעשה כדי להתחיל את התנאי.</a:t>
            </a:r>
            <a:br>
              <a:rPr lang="iw" sz="1400">
                <a:solidFill>
                  <a:srgbClr val="2C36A6"/>
                </a:solidFill>
                <a:highlight>
                  <a:schemeClr val="lt1"/>
                </a:highlight>
                <a:latin typeface="Assistant"/>
                <a:ea typeface="Assistant"/>
                <a:cs typeface="Assistant"/>
                <a:sym typeface="Assistant"/>
              </a:rPr>
            </a:br>
            <a:r>
              <a:rPr lang="iw" sz="1400">
                <a:solidFill>
                  <a:srgbClr val="2C36A6"/>
                </a:solidFill>
                <a:highlight>
                  <a:schemeClr val="lt1"/>
                </a:highlight>
                <a:latin typeface="Assistant"/>
                <a:ea typeface="Assistant"/>
                <a:cs typeface="Assistant"/>
                <a:sym typeface="Assistant"/>
              </a:rPr>
              <a:t>ה-</a:t>
            </a:r>
            <a:r>
              <a:rPr b="1" lang="iw" sz="1400">
                <a:solidFill>
                  <a:schemeClr val="lt1"/>
                </a:solidFill>
                <a:highlight>
                  <a:srgbClr val="32DE84"/>
                </a:highlight>
                <a:latin typeface="Assistant"/>
                <a:ea typeface="Assistant"/>
                <a:cs typeface="Assistant"/>
                <a:sym typeface="Assistant"/>
              </a:rPr>
              <a:t>מתג</a:t>
            </a:r>
            <a:r>
              <a:rPr lang="iw" sz="1400">
                <a:solidFill>
                  <a:srgbClr val="2C36A6"/>
                </a:solidFill>
                <a:highlight>
                  <a:schemeClr val="lt1"/>
                </a:highlight>
                <a:latin typeface="Assistant"/>
                <a:ea typeface="Assistant"/>
                <a:cs typeface="Assistant"/>
                <a:sym typeface="Assistant"/>
              </a:rPr>
              <a:t>, הוא התחל שמתחיל את הפעולה, כלומר הוא מקושר אליה ישירות והפעולה תלויה בו.</a:t>
            </a:r>
            <a:br>
              <a:rPr lang="iw" sz="1400">
                <a:solidFill>
                  <a:srgbClr val="2C36A6"/>
                </a:solidFill>
                <a:highlight>
                  <a:schemeClr val="lt1"/>
                </a:highlight>
                <a:latin typeface="Assistant"/>
                <a:ea typeface="Assistant"/>
                <a:cs typeface="Assistant"/>
                <a:sym typeface="Assistant"/>
              </a:rPr>
            </a:br>
            <a:r>
              <a:rPr lang="iw" sz="1400">
                <a:solidFill>
                  <a:srgbClr val="2C36A6"/>
                </a:solidFill>
                <a:highlight>
                  <a:schemeClr val="lt1"/>
                </a:highlight>
                <a:latin typeface="Assistant"/>
                <a:ea typeface="Assistant"/>
                <a:cs typeface="Assistant"/>
                <a:sym typeface="Assistant"/>
              </a:rPr>
              <a:t>האירוע של </a:t>
            </a:r>
            <a:r>
              <a:rPr lang="iw" sz="1400">
                <a:solidFill>
                  <a:schemeClr val="lt1"/>
                </a:solidFill>
                <a:highlight>
                  <a:schemeClr val="accent6"/>
                </a:highlight>
                <a:latin typeface="Assistant"/>
                <a:ea typeface="Assistant"/>
                <a:cs typeface="Assistant"/>
                <a:sym typeface="Assistant"/>
              </a:rPr>
              <a:t> </a:t>
            </a:r>
            <a:r>
              <a:rPr b="1" lang="iw" sz="1400">
                <a:solidFill>
                  <a:schemeClr val="lt1"/>
                </a:solidFill>
                <a:highlight>
                  <a:schemeClr val="accent6"/>
                </a:highlight>
                <a:latin typeface="Assistant"/>
                <a:ea typeface="Assistant"/>
                <a:cs typeface="Assistant"/>
                <a:sym typeface="Assistant"/>
              </a:rPr>
              <a:t>האור נדלק</a:t>
            </a:r>
            <a:r>
              <a:rPr lang="iw" sz="1400">
                <a:solidFill>
                  <a:schemeClr val="lt1"/>
                </a:solidFill>
                <a:highlight>
                  <a:schemeClr val="accent6"/>
                </a:highlight>
                <a:latin typeface="Assistant"/>
                <a:ea typeface="Assistant"/>
                <a:cs typeface="Assistant"/>
                <a:sym typeface="Assistant"/>
              </a:rPr>
              <a:t> </a:t>
            </a:r>
            <a:r>
              <a:rPr lang="iw" sz="1400">
                <a:solidFill>
                  <a:srgbClr val="2C36A6"/>
                </a:solidFill>
                <a:highlight>
                  <a:schemeClr val="lt1"/>
                </a:highlight>
                <a:latin typeface="Assistant"/>
                <a:ea typeface="Assistant"/>
                <a:cs typeface="Assistant"/>
                <a:sym typeface="Assistant"/>
              </a:rPr>
              <a:t> הוא האירוע שקרה בעקבות הפעולה שלנו.</a:t>
            </a:r>
            <a:endParaRPr sz="1400">
              <a:solidFill>
                <a:srgbClr val="374151"/>
              </a:solidFill>
              <a:highlight>
                <a:schemeClr val="lt1"/>
              </a:highlight>
              <a:latin typeface="Assistant"/>
              <a:ea typeface="Assistant"/>
              <a:cs typeface="Assistant"/>
              <a:sym typeface="Assistant"/>
            </a:endParaRPr>
          </a:p>
        </p:txBody>
      </p:sp>
      <p:sp>
        <p:nvSpPr>
          <p:cNvPr id="216" name="Google Shape;216;p25"/>
          <p:cNvSpPr txBox="1"/>
          <p:nvPr>
            <p:ph type="title"/>
          </p:nvPr>
        </p:nvSpPr>
        <p:spPr>
          <a:xfrm>
            <a:off x="311700" y="372500"/>
            <a:ext cx="85206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rgbClr val="E91D63"/>
                </a:solidFill>
                <a:latin typeface="Assistant"/>
                <a:ea typeface="Assistant"/>
                <a:cs typeface="Assistant"/>
                <a:sym typeface="Assistant"/>
              </a:rPr>
              <a:t>מה זאת לוגיקה?</a:t>
            </a:r>
            <a:endParaRPr sz="2800" b="1">
              <a:solidFill>
                <a:srgbClr val="E91D63"/>
              </a:solidFill>
              <a:latin typeface="Assistant"/>
              <a:ea typeface="Assistant"/>
              <a:cs typeface="Assistant"/>
              <a:sym typeface="Assistant"/>
            </a:endParaRPr>
          </a:p>
        </p:txBody>
      </p:sp>
      <p:pic>
        <p:nvPicPr>
          <p:cNvPr id="217" name="Google Shape;217;p25"/>
          <p:cNvPicPr preferRelativeResize="0"/>
          <p:nvPr/>
        </p:nvPicPr>
        <p:blipFill>
          <a:blip r:embed="rId4">
            <a:alphaModFix/>
          </a:blip>
          <a:stretch>
            <a:fillRect/>
          </a:stretch>
        </p:blipFill>
        <p:spPr>
          <a:xfrm>
            <a:off x="175925" y="4557100"/>
            <a:ext cx="448904" cy="391875"/>
          </a:xfrm>
          <a:prstGeom prst="rect">
            <a:avLst/>
          </a:prstGeom>
          <a:noFill/>
          <a:ln>
            <a:noFill/>
          </a:ln>
        </p:spPr>
      </p:pic>
      <p:pic>
        <p:nvPicPr>
          <p:cNvPr id="218" name="Google Shape;218;p25"/>
          <p:cNvPicPr preferRelativeResize="0"/>
          <p:nvPr/>
        </p:nvPicPr>
        <p:blipFill>
          <a:blip r:embed="rId5">
            <a:alphaModFix/>
          </a:blip>
          <a:stretch>
            <a:fillRect/>
          </a:stretch>
        </p:blipFill>
        <p:spPr>
          <a:xfrm>
            <a:off x="8220675" y="126222"/>
            <a:ext cx="771001" cy="250876"/>
          </a:xfrm>
          <a:prstGeom prst="rect">
            <a:avLst/>
          </a:prstGeom>
          <a:noFill/>
          <a:ln>
            <a:noFill/>
          </a:ln>
        </p:spPr>
      </p:pic>
      <p:pic>
        <p:nvPicPr>
          <p:cNvPr id="219" name="Google Shape;219;p25"/>
          <p:cNvPicPr preferRelativeResize="0"/>
          <p:nvPr/>
        </p:nvPicPr>
        <p:blipFill>
          <a:blip r:embed="rId6">
            <a:alphaModFix/>
          </a:blip>
          <a:stretch>
            <a:fillRect/>
          </a:stretch>
        </p:blipFill>
        <p:spPr>
          <a:xfrm>
            <a:off x="175925" y="126225"/>
            <a:ext cx="1023225" cy="391875"/>
          </a:xfrm>
          <a:prstGeom prst="rect">
            <a:avLst/>
          </a:prstGeom>
          <a:noFill/>
          <a:ln>
            <a:noFill/>
          </a:ln>
        </p:spPr>
      </p:pic>
      <p:pic>
        <p:nvPicPr>
          <p:cNvPr id="220" name="Google Shape;220;p25"/>
          <p:cNvPicPr preferRelativeResize="0"/>
          <p:nvPr/>
        </p:nvPicPr>
        <p:blipFill>
          <a:blip r:embed="rId7">
            <a:alphaModFix/>
          </a:blip>
          <a:stretch>
            <a:fillRect/>
          </a:stretch>
        </p:blipFill>
        <p:spPr>
          <a:xfrm>
            <a:off x="794775" y="4723425"/>
            <a:ext cx="457185" cy="225550"/>
          </a:xfrm>
          <a:prstGeom prst="rect">
            <a:avLst/>
          </a:prstGeom>
          <a:noFill/>
          <a:ln>
            <a:noFill/>
          </a:ln>
        </p:spPr>
      </p:pic>
      <p:sp>
        <p:nvSpPr>
          <p:cNvPr id="221" name="Google Shape;221;p25"/>
          <p:cNvSpPr txBox="1"/>
          <p:nvPr/>
        </p:nvSpPr>
        <p:spPr>
          <a:xfrm>
            <a:off x="1666800" y="2938000"/>
            <a:ext cx="7165500" cy="225600"/>
          </a:xfrm>
          <a:prstGeom prst="rect">
            <a:avLst/>
          </a:prstGeom>
          <a:noFill/>
          <a:ln>
            <a:noFill/>
          </a:ln>
        </p:spPr>
        <p:txBody>
          <a:bodyPr anchorCtr="0" anchor="t" bIns="91425" lIns="91425" spcFirstLastPara="1" rIns="91425" wrap="square" tIns="91425">
            <a:noAutofit/>
          </a:bodyPr>
          <a:lstStyle/>
          <a:p>
            <a:pPr indent="0" lvl="0" marL="0" rtl="1" algn="r">
              <a:lnSpc>
                <a:spcPct val="115000"/>
              </a:lnSpc>
              <a:spcBef>
                <a:spcPts val="0"/>
              </a:spcBef>
              <a:spcAft>
                <a:spcPts val="1500"/>
              </a:spcAft>
              <a:buNone/>
            </a:pPr>
            <a:r>
              <a:rPr lang="iw">
                <a:solidFill>
                  <a:srgbClr val="2C3687"/>
                </a:solidFill>
                <a:latin typeface="Assistant"/>
                <a:ea typeface="Assistant"/>
                <a:cs typeface="Assistant"/>
                <a:sym typeface="Assistant"/>
              </a:rPr>
              <a:t>שימו לב שכל חלק שמודגש בצבע אחר, מייצג משהו מסויים במשפט שלנו:</a:t>
            </a:r>
            <a:endParaRPr sz="1800">
              <a:solidFill>
                <a:schemeClr val="dk2"/>
              </a:solidFill>
              <a:latin typeface="Source Code Pro"/>
              <a:ea typeface="Source Code Pro"/>
              <a:cs typeface="Source Code Pro"/>
              <a:sym typeface="Source Code Pr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p26"/>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227" name="Google Shape;227;p26"/>
          <p:cNvSpPr txBox="1"/>
          <p:nvPr>
            <p:ph idx="1" type="body"/>
          </p:nvPr>
        </p:nvSpPr>
        <p:spPr>
          <a:xfrm>
            <a:off x="311700" y="1468825"/>
            <a:ext cx="8520600" cy="3192000"/>
          </a:xfrm>
          <a:prstGeom prst="rect">
            <a:avLst/>
          </a:prstGeom>
        </p:spPr>
        <p:txBody>
          <a:bodyPr anchorCtr="0" anchor="t" bIns="91425" lIns="91425" spcFirstLastPara="1" rIns="91425" wrap="square" tIns="91425">
            <a:noAutofit/>
          </a:bodyPr>
          <a:lstStyle/>
          <a:p>
            <a:pPr indent="0" lvl="0" marL="0" rtl="1" algn="r">
              <a:lnSpc>
                <a:spcPct val="105000"/>
              </a:lnSpc>
              <a:spcBef>
                <a:spcPts val="0"/>
              </a:spcBef>
              <a:spcAft>
                <a:spcPts val="0"/>
              </a:spcAft>
              <a:buSzPts val="853"/>
              <a:buNone/>
            </a:pPr>
            <a:r>
              <a:rPr lang="iw" sz="1400">
                <a:solidFill>
                  <a:srgbClr val="2C3687"/>
                </a:solidFill>
                <a:latin typeface="Assistant"/>
                <a:ea typeface="Assistant"/>
                <a:cs typeface="Assistant"/>
                <a:sym typeface="Assistant"/>
              </a:rPr>
              <a:t>לתכנת בשפה בינארית זה משהו מאוד מורכב וכמעט בלתי אפשרי לרוב האנשים, לכן בני אדם המציאו שפות תכנות ברמה גבוהה יותר, שיכולה לקצר לנו תהליכים. בנוסף בתכנות מסורתי, יש צורך גם "לקמפל", שזו פעולה שמתרגמת למחשב את השפה שלנו, לשפה הבינארית שאותה הוא מבין.</a:t>
            </a:r>
            <a:endParaRPr sz="1400">
              <a:solidFill>
                <a:srgbClr val="2C3687"/>
              </a:solidFill>
              <a:latin typeface="Assistant"/>
              <a:ea typeface="Assistant"/>
              <a:cs typeface="Assistant"/>
              <a:sym typeface="Assistant"/>
            </a:endParaRPr>
          </a:p>
          <a:p>
            <a:pPr indent="0" lvl="0" marL="0" rtl="1" algn="r">
              <a:lnSpc>
                <a:spcPct val="105000"/>
              </a:lnSpc>
              <a:spcBef>
                <a:spcPts val="1500"/>
              </a:spcBef>
              <a:spcAft>
                <a:spcPts val="0"/>
              </a:spcAft>
              <a:buSzPts val="853"/>
              <a:buNone/>
            </a:pPr>
            <a:br>
              <a:rPr lang="iw" sz="1400">
                <a:solidFill>
                  <a:srgbClr val="2C3687"/>
                </a:solidFill>
                <a:latin typeface="Assistant"/>
                <a:ea typeface="Assistant"/>
                <a:cs typeface="Assistant"/>
                <a:sym typeface="Assistant"/>
              </a:rPr>
            </a:br>
            <a:endParaRPr sz="1400">
              <a:solidFill>
                <a:srgbClr val="2C3687"/>
              </a:solidFill>
              <a:latin typeface="Assistant"/>
              <a:ea typeface="Assistant"/>
              <a:cs typeface="Assistant"/>
              <a:sym typeface="Assistant"/>
            </a:endParaRPr>
          </a:p>
          <a:p>
            <a:pPr indent="0" lvl="0" marL="0" rtl="1" algn="r">
              <a:lnSpc>
                <a:spcPct val="105000"/>
              </a:lnSpc>
              <a:spcBef>
                <a:spcPts val="1500"/>
              </a:spcBef>
              <a:spcAft>
                <a:spcPts val="0"/>
              </a:spcAft>
              <a:buSzPts val="853"/>
              <a:buNone/>
            </a:pPr>
            <a:r>
              <a:t/>
            </a:r>
            <a:endParaRPr sz="1400">
              <a:solidFill>
                <a:srgbClr val="2C3687"/>
              </a:solidFill>
              <a:latin typeface="Assistant"/>
              <a:ea typeface="Assistant"/>
              <a:cs typeface="Assistant"/>
              <a:sym typeface="Assistant"/>
            </a:endParaRPr>
          </a:p>
          <a:p>
            <a:pPr indent="0" lvl="0" marL="0" rtl="1" algn="r">
              <a:lnSpc>
                <a:spcPct val="105000"/>
              </a:lnSpc>
              <a:spcBef>
                <a:spcPts val="1500"/>
              </a:spcBef>
              <a:spcAft>
                <a:spcPts val="0"/>
              </a:spcAft>
              <a:buSzPts val="853"/>
              <a:buNone/>
            </a:pPr>
            <a:r>
              <a:t/>
            </a:r>
            <a:endParaRPr sz="1400">
              <a:solidFill>
                <a:srgbClr val="2C3687"/>
              </a:solidFill>
              <a:latin typeface="Assistant"/>
              <a:ea typeface="Assistant"/>
              <a:cs typeface="Assistant"/>
              <a:sym typeface="Assistant"/>
            </a:endParaRPr>
          </a:p>
          <a:p>
            <a:pPr indent="0" lvl="0" marL="0" rtl="1" algn="r">
              <a:lnSpc>
                <a:spcPct val="105000"/>
              </a:lnSpc>
              <a:spcBef>
                <a:spcPts val="1500"/>
              </a:spcBef>
              <a:spcAft>
                <a:spcPts val="0"/>
              </a:spcAft>
              <a:buSzPts val="853"/>
              <a:buNone/>
            </a:pPr>
            <a:r>
              <a:t/>
            </a:r>
            <a:endParaRPr sz="1400">
              <a:solidFill>
                <a:srgbClr val="2C3687"/>
              </a:solidFill>
              <a:latin typeface="Assistant"/>
              <a:ea typeface="Assistant"/>
              <a:cs typeface="Assistant"/>
              <a:sym typeface="Assistant"/>
            </a:endParaRPr>
          </a:p>
          <a:p>
            <a:pPr indent="0" lvl="0" marL="0" rtl="1" algn="r">
              <a:lnSpc>
                <a:spcPct val="105000"/>
              </a:lnSpc>
              <a:spcBef>
                <a:spcPts val="1500"/>
              </a:spcBef>
              <a:spcAft>
                <a:spcPts val="0"/>
              </a:spcAft>
              <a:buSzPts val="853"/>
              <a:buNone/>
            </a:pPr>
            <a:r>
              <a:t/>
            </a:r>
            <a:endParaRPr sz="1400">
              <a:solidFill>
                <a:srgbClr val="2C3687"/>
              </a:solidFill>
              <a:latin typeface="Assistant"/>
              <a:ea typeface="Assistant"/>
              <a:cs typeface="Assistant"/>
              <a:sym typeface="Assistant"/>
            </a:endParaRPr>
          </a:p>
          <a:p>
            <a:pPr indent="0" lvl="0" marL="0" rtl="1" algn="r">
              <a:lnSpc>
                <a:spcPct val="105000"/>
              </a:lnSpc>
              <a:spcBef>
                <a:spcPts val="1500"/>
              </a:spcBef>
              <a:spcAft>
                <a:spcPts val="1500"/>
              </a:spcAft>
              <a:buSzPts val="853"/>
              <a:buNone/>
            </a:pPr>
            <a:r>
              <a:t/>
            </a:r>
            <a:endParaRPr sz="1400">
              <a:solidFill>
                <a:srgbClr val="2C3687"/>
              </a:solidFill>
              <a:latin typeface="Assistant"/>
              <a:ea typeface="Assistant"/>
              <a:cs typeface="Assistant"/>
              <a:sym typeface="Assistant"/>
            </a:endParaRPr>
          </a:p>
        </p:txBody>
      </p:sp>
      <p:sp>
        <p:nvSpPr>
          <p:cNvPr id="228" name="Google Shape;228;p26"/>
          <p:cNvSpPr txBox="1"/>
          <p:nvPr>
            <p:ph type="title"/>
          </p:nvPr>
        </p:nvSpPr>
        <p:spPr>
          <a:xfrm>
            <a:off x="311700" y="372500"/>
            <a:ext cx="85206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rgbClr val="E91D63"/>
                </a:solidFill>
                <a:latin typeface="Assistant"/>
                <a:ea typeface="Assistant"/>
                <a:cs typeface="Assistant"/>
                <a:sym typeface="Assistant"/>
              </a:rPr>
              <a:t>שפות תכנות מסורתיות</a:t>
            </a:r>
            <a:endParaRPr sz="2800" b="1">
              <a:solidFill>
                <a:srgbClr val="E91D63"/>
              </a:solidFill>
              <a:latin typeface="Assistant"/>
              <a:ea typeface="Assistant"/>
              <a:cs typeface="Assistant"/>
              <a:sym typeface="Assistant"/>
            </a:endParaRPr>
          </a:p>
        </p:txBody>
      </p:sp>
      <p:pic>
        <p:nvPicPr>
          <p:cNvPr id="229" name="Google Shape;229;p26"/>
          <p:cNvPicPr preferRelativeResize="0"/>
          <p:nvPr/>
        </p:nvPicPr>
        <p:blipFill>
          <a:blip r:embed="rId4">
            <a:alphaModFix/>
          </a:blip>
          <a:stretch>
            <a:fillRect/>
          </a:stretch>
        </p:blipFill>
        <p:spPr>
          <a:xfrm>
            <a:off x="175925" y="4557100"/>
            <a:ext cx="448904" cy="391875"/>
          </a:xfrm>
          <a:prstGeom prst="rect">
            <a:avLst/>
          </a:prstGeom>
          <a:noFill/>
          <a:ln>
            <a:noFill/>
          </a:ln>
        </p:spPr>
      </p:pic>
      <p:pic>
        <p:nvPicPr>
          <p:cNvPr id="230" name="Google Shape;230;p26"/>
          <p:cNvPicPr preferRelativeResize="0"/>
          <p:nvPr/>
        </p:nvPicPr>
        <p:blipFill>
          <a:blip r:embed="rId5">
            <a:alphaModFix/>
          </a:blip>
          <a:stretch>
            <a:fillRect/>
          </a:stretch>
        </p:blipFill>
        <p:spPr>
          <a:xfrm>
            <a:off x="8220675" y="126222"/>
            <a:ext cx="771001" cy="250876"/>
          </a:xfrm>
          <a:prstGeom prst="rect">
            <a:avLst/>
          </a:prstGeom>
          <a:noFill/>
          <a:ln>
            <a:noFill/>
          </a:ln>
        </p:spPr>
      </p:pic>
      <p:pic>
        <p:nvPicPr>
          <p:cNvPr id="231" name="Google Shape;231;p26"/>
          <p:cNvPicPr preferRelativeResize="0"/>
          <p:nvPr/>
        </p:nvPicPr>
        <p:blipFill>
          <a:blip r:embed="rId6">
            <a:alphaModFix/>
          </a:blip>
          <a:stretch>
            <a:fillRect/>
          </a:stretch>
        </p:blipFill>
        <p:spPr>
          <a:xfrm>
            <a:off x="175925" y="126225"/>
            <a:ext cx="1023225" cy="391875"/>
          </a:xfrm>
          <a:prstGeom prst="rect">
            <a:avLst/>
          </a:prstGeom>
          <a:noFill/>
          <a:ln>
            <a:noFill/>
          </a:ln>
        </p:spPr>
      </p:pic>
      <p:pic>
        <p:nvPicPr>
          <p:cNvPr id="232" name="Google Shape;232;p26"/>
          <p:cNvPicPr preferRelativeResize="0"/>
          <p:nvPr/>
        </p:nvPicPr>
        <p:blipFill>
          <a:blip r:embed="rId7">
            <a:alphaModFix/>
          </a:blip>
          <a:stretch>
            <a:fillRect/>
          </a:stretch>
        </p:blipFill>
        <p:spPr>
          <a:xfrm>
            <a:off x="794775" y="4723425"/>
            <a:ext cx="457185" cy="2255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27"/>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238" name="Google Shape;238;p27"/>
          <p:cNvSpPr txBox="1"/>
          <p:nvPr>
            <p:ph idx="1" type="body"/>
          </p:nvPr>
        </p:nvSpPr>
        <p:spPr>
          <a:xfrm>
            <a:off x="311700" y="1468825"/>
            <a:ext cx="8520600" cy="3192000"/>
          </a:xfrm>
          <a:prstGeom prst="rect">
            <a:avLst/>
          </a:prstGeom>
        </p:spPr>
        <p:txBody>
          <a:bodyPr anchorCtr="0" anchor="t" bIns="91425" lIns="91425" spcFirstLastPara="1" rIns="91425" wrap="square" tIns="91425">
            <a:noAutofit/>
          </a:bodyPr>
          <a:lstStyle/>
          <a:p>
            <a:pPr indent="0" lvl="0" marL="0" rtl="1" algn="r">
              <a:lnSpc>
                <a:spcPct val="105000"/>
              </a:lnSpc>
              <a:spcBef>
                <a:spcPts val="0"/>
              </a:spcBef>
              <a:spcAft>
                <a:spcPts val="0"/>
              </a:spcAft>
              <a:buSzPts val="853"/>
              <a:buNone/>
            </a:pPr>
            <a:r>
              <a:rPr lang="iw" sz="1400">
                <a:solidFill>
                  <a:srgbClr val="CCCCCC"/>
                </a:solidFill>
                <a:latin typeface="Assistant"/>
                <a:ea typeface="Assistant"/>
                <a:cs typeface="Assistant"/>
                <a:sym typeface="Assistant"/>
              </a:rPr>
              <a:t>לתכנת בשפה בינארית זה משהו מאוד מורכב וכמעט בלתי אפשרי לרוב האנשים, לכן בני אדם המציאו שפות תכנות ברמה גבוהה יותר, שיכולה לקצר לנו תהליכים. בנוסף בתכנות מסורתי, יש צורך גם "לקמפל", שזו פעולה שמתרגמת למחשב את השפה שלנו, לשפה הבינארית שאותה הוא מבין.</a:t>
            </a:r>
            <a:endParaRPr sz="1400">
              <a:solidFill>
                <a:srgbClr val="CCCCCC"/>
              </a:solidFill>
              <a:latin typeface="Assistant"/>
              <a:ea typeface="Assistant"/>
              <a:cs typeface="Assistant"/>
              <a:sym typeface="Assistant"/>
            </a:endParaRPr>
          </a:p>
          <a:p>
            <a:pPr indent="0" lvl="0" marL="0" rtl="1" algn="r">
              <a:lnSpc>
                <a:spcPct val="105000"/>
              </a:lnSpc>
              <a:spcBef>
                <a:spcPts val="1500"/>
              </a:spcBef>
              <a:spcAft>
                <a:spcPts val="0"/>
              </a:spcAft>
              <a:buSzPts val="853"/>
              <a:buNone/>
            </a:pPr>
            <a:r>
              <a:rPr lang="iw" sz="1400">
                <a:solidFill>
                  <a:srgbClr val="2C3687"/>
                </a:solidFill>
                <a:latin typeface="Assistant"/>
                <a:ea typeface="Assistant"/>
                <a:cs typeface="Assistant"/>
                <a:sym typeface="Assistant"/>
              </a:rPr>
              <a:t>למשל אם נרצה לגרום למחשב לומר את המשפט </a:t>
            </a:r>
            <a:r>
              <a:rPr b="1" i="1" lang="iw" sz="1400">
                <a:solidFill>
                  <a:srgbClr val="2C3687"/>
                </a:solidFill>
                <a:latin typeface="Assistant"/>
                <a:ea typeface="Assistant"/>
                <a:cs typeface="Assistant"/>
                <a:sym typeface="Assistant"/>
              </a:rPr>
              <a:t>"Hello, My name is Ben"</a:t>
            </a:r>
            <a:r>
              <a:rPr lang="iw" sz="1400">
                <a:solidFill>
                  <a:srgbClr val="2C3687"/>
                </a:solidFill>
                <a:latin typeface="Assistant"/>
                <a:ea typeface="Assistant"/>
                <a:cs typeface="Assistant"/>
                <a:sym typeface="Assistant"/>
              </a:rPr>
              <a:t> יקח לנו שעות לחשוב על איך לכתוב את זה בשפה נמוכה וזה עוד מבלי שהתחלנו אפילו לחשוב על איך אנחנו גורמים לו להציג לנו את זה.</a:t>
            </a: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אבל בעזרת שפת תכנות גבוהה, למשל שפת פייתון, נוכל לבקש מהמחשב להציג לנו את הטקסט ככה:</a:t>
            </a:r>
            <a:endParaRPr sz="1400">
              <a:solidFill>
                <a:srgbClr val="2C3687"/>
              </a:solidFill>
              <a:latin typeface="Assistant"/>
              <a:ea typeface="Assistant"/>
              <a:cs typeface="Assistant"/>
              <a:sym typeface="Assistant"/>
            </a:endParaRPr>
          </a:p>
          <a:p>
            <a:pPr indent="0" lvl="0" marL="0" rtl="1" algn="r">
              <a:lnSpc>
                <a:spcPct val="105000"/>
              </a:lnSpc>
              <a:spcBef>
                <a:spcPts val="1500"/>
              </a:spcBef>
              <a:spcAft>
                <a:spcPts val="0"/>
              </a:spcAft>
              <a:buSzPts val="853"/>
              <a:buNone/>
            </a:pPr>
            <a:r>
              <a:t/>
            </a:r>
            <a:endParaRPr sz="1400">
              <a:solidFill>
                <a:srgbClr val="2C3687"/>
              </a:solidFill>
              <a:latin typeface="Assistant"/>
              <a:ea typeface="Assistant"/>
              <a:cs typeface="Assistant"/>
              <a:sym typeface="Assistant"/>
            </a:endParaRPr>
          </a:p>
          <a:p>
            <a:pPr indent="0" lvl="0" marL="0" rtl="1" algn="r">
              <a:lnSpc>
                <a:spcPct val="105000"/>
              </a:lnSpc>
              <a:spcBef>
                <a:spcPts val="1500"/>
              </a:spcBef>
              <a:spcAft>
                <a:spcPts val="0"/>
              </a:spcAft>
              <a:buSzPts val="853"/>
              <a:buNone/>
            </a:pP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שימו לב שכאן יש לנו פעולה של print, ובתוך הסוגריים, מה שנרצה שהמחשב ידפיס. אמנם זה נראה לנו פשוט, אבל מתחת לפעולה הזאת, יש אינספור שורות קוד בשפות נמוכות יותר כמו אסמבלי, וקוד בינארי.</a:t>
            </a:r>
            <a:br>
              <a:rPr lang="iw" sz="1400">
                <a:solidFill>
                  <a:srgbClr val="2C3687"/>
                </a:solidFill>
                <a:latin typeface="Assistant"/>
                <a:ea typeface="Assistant"/>
                <a:cs typeface="Assistant"/>
                <a:sym typeface="Assistant"/>
              </a:rPr>
            </a:br>
            <a:endParaRPr sz="1400">
              <a:solidFill>
                <a:srgbClr val="2C3687"/>
              </a:solidFill>
              <a:latin typeface="Assistant"/>
              <a:ea typeface="Assistant"/>
              <a:cs typeface="Assistant"/>
              <a:sym typeface="Assistant"/>
            </a:endParaRPr>
          </a:p>
          <a:p>
            <a:pPr indent="0" lvl="0" marL="0" rtl="1" algn="r">
              <a:lnSpc>
                <a:spcPct val="105000"/>
              </a:lnSpc>
              <a:spcBef>
                <a:spcPts val="1500"/>
              </a:spcBef>
              <a:spcAft>
                <a:spcPts val="0"/>
              </a:spcAft>
              <a:buSzPts val="853"/>
              <a:buNone/>
            </a:pPr>
            <a:r>
              <a:t/>
            </a:r>
            <a:endParaRPr sz="1400">
              <a:solidFill>
                <a:srgbClr val="2C3687"/>
              </a:solidFill>
              <a:latin typeface="Assistant"/>
              <a:ea typeface="Assistant"/>
              <a:cs typeface="Assistant"/>
              <a:sym typeface="Assistant"/>
            </a:endParaRPr>
          </a:p>
          <a:p>
            <a:pPr indent="0" lvl="0" marL="0" rtl="1" algn="r">
              <a:lnSpc>
                <a:spcPct val="105000"/>
              </a:lnSpc>
              <a:spcBef>
                <a:spcPts val="1500"/>
              </a:spcBef>
              <a:spcAft>
                <a:spcPts val="0"/>
              </a:spcAft>
              <a:buSzPts val="853"/>
              <a:buNone/>
            </a:pPr>
            <a:r>
              <a:t/>
            </a:r>
            <a:endParaRPr sz="1400">
              <a:solidFill>
                <a:srgbClr val="2C3687"/>
              </a:solidFill>
              <a:latin typeface="Assistant"/>
              <a:ea typeface="Assistant"/>
              <a:cs typeface="Assistant"/>
              <a:sym typeface="Assistant"/>
            </a:endParaRPr>
          </a:p>
          <a:p>
            <a:pPr indent="0" lvl="0" marL="0" rtl="1" algn="r">
              <a:lnSpc>
                <a:spcPct val="105000"/>
              </a:lnSpc>
              <a:spcBef>
                <a:spcPts val="1500"/>
              </a:spcBef>
              <a:spcAft>
                <a:spcPts val="0"/>
              </a:spcAft>
              <a:buSzPts val="853"/>
              <a:buNone/>
            </a:pPr>
            <a:r>
              <a:t/>
            </a:r>
            <a:endParaRPr sz="1400">
              <a:solidFill>
                <a:srgbClr val="2C3687"/>
              </a:solidFill>
              <a:latin typeface="Assistant"/>
              <a:ea typeface="Assistant"/>
              <a:cs typeface="Assistant"/>
              <a:sym typeface="Assistant"/>
            </a:endParaRPr>
          </a:p>
          <a:p>
            <a:pPr indent="0" lvl="0" marL="0" rtl="1" algn="r">
              <a:lnSpc>
                <a:spcPct val="105000"/>
              </a:lnSpc>
              <a:spcBef>
                <a:spcPts val="1500"/>
              </a:spcBef>
              <a:spcAft>
                <a:spcPts val="0"/>
              </a:spcAft>
              <a:buSzPts val="853"/>
              <a:buNone/>
            </a:pPr>
            <a:r>
              <a:t/>
            </a:r>
            <a:endParaRPr sz="1400">
              <a:solidFill>
                <a:srgbClr val="2C3687"/>
              </a:solidFill>
              <a:latin typeface="Assistant"/>
              <a:ea typeface="Assistant"/>
              <a:cs typeface="Assistant"/>
              <a:sym typeface="Assistant"/>
            </a:endParaRPr>
          </a:p>
          <a:p>
            <a:pPr indent="0" lvl="0" marL="0" rtl="1" algn="r">
              <a:lnSpc>
                <a:spcPct val="105000"/>
              </a:lnSpc>
              <a:spcBef>
                <a:spcPts val="1500"/>
              </a:spcBef>
              <a:spcAft>
                <a:spcPts val="1500"/>
              </a:spcAft>
              <a:buSzPts val="853"/>
              <a:buNone/>
            </a:pPr>
            <a:r>
              <a:t/>
            </a:r>
            <a:endParaRPr sz="1400">
              <a:solidFill>
                <a:srgbClr val="2C3687"/>
              </a:solidFill>
              <a:latin typeface="Assistant"/>
              <a:ea typeface="Assistant"/>
              <a:cs typeface="Assistant"/>
              <a:sym typeface="Assistant"/>
            </a:endParaRPr>
          </a:p>
        </p:txBody>
      </p:sp>
      <p:sp>
        <p:nvSpPr>
          <p:cNvPr id="239" name="Google Shape;239;p27"/>
          <p:cNvSpPr txBox="1"/>
          <p:nvPr>
            <p:ph type="title"/>
          </p:nvPr>
        </p:nvSpPr>
        <p:spPr>
          <a:xfrm>
            <a:off x="311700" y="372500"/>
            <a:ext cx="85206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rgbClr val="E91D63"/>
                </a:solidFill>
                <a:latin typeface="Assistant"/>
                <a:ea typeface="Assistant"/>
                <a:cs typeface="Assistant"/>
                <a:sym typeface="Assistant"/>
              </a:rPr>
              <a:t>שפות תכנות מסורתיות</a:t>
            </a:r>
            <a:endParaRPr sz="2800" b="1">
              <a:solidFill>
                <a:srgbClr val="E91D63"/>
              </a:solidFill>
              <a:latin typeface="Assistant"/>
              <a:ea typeface="Assistant"/>
              <a:cs typeface="Assistant"/>
              <a:sym typeface="Assistant"/>
            </a:endParaRPr>
          </a:p>
        </p:txBody>
      </p:sp>
      <p:pic>
        <p:nvPicPr>
          <p:cNvPr id="240" name="Google Shape;240;p27"/>
          <p:cNvPicPr preferRelativeResize="0"/>
          <p:nvPr/>
        </p:nvPicPr>
        <p:blipFill>
          <a:blip r:embed="rId4">
            <a:alphaModFix/>
          </a:blip>
          <a:stretch>
            <a:fillRect/>
          </a:stretch>
        </p:blipFill>
        <p:spPr>
          <a:xfrm>
            <a:off x="175925" y="4557100"/>
            <a:ext cx="448904" cy="391875"/>
          </a:xfrm>
          <a:prstGeom prst="rect">
            <a:avLst/>
          </a:prstGeom>
          <a:noFill/>
          <a:ln>
            <a:noFill/>
          </a:ln>
        </p:spPr>
      </p:pic>
      <p:pic>
        <p:nvPicPr>
          <p:cNvPr id="241" name="Google Shape;241;p27"/>
          <p:cNvPicPr preferRelativeResize="0"/>
          <p:nvPr/>
        </p:nvPicPr>
        <p:blipFill>
          <a:blip r:embed="rId5">
            <a:alphaModFix/>
          </a:blip>
          <a:stretch>
            <a:fillRect/>
          </a:stretch>
        </p:blipFill>
        <p:spPr>
          <a:xfrm>
            <a:off x="8220675" y="126222"/>
            <a:ext cx="771001" cy="250876"/>
          </a:xfrm>
          <a:prstGeom prst="rect">
            <a:avLst/>
          </a:prstGeom>
          <a:noFill/>
          <a:ln>
            <a:noFill/>
          </a:ln>
        </p:spPr>
      </p:pic>
      <p:pic>
        <p:nvPicPr>
          <p:cNvPr id="242" name="Google Shape;242;p27"/>
          <p:cNvPicPr preferRelativeResize="0"/>
          <p:nvPr/>
        </p:nvPicPr>
        <p:blipFill>
          <a:blip r:embed="rId6">
            <a:alphaModFix/>
          </a:blip>
          <a:stretch>
            <a:fillRect/>
          </a:stretch>
        </p:blipFill>
        <p:spPr>
          <a:xfrm>
            <a:off x="175925" y="126225"/>
            <a:ext cx="1023225" cy="391875"/>
          </a:xfrm>
          <a:prstGeom prst="rect">
            <a:avLst/>
          </a:prstGeom>
          <a:noFill/>
          <a:ln>
            <a:noFill/>
          </a:ln>
        </p:spPr>
      </p:pic>
      <p:pic>
        <p:nvPicPr>
          <p:cNvPr id="243" name="Google Shape;243;p27"/>
          <p:cNvPicPr preferRelativeResize="0"/>
          <p:nvPr/>
        </p:nvPicPr>
        <p:blipFill>
          <a:blip r:embed="rId7">
            <a:alphaModFix/>
          </a:blip>
          <a:stretch>
            <a:fillRect/>
          </a:stretch>
        </p:blipFill>
        <p:spPr>
          <a:xfrm>
            <a:off x="794775" y="4723425"/>
            <a:ext cx="457185" cy="225550"/>
          </a:xfrm>
          <a:prstGeom prst="rect">
            <a:avLst/>
          </a:prstGeom>
          <a:noFill/>
          <a:ln>
            <a:noFill/>
          </a:ln>
        </p:spPr>
      </p:pic>
      <p:pic>
        <p:nvPicPr>
          <p:cNvPr id="244" name="Google Shape;244;p27"/>
          <p:cNvPicPr preferRelativeResize="0"/>
          <p:nvPr/>
        </p:nvPicPr>
        <p:blipFill rotWithShape="1">
          <a:blip r:embed="rId8">
            <a:alphaModFix/>
          </a:blip>
          <a:srcRect b="14516" l="2088" r="3448" t="17876"/>
          <a:stretch/>
        </p:blipFill>
        <p:spPr>
          <a:xfrm>
            <a:off x="2505550" y="3212825"/>
            <a:ext cx="4132900" cy="558100"/>
          </a:xfrm>
          <a:prstGeom prst="rect">
            <a:avLst/>
          </a:prstGeom>
          <a:noFill/>
          <a:ln cap="flat" cmpd="sng" w="28575">
            <a:solidFill>
              <a:srgbClr val="17B3A9"/>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id="249" name="Google Shape;249;p28"/>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250" name="Google Shape;250;p28"/>
          <p:cNvSpPr txBox="1"/>
          <p:nvPr>
            <p:ph idx="1" type="body"/>
          </p:nvPr>
        </p:nvSpPr>
        <p:spPr>
          <a:xfrm>
            <a:off x="311700" y="1468825"/>
            <a:ext cx="8520600" cy="2967900"/>
          </a:xfrm>
          <a:prstGeom prst="rect">
            <a:avLst/>
          </a:prstGeom>
        </p:spPr>
        <p:txBody>
          <a:bodyPr anchorCtr="0" anchor="t" bIns="91425" lIns="91425" spcFirstLastPara="1" rIns="91425" wrap="square" tIns="91425">
            <a:noAutofit/>
          </a:bodyPr>
          <a:lstStyle/>
          <a:p>
            <a:pPr indent="0" lvl="0" marL="0" rtl="1" algn="r">
              <a:lnSpc>
                <a:spcPct val="85000"/>
              </a:lnSpc>
              <a:spcBef>
                <a:spcPts val="0"/>
              </a:spcBef>
              <a:spcAft>
                <a:spcPts val="0"/>
              </a:spcAft>
              <a:buSzPts val="1018"/>
              <a:buNone/>
            </a:pPr>
            <a:r>
              <a:rPr lang="iw" sz="1400">
                <a:solidFill>
                  <a:srgbClr val="2C3687"/>
                </a:solidFill>
                <a:latin typeface="Assistant"/>
                <a:ea typeface="Assistant"/>
                <a:cs typeface="Assistant"/>
                <a:sym typeface="Assistant"/>
              </a:rPr>
              <a:t>שפות תכנות מסורתיות זה עולם שלם בפני עצמו, בקורס שלנו אנחנו נלמד לבנות אפליקציות בשיטת Drag and Drop, שזו שיטה פשוטה יותר אפילו מקוד מסורתי.</a:t>
            </a:r>
            <a:r>
              <a:rPr lang="iw" sz="1400">
                <a:solidFill>
                  <a:srgbClr val="2C3687"/>
                </a:solidFill>
                <a:latin typeface="Assistant"/>
                <a:ea typeface="Assistant"/>
                <a:cs typeface="Assistant"/>
                <a:sym typeface="Assistant"/>
              </a:rPr>
              <a:t> </a:t>
            </a:r>
            <a:r>
              <a:rPr lang="iw" sz="1400">
                <a:solidFill>
                  <a:srgbClr val="2C3687"/>
                </a:solidFill>
                <a:latin typeface="Assistant"/>
                <a:ea typeface="Assistant"/>
                <a:cs typeface="Assistant"/>
                <a:sym typeface="Assistant"/>
              </a:rPr>
              <a:t>בשיטה זו נהיה מעט מוגבלים יותר לעומת החופש שיש בשפת תכנות מסורתית, אך זה יספיק לנו בשביל ללמוד את הבסיס וכדי לפתח את היצירתיות והיכולת לפתור בעיות.</a:t>
            </a:r>
            <a:endParaRPr sz="1400">
              <a:solidFill>
                <a:srgbClr val="2C3687"/>
              </a:solidFill>
              <a:latin typeface="Assistant"/>
              <a:ea typeface="Assistant"/>
              <a:cs typeface="Assistant"/>
              <a:sym typeface="Assistant"/>
            </a:endParaRPr>
          </a:p>
          <a:p>
            <a:pPr indent="0" lvl="0" marL="0" rtl="0" algn="r">
              <a:lnSpc>
                <a:spcPct val="95000"/>
              </a:lnSpc>
              <a:spcBef>
                <a:spcPts val="1500"/>
              </a:spcBef>
              <a:spcAft>
                <a:spcPts val="1500"/>
              </a:spcAft>
              <a:buSzPts val="1018"/>
              <a:buNone/>
            </a:pPr>
            <a:r>
              <a:t/>
            </a:r>
            <a:endParaRPr sz="1400">
              <a:latin typeface="Assistant"/>
              <a:ea typeface="Assistant"/>
              <a:cs typeface="Assistant"/>
              <a:sym typeface="Assistant"/>
            </a:endParaRPr>
          </a:p>
        </p:txBody>
      </p:sp>
      <p:sp>
        <p:nvSpPr>
          <p:cNvPr id="251" name="Google Shape;251;p28"/>
          <p:cNvSpPr txBox="1"/>
          <p:nvPr>
            <p:ph type="title"/>
          </p:nvPr>
        </p:nvSpPr>
        <p:spPr>
          <a:xfrm>
            <a:off x="311700" y="372500"/>
            <a:ext cx="85206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rgbClr val="E91D63"/>
                </a:solidFill>
                <a:latin typeface="Assistant"/>
                <a:ea typeface="Assistant"/>
                <a:cs typeface="Assistant"/>
                <a:sym typeface="Assistant"/>
              </a:rPr>
              <a:t>Drag and Drop </a:t>
            </a:r>
            <a:endParaRPr sz="2800" b="1">
              <a:solidFill>
                <a:srgbClr val="E91D63"/>
              </a:solidFill>
              <a:latin typeface="Assistant"/>
              <a:ea typeface="Assistant"/>
              <a:cs typeface="Assistant"/>
              <a:sym typeface="Assistant"/>
            </a:endParaRPr>
          </a:p>
        </p:txBody>
      </p:sp>
      <p:pic>
        <p:nvPicPr>
          <p:cNvPr id="252" name="Google Shape;252;p28"/>
          <p:cNvPicPr preferRelativeResize="0"/>
          <p:nvPr/>
        </p:nvPicPr>
        <p:blipFill>
          <a:blip r:embed="rId4">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5">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6">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7">
            <a:alphaModFix/>
          </a:blip>
          <a:stretch>
            <a:fillRect/>
          </a:stretch>
        </p:blipFill>
        <p:spPr>
          <a:xfrm>
            <a:off x="794775" y="4723425"/>
            <a:ext cx="457185" cy="2255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29"/>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261" name="Google Shape;261;p29"/>
          <p:cNvSpPr txBox="1"/>
          <p:nvPr>
            <p:ph idx="1" type="body"/>
          </p:nvPr>
        </p:nvSpPr>
        <p:spPr>
          <a:xfrm>
            <a:off x="311700" y="1468825"/>
            <a:ext cx="8520600" cy="2967900"/>
          </a:xfrm>
          <a:prstGeom prst="rect">
            <a:avLst/>
          </a:prstGeom>
        </p:spPr>
        <p:txBody>
          <a:bodyPr anchorCtr="0" anchor="t" bIns="91425" lIns="91425" spcFirstLastPara="1" rIns="91425" wrap="square" tIns="91425">
            <a:noAutofit/>
          </a:bodyPr>
          <a:lstStyle/>
          <a:p>
            <a:pPr indent="0" lvl="0" marL="0" rtl="1" algn="r">
              <a:lnSpc>
                <a:spcPct val="85000"/>
              </a:lnSpc>
              <a:spcBef>
                <a:spcPts val="0"/>
              </a:spcBef>
              <a:spcAft>
                <a:spcPts val="0"/>
              </a:spcAft>
              <a:buSzPts val="1018"/>
              <a:buNone/>
            </a:pPr>
            <a:r>
              <a:rPr lang="iw" sz="1400">
                <a:solidFill>
                  <a:srgbClr val="B7B7B7"/>
                </a:solidFill>
                <a:latin typeface="Assistant"/>
                <a:ea typeface="Assistant"/>
                <a:cs typeface="Assistant"/>
                <a:sym typeface="Assistant"/>
              </a:rPr>
              <a:t>שפות תכנות מסורתיות זה עולם שלם בפני עצמו, בקורס שלנו אנחנו נלמד לבנות אפליקציות בשיטת Drag and Drop, שזו שיטה פשוטה יותר אפילו מקוד מסורתי. בשיטה זו נהיה מעט מוגבלים יותר לעומת החופש שיש בשפת תכנות מסורתית, אך זה יספיק לנו בשביל ללמוד את הבסיס וכדי לפתח את היצירתיות והיכולת לפתור בעיות.</a:t>
            </a:r>
            <a:endParaRPr sz="1400">
              <a:solidFill>
                <a:srgbClr val="B7B7B7"/>
              </a:solidFill>
              <a:latin typeface="Assistant"/>
              <a:ea typeface="Assistant"/>
              <a:cs typeface="Assistant"/>
              <a:sym typeface="Assistant"/>
            </a:endParaRPr>
          </a:p>
          <a:p>
            <a:pPr indent="0" lvl="0" marL="0" rtl="1" algn="r">
              <a:lnSpc>
                <a:spcPct val="95000"/>
              </a:lnSpc>
              <a:spcBef>
                <a:spcPts val="1500"/>
              </a:spcBef>
              <a:spcAft>
                <a:spcPts val="0"/>
              </a:spcAft>
              <a:buSzPts val="1018"/>
              <a:buNone/>
            </a:pPr>
            <a:r>
              <a:rPr lang="iw" sz="1400">
                <a:solidFill>
                  <a:srgbClr val="2C3687"/>
                </a:solidFill>
                <a:latin typeface="Assistant"/>
                <a:ea typeface="Assistant"/>
                <a:cs typeface="Assistant"/>
                <a:sym typeface="Assistant"/>
              </a:rPr>
              <a:t>לעומת תכנות מסורתי, שבו מתכנתים בקוד, בשיטה זו יש לנו אובייקטים, כמו כפתור או תמונה וקיימים "בלוקים" של לוגיקה ופקודות שיופעלו על העצמים ויגרמו להם לעשות דברים.</a:t>
            </a:r>
            <a:br>
              <a:rPr lang="iw" sz="1400">
                <a:solidFill>
                  <a:srgbClr val="2C3687"/>
                </a:solidFill>
                <a:latin typeface="Assistant"/>
                <a:ea typeface="Assistant"/>
                <a:cs typeface="Assistant"/>
                <a:sym typeface="Assistant"/>
              </a:rPr>
            </a:br>
            <a:endParaRPr sz="1400">
              <a:solidFill>
                <a:srgbClr val="2C3687"/>
              </a:solidFill>
              <a:latin typeface="Assistant"/>
              <a:ea typeface="Assistant"/>
              <a:cs typeface="Assistant"/>
              <a:sym typeface="Assistant"/>
            </a:endParaRPr>
          </a:p>
          <a:p>
            <a:pPr indent="0" lvl="0" marL="0" rtl="1" algn="r">
              <a:lnSpc>
                <a:spcPct val="95000"/>
              </a:lnSpc>
              <a:spcBef>
                <a:spcPts val="1500"/>
              </a:spcBef>
              <a:spcAft>
                <a:spcPts val="0"/>
              </a:spcAft>
              <a:buSzPts val="1018"/>
              <a:buNone/>
            </a:pPr>
            <a:r>
              <a:t/>
            </a:r>
            <a:endParaRPr sz="1400">
              <a:solidFill>
                <a:srgbClr val="2C3687"/>
              </a:solidFill>
              <a:latin typeface="Assistant"/>
              <a:ea typeface="Assistant"/>
              <a:cs typeface="Assistant"/>
              <a:sym typeface="Assistant"/>
            </a:endParaRPr>
          </a:p>
          <a:p>
            <a:pPr indent="0" lvl="0" marL="0" rtl="1" algn="r">
              <a:lnSpc>
                <a:spcPct val="95000"/>
              </a:lnSpc>
              <a:spcBef>
                <a:spcPts val="1500"/>
              </a:spcBef>
              <a:spcAft>
                <a:spcPts val="0"/>
              </a:spcAft>
              <a:buSzPts val="1018"/>
              <a:buNone/>
            </a:pPr>
            <a:br>
              <a:rPr lang="iw" sz="1400">
                <a:solidFill>
                  <a:srgbClr val="2C3687"/>
                </a:solidFill>
                <a:latin typeface="Assistant"/>
                <a:ea typeface="Assistant"/>
                <a:cs typeface="Assistant"/>
                <a:sym typeface="Assistant"/>
              </a:rPr>
            </a:br>
            <a:r>
              <a:rPr lang="iw" sz="1200">
                <a:solidFill>
                  <a:srgbClr val="2C3687"/>
                </a:solidFill>
                <a:latin typeface="Assistant"/>
                <a:ea typeface="Assistant"/>
                <a:cs typeface="Assistant"/>
                <a:sym typeface="Assistant"/>
              </a:rPr>
              <a:t>תרגום של הסרטון למעלה: קובייה שאומרת ש-</a:t>
            </a:r>
            <a:r>
              <a:rPr b="1" lang="iw" sz="1200">
                <a:solidFill>
                  <a:schemeClr val="lt1"/>
                </a:solidFill>
                <a:highlight>
                  <a:srgbClr val="B18E35"/>
                </a:highlight>
                <a:latin typeface="Assistant"/>
                <a:ea typeface="Assistant"/>
                <a:cs typeface="Assistant"/>
                <a:sym typeface="Assistant"/>
              </a:rPr>
              <a:t>  כאשר נלחץ על  </a:t>
            </a:r>
            <a:r>
              <a:rPr b="1" lang="iw" sz="1200">
                <a:solidFill>
                  <a:schemeClr val="lt1"/>
                </a:solidFill>
                <a:highlight>
                  <a:srgbClr val="E5BE58"/>
                </a:highlight>
                <a:latin typeface="Assistant"/>
                <a:ea typeface="Assistant"/>
                <a:cs typeface="Assistant"/>
                <a:sym typeface="Assistant"/>
              </a:rPr>
              <a:t>  [כפתור]  </a:t>
            </a:r>
            <a:r>
              <a:rPr b="1" lang="iw" sz="1200">
                <a:solidFill>
                  <a:schemeClr val="lt1"/>
                </a:solidFill>
                <a:highlight>
                  <a:srgbClr val="B18E35"/>
                </a:highlight>
                <a:latin typeface="Assistant"/>
                <a:ea typeface="Assistant"/>
                <a:cs typeface="Assistant"/>
                <a:sym typeface="Assistant"/>
              </a:rPr>
              <a:t>   אז:  </a:t>
            </a:r>
            <a:r>
              <a:rPr b="1" lang="iw" sz="1200">
                <a:solidFill>
                  <a:schemeClr val="lt1"/>
                </a:solidFill>
                <a:highlight>
                  <a:srgbClr val="704778"/>
                </a:highlight>
                <a:latin typeface="Assistant"/>
                <a:ea typeface="Assistant"/>
                <a:cs typeface="Assistant"/>
                <a:sym typeface="Assistant"/>
              </a:rPr>
              <a:t>  (יופעל צליל) </a:t>
            </a:r>
            <a:r>
              <a:rPr b="1" lang="iw" sz="1200">
                <a:solidFill>
                  <a:schemeClr val="lt1"/>
                </a:solidFill>
                <a:highlight>
                  <a:srgbClr val="B18E35"/>
                </a:highlight>
                <a:latin typeface="Assistant"/>
                <a:ea typeface="Assistant"/>
                <a:cs typeface="Assistant"/>
                <a:sym typeface="Assistant"/>
              </a:rPr>
              <a:t>  </a:t>
            </a:r>
            <a:r>
              <a:rPr lang="iw" sz="1200">
                <a:solidFill>
                  <a:srgbClr val="2C3687"/>
                </a:solidFill>
                <a:latin typeface="Assistant"/>
                <a:ea typeface="Assistant"/>
                <a:cs typeface="Assistant"/>
                <a:sym typeface="Assistant"/>
              </a:rPr>
              <a:t>.</a:t>
            </a:r>
            <a:br>
              <a:rPr lang="iw" sz="1200">
                <a:solidFill>
                  <a:srgbClr val="2C3687"/>
                </a:solidFill>
                <a:latin typeface="Assistant"/>
                <a:ea typeface="Assistant"/>
                <a:cs typeface="Assistant"/>
                <a:sym typeface="Assistant"/>
              </a:rPr>
            </a:br>
            <a:r>
              <a:rPr b="1" lang="iw" sz="1200">
                <a:solidFill>
                  <a:schemeClr val="lt1"/>
                </a:solidFill>
                <a:highlight>
                  <a:srgbClr val="704778"/>
                </a:highlight>
                <a:latin typeface="Assistant"/>
                <a:ea typeface="Assistant"/>
                <a:cs typeface="Assistant"/>
                <a:sym typeface="Assistant"/>
              </a:rPr>
              <a:t> סגול </a:t>
            </a:r>
            <a:r>
              <a:rPr lang="iw" sz="1200">
                <a:solidFill>
                  <a:srgbClr val="2C3687"/>
                </a:solidFill>
                <a:latin typeface="Assistant"/>
                <a:ea typeface="Assistant"/>
                <a:cs typeface="Assistant"/>
                <a:sym typeface="Assistant"/>
              </a:rPr>
              <a:t> - פעולה, </a:t>
            </a:r>
            <a:r>
              <a:rPr b="1" lang="iw" sz="1200">
                <a:solidFill>
                  <a:schemeClr val="lt1"/>
                </a:solidFill>
                <a:highlight>
                  <a:srgbClr val="B18E35"/>
                </a:highlight>
                <a:latin typeface="Assistant"/>
                <a:ea typeface="Assistant"/>
                <a:cs typeface="Assistant"/>
                <a:sym typeface="Assistant"/>
              </a:rPr>
              <a:t> כתום </a:t>
            </a:r>
            <a:r>
              <a:rPr lang="iw" sz="1200">
                <a:solidFill>
                  <a:srgbClr val="2C3687"/>
                </a:solidFill>
                <a:latin typeface="Assistant"/>
                <a:ea typeface="Assistant"/>
                <a:cs typeface="Assistant"/>
                <a:sym typeface="Assistant"/>
              </a:rPr>
              <a:t> - תנאי, </a:t>
            </a:r>
            <a:r>
              <a:rPr b="1" lang="iw" sz="1200">
                <a:solidFill>
                  <a:schemeClr val="lt1"/>
                </a:solidFill>
                <a:highlight>
                  <a:srgbClr val="E5BE58"/>
                </a:highlight>
                <a:latin typeface="Assistant"/>
                <a:ea typeface="Assistant"/>
                <a:cs typeface="Assistant"/>
                <a:sym typeface="Assistant"/>
              </a:rPr>
              <a:t> כתום בהיר</a:t>
            </a:r>
            <a:r>
              <a:rPr lang="iw" sz="1200">
                <a:solidFill>
                  <a:srgbClr val="2C3687"/>
                </a:solidFill>
                <a:latin typeface="Assistant"/>
                <a:ea typeface="Assistant"/>
                <a:cs typeface="Assistant"/>
                <a:sym typeface="Assistant"/>
              </a:rPr>
              <a:t> - אובייקט</a:t>
            </a:r>
            <a:br>
              <a:rPr lang="iw" sz="1200">
                <a:solidFill>
                  <a:srgbClr val="2C3687"/>
                </a:solidFill>
                <a:latin typeface="Assistant"/>
                <a:ea typeface="Assistant"/>
                <a:cs typeface="Assistant"/>
                <a:sym typeface="Assistant"/>
              </a:rPr>
            </a:b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בעצם החלק הסגול יהיה מוכל בחלק הכתום, ושניהם ביחד יהיו מקושרים לכפתור מסוים וכאשר המשתמש ילחץ עליו, יופעל צליל שנבחר.</a:t>
            </a:r>
            <a:endParaRPr sz="1400">
              <a:solidFill>
                <a:srgbClr val="2C3687"/>
              </a:solidFill>
              <a:latin typeface="Assistant"/>
              <a:ea typeface="Assistant"/>
              <a:cs typeface="Assistant"/>
              <a:sym typeface="Assistant"/>
            </a:endParaRPr>
          </a:p>
          <a:p>
            <a:pPr indent="0" lvl="0" marL="0" rtl="0" algn="r">
              <a:lnSpc>
                <a:spcPct val="95000"/>
              </a:lnSpc>
              <a:spcBef>
                <a:spcPts val="1500"/>
              </a:spcBef>
              <a:spcAft>
                <a:spcPts val="1500"/>
              </a:spcAft>
              <a:buSzPts val="1018"/>
              <a:buNone/>
            </a:pPr>
            <a:r>
              <a:t/>
            </a:r>
            <a:endParaRPr sz="1400">
              <a:latin typeface="Assistant"/>
              <a:ea typeface="Assistant"/>
              <a:cs typeface="Assistant"/>
              <a:sym typeface="Assistant"/>
            </a:endParaRPr>
          </a:p>
        </p:txBody>
      </p:sp>
      <p:sp>
        <p:nvSpPr>
          <p:cNvPr id="262" name="Google Shape;262;p29"/>
          <p:cNvSpPr txBox="1"/>
          <p:nvPr>
            <p:ph type="title"/>
          </p:nvPr>
        </p:nvSpPr>
        <p:spPr>
          <a:xfrm>
            <a:off x="311700" y="372500"/>
            <a:ext cx="85206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rgbClr val="E91D63"/>
                </a:solidFill>
                <a:latin typeface="Assistant"/>
                <a:ea typeface="Assistant"/>
                <a:cs typeface="Assistant"/>
                <a:sym typeface="Assistant"/>
              </a:rPr>
              <a:t>Drag and Drop </a:t>
            </a:r>
            <a:endParaRPr sz="2800" b="1">
              <a:solidFill>
                <a:srgbClr val="E91D63"/>
              </a:solidFill>
              <a:latin typeface="Assistant"/>
              <a:ea typeface="Assistant"/>
              <a:cs typeface="Assistant"/>
              <a:sym typeface="Assistant"/>
            </a:endParaRPr>
          </a:p>
        </p:txBody>
      </p:sp>
      <p:pic>
        <p:nvPicPr>
          <p:cNvPr id="263" name="Google Shape;263;p29"/>
          <p:cNvPicPr preferRelativeResize="0"/>
          <p:nvPr/>
        </p:nvPicPr>
        <p:blipFill>
          <a:blip r:embed="rId4">
            <a:alphaModFix/>
          </a:blip>
          <a:stretch>
            <a:fillRect/>
          </a:stretch>
        </p:blipFill>
        <p:spPr>
          <a:xfrm>
            <a:off x="175925" y="4557100"/>
            <a:ext cx="448904" cy="391875"/>
          </a:xfrm>
          <a:prstGeom prst="rect">
            <a:avLst/>
          </a:prstGeom>
          <a:noFill/>
          <a:ln>
            <a:noFill/>
          </a:ln>
        </p:spPr>
      </p:pic>
      <p:pic>
        <p:nvPicPr>
          <p:cNvPr id="264" name="Google Shape;264;p29"/>
          <p:cNvPicPr preferRelativeResize="0"/>
          <p:nvPr/>
        </p:nvPicPr>
        <p:blipFill>
          <a:blip r:embed="rId5">
            <a:alphaModFix/>
          </a:blip>
          <a:stretch>
            <a:fillRect/>
          </a:stretch>
        </p:blipFill>
        <p:spPr>
          <a:xfrm>
            <a:off x="8220675" y="126222"/>
            <a:ext cx="771001" cy="250876"/>
          </a:xfrm>
          <a:prstGeom prst="rect">
            <a:avLst/>
          </a:prstGeom>
          <a:noFill/>
          <a:ln>
            <a:noFill/>
          </a:ln>
        </p:spPr>
      </p:pic>
      <p:pic>
        <p:nvPicPr>
          <p:cNvPr id="265" name="Google Shape;265;p29"/>
          <p:cNvPicPr preferRelativeResize="0"/>
          <p:nvPr/>
        </p:nvPicPr>
        <p:blipFill>
          <a:blip r:embed="rId6">
            <a:alphaModFix/>
          </a:blip>
          <a:stretch>
            <a:fillRect/>
          </a:stretch>
        </p:blipFill>
        <p:spPr>
          <a:xfrm>
            <a:off x="175925" y="126225"/>
            <a:ext cx="1023225" cy="391875"/>
          </a:xfrm>
          <a:prstGeom prst="rect">
            <a:avLst/>
          </a:prstGeom>
          <a:noFill/>
          <a:ln>
            <a:noFill/>
          </a:ln>
        </p:spPr>
      </p:pic>
      <p:pic>
        <p:nvPicPr>
          <p:cNvPr id="266" name="Google Shape;266;p29"/>
          <p:cNvPicPr preferRelativeResize="0"/>
          <p:nvPr/>
        </p:nvPicPr>
        <p:blipFill>
          <a:blip r:embed="rId7">
            <a:alphaModFix/>
          </a:blip>
          <a:stretch>
            <a:fillRect/>
          </a:stretch>
        </p:blipFill>
        <p:spPr>
          <a:xfrm>
            <a:off x="794775" y="4723425"/>
            <a:ext cx="457185" cy="225550"/>
          </a:xfrm>
          <a:prstGeom prst="rect">
            <a:avLst/>
          </a:prstGeom>
          <a:noFill/>
          <a:ln>
            <a:noFill/>
          </a:ln>
        </p:spPr>
      </p:pic>
      <p:pic>
        <p:nvPicPr>
          <p:cNvPr id="267" name="Google Shape;267;p29"/>
          <p:cNvPicPr preferRelativeResize="0"/>
          <p:nvPr/>
        </p:nvPicPr>
        <p:blipFill rotWithShape="1">
          <a:blip r:embed="rId8">
            <a:alphaModFix/>
          </a:blip>
          <a:srcRect b="39393" l="1988" r="38661" t="21264"/>
          <a:stretch/>
        </p:blipFill>
        <p:spPr>
          <a:xfrm>
            <a:off x="6595898" y="2893400"/>
            <a:ext cx="2126801" cy="885050"/>
          </a:xfrm>
          <a:prstGeom prst="rect">
            <a:avLst/>
          </a:prstGeom>
          <a:noFill/>
          <a:ln cap="flat" cmpd="sng" w="38100">
            <a:solidFill>
              <a:srgbClr val="17B3A9"/>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p30"/>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273" name="Google Shape;273;p30"/>
          <p:cNvSpPr txBox="1"/>
          <p:nvPr>
            <p:ph idx="1" type="body"/>
          </p:nvPr>
        </p:nvSpPr>
        <p:spPr>
          <a:xfrm>
            <a:off x="311700" y="1468825"/>
            <a:ext cx="8520600" cy="29679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sz="1400">
                <a:solidFill>
                  <a:srgbClr val="2C3687"/>
                </a:solidFill>
                <a:latin typeface="Assistant"/>
                <a:ea typeface="Assistant"/>
                <a:cs typeface="Assistant"/>
                <a:sym typeface="Assistant"/>
              </a:rPr>
              <a:t>MIT App Inventor, הוא כלי פיתוח שנוצר על ידי המכון הטכנולוגי של מסצ'וסטס (MIT), שמבוסס על שיטת Drag and Drop ומספק סביבת פיתוח פשוטה ובזמן אמת ליצירת אפליקציות למערכת ההפעלה Android (בפלאפונים, טאבלטים וכו') ולמערכת ההפעלה iOS (עם מעט הגבלות) המיועד לאנשים ללא רקע בתכנות.</a:t>
            </a:r>
            <a:endParaRPr sz="1400">
              <a:solidFill>
                <a:srgbClr val="2C3687"/>
              </a:solidFill>
              <a:latin typeface="Assistant"/>
              <a:ea typeface="Assistant"/>
              <a:cs typeface="Assistant"/>
              <a:sym typeface="Assistant"/>
            </a:endParaRPr>
          </a:p>
          <a:p>
            <a:pPr indent="0" lvl="0" marL="0" rtl="1" algn="r">
              <a:spcBef>
                <a:spcPts val="1500"/>
              </a:spcBef>
              <a:spcAft>
                <a:spcPts val="0"/>
              </a:spcAft>
              <a:buNone/>
            </a:pPr>
            <a:r>
              <a:t/>
            </a:r>
            <a:endParaRPr sz="1400">
              <a:solidFill>
                <a:srgbClr val="2C3687"/>
              </a:solidFill>
              <a:latin typeface="Assistant"/>
              <a:ea typeface="Assistant"/>
              <a:cs typeface="Assistant"/>
              <a:sym typeface="Assistant"/>
            </a:endParaRPr>
          </a:p>
          <a:p>
            <a:pPr indent="0" lvl="0" marL="0" rtl="0" algn="r">
              <a:spcBef>
                <a:spcPts val="1500"/>
              </a:spcBef>
              <a:spcAft>
                <a:spcPts val="1500"/>
              </a:spcAft>
              <a:buNone/>
            </a:pPr>
            <a:r>
              <a:t/>
            </a:r>
            <a:endParaRPr sz="1900">
              <a:latin typeface="Assistant"/>
              <a:ea typeface="Assistant"/>
              <a:cs typeface="Assistant"/>
              <a:sym typeface="Assistant"/>
            </a:endParaRPr>
          </a:p>
        </p:txBody>
      </p:sp>
      <p:sp>
        <p:nvSpPr>
          <p:cNvPr id="274" name="Google Shape;274;p30"/>
          <p:cNvSpPr txBox="1"/>
          <p:nvPr>
            <p:ph type="title"/>
          </p:nvPr>
        </p:nvSpPr>
        <p:spPr>
          <a:xfrm>
            <a:off x="311700" y="372500"/>
            <a:ext cx="85206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rgbClr val="E91D63"/>
                </a:solidFill>
                <a:latin typeface="Assistant"/>
                <a:ea typeface="Assistant"/>
                <a:cs typeface="Assistant"/>
                <a:sym typeface="Assistant"/>
              </a:rPr>
              <a:t>הסבר על MIT App Inventor</a:t>
            </a:r>
            <a:endParaRPr sz="2800" b="1">
              <a:solidFill>
                <a:srgbClr val="E91D63"/>
              </a:solidFill>
              <a:latin typeface="Assistant"/>
              <a:ea typeface="Assistant"/>
              <a:cs typeface="Assistant"/>
              <a:sym typeface="Assistant"/>
            </a:endParaRPr>
          </a:p>
        </p:txBody>
      </p:sp>
      <p:pic>
        <p:nvPicPr>
          <p:cNvPr id="275" name="Google Shape;275;p30"/>
          <p:cNvPicPr preferRelativeResize="0"/>
          <p:nvPr/>
        </p:nvPicPr>
        <p:blipFill>
          <a:blip r:embed="rId4">
            <a:alphaModFix/>
          </a:blip>
          <a:stretch>
            <a:fillRect/>
          </a:stretch>
        </p:blipFill>
        <p:spPr>
          <a:xfrm>
            <a:off x="175925" y="4557100"/>
            <a:ext cx="448904" cy="391875"/>
          </a:xfrm>
          <a:prstGeom prst="rect">
            <a:avLst/>
          </a:prstGeom>
          <a:noFill/>
          <a:ln>
            <a:noFill/>
          </a:ln>
        </p:spPr>
      </p:pic>
      <p:pic>
        <p:nvPicPr>
          <p:cNvPr id="276" name="Google Shape;276;p30"/>
          <p:cNvPicPr preferRelativeResize="0"/>
          <p:nvPr/>
        </p:nvPicPr>
        <p:blipFill>
          <a:blip r:embed="rId5">
            <a:alphaModFix/>
          </a:blip>
          <a:stretch>
            <a:fillRect/>
          </a:stretch>
        </p:blipFill>
        <p:spPr>
          <a:xfrm>
            <a:off x="8220675" y="126222"/>
            <a:ext cx="771001" cy="250876"/>
          </a:xfrm>
          <a:prstGeom prst="rect">
            <a:avLst/>
          </a:prstGeom>
          <a:noFill/>
          <a:ln>
            <a:noFill/>
          </a:ln>
        </p:spPr>
      </p:pic>
      <p:pic>
        <p:nvPicPr>
          <p:cNvPr id="277" name="Google Shape;277;p30"/>
          <p:cNvPicPr preferRelativeResize="0"/>
          <p:nvPr/>
        </p:nvPicPr>
        <p:blipFill>
          <a:blip r:embed="rId6">
            <a:alphaModFix/>
          </a:blip>
          <a:stretch>
            <a:fillRect/>
          </a:stretch>
        </p:blipFill>
        <p:spPr>
          <a:xfrm>
            <a:off x="175925" y="126225"/>
            <a:ext cx="1023225" cy="391875"/>
          </a:xfrm>
          <a:prstGeom prst="rect">
            <a:avLst/>
          </a:prstGeom>
          <a:noFill/>
          <a:ln>
            <a:noFill/>
          </a:ln>
        </p:spPr>
      </p:pic>
      <p:pic>
        <p:nvPicPr>
          <p:cNvPr id="278" name="Google Shape;278;p30"/>
          <p:cNvPicPr preferRelativeResize="0"/>
          <p:nvPr/>
        </p:nvPicPr>
        <p:blipFill>
          <a:blip r:embed="rId7">
            <a:alphaModFix/>
          </a:blip>
          <a:stretch>
            <a:fillRect/>
          </a:stretch>
        </p:blipFill>
        <p:spPr>
          <a:xfrm>
            <a:off x="794775" y="4723425"/>
            <a:ext cx="457185" cy="225550"/>
          </a:xfrm>
          <a:prstGeom prst="rect">
            <a:avLst/>
          </a:prstGeom>
          <a:noFill/>
          <a:ln>
            <a:noFill/>
          </a:ln>
        </p:spPr>
      </p:pic>
      <p:pic>
        <p:nvPicPr>
          <p:cNvPr id="279" name="Google Shape;279;p30"/>
          <p:cNvPicPr preferRelativeResize="0"/>
          <p:nvPr/>
        </p:nvPicPr>
        <p:blipFill>
          <a:blip r:embed="rId8">
            <a:alphaModFix/>
          </a:blip>
          <a:stretch>
            <a:fillRect/>
          </a:stretch>
        </p:blipFill>
        <p:spPr>
          <a:xfrm>
            <a:off x="2471775" y="2669800"/>
            <a:ext cx="3983951" cy="15271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id="284" name="Google Shape;284;p31"/>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285" name="Google Shape;285;p31"/>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sz="1400">
                <a:solidFill>
                  <a:srgbClr val="2C3687"/>
                </a:solidFill>
                <a:latin typeface="Assistant"/>
                <a:ea typeface="Assistant"/>
                <a:cs typeface="Assistant"/>
                <a:sym typeface="Assistant"/>
              </a:rPr>
              <a:t>נכנס לאתר</a:t>
            </a:r>
            <a:r>
              <a:rPr lang="iw" sz="1400">
                <a:solidFill>
                  <a:srgbClr val="0000FF"/>
                </a:solidFill>
                <a:latin typeface="Assistant"/>
                <a:ea typeface="Assistant"/>
                <a:cs typeface="Assistant"/>
                <a:sym typeface="Assistant"/>
              </a:rPr>
              <a:t> </a:t>
            </a:r>
            <a:r>
              <a:rPr lang="iw" sz="1400" u="sng">
                <a:solidFill>
                  <a:srgbClr val="0000FF"/>
                </a:solidFill>
                <a:latin typeface="Assistant"/>
                <a:ea typeface="Assistant"/>
                <a:cs typeface="Assistant"/>
                <a:sym typeface="Assistant"/>
                <a:hlinkClick r:id="rId4">
                  <a:extLst>
                    <a:ext uri="{A12FA001-AC4F-418D-AE19-62706E023703}">
                      <ahyp:hlinkClr val="tx"/>
                    </a:ext>
                  </a:extLst>
                </a:hlinkClick>
              </a:rPr>
              <a:t>https://appinventor.mit.edu/</a:t>
            </a:r>
            <a:r>
              <a:rPr lang="iw" sz="1400">
                <a:solidFill>
                  <a:srgbClr val="2C3687"/>
                </a:solidFill>
                <a:latin typeface="Assistant"/>
                <a:ea typeface="Assistant"/>
                <a:cs typeface="Assistant"/>
                <a:sym typeface="Assistant"/>
              </a:rPr>
              <a:t> ולפני שנתחיל, נצטרך להתחבר עם משתמש הגוגל שלנו. </a:t>
            </a: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נחפש את הכפתור הכתום כדי להתחבר:</a:t>
            </a:r>
            <a:br>
              <a:rPr lang="iw" sz="1400">
                <a:solidFill>
                  <a:srgbClr val="2C3687"/>
                </a:solidFill>
                <a:latin typeface="Assistant"/>
                <a:ea typeface="Assistant"/>
                <a:cs typeface="Assistant"/>
                <a:sym typeface="Assistant"/>
              </a:rPr>
            </a:br>
            <a:endParaRPr sz="1400">
              <a:solidFill>
                <a:srgbClr val="2C3687"/>
              </a:solidFill>
              <a:latin typeface="Assistant"/>
              <a:ea typeface="Assistant"/>
              <a:cs typeface="Assistant"/>
              <a:sym typeface="Assistant"/>
            </a:endParaRPr>
          </a:p>
          <a:p>
            <a:pPr indent="0" lvl="0" marL="0" rtl="1" algn="r">
              <a:spcBef>
                <a:spcPts val="1500"/>
              </a:spcBef>
              <a:spcAft>
                <a:spcPts val="0"/>
              </a:spcAft>
              <a:buNone/>
            </a:pPr>
            <a:r>
              <a:t/>
            </a:r>
            <a:endParaRPr sz="1400">
              <a:solidFill>
                <a:srgbClr val="2C3687"/>
              </a:solidFill>
              <a:latin typeface="Assistant"/>
              <a:ea typeface="Assistant"/>
              <a:cs typeface="Assistant"/>
              <a:sym typeface="Assistant"/>
            </a:endParaRPr>
          </a:p>
          <a:p>
            <a:pPr indent="0" lvl="0" marL="0" rtl="1" algn="r">
              <a:spcBef>
                <a:spcPts val="1500"/>
              </a:spcBef>
              <a:spcAft>
                <a:spcPts val="0"/>
              </a:spcAft>
              <a:buNone/>
            </a:pPr>
            <a:r>
              <a:t/>
            </a:r>
            <a:endParaRPr sz="1400">
              <a:solidFill>
                <a:srgbClr val="2C3687"/>
              </a:solidFill>
              <a:latin typeface="Assistant"/>
              <a:ea typeface="Assistant"/>
              <a:cs typeface="Assistant"/>
              <a:sym typeface="Assistant"/>
            </a:endParaRPr>
          </a:p>
          <a:p>
            <a:pPr indent="0" lvl="0" marL="0" rtl="1" algn="r">
              <a:spcBef>
                <a:spcPts val="1500"/>
              </a:spcBef>
              <a:spcAft>
                <a:spcPts val="1500"/>
              </a:spcAft>
              <a:buNone/>
            </a:pPr>
            <a:r>
              <a:t/>
            </a:r>
            <a:endParaRPr sz="1400">
              <a:solidFill>
                <a:srgbClr val="374151"/>
              </a:solidFill>
              <a:latin typeface="Assistant"/>
              <a:ea typeface="Assistant"/>
              <a:cs typeface="Assistant"/>
              <a:sym typeface="Assistant"/>
            </a:endParaRPr>
          </a:p>
        </p:txBody>
      </p:sp>
      <p:sp>
        <p:nvSpPr>
          <p:cNvPr id="286" name="Google Shape;286;p31"/>
          <p:cNvSpPr txBox="1"/>
          <p:nvPr>
            <p:ph type="title"/>
          </p:nvPr>
        </p:nvSpPr>
        <p:spPr>
          <a:xfrm>
            <a:off x="311700" y="372500"/>
            <a:ext cx="85206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chemeClr val="dk1"/>
                </a:solidFill>
                <a:latin typeface="Assistant"/>
                <a:ea typeface="Assistant"/>
                <a:cs typeface="Assistant"/>
                <a:sym typeface="Assistant"/>
              </a:rPr>
              <a:t>כניסה ראשונית והרשמה לאתר</a:t>
            </a:r>
            <a:endParaRPr b="1" sz="2800">
              <a:solidFill>
                <a:schemeClr val="dk1"/>
              </a:solidFill>
              <a:latin typeface="Assistant"/>
              <a:ea typeface="Assistant"/>
              <a:cs typeface="Assistant"/>
              <a:sym typeface="Assistant"/>
            </a:endParaRPr>
          </a:p>
        </p:txBody>
      </p:sp>
      <p:pic>
        <p:nvPicPr>
          <p:cNvPr id="287" name="Google Shape;287;p31"/>
          <p:cNvPicPr preferRelativeResize="0"/>
          <p:nvPr/>
        </p:nvPicPr>
        <p:blipFill>
          <a:blip r:embed="rId5">
            <a:alphaModFix/>
          </a:blip>
          <a:stretch>
            <a:fillRect/>
          </a:stretch>
        </p:blipFill>
        <p:spPr>
          <a:xfrm>
            <a:off x="175925" y="4557100"/>
            <a:ext cx="448904" cy="391875"/>
          </a:xfrm>
          <a:prstGeom prst="rect">
            <a:avLst/>
          </a:prstGeom>
          <a:noFill/>
          <a:ln>
            <a:noFill/>
          </a:ln>
        </p:spPr>
      </p:pic>
      <p:pic>
        <p:nvPicPr>
          <p:cNvPr id="288" name="Google Shape;288;p31"/>
          <p:cNvPicPr preferRelativeResize="0"/>
          <p:nvPr/>
        </p:nvPicPr>
        <p:blipFill>
          <a:blip r:embed="rId6">
            <a:alphaModFix/>
          </a:blip>
          <a:stretch>
            <a:fillRect/>
          </a:stretch>
        </p:blipFill>
        <p:spPr>
          <a:xfrm>
            <a:off x="8220675" y="126222"/>
            <a:ext cx="771001" cy="250876"/>
          </a:xfrm>
          <a:prstGeom prst="rect">
            <a:avLst/>
          </a:prstGeom>
          <a:noFill/>
          <a:ln>
            <a:noFill/>
          </a:ln>
        </p:spPr>
      </p:pic>
      <p:pic>
        <p:nvPicPr>
          <p:cNvPr id="289" name="Google Shape;289;p31"/>
          <p:cNvPicPr preferRelativeResize="0"/>
          <p:nvPr/>
        </p:nvPicPr>
        <p:blipFill>
          <a:blip r:embed="rId7">
            <a:alphaModFix/>
          </a:blip>
          <a:stretch>
            <a:fillRect/>
          </a:stretch>
        </p:blipFill>
        <p:spPr>
          <a:xfrm>
            <a:off x="175925" y="126225"/>
            <a:ext cx="1023225" cy="391875"/>
          </a:xfrm>
          <a:prstGeom prst="rect">
            <a:avLst/>
          </a:prstGeom>
          <a:noFill/>
          <a:ln>
            <a:noFill/>
          </a:ln>
        </p:spPr>
      </p:pic>
      <p:pic>
        <p:nvPicPr>
          <p:cNvPr id="290" name="Google Shape;290;p31"/>
          <p:cNvPicPr preferRelativeResize="0"/>
          <p:nvPr/>
        </p:nvPicPr>
        <p:blipFill>
          <a:blip r:embed="rId8">
            <a:alphaModFix/>
          </a:blip>
          <a:stretch>
            <a:fillRect/>
          </a:stretch>
        </p:blipFill>
        <p:spPr>
          <a:xfrm>
            <a:off x="794775" y="4723425"/>
            <a:ext cx="457185" cy="225550"/>
          </a:xfrm>
          <a:prstGeom prst="rect">
            <a:avLst/>
          </a:prstGeom>
          <a:noFill/>
          <a:ln>
            <a:noFill/>
          </a:ln>
        </p:spPr>
      </p:pic>
      <p:pic>
        <p:nvPicPr>
          <p:cNvPr id="291" name="Google Shape;291;p31"/>
          <p:cNvPicPr preferRelativeResize="0"/>
          <p:nvPr/>
        </p:nvPicPr>
        <p:blipFill rotWithShape="1">
          <a:blip r:embed="rId9">
            <a:alphaModFix/>
          </a:blip>
          <a:srcRect b="64637" l="0" r="0" t="0"/>
          <a:stretch/>
        </p:blipFill>
        <p:spPr>
          <a:xfrm>
            <a:off x="4519175" y="2164275"/>
            <a:ext cx="4226275" cy="1096199"/>
          </a:xfrm>
          <a:prstGeom prst="rect">
            <a:avLst/>
          </a:prstGeom>
          <a:noFill/>
          <a:ln cap="flat" cmpd="sng" w="38100">
            <a:solidFill>
              <a:srgbClr val="17B3A9"/>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pic>
        <p:nvPicPr>
          <p:cNvPr id="296" name="Google Shape;296;p32"/>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297" name="Google Shape;297;p32"/>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sz="1400">
                <a:solidFill>
                  <a:srgbClr val="2C3687"/>
                </a:solidFill>
                <a:latin typeface="Assistant"/>
                <a:ea typeface="Assistant"/>
                <a:cs typeface="Assistant"/>
                <a:sym typeface="Assistant"/>
              </a:rPr>
              <a:t>בואו נתחיל להכיר את סביבת העבודה שלנו:</a:t>
            </a: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יש שני אזורים עיקריים בסביבת העבודה: ה-Designer וה-Block Editor.</a:t>
            </a:r>
            <a:br>
              <a:rPr lang="iw" sz="1400">
                <a:solidFill>
                  <a:srgbClr val="2C3687"/>
                </a:solidFill>
                <a:latin typeface="Assistant"/>
                <a:ea typeface="Assistant"/>
                <a:cs typeface="Assistant"/>
                <a:sym typeface="Assistant"/>
              </a:rPr>
            </a:b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נוכל להחליף בין שניהם בצד ימין בתפריט העליון:</a:t>
            </a:r>
            <a:br>
              <a:rPr lang="iw" sz="1400">
                <a:solidFill>
                  <a:srgbClr val="2C3687"/>
                </a:solidFill>
                <a:latin typeface="Assistant"/>
                <a:ea typeface="Assistant"/>
                <a:cs typeface="Assistant"/>
                <a:sym typeface="Assistant"/>
              </a:rPr>
            </a:br>
            <a:endParaRPr sz="1400">
              <a:solidFill>
                <a:srgbClr val="2C3687"/>
              </a:solidFill>
              <a:latin typeface="Assistant"/>
              <a:ea typeface="Assistant"/>
              <a:cs typeface="Assistant"/>
              <a:sym typeface="Assistant"/>
            </a:endParaRPr>
          </a:p>
          <a:p>
            <a:pPr indent="0" lvl="0" marL="0" rtl="0" algn="l">
              <a:spcBef>
                <a:spcPts val="1500"/>
              </a:spcBef>
              <a:spcAft>
                <a:spcPts val="1500"/>
              </a:spcAft>
              <a:buNone/>
            </a:pPr>
            <a:r>
              <a:t/>
            </a:r>
            <a:endParaRPr sz="1400">
              <a:solidFill>
                <a:srgbClr val="2C3687"/>
              </a:solidFill>
              <a:latin typeface="Assistant"/>
              <a:ea typeface="Assistant"/>
              <a:cs typeface="Assistant"/>
              <a:sym typeface="Assistant"/>
            </a:endParaRPr>
          </a:p>
        </p:txBody>
      </p:sp>
      <p:sp>
        <p:nvSpPr>
          <p:cNvPr id="298" name="Google Shape;298;p32"/>
          <p:cNvSpPr txBox="1"/>
          <p:nvPr>
            <p:ph type="title"/>
          </p:nvPr>
        </p:nvSpPr>
        <p:spPr>
          <a:xfrm>
            <a:off x="311700" y="372500"/>
            <a:ext cx="85206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chemeClr val="dk1"/>
                </a:solidFill>
                <a:latin typeface="Assistant"/>
                <a:ea typeface="Assistant"/>
                <a:cs typeface="Assistant"/>
                <a:sym typeface="Assistant"/>
              </a:rPr>
              <a:t>סביבת העבודה </a:t>
            </a:r>
            <a:endParaRPr b="1" sz="2800">
              <a:solidFill>
                <a:schemeClr val="dk1"/>
              </a:solidFill>
              <a:latin typeface="Assistant"/>
              <a:ea typeface="Assistant"/>
              <a:cs typeface="Assistant"/>
              <a:sym typeface="Assistant"/>
            </a:endParaRPr>
          </a:p>
        </p:txBody>
      </p:sp>
      <p:pic>
        <p:nvPicPr>
          <p:cNvPr id="299" name="Google Shape;299;p32"/>
          <p:cNvPicPr preferRelativeResize="0"/>
          <p:nvPr/>
        </p:nvPicPr>
        <p:blipFill>
          <a:blip r:embed="rId4">
            <a:alphaModFix/>
          </a:blip>
          <a:stretch>
            <a:fillRect/>
          </a:stretch>
        </p:blipFill>
        <p:spPr>
          <a:xfrm>
            <a:off x="175925" y="4557100"/>
            <a:ext cx="448904" cy="391875"/>
          </a:xfrm>
          <a:prstGeom prst="rect">
            <a:avLst/>
          </a:prstGeom>
          <a:noFill/>
          <a:ln>
            <a:noFill/>
          </a:ln>
        </p:spPr>
      </p:pic>
      <p:pic>
        <p:nvPicPr>
          <p:cNvPr id="300" name="Google Shape;300;p32"/>
          <p:cNvPicPr preferRelativeResize="0"/>
          <p:nvPr/>
        </p:nvPicPr>
        <p:blipFill>
          <a:blip r:embed="rId5">
            <a:alphaModFix/>
          </a:blip>
          <a:stretch>
            <a:fillRect/>
          </a:stretch>
        </p:blipFill>
        <p:spPr>
          <a:xfrm>
            <a:off x="8220675" y="126222"/>
            <a:ext cx="771001" cy="250876"/>
          </a:xfrm>
          <a:prstGeom prst="rect">
            <a:avLst/>
          </a:prstGeom>
          <a:noFill/>
          <a:ln>
            <a:noFill/>
          </a:ln>
        </p:spPr>
      </p:pic>
      <p:pic>
        <p:nvPicPr>
          <p:cNvPr id="301" name="Google Shape;301;p32"/>
          <p:cNvPicPr preferRelativeResize="0"/>
          <p:nvPr/>
        </p:nvPicPr>
        <p:blipFill>
          <a:blip r:embed="rId6">
            <a:alphaModFix/>
          </a:blip>
          <a:stretch>
            <a:fillRect/>
          </a:stretch>
        </p:blipFill>
        <p:spPr>
          <a:xfrm>
            <a:off x="175925" y="126225"/>
            <a:ext cx="1023225" cy="391875"/>
          </a:xfrm>
          <a:prstGeom prst="rect">
            <a:avLst/>
          </a:prstGeom>
          <a:noFill/>
          <a:ln>
            <a:noFill/>
          </a:ln>
        </p:spPr>
      </p:pic>
      <p:pic>
        <p:nvPicPr>
          <p:cNvPr id="302" name="Google Shape;302;p32"/>
          <p:cNvPicPr preferRelativeResize="0"/>
          <p:nvPr/>
        </p:nvPicPr>
        <p:blipFill>
          <a:blip r:embed="rId7">
            <a:alphaModFix/>
          </a:blip>
          <a:stretch>
            <a:fillRect/>
          </a:stretch>
        </p:blipFill>
        <p:spPr>
          <a:xfrm>
            <a:off x="794775" y="4723425"/>
            <a:ext cx="457185" cy="225550"/>
          </a:xfrm>
          <a:prstGeom prst="rect">
            <a:avLst/>
          </a:prstGeom>
          <a:noFill/>
          <a:ln>
            <a:noFill/>
          </a:ln>
        </p:spPr>
      </p:pic>
      <p:pic>
        <p:nvPicPr>
          <p:cNvPr id="303" name="Google Shape;303;p32"/>
          <p:cNvPicPr preferRelativeResize="0"/>
          <p:nvPr/>
        </p:nvPicPr>
        <p:blipFill>
          <a:blip r:embed="rId8">
            <a:alphaModFix/>
          </a:blip>
          <a:stretch>
            <a:fillRect/>
          </a:stretch>
        </p:blipFill>
        <p:spPr>
          <a:xfrm>
            <a:off x="1480175" y="2669800"/>
            <a:ext cx="7253225" cy="1131500"/>
          </a:xfrm>
          <a:prstGeom prst="rect">
            <a:avLst/>
          </a:prstGeom>
          <a:noFill/>
          <a:ln cap="flat" cmpd="sng" w="38100">
            <a:solidFill>
              <a:srgbClr val="17B3A9"/>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id="308" name="Google Shape;308;p33"/>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309" name="Google Shape;309;p33"/>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sz="1400">
                <a:solidFill>
                  <a:srgbClr val="2C3687"/>
                </a:solidFill>
                <a:latin typeface="Assistant"/>
                <a:ea typeface="Assistant"/>
                <a:cs typeface="Assistant"/>
                <a:sym typeface="Assistant"/>
              </a:rPr>
              <a:t>ה-Block Editor מאפשר לנו </a:t>
            </a:r>
            <a:r>
              <a:rPr b="1" i="1" lang="iw" sz="1400">
                <a:solidFill>
                  <a:srgbClr val="2C3687"/>
                </a:solidFill>
                <a:latin typeface="Assistant"/>
                <a:ea typeface="Assistant"/>
                <a:cs typeface="Assistant"/>
                <a:sym typeface="Assistant"/>
              </a:rPr>
              <a:t>לתכנת</a:t>
            </a:r>
            <a:r>
              <a:rPr i="1" lang="iw" sz="1400">
                <a:solidFill>
                  <a:srgbClr val="2C3687"/>
                </a:solidFill>
                <a:latin typeface="Assistant"/>
                <a:ea typeface="Assistant"/>
                <a:cs typeface="Assistant"/>
                <a:sym typeface="Assistant"/>
              </a:rPr>
              <a:t> </a:t>
            </a:r>
            <a:r>
              <a:rPr lang="iw" sz="1400">
                <a:solidFill>
                  <a:srgbClr val="2C3687"/>
                </a:solidFill>
                <a:latin typeface="Assistant"/>
                <a:ea typeface="Assistant"/>
                <a:cs typeface="Assistant"/>
                <a:sym typeface="Assistant"/>
              </a:rPr>
              <a:t>את האפליקציה</a:t>
            </a: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ולתת לה פונקציונליות - כלומר, לגרום לה לעשות דברים!</a:t>
            </a: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כאן בעצם יהיה החלק של </a:t>
            </a:r>
            <a:r>
              <a:rPr b="1" lang="iw" sz="1400">
                <a:solidFill>
                  <a:schemeClr val="lt1"/>
                </a:solidFill>
                <a:highlight>
                  <a:srgbClr val="17B3A9"/>
                </a:highlight>
                <a:latin typeface="Assistant"/>
                <a:ea typeface="Assistant"/>
                <a:cs typeface="Assistant"/>
                <a:sym typeface="Assistant"/>
              </a:rPr>
              <a:t>הלוגיקה</a:t>
            </a:r>
            <a:r>
              <a:rPr lang="iw" sz="1400">
                <a:solidFill>
                  <a:srgbClr val="2C3687"/>
                </a:solidFill>
                <a:latin typeface="Assistant"/>
                <a:ea typeface="Assistant"/>
                <a:cs typeface="Assistant"/>
                <a:sym typeface="Assistant"/>
              </a:rPr>
              <a:t>.</a:t>
            </a:r>
            <a:br>
              <a:rPr lang="iw" sz="1400">
                <a:solidFill>
                  <a:srgbClr val="2C3687"/>
                </a:solidFill>
                <a:latin typeface="Assistant"/>
                <a:ea typeface="Assistant"/>
                <a:cs typeface="Assistant"/>
                <a:sym typeface="Assistant"/>
              </a:rPr>
            </a:b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עליו נרחיב בהמשך כשנתחיל לעבוד על האפליקציה שלנו.</a:t>
            </a:r>
            <a:endParaRPr sz="1400">
              <a:solidFill>
                <a:srgbClr val="2C3687"/>
              </a:solidFill>
              <a:latin typeface="Assistant"/>
              <a:ea typeface="Assistant"/>
              <a:cs typeface="Assistant"/>
              <a:sym typeface="Assistant"/>
            </a:endParaRPr>
          </a:p>
          <a:p>
            <a:pPr indent="0" lvl="0" marL="0" rtl="0" algn="l">
              <a:spcBef>
                <a:spcPts val="1500"/>
              </a:spcBef>
              <a:spcAft>
                <a:spcPts val="1500"/>
              </a:spcAft>
              <a:buNone/>
            </a:pPr>
            <a:r>
              <a:t/>
            </a:r>
            <a:endParaRPr sz="1400">
              <a:solidFill>
                <a:srgbClr val="2C3687"/>
              </a:solidFill>
              <a:latin typeface="Assistant"/>
              <a:ea typeface="Assistant"/>
              <a:cs typeface="Assistant"/>
              <a:sym typeface="Assistant"/>
            </a:endParaRPr>
          </a:p>
        </p:txBody>
      </p:sp>
      <p:sp>
        <p:nvSpPr>
          <p:cNvPr id="310" name="Google Shape;310;p33"/>
          <p:cNvSpPr txBox="1"/>
          <p:nvPr>
            <p:ph type="title"/>
          </p:nvPr>
        </p:nvSpPr>
        <p:spPr>
          <a:xfrm>
            <a:off x="311700" y="372500"/>
            <a:ext cx="85206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chemeClr val="dk1"/>
                </a:solidFill>
                <a:latin typeface="Assistant"/>
                <a:ea typeface="Assistant"/>
                <a:cs typeface="Assistant"/>
                <a:sym typeface="Assistant"/>
              </a:rPr>
              <a:t>ה-Block Editor</a:t>
            </a:r>
            <a:endParaRPr b="1" sz="2800">
              <a:solidFill>
                <a:schemeClr val="dk1"/>
              </a:solidFill>
              <a:latin typeface="Assistant"/>
              <a:ea typeface="Assistant"/>
              <a:cs typeface="Assistant"/>
              <a:sym typeface="Assistant"/>
            </a:endParaRPr>
          </a:p>
        </p:txBody>
      </p:sp>
      <p:pic>
        <p:nvPicPr>
          <p:cNvPr id="311" name="Google Shape;311;p33"/>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312" name="Google Shape;312;p33"/>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313" name="Google Shape;313;p33"/>
          <p:cNvPicPr preferRelativeResize="0"/>
          <p:nvPr/>
        </p:nvPicPr>
        <p:blipFill>
          <a:blip r:embed="rId6">
            <a:alphaModFix/>
          </a:blip>
          <a:stretch>
            <a:fillRect/>
          </a:stretch>
        </p:blipFill>
        <p:spPr>
          <a:xfrm>
            <a:off x="210575" y="822050"/>
            <a:ext cx="4421748" cy="3982075"/>
          </a:xfrm>
          <a:prstGeom prst="rect">
            <a:avLst/>
          </a:prstGeom>
          <a:noFill/>
          <a:ln cap="flat" cmpd="sng" w="38100">
            <a:solidFill>
              <a:srgbClr val="17B3A9"/>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id="318" name="Google Shape;318;p34"/>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319" name="Google Shape;319;p34"/>
          <p:cNvSpPr txBox="1"/>
          <p:nvPr>
            <p:ph idx="1" type="body"/>
          </p:nvPr>
        </p:nvSpPr>
        <p:spPr>
          <a:xfrm>
            <a:off x="311700" y="1468825"/>
            <a:ext cx="3964500" cy="30999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sz="1400">
                <a:solidFill>
                  <a:srgbClr val="2C3687"/>
                </a:solidFill>
                <a:latin typeface="Assistant"/>
                <a:ea typeface="Assistant"/>
                <a:cs typeface="Assistant"/>
                <a:sym typeface="Assistant"/>
              </a:rPr>
              <a:t>ה-Designer מאפשר לנו להוסיף </a:t>
            </a:r>
            <a:r>
              <a:rPr b="1" i="1" lang="iw" sz="1400">
                <a:solidFill>
                  <a:srgbClr val="2C3687"/>
                </a:solidFill>
                <a:latin typeface="Assistant"/>
                <a:ea typeface="Assistant"/>
                <a:cs typeface="Assistant"/>
                <a:sym typeface="Assistant"/>
              </a:rPr>
              <a:t>רכיבים</a:t>
            </a:r>
            <a:r>
              <a:rPr i="1" lang="iw" sz="1400">
                <a:solidFill>
                  <a:srgbClr val="2C3687"/>
                </a:solidFill>
                <a:latin typeface="Assistant"/>
                <a:ea typeface="Assistant"/>
                <a:cs typeface="Assistant"/>
                <a:sym typeface="Assistant"/>
              </a:rPr>
              <a:t> </a:t>
            </a:r>
            <a:r>
              <a:rPr lang="iw" sz="1400">
                <a:solidFill>
                  <a:srgbClr val="2C3687"/>
                </a:solidFill>
                <a:latin typeface="Assistant"/>
                <a:ea typeface="Assistant"/>
                <a:cs typeface="Assistant"/>
                <a:sym typeface="Assistant"/>
              </a:rPr>
              <a:t>לאפליקציה</a:t>
            </a: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 ולהניח יסודות לאיך שנרצה </a:t>
            </a:r>
            <a:r>
              <a:rPr b="1" lang="iw" sz="1400">
                <a:solidFill>
                  <a:schemeClr val="lt1"/>
                </a:solidFill>
                <a:highlight>
                  <a:schemeClr val="dk1"/>
                </a:highlight>
                <a:latin typeface="Assistant"/>
                <a:ea typeface="Assistant"/>
                <a:cs typeface="Assistant"/>
                <a:sym typeface="Assistant"/>
              </a:rPr>
              <a:t>שהיא תראה</a:t>
            </a:r>
            <a:r>
              <a:rPr lang="iw" sz="1400">
                <a:solidFill>
                  <a:srgbClr val="2C3687"/>
                </a:solidFill>
                <a:latin typeface="Assistant"/>
                <a:ea typeface="Assistant"/>
                <a:cs typeface="Assistant"/>
                <a:sym typeface="Assistant"/>
              </a:rPr>
              <a:t>.</a:t>
            </a:r>
            <a:endParaRPr b="1" sz="1400">
              <a:solidFill>
                <a:schemeClr val="lt1"/>
              </a:solidFill>
              <a:highlight>
                <a:schemeClr val="dk1"/>
              </a:highlight>
              <a:latin typeface="Assistant"/>
              <a:ea typeface="Assistant"/>
              <a:cs typeface="Assistant"/>
              <a:sym typeface="Assistant"/>
            </a:endParaRPr>
          </a:p>
          <a:p>
            <a:pPr indent="0" lvl="0" marL="0" rtl="0" algn="l">
              <a:spcBef>
                <a:spcPts val="1500"/>
              </a:spcBef>
              <a:spcAft>
                <a:spcPts val="1500"/>
              </a:spcAft>
              <a:buNone/>
            </a:pPr>
            <a:r>
              <a:t/>
            </a:r>
            <a:endParaRPr sz="1400">
              <a:solidFill>
                <a:srgbClr val="2C3687"/>
              </a:solidFill>
              <a:latin typeface="Assistant"/>
              <a:ea typeface="Assistant"/>
              <a:cs typeface="Assistant"/>
              <a:sym typeface="Assistant"/>
            </a:endParaRPr>
          </a:p>
        </p:txBody>
      </p:sp>
      <p:sp>
        <p:nvSpPr>
          <p:cNvPr id="320" name="Google Shape;320;p34"/>
          <p:cNvSpPr txBox="1"/>
          <p:nvPr>
            <p:ph type="title"/>
          </p:nvPr>
        </p:nvSpPr>
        <p:spPr>
          <a:xfrm>
            <a:off x="311700" y="372500"/>
            <a:ext cx="39948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chemeClr val="dk1"/>
                </a:solidFill>
                <a:latin typeface="Assistant"/>
                <a:ea typeface="Assistant"/>
                <a:cs typeface="Assistant"/>
                <a:sym typeface="Assistant"/>
              </a:rPr>
              <a:t>ה-Designer</a:t>
            </a:r>
            <a:endParaRPr b="1" sz="2800">
              <a:solidFill>
                <a:schemeClr val="dk1"/>
              </a:solidFill>
              <a:latin typeface="Assistant"/>
              <a:ea typeface="Assistant"/>
              <a:cs typeface="Assistant"/>
              <a:sym typeface="Assistant"/>
            </a:endParaRPr>
          </a:p>
        </p:txBody>
      </p:sp>
      <p:pic>
        <p:nvPicPr>
          <p:cNvPr id="321" name="Google Shape;321;p34"/>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322" name="Google Shape;322;p34"/>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323" name="Google Shape;323;p34"/>
          <p:cNvPicPr preferRelativeResize="0"/>
          <p:nvPr/>
        </p:nvPicPr>
        <p:blipFill>
          <a:blip r:embed="rId6">
            <a:alphaModFix/>
          </a:blip>
          <a:stretch>
            <a:fillRect/>
          </a:stretch>
        </p:blipFill>
        <p:spPr>
          <a:xfrm>
            <a:off x="175925" y="4557100"/>
            <a:ext cx="448904" cy="391875"/>
          </a:xfrm>
          <a:prstGeom prst="rect">
            <a:avLst/>
          </a:prstGeom>
          <a:noFill/>
          <a:ln>
            <a:noFill/>
          </a:ln>
        </p:spPr>
      </p:pic>
      <p:pic>
        <p:nvPicPr>
          <p:cNvPr id="324" name="Google Shape;324;p34"/>
          <p:cNvPicPr preferRelativeResize="0"/>
          <p:nvPr/>
        </p:nvPicPr>
        <p:blipFill>
          <a:blip r:embed="rId7">
            <a:alphaModFix/>
          </a:blip>
          <a:stretch>
            <a:fillRect/>
          </a:stretch>
        </p:blipFill>
        <p:spPr>
          <a:xfrm>
            <a:off x="794775" y="4723425"/>
            <a:ext cx="457185" cy="225550"/>
          </a:xfrm>
          <a:prstGeom prst="rect">
            <a:avLst/>
          </a:prstGeom>
          <a:noFill/>
          <a:ln>
            <a:noFill/>
          </a:ln>
        </p:spPr>
      </p:pic>
      <p:pic>
        <p:nvPicPr>
          <p:cNvPr id="325" name="Google Shape;325;p34"/>
          <p:cNvPicPr preferRelativeResize="0"/>
          <p:nvPr/>
        </p:nvPicPr>
        <p:blipFill>
          <a:blip r:embed="rId8">
            <a:alphaModFix/>
          </a:blip>
          <a:stretch>
            <a:fillRect/>
          </a:stretch>
        </p:blipFill>
        <p:spPr>
          <a:xfrm>
            <a:off x="4458900" y="529498"/>
            <a:ext cx="4532700" cy="4291171"/>
          </a:xfrm>
          <a:prstGeom prst="rect">
            <a:avLst/>
          </a:prstGeom>
          <a:noFill/>
          <a:ln cap="flat" cmpd="sng" w="38100">
            <a:solidFill>
              <a:srgbClr val="17B3A9"/>
            </a:solidFill>
            <a:prstDash val="solid"/>
            <a:round/>
            <a:headEnd len="sm" w="sm" type="none"/>
            <a:tailEnd len="sm" w="sm" type="none"/>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id="330" name="Google Shape;330;p35"/>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331" name="Google Shape;331;p35"/>
          <p:cNvSpPr txBox="1"/>
          <p:nvPr>
            <p:ph idx="1" type="body"/>
          </p:nvPr>
        </p:nvSpPr>
        <p:spPr>
          <a:xfrm>
            <a:off x="60750" y="1468700"/>
            <a:ext cx="4245900" cy="3099900"/>
          </a:xfrm>
          <a:prstGeom prst="rect">
            <a:avLst/>
          </a:prstGeom>
        </p:spPr>
        <p:txBody>
          <a:bodyPr anchorCtr="0" anchor="t" bIns="91425" lIns="91425" spcFirstLastPara="1" rIns="91425" wrap="square" tIns="91425">
            <a:noAutofit/>
          </a:bodyPr>
          <a:lstStyle/>
          <a:p>
            <a:pPr indent="0" lvl="0" marL="0" rtl="1" algn="r">
              <a:lnSpc>
                <a:spcPct val="105000"/>
              </a:lnSpc>
              <a:spcBef>
                <a:spcPts val="0"/>
              </a:spcBef>
              <a:spcAft>
                <a:spcPts val="0"/>
              </a:spcAft>
              <a:buSzPts val="688"/>
              <a:buNone/>
            </a:pPr>
            <a:r>
              <a:rPr lang="iw" sz="1400">
                <a:solidFill>
                  <a:srgbClr val="2C3687"/>
                </a:solidFill>
                <a:latin typeface="Assistant"/>
                <a:ea typeface="Assistant"/>
                <a:cs typeface="Assistant"/>
                <a:sym typeface="Assistant"/>
              </a:rPr>
              <a:t>באזור ה-Designer, יש 5 חלונות:</a:t>
            </a:r>
            <a:br>
              <a:rPr lang="iw" sz="1400">
                <a:solidFill>
                  <a:srgbClr val="2C3687"/>
                </a:solidFill>
                <a:latin typeface="Assistant"/>
                <a:ea typeface="Assistant"/>
                <a:cs typeface="Assistant"/>
                <a:sym typeface="Assistant"/>
              </a:rPr>
            </a:br>
            <a:r>
              <a:rPr b="1" lang="iw" sz="1400">
                <a:solidFill>
                  <a:schemeClr val="lt1"/>
                </a:solidFill>
                <a:highlight>
                  <a:schemeClr val="dk1"/>
                </a:highlight>
                <a:latin typeface="Assistant"/>
                <a:ea typeface="Assistant"/>
                <a:cs typeface="Assistant"/>
                <a:sym typeface="Assistant"/>
              </a:rPr>
              <a:t>Palette</a:t>
            </a:r>
            <a:r>
              <a:rPr lang="iw" sz="1400">
                <a:solidFill>
                  <a:srgbClr val="2C3687"/>
                </a:solidFill>
                <a:highlight>
                  <a:schemeClr val="lt1"/>
                </a:highlight>
                <a:latin typeface="Assistant"/>
                <a:ea typeface="Assistant"/>
                <a:cs typeface="Assistant"/>
                <a:sym typeface="Assistant"/>
              </a:rPr>
              <a:t>,</a:t>
            </a:r>
            <a:r>
              <a:rPr lang="iw" sz="1400">
                <a:solidFill>
                  <a:srgbClr val="2C3687"/>
                </a:solidFill>
                <a:latin typeface="Assistant"/>
                <a:ea typeface="Assistant"/>
                <a:cs typeface="Assistant"/>
                <a:sym typeface="Assistant"/>
              </a:rPr>
              <a:t> Viewer, Components, Media, Properties</a:t>
            </a:r>
            <a:br>
              <a:rPr lang="iw" sz="1400">
                <a:solidFill>
                  <a:srgbClr val="2C3687"/>
                </a:solidFill>
                <a:latin typeface="Assistant"/>
                <a:ea typeface="Assistant"/>
                <a:cs typeface="Assistant"/>
                <a:sym typeface="Assistant"/>
              </a:rPr>
            </a:br>
            <a:br>
              <a:rPr lang="iw" sz="1400">
                <a:solidFill>
                  <a:srgbClr val="2C3687"/>
                </a:solidFill>
                <a:latin typeface="Assistant"/>
                <a:ea typeface="Assistant"/>
                <a:cs typeface="Assistant"/>
                <a:sym typeface="Assistant"/>
              </a:rPr>
            </a:br>
            <a:r>
              <a:rPr lang="iw" sz="1400" u="sng" b="1">
                <a:solidFill>
                  <a:srgbClr val="17B3A9"/>
                </a:solidFill>
                <a:latin typeface="Assistant"/>
                <a:ea typeface="Assistant"/>
                <a:cs typeface="Assistant"/>
                <a:sym typeface="Assistant"/>
              </a:rPr>
              <a:t>Palette (הפאלטה)</a:t>
            </a:r>
            <a:br>
              <a:rPr lang="iw" sz="1400" u="sng" b="1">
                <a:solidFill>
                  <a:srgbClr val="17B3A9"/>
                </a:solidFill>
                <a:latin typeface="Assistant"/>
                <a:ea typeface="Assistant"/>
                <a:cs typeface="Assistant"/>
                <a:sym typeface="Assistant"/>
              </a:rPr>
            </a:br>
            <a:r>
              <a:rPr lang="iw" sz="1400">
                <a:solidFill>
                  <a:srgbClr val="2C3687"/>
                </a:solidFill>
                <a:latin typeface="Assistant"/>
                <a:ea typeface="Assistant"/>
                <a:cs typeface="Assistant"/>
                <a:sym typeface="Assistant"/>
              </a:rPr>
              <a:t>נמצא בצד השמאלי ביותר. באזור הזה נמצאים כל הרכיבים.</a:t>
            </a: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מכאן אפשר לתפוס ולגרור כל רכיב אל תוך ה-Viewer.</a:t>
            </a:r>
            <a:endParaRPr sz="1400">
              <a:solidFill>
                <a:srgbClr val="2C3687"/>
              </a:solidFill>
              <a:latin typeface="Assistant"/>
              <a:ea typeface="Assistant"/>
              <a:cs typeface="Assistant"/>
              <a:sym typeface="Assistant"/>
            </a:endParaRPr>
          </a:p>
          <a:p>
            <a:pPr indent="0" lvl="0" marL="0" rtl="1" algn="r">
              <a:lnSpc>
                <a:spcPct val="105000"/>
              </a:lnSpc>
              <a:spcBef>
                <a:spcPts val="1500"/>
              </a:spcBef>
              <a:spcAft>
                <a:spcPts val="0"/>
              </a:spcAft>
              <a:buSzPts val="688"/>
              <a:buNone/>
            </a:pPr>
            <a:r>
              <a:rPr lang="iw" sz="1400">
                <a:solidFill>
                  <a:srgbClr val="2C3687"/>
                </a:solidFill>
                <a:latin typeface="Assistant"/>
                <a:ea typeface="Assistant"/>
                <a:cs typeface="Assistant"/>
                <a:sym typeface="Assistant"/>
              </a:rPr>
              <a:t>כאן נוכל למצוא כפתורים, סליידרים, תיבות טקסט, להוסיף חיישנים וכו'.</a:t>
            </a:r>
            <a:endParaRPr sz="1400">
              <a:solidFill>
                <a:srgbClr val="2C3687"/>
              </a:solidFill>
              <a:latin typeface="Assistant"/>
              <a:ea typeface="Assistant"/>
              <a:cs typeface="Assistant"/>
              <a:sym typeface="Assistant"/>
            </a:endParaRPr>
          </a:p>
          <a:p>
            <a:pPr indent="0" lvl="0" marL="0" rtl="0" algn="l">
              <a:lnSpc>
                <a:spcPct val="105000"/>
              </a:lnSpc>
              <a:spcBef>
                <a:spcPts val="1500"/>
              </a:spcBef>
              <a:spcAft>
                <a:spcPts val="0"/>
              </a:spcAft>
              <a:buSzPts val="688"/>
              <a:buNone/>
            </a:pPr>
            <a:r>
              <a:t/>
            </a:r>
            <a:endParaRPr sz="1400">
              <a:solidFill>
                <a:srgbClr val="333333"/>
              </a:solidFill>
              <a:highlight>
                <a:schemeClr val="lt1"/>
              </a:highlight>
              <a:latin typeface="Arial"/>
              <a:ea typeface="Arial"/>
              <a:cs typeface="Arial"/>
              <a:sym typeface="Arial"/>
            </a:endParaRPr>
          </a:p>
          <a:p>
            <a:pPr indent="0" lvl="0" marL="0" rtl="1" algn="r">
              <a:lnSpc>
                <a:spcPct val="105000"/>
              </a:lnSpc>
              <a:spcBef>
                <a:spcPts val="1000"/>
              </a:spcBef>
              <a:spcAft>
                <a:spcPts val="0"/>
              </a:spcAft>
              <a:buSzPts val="688"/>
              <a:buNone/>
            </a:pPr>
            <a:r>
              <a:t/>
            </a:r>
            <a:endParaRPr sz="1400">
              <a:solidFill>
                <a:srgbClr val="2C3687"/>
              </a:solidFill>
              <a:latin typeface="Assistant"/>
              <a:ea typeface="Assistant"/>
              <a:cs typeface="Assistant"/>
              <a:sym typeface="Assistant"/>
            </a:endParaRPr>
          </a:p>
          <a:p>
            <a:pPr indent="0" lvl="0" marL="0" rtl="0" algn="l">
              <a:lnSpc>
                <a:spcPct val="105000"/>
              </a:lnSpc>
              <a:spcBef>
                <a:spcPts val="1500"/>
              </a:spcBef>
              <a:spcAft>
                <a:spcPts val="0"/>
              </a:spcAft>
              <a:buSzPts val="688"/>
              <a:buNone/>
            </a:pPr>
            <a:r>
              <a:t/>
            </a:r>
            <a:endParaRPr sz="1400">
              <a:solidFill>
                <a:srgbClr val="2C3687"/>
              </a:solidFill>
              <a:latin typeface="Assistant"/>
              <a:ea typeface="Assistant"/>
              <a:cs typeface="Assistant"/>
              <a:sym typeface="Assistant"/>
            </a:endParaRPr>
          </a:p>
          <a:p>
            <a:pPr indent="0" lvl="0" marL="0" rtl="1" algn="r">
              <a:lnSpc>
                <a:spcPct val="105000"/>
              </a:lnSpc>
              <a:spcBef>
                <a:spcPts val="1500"/>
              </a:spcBef>
              <a:spcAft>
                <a:spcPts val="0"/>
              </a:spcAft>
              <a:buSzPts val="688"/>
              <a:buNone/>
            </a:pPr>
            <a:r>
              <a:t/>
            </a:r>
            <a:endParaRPr sz="1400">
              <a:solidFill>
                <a:srgbClr val="2C3687"/>
              </a:solidFill>
              <a:latin typeface="Assistant"/>
              <a:ea typeface="Assistant"/>
              <a:cs typeface="Assistant"/>
              <a:sym typeface="Assistant"/>
            </a:endParaRPr>
          </a:p>
          <a:p>
            <a:pPr indent="0" lvl="0" marL="0" rtl="0" algn="l">
              <a:lnSpc>
                <a:spcPct val="105000"/>
              </a:lnSpc>
              <a:spcBef>
                <a:spcPts val="1500"/>
              </a:spcBef>
              <a:spcAft>
                <a:spcPts val="1500"/>
              </a:spcAft>
              <a:buSzPts val="688"/>
              <a:buNone/>
            </a:pPr>
            <a:r>
              <a:t/>
            </a:r>
            <a:endParaRPr sz="1400">
              <a:solidFill>
                <a:srgbClr val="2C3687"/>
              </a:solidFill>
              <a:latin typeface="Assistant"/>
              <a:ea typeface="Assistant"/>
              <a:cs typeface="Assistant"/>
              <a:sym typeface="Assistant"/>
            </a:endParaRPr>
          </a:p>
        </p:txBody>
      </p:sp>
      <p:sp>
        <p:nvSpPr>
          <p:cNvPr id="332" name="Google Shape;332;p35"/>
          <p:cNvSpPr txBox="1"/>
          <p:nvPr>
            <p:ph type="title"/>
          </p:nvPr>
        </p:nvSpPr>
        <p:spPr>
          <a:xfrm>
            <a:off x="311700" y="372500"/>
            <a:ext cx="39948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chemeClr val="dk1"/>
                </a:solidFill>
                <a:latin typeface="Assistant"/>
                <a:ea typeface="Assistant"/>
                <a:cs typeface="Assistant"/>
                <a:sym typeface="Assistant"/>
              </a:rPr>
              <a:t>ה-Designer</a:t>
            </a:r>
            <a:endParaRPr b="1" sz="2800">
              <a:solidFill>
                <a:schemeClr val="dk1"/>
              </a:solidFill>
              <a:latin typeface="Assistant"/>
              <a:ea typeface="Assistant"/>
              <a:cs typeface="Assistant"/>
              <a:sym typeface="Assistant"/>
            </a:endParaRPr>
          </a:p>
        </p:txBody>
      </p:sp>
      <p:pic>
        <p:nvPicPr>
          <p:cNvPr id="333" name="Google Shape;333;p35"/>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334" name="Google Shape;334;p35"/>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335" name="Google Shape;335;p35"/>
          <p:cNvPicPr preferRelativeResize="0"/>
          <p:nvPr/>
        </p:nvPicPr>
        <p:blipFill>
          <a:blip r:embed="rId6">
            <a:alphaModFix/>
          </a:blip>
          <a:stretch>
            <a:fillRect/>
          </a:stretch>
        </p:blipFill>
        <p:spPr>
          <a:xfrm>
            <a:off x="175925" y="4557100"/>
            <a:ext cx="448904" cy="391875"/>
          </a:xfrm>
          <a:prstGeom prst="rect">
            <a:avLst/>
          </a:prstGeom>
          <a:noFill/>
          <a:ln>
            <a:noFill/>
          </a:ln>
        </p:spPr>
      </p:pic>
      <p:pic>
        <p:nvPicPr>
          <p:cNvPr id="336" name="Google Shape;336;p35"/>
          <p:cNvPicPr preferRelativeResize="0"/>
          <p:nvPr/>
        </p:nvPicPr>
        <p:blipFill>
          <a:blip r:embed="rId7">
            <a:alphaModFix/>
          </a:blip>
          <a:stretch>
            <a:fillRect/>
          </a:stretch>
        </p:blipFill>
        <p:spPr>
          <a:xfrm>
            <a:off x="794775" y="4723425"/>
            <a:ext cx="457185" cy="225550"/>
          </a:xfrm>
          <a:prstGeom prst="rect">
            <a:avLst/>
          </a:prstGeom>
          <a:noFill/>
          <a:ln>
            <a:noFill/>
          </a:ln>
        </p:spPr>
      </p:pic>
      <p:pic>
        <p:nvPicPr>
          <p:cNvPr id="337" name="Google Shape;337;p35"/>
          <p:cNvPicPr preferRelativeResize="0"/>
          <p:nvPr/>
        </p:nvPicPr>
        <p:blipFill>
          <a:blip r:embed="rId8">
            <a:alphaModFix/>
          </a:blip>
          <a:stretch>
            <a:fillRect/>
          </a:stretch>
        </p:blipFill>
        <p:spPr>
          <a:xfrm>
            <a:off x="4458900" y="529498"/>
            <a:ext cx="4532700" cy="4283562"/>
          </a:xfrm>
          <a:prstGeom prst="rect">
            <a:avLst/>
          </a:prstGeom>
          <a:noFill/>
          <a:ln cap="flat" cmpd="sng" w="38100">
            <a:solidFill>
              <a:srgbClr val="17B3A9"/>
            </a:solidFill>
            <a:prstDash val="solid"/>
            <a:round/>
            <a:headEnd len="sm" w="sm" type="none"/>
            <a:tailEnd len="sm" w="sm" type="none"/>
          </a:ln>
        </p:spPr>
      </p:pic>
      <p:sp>
        <p:nvSpPr>
          <p:cNvPr id="338" name="Google Shape;338;p35"/>
          <p:cNvSpPr/>
          <p:nvPr/>
        </p:nvSpPr>
        <p:spPr>
          <a:xfrm>
            <a:off x="4455000" y="720900"/>
            <a:ext cx="951600" cy="25011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pic>
        <p:nvPicPr>
          <p:cNvPr id="343" name="Google Shape;343;p36"/>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344" name="Google Shape;344;p36"/>
          <p:cNvSpPr txBox="1"/>
          <p:nvPr>
            <p:ph idx="1" type="body"/>
          </p:nvPr>
        </p:nvSpPr>
        <p:spPr>
          <a:xfrm>
            <a:off x="101250" y="1468825"/>
            <a:ext cx="4205400" cy="30999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iw" sz="1400">
                <a:solidFill>
                  <a:srgbClr val="2C3687"/>
                </a:solidFill>
                <a:latin typeface="Assistant"/>
                <a:ea typeface="Assistant"/>
                <a:cs typeface="Assistant"/>
                <a:sym typeface="Assistant"/>
              </a:rPr>
              <a:t>באזור ה-Designer, יש 5 חלונות:</a:t>
            </a:r>
            <a:br>
              <a:rPr lang="iw" sz="1400">
                <a:solidFill>
                  <a:srgbClr val="2C3687"/>
                </a:solidFill>
                <a:latin typeface="Assistant"/>
                <a:ea typeface="Assistant"/>
                <a:cs typeface="Assistant"/>
                <a:sym typeface="Assistant"/>
              </a:rPr>
            </a:br>
            <a:r>
              <a:rPr lang="iw" sz="1400">
                <a:solidFill>
                  <a:srgbClr val="2C3687"/>
                </a:solidFill>
                <a:highlight>
                  <a:schemeClr val="lt1"/>
                </a:highlight>
                <a:latin typeface="Assistant"/>
                <a:ea typeface="Assistant"/>
                <a:cs typeface="Assistant"/>
                <a:sym typeface="Assistant"/>
              </a:rPr>
              <a:t>Palette,</a:t>
            </a:r>
            <a:r>
              <a:rPr lang="iw" sz="1400">
                <a:solidFill>
                  <a:srgbClr val="2C3687"/>
                </a:solidFill>
                <a:latin typeface="Assistant"/>
                <a:ea typeface="Assistant"/>
                <a:cs typeface="Assistant"/>
                <a:sym typeface="Assistant"/>
              </a:rPr>
              <a:t> </a:t>
            </a:r>
            <a:r>
              <a:rPr b="1" lang="iw" sz="1400">
                <a:solidFill>
                  <a:schemeClr val="lt1"/>
                </a:solidFill>
                <a:highlight>
                  <a:schemeClr val="dk1"/>
                </a:highlight>
                <a:latin typeface="Assistant"/>
                <a:ea typeface="Assistant"/>
                <a:cs typeface="Assistant"/>
                <a:sym typeface="Assistant"/>
              </a:rPr>
              <a:t>Viewer</a:t>
            </a:r>
            <a:r>
              <a:rPr lang="iw" sz="1400">
                <a:solidFill>
                  <a:srgbClr val="2C3687"/>
                </a:solidFill>
                <a:latin typeface="Assistant"/>
                <a:ea typeface="Assistant"/>
                <a:cs typeface="Assistant"/>
                <a:sym typeface="Assistant"/>
              </a:rPr>
              <a:t>, Components, Media, Properties</a:t>
            </a:r>
            <a:endParaRPr sz="1400">
              <a:solidFill>
                <a:srgbClr val="2C3687"/>
              </a:solidFill>
              <a:latin typeface="Assistant"/>
              <a:ea typeface="Assistant"/>
              <a:cs typeface="Assistant"/>
              <a:sym typeface="Assistant"/>
            </a:endParaRPr>
          </a:p>
          <a:p>
            <a:pPr indent="0" lvl="0" marL="0" rtl="1" algn="r">
              <a:spcBef>
                <a:spcPts val="1500"/>
              </a:spcBef>
              <a:spcAft>
                <a:spcPts val="0"/>
              </a:spcAft>
              <a:buNone/>
            </a:pPr>
            <a:r>
              <a:rPr lang="iw" sz="1400" u="sng" b="1">
                <a:solidFill>
                  <a:srgbClr val="17B3A9"/>
                </a:solidFill>
                <a:latin typeface="Assistant"/>
                <a:ea typeface="Assistant"/>
                <a:cs typeface="Assistant"/>
                <a:sym typeface="Assistant"/>
              </a:rPr>
              <a:t>Viewer (הקנבס)</a:t>
            </a:r>
            <a:br>
              <a:rPr lang="iw" sz="1400" u="sng" b="1">
                <a:solidFill>
                  <a:srgbClr val="17B3A9"/>
                </a:solidFill>
                <a:latin typeface="Assistant"/>
                <a:ea typeface="Assistant"/>
                <a:cs typeface="Assistant"/>
                <a:sym typeface="Assistant"/>
              </a:rPr>
            </a:br>
            <a:r>
              <a:rPr lang="iw" sz="1400">
                <a:solidFill>
                  <a:srgbClr val="2C3687"/>
                </a:solidFill>
                <a:latin typeface="Assistant"/>
                <a:ea typeface="Assistant"/>
                <a:cs typeface="Assistant"/>
                <a:sym typeface="Assistant"/>
              </a:rPr>
              <a:t>נמצא במרכז. באזור הזה נוכל לראות איך האפליקציה תראה.</a:t>
            </a: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לכאן גם נגרור את הרכיבים שלנו (כפתורים וכו').</a:t>
            </a:r>
            <a:endParaRPr sz="1400">
              <a:solidFill>
                <a:srgbClr val="2C3687"/>
              </a:solidFill>
              <a:latin typeface="Assistant"/>
              <a:ea typeface="Assistant"/>
              <a:cs typeface="Assistant"/>
              <a:sym typeface="Assistant"/>
            </a:endParaRPr>
          </a:p>
          <a:p>
            <a:pPr indent="0" lvl="0" marL="0" rtl="1" algn="r">
              <a:spcBef>
                <a:spcPts val="1500"/>
              </a:spcBef>
              <a:spcAft>
                <a:spcPts val="0"/>
              </a:spcAft>
              <a:buNone/>
            </a:pPr>
            <a:r>
              <a:rPr lang="iw" sz="1400">
                <a:solidFill>
                  <a:srgbClr val="2C3687"/>
                </a:solidFill>
                <a:latin typeface="Assistant"/>
                <a:ea typeface="Assistant"/>
                <a:cs typeface="Assistant"/>
                <a:sym typeface="Assistant"/>
              </a:rPr>
              <a:t>בנוסף, זה גם האזור שנוכל לראות בפלאפון שלנו דרך האפליקציה או דרך האימולטור במחשב.</a:t>
            </a:r>
            <a:endParaRPr sz="1400">
              <a:solidFill>
                <a:srgbClr val="2C3687"/>
              </a:solidFill>
              <a:latin typeface="Assistant"/>
              <a:ea typeface="Assistant"/>
              <a:cs typeface="Assistant"/>
              <a:sym typeface="Assistant"/>
            </a:endParaRPr>
          </a:p>
          <a:p>
            <a:pPr indent="0" lvl="0" marL="0" rtl="0" algn="l">
              <a:spcBef>
                <a:spcPts val="1500"/>
              </a:spcBef>
              <a:spcAft>
                <a:spcPts val="0"/>
              </a:spcAft>
              <a:buNone/>
            </a:pPr>
            <a:r>
              <a:t/>
            </a:r>
            <a:endParaRPr sz="1400">
              <a:solidFill>
                <a:srgbClr val="2C3687"/>
              </a:solidFill>
              <a:latin typeface="Assistant"/>
              <a:ea typeface="Assistant"/>
              <a:cs typeface="Assistant"/>
              <a:sym typeface="Assistant"/>
            </a:endParaRPr>
          </a:p>
          <a:p>
            <a:pPr indent="0" lvl="0" marL="0" rtl="1" algn="r">
              <a:spcBef>
                <a:spcPts val="1500"/>
              </a:spcBef>
              <a:spcAft>
                <a:spcPts val="1500"/>
              </a:spcAft>
              <a:buNone/>
            </a:pPr>
            <a:br>
              <a:rPr lang="iw" sz="1400">
                <a:solidFill>
                  <a:srgbClr val="2C3687"/>
                </a:solidFill>
                <a:latin typeface="Assistant"/>
                <a:ea typeface="Assistant"/>
                <a:cs typeface="Assistant"/>
                <a:sym typeface="Assistant"/>
              </a:rPr>
            </a:br>
            <a:br>
              <a:rPr lang="iw" sz="1400">
                <a:solidFill>
                  <a:srgbClr val="2C3687"/>
                </a:solidFill>
                <a:latin typeface="Assistant"/>
                <a:ea typeface="Assistant"/>
                <a:cs typeface="Assistant"/>
                <a:sym typeface="Assistant"/>
              </a:rPr>
            </a:br>
            <a:endParaRPr sz="1400">
              <a:solidFill>
                <a:srgbClr val="2C3687"/>
              </a:solidFill>
              <a:latin typeface="Assistant"/>
              <a:ea typeface="Assistant"/>
              <a:cs typeface="Assistant"/>
              <a:sym typeface="Assistant"/>
            </a:endParaRPr>
          </a:p>
        </p:txBody>
      </p:sp>
      <p:sp>
        <p:nvSpPr>
          <p:cNvPr id="345" name="Google Shape;345;p36"/>
          <p:cNvSpPr txBox="1"/>
          <p:nvPr>
            <p:ph type="title"/>
          </p:nvPr>
        </p:nvSpPr>
        <p:spPr>
          <a:xfrm>
            <a:off x="311700" y="372500"/>
            <a:ext cx="39948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chemeClr val="dk1"/>
                </a:solidFill>
                <a:latin typeface="Assistant"/>
                <a:ea typeface="Assistant"/>
                <a:cs typeface="Assistant"/>
                <a:sym typeface="Assistant"/>
              </a:rPr>
              <a:t>ה-Designer</a:t>
            </a:r>
            <a:endParaRPr b="1" sz="2800">
              <a:solidFill>
                <a:schemeClr val="dk1"/>
              </a:solidFill>
              <a:latin typeface="Assistant"/>
              <a:ea typeface="Assistant"/>
              <a:cs typeface="Assistant"/>
              <a:sym typeface="Assistant"/>
            </a:endParaRPr>
          </a:p>
        </p:txBody>
      </p:sp>
      <p:pic>
        <p:nvPicPr>
          <p:cNvPr id="346" name="Google Shape;346;p36"/>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347" name="Google Shape;347;p36"/>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348" name="Google Shape;348;p36"/>
          <p:cNvPicPr preferRelativeResize="0"/>
          <p:nvPr/>
        </p:nvPicPr>
        <p:blipFill>
          <a:blip r:embed="rId6">
            <a:alphaModFix/>
          </a:blip>
          <a:stretch>
            <a:fillRect/>
          </a:stretch>
        </p:blipFill>
        <p:spPr>
          <a:xfrm>
            <a:off x="175925" y="4557100"/>
            <a:ext cx="448904" cy="391875"/>
          </a:xfrm>
          <a:prstGeom prst="rect">
            <a:avLst/>
          </a:prstGeom>
          <a:noFill/>
          <a:ln>
            <a:noFill/>
          </a:ln>
        </p:spPr>
      </p:pic>
      <p:pic>
        <p:nvPicPr>
          <p:cNvPr id="349" name="Google Shape;349;p36"/>
          <p:cNvPicPr preferRelativeResize="0"/>
          <p:nvPr/>
        </p:nvPicPr>
        <p:blipFill>
          <a:blip r:embed="rId7">
            <a:alphaModFix/>
          </a:blip>
          <a:stretch>
            <a:fillRect/>
          </a:stretch>
        </p:blipFill>
        <p:spPr>
          <a:xfrm>
            <a:off x="794775" y="4723425"/>
            <a:ext cx="457185" cy="225550"/>
          </a:xfrm>
          <a:prstGeom prst="rect">
            <a:avLst/>
          </a:prstGeom>
          <a:noFill/>
          <a:ln>
            <a:noFill/>
          </a:ln>
        </p:spPr>
      </p:pic>
      <p:pic>
        <p:nvPicPr>
          <p:cNvPr id="350" name="Google Shape;350;p36"/>
          <p:cNvPicPr preferRelativeResize="0"/>
          <p:nvPr/>
        </p:nvPicPr>
        <p:blipFill>
          <a:blip r:embed="rId8">
            <a:alphaModFix/>
          </a:blip>
          <a:stretch>
            <a:fillRect/>
          </a:stretch>
        </p:blipFill>
        <p:spPr>
          <a:xfrm>
            <a:off x="4458900" y="529498"/>
            <a:ext cx="4532700" cy="4283562"/>
          </a:xfrm>
          <a:prstGeom prst="rect">
            <a:avLst/>
          </a:prstGeom>
          <a:noFill/>
          <a:ln cap="flat" cmpd="sng" w="38100">
            <a:solidFill>
              <a:srgbClr val="17B3A9"/>
            </a:solidFill>
            <a:prstDash val="solid"/>
            <a:round/>
            <a:headEnd len="sm" w="sm" type="none"/>
            <a:tailEnd len="sm" w="sm" type="none"/>
          </a:ln>
        </p:spPr>
      </p:pic>
      <p:sp>
        <p:nvSpPr>
          <p:cNvPr id="351" name="Google Shape;351;p36"/>
          <p:cNvSpPr/>
          <p:nvPr/>
        </p:nvSpPr>
        <p:spPr>
          <a:xfrm>
            <a:off x="5416875" y="700650"/>
            <a:ext cx="1852800" cy="28554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pic>
        <p:nvPicPr>
          <p:cNvPr id="356" name="Google Shape;356;p37"/>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357" name="Google Shape;357;p37"/>
          <p:cNvSpPr txBox="1"/>
          <p:nvPr>
            <p:ph idx="1" type="body"/>
          </p:nvPr>
        </p:nvSpPr>
        <p:spPr>
          <a:xfrm>
            <a:off x="70875" y="1468825"/>
            <a:ext cx="4235700" cy="30999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sz="1400">
                <a:solidFill>
                  <a:srgbClr val="2C3687"/>
                </a:solidFill>
                <a:latin typeface="Assistant"/>
                <a:ea typeface="Assistant"/>
                <a:cs typeface="Assistant"/>
                <a:sym typeface="Assistant"/>
              </a:rPr>
              <a:t>באזור ה-Designer, יש 5 חלונות:</a:t>
            </a:r>
            <a:br>
              <a:rPr lang="iw" sz="1400">
                <a:solidFill>
                  <a:srgbClr val="2C3687"/>
                </a:solidFill>
                <a:latin typeface="Assistant"/>
                <a:ea typeface="Assistant"/>
                <a:cs typeface="Assistant"/>
                <a:sym typeface="Assistant"/>
              </a:rPr>
            </a:br>
            <a:r>
              <a:rPr lang="iw" sz="1400">
                <a:solidFill>
                  <a:srgbClr val="2C3687"/>
                </a:solidFill>
                <a:highlight>
                  <a:schemeClr val="lt1"/>
                </a:highlight>
                <a:latin typeface="Assistant"/>
                <a:ea typeface="Assistant"/>
                <a:cs typeface="Assistant"/>
                <a:sym typeface="Assistant"/>
              </a:rPr>
              <a:t>Palette,</a:t>
            </a:r>
            <a:r>
              <a:rPr lang="iw" sz="1400">
                <a:solidFill>
                  <a:srgbClr val="2C3687"/>
                </a:solidFill>
                <a:latin typeface="Assistant"/>
                <a:ea typeface="Assistant"/>
                <a:cs typeface="Assistant"/>
                <a:sym typeface="Assistant"/>
              </a:rPr>
              <a:t> </a:t>
            </a:r>
            <a:r>
              <a:rPr lang="iw" sz="1400">
                <a:solidFill>
                  <a:srgbClr val="2C3687"/>
                </a:solidFill>
                <a:highlight>
                  <a:schemeClr val="lt1"/>
                </a:highlight>
                <a:latin typeface="Assistant"/>
                <a:ea typeface="Assistant"/>
                <a:cs typeface="Assistant"/>
                <a:sym typeface="Assistant"/>
              </a:rPr>
              <a:t>Viewer</a:t>
            </a:r>
            <a:r>
              <a:rPr lang="iw" sz="1400">
                <a:solidFill>
                  <a:srgbClr val="2C3687"/>
                </a:solidFill>
                <a:latin typeface="Assistant"/>
                <a:ea typeface="Assistant"/>
                <a:cs typeface="Assistant"/>
                <a:sym typeface="Assistant"/>
              </a:rPr>
              <a:t>, </a:t>
            </a:r>
            <a:r>
              <a:rPr b="1" lang="iw" sz="1400">
                <a:solidFill>
                  <a:schemeClr val="lt1"/>
                </a:solidFill>
                <a:highlight>
                  <a:schemeClr val="dk1"/>
                </a:highlight>
                <a:latin typeface="Assistant"/>
                <a:ea typeface="Assistant"/>
                <a:cs typeface="Assistant"/>
                <a:sym typeface="Assistant"/>
              </a:rPr>
              <a:t>Components</a:t>
            </a:r>
            <a:r>
              <a:rPr lang="iw" sz="1400">
                <a:solidFill>
                  <a:srgbClr val="2C3687"/>
                </a:solidFill>
                <a:latin typeface="Assistant"/>
                <a:ea typeface="Assistant"/>
                <a:cs typeface="Assistant"/>
                <a:sym typeface="Assistant"/>
              </a:rPr>
              <a:t>, Media, Properties</a:t>
            </a:r>
            <a:br>
              <a:rPr lang="iw" sz="1400">
                <a:solidFill>
                  <a:srgbClr val="2C3687"/>
                </a:solidFill>
                <a:latin typeface="Assistant"/>
                <a:ea typeface="Assistant"/>
                <a:cs typeface="Assistant"/>
                <a:sym typeface="Assistant"/>
              </a:rPr>
            </a:br>
            <a:br>
              <a:rPr lang="iw" sz="1400">
                <a:solidFill>
                  <a:srgbClr val="2C3687"/>
                </a:solidFill>
                <a:latin typeface="Assistant"/>
                <a:ea typeface="Assistant"/>
                <a:cs typeface="Assistant"/>
                <a:sym typeface="Assistant"/>
              </a:rPr>
            </a:br>
            <a:r>
              <a:rPr lang="iw" sz="1300" u="sng" b="1">
                <a:solidFill>
                  <a:srgbClr val="17B3A9"/>
                </a:solidFill>
                <a:latin typeface="Assistant"/>
                <a:ea typeface="Assistant"/>
                <a:cs typeface="Assistant"/>
                <a:sym typeface="Assistant"/>
              </a:rPr>
              <a:t>Components (חלון הרכיבים)</a:t>
            </a:r>
            <a:br>
              <a:rPr lang="iw" sz="1300" u="sng" b="1">
                <a:solidFill>
                  <a:srgbClr val="17B3A9"/>
                </a:solidFill>
                <a:latin typeface="Assistant"/>
                <a:ea typeface="Assistant"/>
                <a:cs typeface="Assistant"/>
                <a:sym typeface="Assistant"/>
              </a:rPr>
            </a:br>
            <a:r>
              <a:rPr lang="iw" sz="1400">
                <a:solidFill>
                  <a:srgbClr val="2C3687"/>
                </a:solidFill>
                <a:latin typeface="Assistant"/>
                <a:ea typeface="Assistant"/>
                <a:cs typeface="Assistant"/>
                <a:sym typeface="Assistant"/>
              </a:rPr>
              <a:t>נמצא בצד הימני. באזור הזה נוכל לראות את הרכיבים שנוספו לאפליקציה.</a:t>
            </a: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שימו לב שרכיב ה-Screen נרשם באופן אוטומטי כרכיב.</a:t>
            </a:r>
            <a:endParaRPr sz="1300" u="sng" b="1">
              <a:solidFill>
                <a:srgbClr val="17B3A9"/>
              </a:solidFill>
              <a:latin typeface="Assistant"/>
              <a:ea typeface="Assistant"/>
              <a:cs typeface="Assistant"/>
              <a:sym typeface="Assistant"/>
            </a:endParaRPr>
          </a:p>
          <a:p>
            <a:pPr indent="0" lvl="0" marL="0" rtl="1" algn="r">
              <a:spcBef>
                <a:spcPts val="1500"/>
              </a:spcBef>
              <a:spcAft>
                <a:spcPts val="0"/>
              </a:spcAft>
              <a:buNone/>
            </a:pPr>
            <a:r>
              <a:t/>
            </a:r>
            <a:endParaRPr sz="1400">
              <a:solidFill>
                <a:srgbClr val="2C3687"/>
              </a:solidFill>
              <a:latin typeface="Assistant"/>
              <a:ea typeface="Assistant"/>
              <a:cs typeface="Assistant"/>
              <a:sym typeface="Assistant"/>
            </a:endParaRPr>
          </a:p>
          <a:p>
            <a:pPr indent="0" lvl="0" marL="0" rtl="0" algn="l">
              <a:spcBef>
                <a:spcPts val="1500"/>
              </a:spcBef>
              <a:spcAft>
                <a:spcPts val="1500"/>
              </a:spcAft>
              <a:buNone/>
            </a:pPr>
            <a:r>
              <a:t/>
            </a:r>
            <a:endParaRPr sz="1400">
              <a:solidFill>
                <a:srgbClr val="2C3687"/>
              </a:solidFill>
              <a:latin typeface="Assistant"/>
              <a:ea typeface="Assistant"/>
              <a:cs typeface="Assistant"/>
              <a:sym typeface="Assistant"/>
            </a:endParaRPr>
          </a:p>
        </p:txBody>
      </p:sp>
      <p:sp>
        <p:nvSpPr>
          <p:cNvPr id="358" name="Google Shape;358;p37"/>
          <p:cNvSpPr txBox="1"/>
          <p:nvPr>
            <p:ph type="title"/>
          </p:nvPr>
        </p:nvSpPr>
        <p:spPr>
          <a:xfrm>
            <a:off x="311700" y="372500"/>
            <a:ext cx="39948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chemeClr val="dk1"/>
                </a:solidFill>
                <a:latin typeface="Assistant"/>
                <a:ea typeface="Assistant"/>
                <a:cs typeface="Assistant"/>
                <a:sym typeface="Assistant"/>
              </a:rPr>
              <a:t>ה-Designer</a:t>
            </a:r>
            <a:endParaRPr b="1" sz="2800">
              <a:solidFill>
                <a:schemeClr val="dk1"/>
              </a:solidFill>
              <a:latin typeface="Assistant"/>
              <a:ea typeface="Assistant"/>
              <a:cs typeface="Assistant"/>
              <a:sym typeface="Assistant"/>
            </a:endParaRPr>
          </a:p>
        </p:txBody>
      </p:sp>
      <p:pic>
        <p:nvPicPr>
          <p:cNvPr id="359" name="Google Shape;359;p37"/>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360" name="Google Shape;360;p37"/>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361" name="Google Shape;361;p37"/>
          <p:cNvPicPr preferRelativeResize="0"/>
          <p:nvPr/>
        </p:nvPicPr>
        <p:blipFill>
          <a:blip r:embed="rId6">
            <a:alphaModFix/>
          </a:blip>
          <a:stretch>
            <a:fillRect/>
          </a:stretch>
        </p:blipFill>
        <p:spPr>
          <a:xfrm>
            <a:off x="175925" y="4557100"/>
            <a:ext cx="448904" cy="391875"/>
          </a:xfrm>
          <a:prstGeom prst="rect">
            <a:avLst/>
          </a:prstGeom>
          <a:noFill/>
          <a:ln>
            <a:noFill/>
          </a:ln>
        </p:spPr>
      </p:pic>
      <p:pic>
        <p:nvPicPr>
          <p:cNvPr id="362" name="Google Shape;362;p37"/>
          <p:cNvPicPr preferRelativeResize="0"/>
          <p:nvPr/>
        </p:nvPicPr>
        <p:blipFill>
          <a:blip r:embed="rId7">
            <a:alphaModFix/>
          </a:blip>
          <a:stretch>
            <a:fillRect/>
          </a:stretch>
        </p:blipFill>
        <p:spPr>
          <a:xfrm>
            <a:off x="794775" y="4723425"/>
            <a:ext cx="457185" cy="225550"/>
          </a:xfrm>
          <a:prstGeom prst="rect">
            <a:avLst/>
          </a:prstGeom>
          <a:noFill/>
          <a:ln>
            <a:noFill/>
          </a:ln>
        </p:spPr>
      </p:pic>
      <p:pic>
        <p:nvPicPr>
          <p:cNvPr id="363" name="Google Shape;363;p37"/>
          <p:cNvPicPr preferRelativeResize="0"/>
          <p:nvPr/>
        </p:nvPicPr>
        <p:blipFill>
          <a:blip r:embed="rId8">
            <a:alphaModFix/>
          </a:blip>
          <a:stretch>
            <a:fillRect/>
          </a:stretch>
        </p:blipFill>
        <p:spPr>
          <a:xfrm>
            <a:off x="4458900" y="529498"/>
            <a:ext cx="4532700" cy="4283562"/>
          </a:xfrm>
          <a:prstGeom prst="rect">
            <a:avLst/>
          </a:prstGeom>
          <a:noFill/>
          <a:ln cap="flat" cmpd="sng" w="38100">
            <a:solidFill>
              <a:srgbClr val="17B3A9"/>
            </a:solidFill>
            <a:prstDash val="solid"/>
            <a:round/>
            <a:headEnd len="sm" w="sm" type="none"/>
            <a:tailEnd len="sm" w="sm" type="none"/>
          </a:ln>
        </p:spPr>
      </p:pic>
      <p:sp>
        <p:nvSpPr>
          <p:cNvPr id="364" name="Google Shape;364;p37"/>
          <p:cNvSpPr/>
          <p:nvPr/>
        </p:nvSpPr>
        <p:spPr>
          <a:xfrm>
            <a:off x="7269075" y="720900"/>
            <a:ext cx="861300" cy="25920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pic>
        <p:nvPicPr>
          <p:cNvPr id="369" name="Google Shape;369;p38"/>
          <p:cNvPicPr preferRelativeResize="0"/>
          <p:nvPr/>
        </p:nvPicPr>
        <p:blipFill rotWithShape="1">
          <a:blip r:embed="rId3">
            <a:alphaModFix amt="39000"/>
          </a:blip>
          <a:srcRect b="42110" l="0" r="0" t="0"/>
          <a:stretch/>
        </p:blipFill>
        <p:spPr>
          <a:xfrm>
            <a:off x="152400" y="152400"/>
            <a:ext cx="9144000" cy="5143500"/>
          </a:xfrm>
          <a:prstGeom prst="rect">
            <a:avLst/>
          </a:prstGeom>
          <a:noFill/>
          <a:ln>
            <a:noFill/>
          </a:ln>
        </p:spPr>
      </p:pic>
      <p:pic>
        <p:nvPicPr>
          <p:cNvPr id="370" name="Google Shape;370;p38"/>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371" name="Google Shape;371;p38"/>
          <p:cNvSpPr txBox="1"/>
          <p:nvPr>
            <p:ph idx="1" type="body"/>
          </p:nvPr>
        </p:nvSpPr>
        <p:spPr>
          <a:xfrm>
            <a:off x="70875" y="1468825"/>
            <a:ext cx="4235700" cy="3099900"/>
          </a:xfrm>
          <a:prstGeom prst="rect">
            <a:avLst/>
          </a:prstGeom>
        </p:spPr>
        <p:txBody>
          <a:bodyPr anchorCtr="0" anchor="t" bIns="91425" lIns="91425" spcFirstLastPara="1" rIns="91425" wrap="square" tIns="91425">
            <a:noAutofit/>
          </a:bodyPr>
          <a:lstStyle/>
          <a:p>
            <a:pPr indent="0" lvl="0" marL="0" rtl="1" algn="r">
              <a:lnSpc>
                <a:spcPct val="105000"/>
              </a:lnSpc>
              <a:spcBef>
                <a:spcPts val="0"/>
              </a:spcBef>
              <a:spcAft>
                <a:spcPts val="0"/>
              </a:spcAft>
              <a:buSzPts val="688"/>
              <a:buNone/>
            </a:pPr>
            <a:r>
              <a:rPr lang="iw" sz="1400">
                <a:solidFill>
                  <a:srgbClr val="2C3687"/>
                </a:solidFill>
                <a:latin typeface="Assistant"/>
                <a:ea typeface="Assistant"/>
                <a:cs typeface="Assistant"/>
                <a:sym typeface="Assistant"/>
              </a:rPr>
              <a:t>באזור ה-Designer, יש 5 חלונות:</a:t>
            </a:r>
            <a:br>
              <a:rPr lang="iw" sz="1400">
                <a:solidFill>
                  <a:srgbClr val="2C3687"/>
                </a:solidFill>
                <a:latin typeface="Assistant"/>
                <a:ea typeface="Assistant"/>
                <a:cs typeface="Assistant"/>
                <a:sym typeface="Assistant"/>
              </a:rPr>
            </a:br>
            <a:r>
              <a:rPr lang="iw" sz="1400">
                <a:solidFill>
                  <a:srgbClr val="2C3687"/>
                </a:solidFill>
                <a:highlight>
                  <a:schemeClr val="lt1"/>
                </a:highlight>
                <a:latin typeface="Assistant"/>
                <a:ea typeface="Assistant"/>
                <a:cs typeface="Assistant"/>
                <a:sym typeface="Assistant"/>
              </a:rPr>
              <a:t>Palette,</a:t>
            </a:r>
            <a:r>
              <a:rPr lang="iw" sz="1400">
                <a:solidFill>
                  <a:srgbClr val="2C3687"/>
                </a:solidFill>
                <a:latin typeface="Assistant"/>
                <a:ea typeface="Assistant"/>
                <a:cs typeface="Assistant"/>
                <a:sym typeface="Assistant"/>
              </a:rPr>
              <a:t> </a:t>
            </a:r>
            <a:r>
              <a:rPr lang="iw" sz="1400">
                <a:solidFill>
                  <a:srgbClr val="2C3687"/>
                </a:solidFill>
                <a:highlight>
                  <a:schemeClr val="lt1"/>
                </a:highlight>
                <a:latin typeface="Assistant"/>
                <a:ea typeface="Assistant"/>
                <a:cs typeface="Assistant"/>
                <a:sym typeface="Assistant"/>
              </a:rPr>
              <a:t>Viewer</a:t>
            </a:r>
            <a:r>
              <a:rPr lang="iw" sz="1400">
                <a:solidFill>
                  <a:srgbClr val="2C3687"/>
                </a:solidFill>
                <a:latin typeface="Assistant"/>
                <a:ea typeface="Assistant"/>
                <a:cs typeface="Assistant"/>
                <a:sym typeface="Assistant"/>
              </a:rPr>
              <a:t>, </a:t>
            </a:r>
            <a:r>
              <a:rPr lang="iw" sz="1400">
                <a:solidFill>
                  <a:srgbClr val="2C3687"/>
                </a:solidFill>
                <a:highlight>
                  <a:schemeClr val="lt1"/>
                </a:highlight>
                <a:latin typeface="Assistant"/>
                <a:ea typeface="Assistant"/>
                <a:cs typeface="Assistant"/>
                <a:sym typeface="Assistant"/>
              </a:rPr>
              <a:t>Components</a:t>
            </a:r>
            <a:r>
              <a:rPr lang="iw" sz="1400">
                <a:solidFill>
                  <a:srgbClr val="2C3687"/>
                </a:solidFill>
                <a:latin typeface="Assistant"/>
                <a:ea typeface="Assistant"/>
                <a:cs typeface="Assistant"/>
                <a:sym typeface="Assistant"/>
              </a:rPr>
              <a:t>, </a:t>
            </a:r>
            <a:r>
              <a:rPr b="1" lang="iw" sz="1400">
                <a:solidFill>
                  <a:schemeClr val="lt1"/>
                </a:solidFill>
                <a:highlight>
                  <a:schemeClr val="dk1"/>
                </a:highlight>
                <a:latin typeface="Assistant"/>
                <a:ea typeface="Assistant"/>
                <a:cs typeface="Assistant"/>
                <a:sym typeface="Assistant"/>
              </a:rPr>
              <a:t>Media</a:t>
            </a:r>
            <a:r>
              <a:rPr lang="iw" sz="1400">
                <a:solidFill>
                  <a:srgbClr val="2C3687"/>
                </a:solidFill>
                <a:latin typeface="Assistant"/>
                <a:ea typeface="Assistant"/>
                <a:cs typeface="Assistant"/>
                <a:sym typeface="Assistant"/>
              </a:rPr>
              <a:t>, Properties</a:t>
            </a:r>
            <a:br>
              <a:rPr lang="iw" sz="1400">
                <a:solidFill>
                  <a:srgbClr val="2C3687"/>
                </a:solidFill>
                <a:latin typeface="Assistant"/>
                <a:ea typeface="Assistant"/>
                <a:cs typeface="Assistant"/>
                <a:sym typeface="Assistant"/>
              </a:rPr>
            </a:br>
            <a:br>
              <a:rPr lang="iw" sz="1400">
                <a:solidFill>
                  <a:srgbClr val="2C3687"/>
                </a:solidFill>
                <a:latin typeface="Assistant"/>
                <a:ea typeface="Assistant"/>
                <a:cs typeface="Assistant"/>
                <a:sym typeface="Assistant"/>
              </a:rPr>
            </a:br>
            <a:r>
              <a:rPr lang="iw" sz="1400" u="sng" b="1">
                <a:solidFill>
                  <a:srgbClr val="17B3A9"/>
                </a:solidFill>
                <a:latin typeface="Assistant"/>
                <a:ea typeface="Assistant"/>
                <a:cs typeface="Assistant"/>
                <a:sym typeface="Assistant"/>
              </a:rPr>
              <a:t>Media (חלון המדיה)</a:t>
            </a:r>
            <a:br>
              <a:rPr lang="iw" sz="1400" u="sng" b="1">
                <a:solidFill>
                  <a:srgbClr val="17B3A9"/>
                </a:solidFill>
                <a:latin typeface="Assistant"/>
                <a:ea typeface="Assistant"/>
                <a:cs typeface="Assistant"/>
                <a:sym typeface="Assistant"/>
              </a:rPr>
            </a:br>
            <a:r>
              <a:rPr lang="iw" sz="1400">
                <a:solidFill>
                  <a:srgbClr val="2C3687"/>
                </a:solidFill>
                <a:latin typeface="Assistant"/>
                <a:ea typeface="Assistant"/>
                <a:cs typeface="Assistant"/>
                <a:sym typeface="Assistant"/>
              </a:rPr>
              <a:t>נמצא מתחת ל-Components. חלון זה יציג לנו את כל קבצי המדיה שהועלו, כמו תמונות וצלילים. </a:t>
            </a:r>
            <a:br>
              <a:rPr lang="iw" sz="1400">
                <a:solidFill>
                  <a:srgbClr val="2C3687"/>
                </a:solidFill>
                <a:latin typeface="Assistant"/>
                <a:ea typeface="Assistant"/>
                <a:cs typeface="Assistant"/>
                <a:sym typeface="Assistant"/>
              </a:rPr>
            </a:b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בפרויקט הראשון שלנו נשתמש ב3 קבצים שתוכלו להוריד כאן: </a:t>
            </a:r>
            <a:r>
              <a:rPr lang="iw" sz="1400" u="sng">
                <a:solidFill>
                  <a:srgbClr val="0000FF"/>
                </a:solidFill>
                <a:latin typeface="Assistant"/>
                <a:ea typeface="Assistant"/>
                <a:cs typeface="Assistant"/>
                <a:sym typeface="Assistant"/>
                <a:hlinkClick r:id="rId4">
                  <a:extLst>
                    <a:ext uri="{A12FA001-AC4F-418D-AE19-62706E023703}">
                      <ahyp:hlinkClr val="tx"/>
                    </a:ext>
                  </a:extLst>
                </a:hlinkClick>
              </a:rPr>
              <a:t>אייקון</a:t>
            </a:r>
            <a:r>
              <a:rPr lang="iw" sz="1400">
                <a:solidFill>
                  <a:srgbClr val="0000FF"/>
                </a:solidFill>
                <a:latin typeface="Assistant"/>
                <a:ea typeface="Assistant"/>
                <a:cs typeface="Assistant"/>
                <a:sym typeface="Assistant"/>
              </a:rPr>
              <a:t> </a:t>
            </a:r>
            <a:r>
              <a:rPr lang="iw" sz="1400">
                <a:solidFill>
                  <a:schemeClr val="dk1"/>
                </a:solidFill>
                <a:latin typeface="Assistant"/>
                <a:ea typeface="Assistant"/>
                <a:cs typeface="Assistant"/>
                <a:sym typeface="Assistant"/>
              </a:rPr>
              <a:t>|</a:t>
            </a:r>
            <a:r>
              <a:rPr lang="iw" sz="1400">
                <a:solidFill>
                  <a:srgbClr val="0000FF"/>
                </a:solidFill>
                <a:latin typeface="Assistant"/>
                <a:ea typeface="Assistant"/>
                <a:cs typeface="Assistant"/>
                <a:sym typeface="Assistant"/>
              </a:rPr>
              <a:t> </a:t>
            </a:r>
            <a:r>
              <a:rPr lang="iw" sz="1400" u="sng">
                <a:solidFill>
                  <a:srgbClr val="0000FF"/>
                </a:solidFill>
                <a:latin typeface="Assistant"/>
                <a:ea typeface="Assistant"/>
                <a:cs typeface="Assistant"/>
                <a:sym typeface="Assistant"/>
                <a:hlinkClick r:id="rId5">
                  <a:extLst>
                    <a:ext uri="{A12FA001-AC4F-418D-AE19-62706E023703}">
                      <ahyp:hlinkClr val="tx"/>
                    </a:ext>
                  </a:extLst>
                </a:hlinkClick>
              </a:rPr>
              <a:t>צליל זמזום</a:t>
            </a:r>
            <a:r>
              <a:rPr lang="iw" sz="1400">
                <a:solidFill>
                  <a:srgbClr val="0000FF"/>
                </a:solidFill>
                <a:latin typeface="Assistant"/>
                <a:ea typeface="Assistant"/>
                <a:cs typeface="Assistant"/>
                <a:sym typeface="Assistant"/>
              </a:rPr>
              <a:t> </a:t>
            </a:r>
            <a:r>
              <a:rPr lang="iw" sz="1400">
                <a:solidFill>
                  <a:schemeClr val="dk1"/>
                </a:solidFill>
                <a:latin typeface="Assistant"/>
                <a:ea typeface="Assistant"/>
                <a:cs typeface="Assistant"/>
                <a:sym typeface="Assistant"/>
              </a:rPr>
              <a:t>|</a:t>
            </a:r>
            <a:r>
              <a:rPr lang="iw" sz="1400">
                <a:solidFill>
                  <a:srgbClr val="0000FF"/>
                </a:solidFill>
                <a:latin typeface="Assistant"/>
                <a:ea typeface="Assistant"/>
                <a:cs typeface="Assistant"/>
                <a:sym typeface="Assistant"/>
              </a:rPr>
              <a:t> </a:t>
            </a:r>
            <a:r>
              <a:rPr lang="iw" sz="1400" u="sng">
                <a:solidFill>
                  <a:srgbClr val="0000FF"/>
                </a:solidFill>
                <a:latin typeface="Assistant"/>
                <a:ea typeface="Assistant"/>
                <a:cs typeface="Assistant"/>
                <a:sym typeface="Assistant"/>
                <a:hlinkClick r:id="rId6">
                  <a:extLst>
                    <a:ext uri="{A12FA001-AC4F-418D-AE19-62706E023703}">
                      <ahyp:hlinkClr val="tx"/>
                    </a:ext>
                  </a:extLst>
                </a:hlinkClick>
              </a:rPr>
              <a:t>Codi</a:t>
            </a:r>
            <a:br>
              <a:rPr lang="iw" sz="1400">
                <a:solidFill>
                  <a:srgbClr val="2C3687"/>
                </a:solidFill>
                <a:latin typeface="Assistant"/>
                <a:ea typeface="Assistant"/>
                <a:cs typeface="Assistant"/>
                <a:sym typeface="Assistant"/>
              </a:rPr>
            </a:br>
            <a:r>
              <a:rPr lang="iw" sz="1400">
                <a:solidFill>
                  <a:srgbClr val="2C3687"/>
                </a:solidFill>
                <a:latin typeface="Assistant"/>
                <a:ea typeface="Assistant"/>
                <a:cs typeface="Assistant"/>
                <a:sym typeface="Assistant"/>
              </a:rPr>
              <a:t>הורידו את הקבצים ולחצו על                  כדי להוסיף אותם לפרויקט. </a:t>
            </a:r>
            <a:endParaRPr sz="1400" u="sng" b="1">
              <a:solidFill>
                <a:srgbClr val="17B3A9"/>
              </a:solidFill>
              <a:latin typeface="Assistant"/>
              <a:ea typeface="Assistant"/>
              <a:cs typeface="Assistant"/>
              <a:sym typeface="Assistant"/>
            </a:endParaRPr>
          </a:p>
          <a:p>
            <a:pPr indent="0" lvl="0" marL="0" rtl="1" algn="r">
              <a:lnSpc>
                <a:spcPct val="105000"/>
              </a:lnSpc>
              <a:spcBef>
                <a:spcPts val="1500"/>
              </a:spcBef>
              <a:spcAft>
                <a:spcPts val="0"/>
              </a:spcAft>
              <a:buSzPts val="688"/>
              <a:buNone/>
            </a:pPr>
            <a:r>
              <a:t/>
            </a:r>
            <a:endParaRPr sz="1400" u="sng" b="1">
              <a:solidFill>
                <a:srgbClr val="17B3A9"/>
              </a:solidFill>
              <a:latin typeface="Assistant"/>
              <a:ea typeface="Assistant"/>
              <a:cs typeface="Assistant"/>
              <a:sym typeface="Assistant"/>
            </a:endParaRPr>
          </a:p>
          <a:p>
            <a:pPr indent="0" lvl="0" marL="0" rtl="1" algn="r">
              <a:lnSpc>
                <a:spcPct val="105000"/>
              </a:lnSpc>
              <a:spcBef>
                <a:spcPts val="1500"/>
              </a:spcBef>
              <a:spcAft>
                <a:spcPts val="0"/>
              </a:spcAft>
              <a:buSzPts val="688"/>
              <a:buNone/>
            </a:pPr>
            <a:r>
              <a:t/>
            </a:r>
            <a:endParaRPr sz="1400">
              <a:solidFill>
                <a:srgbClr val="2C3687"/>
              </a:solidFill>
              <a:latin typeface="Assistant"/>
              <a:ea typeface="Assistant"/>
              <a:cs typeface="Assistant"/>
              <a:sym typeface="Assistant"/>
            </a:endParaRPr>
          </a:p>
          <a:p>
            <a:pPr indent="0" lvl="0" marL="0" rtl="0" algn="l">
              <a:lnSpc>
                <a:spcPct val="105000"/>
              </a:lnSpc>
              <a:spcBef>
                <a:spcPts val="1500"/>
              </a:spcBef>
              <a:spcAft>
                <a:spcPts val="1500"/>
              </a:spcAft>
              <a:buSzPts val="688"/>
              <a:buNone/>
            </a:pPr>
            <a:r>
              <a:t/>
            </a:r>
            <a:endParaRPr sz="1400">
              <a:solidFill>
                <a:srgbClr val="2C3687"/>
              </a:solidFill>
              <a:latin typeface="Assistant"/>
              <a:ea typeface="Assistant"/>
              <a:cs typeface="Assistant"/>
              <a:sym typeface="Assistant"/>
            </a:endParaRPr>
          </a:p>
        </p:txBody>
      </p:sp>
      <p:sp>
        <p:nvSpPr>
          <p:cNvPr id="372" name="Google Shape;372;p38"/>
          <p:cNvSpPr txBox="1"/>
          <p:nvPr>
            <p:ph type="title"/>
          </p:nvPr>
        </p:nvSpPr>
        <p:spPr>
          <a:xfrm>
            <a:off x="311700" y="372500"/>
            <a:ext cx="39948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chemeClr val="dk1"/>
                </a:solidFill>
                <a:latin typeface="Assistant"/>
                <a:ea typeface="Assistant"/>
                <a:cs typeface="Assistant"/>
                <a:sym typeface="Assistant"/>
              </a:rPr>
              <a:t>ה-Designer</a:t>
            </a:r>
            <a:endParaRPr b="1" sz="2800">
              <a:solidFill>
                <a:schemeClr val="dk1"/>
              </a:solidFill>
              <a:latin typeface="Assistant"/>
              <a:ea typeface="Assistant"/>
              <a:cs typeface="Assistant"/>
              <a:sym typeface="Assistant"/>
            </a:endParaRPr>
          </a:p>
        </p:txBody>
      </p:sp>
      <p:pic>
        <p:nvPicPr>
          <p:cNvPr id="373" name="Google Shape;373;p38"/>
          <p:cNvPicPr preferRelativeResize="0"/>
          <p:nvPr/>
        </p:nvPicPr>
        <p:blipFill>
          <a:blip r:embed="rId7">
            <a:alphaModFix/>
          </a:blip>
          <a:stretch>
            <a:fillRect/>
          </a:stretch>
        </p:blipFill>
        <p:spPr>
          <a:xfrm>
            <a:off x="8220675" y="126222"/>
            <a:ext cx="771001" cy="250876"/>
          </a:xfrm>
          <a:prstGeom prst="rect">
            <a:avLst/>
          </a:prstGeom>
          <a:noFill/>
          <a:ln>
            <a:noFill/>
          </a:ln>
        </p:spPr>
      </p:pic>
      <p:pic>
        <p:nvPicPr>
          <p:cNvPr id="374" name="Google Shape;374;p38"/>
          <p:cNvPicPr preferRelativeResize="0"/>
          <p:nvPr/>
        </p:nvPicPr>
        <p:blipFill>
          <a:blip r:embed="rId8">
            <a:alphaModFix/>
          </a:blip>
          <a:stretch>
            <a:fillRect/>
          </a:stretch>
        </p:blipFill>
        <p:spPr>
          <a:xfrm>
            <a:off x="175925" y="126225"/>
            <a:ext cx="1023225" cy="391875"/>
          </a:xfrm>
          <a:prstGeom prst="rect">
            <a:avLst/>
          </a:prstGeom>
          <a:noFill/>
          <a:ln>
            <a:noFill/>
          </a:ln>
        </p:spPr>
      </p:pic>
      <p:pic>
        <p:nvPicPr>
          <p:cNvPr id="375" name="Google Shape;375;p38"/>
          <p:cNvPicPr preferRelativeResize="0"/>
          <p:nvPr/>
        </p:nvPicPr>
        <p:blipFill>
          <a:blip r:embed="rId9">
            <a:alphaModFix/>
          </a:blip>
          <a:stretch>
            <a:fillRect/>
          </a:stretch>
        </p:blipFill>
        <p:spPr>
          <a:xfrm>
            <a:off x="175925" y="4557100"/>
            <a:ext cx="448904" cy="391875"/>
          </a:xfrm>
          <a:prstGeom prst="rect">
            <a:avLst/>
          </a:prstGeom>
          <a:noFill/>
          <a:ln>
            <a:noFill/>
          </a:ln>
        </p:spPr>
      </p:pic>
      <p:pic>
        <p:nvPicPr>
          <p:cNvPr id="376" name="Google Shape;376;p38"/>
          <p:cNvPicPr preferRelativeResize="0"/>
          <p:nvPr/>
        </p:nvPicPr>
        <p:blipFill>
          <a:blip r:embed="rId10">
            <a:alphaModFix/>
          </a:blip>
          <a:stretch>
            <a:fillRect/>
          </a:stretch>
        </p:blipFill>
        <p:spPr>
          <a:xfrm>
            <a:off x="794775" y="4723425"/>
            <a:ext cx="457185" cy="225550"/>
          </a:xfrm>
          <a:prstGeom prst="rect">
            <a:avLst/>
          </a:prstGeom>
          <a:noFill/>
          <a:ln>
            <a:noFill/>
          </a:ln>
        </p:spPr>
      </p:pic>
      <p:pic>
        <p:nvPicPr>
          <p:cNvPr id="377" name="Google Shape;377;p38"/>
          <p:cNvPicPr preferRelativeResize="0"/>
          <p:nvPr/>
        </p:nvPicPr>
        <p:blipFill>
          <a:blip r:embed="rId11">
            <a:alphaModFix/>
          </a:blip>
          <a:stretch>
            <a:fillRect/>
          </a:stretch>
        </p:blipFill>
        <p:spPr>
          <a:xfrm>
            <a:off x="4458900" y="529498"/>
            <a:ext cx="4532700" cy="4283562"/>
          </a:xfrm>
          <a:prstGeom prst="rect">
            <a:avLst/>
          </a:prstGeom>
          <a:noFill/>
          <a:ln cap="flat" cmpd="sng" w="38100">
            <a:solidFill>
              <a:srgbClr val="17B3A9"/>
            </a:solidFill>
            <a:prstDash val="solid"/>
            <a:round/>
            <a:headEnd len="sm" w="sm" type="none"/>
            <a:tailEnd len="sm" w="sm" type="none"/>
          </a:ln>
        </p:spPr>
      </p:pic>
      <p:sp>
        <p:nvSpPr>
          <p:cNvPr id="378" name="Google Shape;378;p38"/>
          <p:cNvSpPr/>
          <p:nvPr/>
        </p:nvSpPr>
        <p:spPr>
          <a:xfrm>
            <a:off x="7269075" y="3310875"/>
            <a:ext cx="861300" cy="6765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pic>
        <p:nvPicPr>
          <p:cNvPr id="379" name="Google Shape;379;p38"/>
          <p:cNvPicPr preferRelativeResize="0"/>
          <p:nvPr/>
        </p:nvPicPr>
        <p:blipFill>
          <a:blip r:embed="rId12">
            <a:alphaModFix/>
          </a:blip>
          <a:stretch>
            <a:fillRect/>
          </a:stretch>
        </p:blipFill>
        <p:spPr>
          <a:xfrm>
            <a:off x="1462050" y="3587738"/>
            <a:ext cx="720300" cy="2255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pic>
        <p:nvPicPr>
          <p:cNvPr id="384" name="Google Shape;384;p39"/>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385" name="Google Shape;385;p39"/>
          <p:cNvSpPr txBox="1"/>
          <p:nvPr>
            <p:ph idx="1" type="body"/>
          </p:nvPr>
        </p:nvSpPr>
        <p:spPr>
          <a:xfrm>
            <a:off x="81000" y="1468825"/>
            <a:ext cx="4225500" cy="30999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sz="1400">
                <a:solidFill>
                  <a:srgbClr val="2C3687"/>
                </a:solidFill>
                <a:latin typeface="Assistant"/>
                <a:ea typeface="Assistant"/>
                <a:cs typeface="Assistant"/>
                <a:sym typeface="Assistant"/>
              </a:rPr>
              <a:t>באזור ה-Designer, יש 5 חלונות:</a:t>
            </a:r>
            <a:br>
              <a:rPr lang="iw" sz="1400">
                <a:solidFill>
                  <a:srgbClr val="2C3687"/>
                </a:solidFill>
                <a:latin typeface="Assistant"/>
                <a:ea typeface="Assistant"/>
                <a:cs typeface="Assistant"/>
                <a:sym typeface="Assistant"/>
              </a:rPr>
            </a:br>
            <a:r>
              <a:rPr lang="iw" sz="1400">
                <a:solidFill>
                  <a:srgbClr val="2C3687"/>
                </a:solidFill>
                <a:highlight>
                  <a:schemeClr val="lt1"/>
                </a:highlight>
                <a:latin typeface="Assistant"/>
                <a:ea typeface="Assistant"/>
                <a:cs typeface="Assistant"/>
                <a:sym typeface="Assistant"/>
              </a:rPr>
              <a:t>Palette,</a:t>
            </a:r>
            <a:r>
              <a:rPr lang="iw" sz="1400">
                <a:solidFill>
                  <a:srgbClr val="2C3687"/>
                </a:solidFill>
                <a:latin typeface="Assistant"/>
                <a:ea typeface="Assistant"/>
                <a:cs typeface="Assistant"/>
                <a:sym typeface="Assistant"/>
              </a:rPr>
              <a:t> </a:t>
            </a:r>
            <a:r>
              <a:rPr lang="iw" sz="1400">
                <a:solidFill>
                  <a:srgbClr val="2C3687"/>
                </a:solidFill>
                <a:highlight>
                  <a:schemeClr val="lt1"/>
                </a:highlight>
                <a:latin typeface="Assistant"/>
                <a:ea typeface="Assistant"/>
                <a:cs typeface="Assistant"/>
                <a:sym typeface="Assistant"/>
              </a:rPr>
              <a:t>Viewer</a:t>
            </a:r>
            <a:r>
              <a:rPr lang="iw" sz="1400">
                <a:solidFill>
                  <a:srgbClr val="2C3687"/>
                </a:solidFill>
                <a:latin typeface="Assistant"/>
                <a:ea typeface="Assistant"/>
                <a:cs typeface="Assistant"/>
                <a:sym typeface="Assistant"/>
              </a:rPr>
              <a:t>, </a:t>
            </a:r>
            <a:r>
              <a:rPr lang="iw" sz="1400">
                <a:solidFill>
                  <a:srgbClr val="2C3687"/>
                </a:solidFill>
                <a:highlight>
                  <a:schemeClr val="lt1"/>
                </a:highlight>
                <a:latin typeface="Assistant"/>
                <a:ea typeface="Assistant"/>
                <a:cs typeface="Assistant"/>
                <a:sym typeface="Assistant"/>
              </a:rPr>
              <a:t>Components</a:t>
            </a:r>
            <a:r>
              <a:rPr lang="iw" sz="1400">
                <a:solidFill>
                  <a:srgbClr val="2C3687"/>
                </a:solidFill>
                <a:latin typeface="Assistant"/>
                <a:ea typeface="Assistant"/>
                <a:cs typeface="Assistant"/>
                <a:sym typeface="Assistant"/>
              </a:rPr>
              <a:t>, </a:t>
            </a:r>
            <a:r>
              <a:rPr lang="iw" sz="1400">
                <a:solidFill>
                  <a:srgbClr val="2C3687"/>
                </a:solidFill>
                <a:highlight>
                  <a:schemeClr val="lt1"/>
                </a:highlight>
                <a:latin typeface="Assistant"/>
                <a:ea typeface="Assistant"/>
                <a:cs typeface="Assistant"/>
                <a:sym typeface="Assistant"/>
              </a:rPr>
              <a:t>Media</a:t>
            </a:r>
            <a:r>
              <a:rPr lang="iw" sz="1400">
                <a:solidFill>
                  <a:srgbClr val="2C3687"/>
                </a:solidFill>
                <a:latin typeface="Assistant"/>
                <a:ea typeface="Assistant"/>
                <a:cs typeface="Assistant"/>
                <a:sym typeface="Assistant"/>
              </a:rPr>
              <a:t>, </a:t>
            </a:r>
            <a:r>
              <a:rPr b="1" lang="iw" sz="1400">
                <a:solidFill>
                  <a:schemeClr val="lt1"/>
                </a:solidFill>
                <a:highlight>
                  <a:schemeClr val="dk1"/>
                </a:highlight>
                <a:latin typeface="Assistant"/>
                <a:ea typeface="Assistant"/>
                <a:cs typeface="Assistant"/>
                <a:sym typeface="Assistant"/>
              </a:rPr>
              <a:t>Properties</a:t>
            </a:r>
            <a:br>
              <a:rPr lang="iw" sz="1400">
                <a:solidFill>
                  <a:srgbClr val="2C3687"/>
                </a:solidFill>
                <a:latin typeface="Assistant"/>
                <a:ea typeface="Assistant"/>
                <a:cs typeface="Assistant"/>
                <a:sym typeface="Assistant"/>
              </a:rPr>
            </a:br>
            <a:br>
              <a:rPr lang="iw" sz="1400">
                <a:solidFill>
                  <a:srgbClr val="2C3687"/>
                </a:solidFill>
                <a:latin typeface="Assistant"/>
                <a:ea typeface="Assistant"/>
                <a:cs typeface="Assistant"/>
                <a:sym typeface="Assistant"/>
              </a:rPr>
            </a:br>
            <a:r>
              <a:rPr lang="iw" sz="1300" u="sng" b="1">
                <a:solidFill>
                  <a:srgbClr val="17B3A9"/>
                </a:solidFill>
                <a:latin typeface="Assistant"/>
                <a:ea typeface="Assistant"/>
                <a:cs typeface="Assistant"/>
                <a:sym typeface="Assistant"/>
              </a:rPr>
              <a:t>Properties (חלון התכונות)</a:t>
            </a:r>
            <a:br>
              <a:rPr lang="iw" sz="1300" u="sng" b="1">
                <a:solidFill>
                  <a:srgbClr val="17B3A9"/>
                </a:solidFill>
                <a:latin typeface="Assistant"/>
                <a:ea typeface="Assistant"/>
                <a:cs typeface="Assistant"/>
                <a:sym typeface="Assistant"/>
              </a:rPr>
            </a:br>
            <a:r>
              <a:rPr lang="iw" sz="1400">
                <a:solidFill>
                  <a:srgbClr val="2C3687"/>
                </a:solidFill>
                <a:latin typeface="Assistant"/>
                <a:ea typeface="Assistant"/>
                <a:cs typeface="Assistant"/>
                <a:sym typeface="Assistant"/>
              </a:rPr>
              <a:t>נמצא בצד הימני ביותר. מאפשר לנו לראות או לשנות כל אחת מהתכונות או האפיון של כל רכיב שנבחר. למשל ברכיב של Screen, נוכל לשנות את שם האפליקציה, האייקון של האפליקציה, צבע הרקע וכו'.</a:t>
            </a:r>
            <a:endParaRPr sz="1400">
              <a:solidFill>
                <a:srgbClr val="2C3687"/>
              </a:solidFill>
              <a:latin typeface="Assistant"/>
              <a:ea typeface="Assistant"/>
              <a:cs typeface="Assistant"/>
              <a:sym typeface="Assistant"/>
            </a:endParaRPr>
          </a:p>
          <a:p>
            <a:pPr indent="0" lvl="0" marL="0" rtl="1" algn="r">
              <a:spcBef>
                <a:spcPts val="1500"/>
              </a:spcBef>
              <a:spcAft>
                <a:spcPts val="0"/>
              </a:spcAft>
              <a:buNone/>
            </a:pPr>
            <a:r>
              <a:t/>
            </a:r>
            <a:endParaRPr sz="1400">
              <a:solidFill>
                <a:srgbClr val="2C3687"/>
              </a:solidFill>
              <a:latin typeface="Assistant"/>
              <a:ea typeface="Assistant"/>
              <a:cs typeface="Assistant"/>
              <a:sym typeface="Assistant"/>
            </a:endParaRPr>
          </a:p>
          <a:p>
            <a:pPr indent="0" lvl="0" marL="0" rtl="0" algn="l">
              <a:spcBef>
                <a:spcPts val="1500"/>
              </a:spcBef>
              <a:spcAft>
                <a:spcPts val="1500"/>
              </a:spcAft>
              <a:buNone/>
            </a:pPr>
            <a:r>
              <a:t/>
            </a:r>
            <a:endParaRPr sz="1400">
              <a:solidFill>
                <a:srgbClr val="2C3687"/>
              </a:solidFill>
              <a:latin typeface="Assistant"/>
              <a:ea typeface="Assistant"/>
              <a:cs typeface="Assistant"/>
              <a:sym typeface="Assistant"/>
            </a:endParaRPr>
          </a:p>
        </p:txBody>
      </p:sp>
      <p:sp>
        <p:nvSpPr>
          <p:cNvPr id="386" name="Google Shape;386;p39"/>
          <p:cNvSpPr txBox="1"/>
          <p:nvPr>
            <p:ph type="title"/>
          </p:nvPr>
        </p:nvSpPr>
        <p:spPr>
          <a:xfrm>
            <a:off x="311700" y="372500"/>
            <a:ext cx="39948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chemeClr val="dk1"/>
                </a:solidFill>
                <a:latin typeface="Assistant"/>
                <a:ea typeface="Assistant"/>
                <a:cs typeface="Assistant"/>
                <a:sym typeface="Assistant"/>
              </a:rPr>
              <a:t>ה-Designer</a:t>
            </a:r>
            <a:endParaRPr b="1" sz="2800">
              <a:solidFill>
                <a:schemeClr val="dk1"/>
              </a:solidFill>
              <a:latin typeface="Assistant"/>
              <a:ea typeface="Assistant"/>
              <a:cs typeface="Assistant"/>
              <a:sym typeface="Assistant"/>
            </a:endParaRPr>
          </a:p>
        </p:txBody>
      </p:sp>
      <p:pic>
        <p:nvPicPr>
          <p:cNvPr id="387" name="Google Shape;387;p39"/>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388" name="Google Shape;388;p39"/>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389" name="Google Shape;389;p39"/>
          <p:cNvPicPr preferRelativeResize="0"/>
          <p:nvPr/>
        </p:nvPicPr>
        <p:blipFill>
          <a:blip r:embed="rId6">
            <a:alphaModFix/>
          </a:blip>
          <a:stretch>
            <a:fillRect/>
          </a:stretch>
        </p:blipFill>
        <p:spPr>
          <a:xfrm>
            <a:off x="175925" y="4557100"/>
            <a:ext cx="448904" cy="391875"/>
          </a:xfrm>
          <a:prstGeom prst="rect">
            <a:avLst/>
          </a:prstGeom>
          <a:noFill/>
          <a:ln>
            <a:noFill/>
          </a:ln>
        </p:spPr>
      </p:pic>
      <p:pic>
        <p:nvPicPr>
          <p:cNvPr id="390" name="Google Shape;390;p39"/>
          <p:cNvPicPr preferRelativeResize="0"/>
          <p:nvPr/>
        </p:nvPicPr>
        <p:blipFill>
          <a:blip r:embed="rId7">
            <a:alphaModFix/>
          </a:blip>
          <a:stretch>
            <a:fillRect/>
          </a:stretch>
        </p:blipFill>
        <p:spPr>
          <a:xfrm>
            <a:off x="794775" y="4723425"/>
            <a:ext cx="457185" cy="225550"/>
          </a:xfrm>
          <a:prstGeom prst="rect">
            <a:avLst/>
          </a:prstGeom>
          <a:noFill/>
          <a:ln>
            <a:noFill/>
          </a:ln>
        </p:spPr>
      </p:pic>
      <p:pic>
        <p:nvPicPr>
          <p:cNvPr id="391" name="Google Shape;391;p39"/>
          <p:cNvPicPr preferRelativeResize="0"/>
          <p:nvPr/>
        </p:nvPicPr>
        <p:blipFill>
          <a:blip r:embed="rId8">
            <a:alphaModFix/>
          </a:blip>
          <a:stretch>
            <a:fillRect/>
          </a:stretch>
        </p:blipFill>
        <p:spPr>
          <a:xfrm>
            <a:off x="4458900" y="529498"/>
            <a:ext cx="4532700" cy="4283562"/>
          </a:xfrm>
          <a:prstGeom prst="rect">
            <a:avLst/>
          </a:prstGeom>
          <a:noFill/>
          <a:ln cap="flat" cmpd="sng" w="38100">
            <a:solidFill>
              <a:srgbClr val="17B3A9"/>
            </a:solidFill>
            <a:prstDash val="solid"/>
            <a:round/>
            <a:headEnd len="sm" w="sm" type="none"/>
            <a:tailEnd len="sm" w="sm" type="none"/>
          </a:ln>
        </p:spPr>
      </p:pic>
      <p:sp>
        <p:nvSpPr>
          <p:cNvPr id="392" name="Google Shape;392;p39"/>
          <p:cNvSpPr/>
          <p:nvPr/>
        </p:nvSpPr>
        <p:spPr>
          <a:xfrm>
            <a:off x="8160750" y="731025"/>
            <a:ext cx="831000" cy="40821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pic>
        <p:nvPicPr>
          <p:cNvPr id="397" name="Google Shape;397;p40"/>
          <p:cNvPicPr preferRelativeResize="0"/>
          <p:nvPr/>
        </p:nvPicPr>
        <p:blipFill rotWithShape="1">
          <a:blip r:embed="rId3">
            <a:alphaModFix amt="39000"/>
          </a:blip>
          <a:srcRect b="42110" l="0" r="0" t="0"/>
          <a:stretch/>
        </p:blipFill>
        <p:spPr>
          <a:xfrm>
            <a:off x="0" y="0"/>
            <a:ext cx="9144000" cy="5143500"/>
          </a:xfrm>
          <a:prstGeom prst="rect">
            <a:avLst/>
          </a:prstGeom>
          <a:noFill/>
          <a:ln>
            <a:noFill/>
          </a:ln>
        </p:spPr>
      </p:pic>
      <p:sp>
        <p:nvSpPr>
          <p:cNvPr id="398" name="Google Shape;398;p40"/>
          <p:cNvSpPr txBox="1"/>
          <p:nvPr>
            <p:ph idx="1" type="body"/>
          </p:nvPr>
        </p:nvSpPr>
        <p:spPr>
          <a:xfrm>
            <a:off x="1199150" y="1473300"/>
            <a:ext cx="7598400" cy="30999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sz="1400">
                <a:solidFill>
                  <a:srgbClr val="2C3687"/>
                </a:solidFill>
                <a:latin typeface="Assistant"/>
                <a:ea typeface="Assistant"/>
                <a:cs typeface="Assistant"/>
                <a:sym typeface="Assistant"/>
              </a:rPr>
              <a:t>למדנו מהם שלבי פיתוח האפליקציות - תכנון, עיצוב, תכנות ההתנהגות</a:t>
            </a:r>
            <a:endParaRPr sz="1400">
              <a:solidFill>
                <a:srgbClr val="2C3687"/>
              </a:solidFill>
              <a:latin typeface="Assistant"/>
              <a:ea typeface="Assistant"/>
              <a:cs typeface="Assistant"/>
              <a:sym typeface="Assistant"/>
            </a:endParaRPr>
          </a:p>
          <a:p>
            <a:pPr indent="0" lvl="0" marL="0" rtl="1" algn="r">
              <a:spcBef>
                <a:spcPts val="1500"/>
              </a:spcBef>
              <a:spcAft>
                <a:spcPts val="0"/>
              </a:spcAft>
              <a:buNone/>
            </a:pPr>
            <a:r>
              <a:rPr lang="iw" sz="1400">
                <a:solidFill>
                  <a:srgbClr val="2C3687"/>
                </a:solidFill>
                <a:latin typeface="Assistant"/>
                <a:ea typeface="Assistant"/>
                <a:cs typeface="Assistant"/>
                <a:sym typeface="Assistant"/>
              </a:rPr>
              <a:t>למדנו על חומרה ותוכנה</a:t>
            </a:r>
            <a:endParaRPr sz="1400">
              <a:solidFill>
                <a:srgbClr val="2C3687"/>
              </a:solidFill>
              <a:latin typeface="Assistant"/>
              <a:ea typeface="Assistant"/>
              <a:cs typeface="Assistant"/>
              <a:sym typeface="Assistant"/>
            </a:endParaRPr>
          </a:p>
          <a:p>
            <a:pPr indent="0" lvl="0" marL="0" rtl="1" algn="r">
              <a:spcBef>
                <a:spcPts val="1500"/>
              </a:spcBef>
              <a:spcAft>
                <a:spcPts val="0"/>
              </a:spcAft>
              <a:buNone/>
            </a:pPr>
            <a:r>
              <a:rPr lang="iw" sz="1400">
                <a:solidFill>
                  <a:srgbClr val="2C3687"/>
                </a:solidFill>
                <a:latin typeface="Assistant"/>
                <a:ea typeface="Assistant"/>
                <a:cs typeface="Assistant"/>
                <a:sym typeface="Assistant"/>
              </a:rPr>
              <a:t>הכרנו את סביבת העבודה שלנו MIT app inventor</a:t>
            </a:r>
            <a:endParaRPr sz="1400">
              <a:solidFill>
                <a:srgbClr val="2C3687"/>
              </a:solidFill>
              <a:latin typeface="Assistant"/>
              <a:ea typeface="Assistant"/>
              <a:cs typeface="Assistant"/>
              <a:sym typeface="Assistant"/>
            </a:endParaRPr>
          </a:p>
          <a:p>
            <a:pPr indent="0" lvl="0" marL="0" rtl="1" algn="r">
              <a:spcBef>
                <a:spcPts val="1500"/>
              </a:spcBef>
              <a:spcAft>
                <a:spcPts val="0"/>
              </a:spcAft>
              <a:buNone/>
            </a:pPr>
            <a:r>
              <a:rPr lang="iw" sz="1400">
                <a:solidFill>
                  <a:srgbClr val="2C3687"/>
                </a:solidFill>
                <a:latin typeface="Assistant"/>
                <a:ea typeface="Assistant"/>
                <a:cs typeface="Assistant"/>
                <a:sym typeface="Assistant"/>
              </a:rPr>
              <a:t>הכרנו את משטחי העבודה - block editor ו- desinger</a:t>
            </a:r>
            <a:endParaRPr sz="1400">
              <a:solidFill>
                <a:srgbClr val="2C3687"/>
              </a:solidFill>
              <a:latin typeface="Assistant"/>
              <a:ea typeface="Assistant"/>
              <a:cs typeface="Assistant"/>
              <a:sym typeface="Assistant"/>
            </a:endParaRPr>
          </a:p>
          <a:p>
            <a:pPr indent="0" lvl="0" marL="0" rtl="1" algn="r">
              <a:spcBef>
                <a:spcPts val="1500"/>
              </a:spcBef>
              <a:spcAft>
                <a:spcPts val="0"/>
              </a:spcAft>
              <a:buNone/>
            </a:pPr>
            <a:r>
              <a:t/>
            </a:r>
            <a:endParaRPr sz="1400">
              <a:solidFill>
                <a:srgbClr val="2C3687"/>
              </a:solidFill>
              <a:latin typeface="Assistant"/>
              <a:ea typeface="Assistant"/>
              <a:cs typeface="Assistant"/>
              <a:sym typeface="Assistant"/>
            </a:endParaRPr>
          </a:p>
          <a:p>
            <a:pPr indent="0" lvl="0" marL="0" rtl="1" algn="r">
              <a:spcBef>
                <a:spcPts val="1500"/>
              </a:spcBef>
              <a:spcAft>
                <a:spcPts val="1500"/>
              </a:spcAft>
              <a:buNone/>
            </a:pPr>
            <a:r>
              <a:rPr b="1" lang="iw" sz="1400">
                <a:solidFill>
                  <a:schemeClr val="dk1"/>
                </a:solidFill>
                <a:latin typeface="Assistant"/>
                <a:ea typeface="Assistant"/>
                <a:cs typeface="Assistant"/>
                <a:sym typeface="Assistant"/>
              </a:rPr>
              <a:t>ועכשיו - בחלק השני של השיעור נבנה את האפליקציה הראשונה שלנו!</a:t>
            </a:r>
            <a:endParaRPr b="1" sz="1400">
              <a:solidFill>
                <a:schemeClr val="dk1"/>
              </a:solidFill>
              <a:latin typeface="Assistant"/>
              <a:ea typeface="Assistant"/>
              <a:cs typeface="Assistant"/>
              <a:sym typeface="Assistant"/>
            </a:endParaRPr>
          </a:p>
        </p:txBody>
      </p:sp>
      <p:sp>
        <p:nvSpPr>
          <p:cNvPr id="399" name="Google Shape;399;p40"/>
          <p:cNvSpPr txBox="1"/>
          <p:nvPr>
            <p:ph type="title"/>
          </p:nvPr>
        </p:nvSpPr>
        <p:spPr>
          <a:xfrm>
            <a:off x="4815075" y="377100"/>
            <a:ext cx="3994800" cy="1096200"/>
          </a:xfrm>
          <a:prstGeom prst="rect">
            <a:avLst/>
          </a:prstGeom>
        </p:spPr>
        <p:txBody>
          <a:bodyPr anchorCtr="0" anchor="b" bIns="91425" lIns="91425" spcFirstLastPara="1" rIns="91425" wrap="square" tIns="91425">
            <a:normAutofit/>
          </a:bodyPr>
          <a:lstStyle/>
          <a:p>
            <a:pPr indent="0" lvl="0" marL="0" rtl="1" algn="r">
              <a:spcBef>
                <a:spcPts val="0"/>
              </a:spcBef>
              <a:spcAft>
                <a:spcPts val="0"/>
              </a:spcAft>
              <a:buNone/>
            </a:pPr>
            <a:r>
              <a:rPr lang="iw" sz="2800" b="1">
                <a:solidFill>
                  <a:schemeClr val="dk1"/>
                </a:solidFill>
                <a:latin typeface="Assistant"/>
                <a:ea typeface="Assistant"/>
                <a:cs typeface="Assistant"/>
                <a:sym typeface="Assistant"/>
              </a:rPr>
              <a:t>אז מה למדנו היום?</a:t>
            </a:r>
            <a:endParaRPr b="1" sz="2800">
              <a:solidFill>
                <a:schemeClr val="dk1"/>
              </a:solidFill>
              <a:latin typeface="Assistant"/>
              <a:ea typeface="Assistant"/>
              <a:cs typeface="Assistant"/>
              <a:sym typeface="Assistant"/>
            </a:endParaRPr>
          </a:p>
        </p:txBody>
      </p:sp>
      <p:pic>
        <p:nvPicPr>
          <p:cNvPr id="400" name="Google Shape;400;p40"/>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401" name="Google Shape;401;p40"/>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402" name="Google Shape;402;p40"/>
          <p:cNvPicPr preferRelativeResize="0"/>
          <p:nvPr/>
        </p:nvPicPr>
        <p:blipFill>
          <a:blip r:embed="rId6">
            <a:alphaModFix/>
          </a:blip>
          <a:stretch>
            <a:fillRect/>
          </a:stretch>
        </p:blipFill>
        <p:spPr>
          <a:xfrm>
            <a:off x="175925" y="4557100"/>
            <a:ext cx="448904" cy="391875"/>
          </a:xfrm>
          <a:prstGeom prst="rect">
            <a:avLst/>
          </a:prstGeom>
          <a:noFill/>
          <a:ln>
            <a:noFill/>
          </a:ln>
        </p:spPr>
      </p:pic>
      <p:pic>
        <p:nvPicPr>
          <p:cNvPr id="403" name="Google Shape;403;p40"/>
          <p:cNvPicPr preferRelativeResize="0"/>
          <p:nvPr/>
        </p:nvPicPr>
        <p:blipFill>
          <a:blip r:embed="rId7">
            <a:alphaModFix/>
          </a:blip>
          <a:stretch>
            <a:fillRect/>
          </a:stretch>
        </p:blipFill>
        <p:spPr>
          <a:xfrm>
            <a:off x="794775" y="4723425"/>
            <a:ext cx="457185" cy="225550"/>
          </a:xfrm>
          <a:prstGeom prst="rect">
            <a:avLst/>
          </a:prstGeom>
          <a:noFill/>
          <a:ln>
            <a:noFill/>
          </a:ln>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3931920" y="1051560"/>
            <a:ext cx="4937760" cy="1234440"/>
          </a:xfrm>
          <a:prstGeom prst="rect">
            <a:avLst/>
          </a:prstGeom>
          <a:noFill/>
        </p:spPr>
        <p:txBody>
          <a:bodyPr wrap="square" anchor="b" anchorCtr="0" lIns="91425" rIns="91425" tIns="45700" bIns="45700" spcFirstLastPara="1">
            <a:noAutofit/>
          </a:bodyPr>
          <a:lstStyle/>
          <a:p>
            <a:pPr indent="0" lvl="0" marL="0" rtl="1" algn="r">
              <a:lnSpc>
                <a:spcPct val="95000"/>
              </a:lnSpc>
              <a:spcBef>
                <a:spcPts val="0"/>
              </a:spcBef>
              <a:spcAft>
                <a:spcPts val="0"/>
              </a:spcAft>
              <a:buNone/>
            </a:pPr>
            <a:r>
              <a:rPr lang="iw" sz="4000" b="1">
                <a:solidFill>
                  <a:srgbClr val="E91D63"/>
                </a:solidFill>
                <a:latin typeface="Assistant"/>
                <a:ea typeface="Assistant"/>
                <a:cs typeface="Assistant"/>
                <a:sym typeface="Assistant"/>
              </a:rPr>
              <a:t>חלק 2: כדור הקסם</a:t>
            </a:r>
          </a:p>
        </p:txBody>
      </p:sp>
      <p:sp>
        <p:nvSpPr>
          <p:cNvPr id="257" name="TextBox 256"/>
          <p:cNvSpPr txBox="1"/>
          <p:nvPr/>
        </p:nvSpPr>
        <p:spPr>
          <a:xfrm>
            <a:off x="3931920" y="2377440"/>
            <a:ext cx="4937760" cy="173736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0"/>
              </a:spcAft>
              <a:buNone/>
            </a:pPr>
            <a:r>
              <a:rPr lang="iw" sz="1500">
                <a:solidFill>
                  <a:srgbClr val="2C3687"/>
                </a:solidFill>
                <a:latin typeface="Assistant"/>
                <a:ea typeface="Assistant"/>
                <a:cs typeface="Assistant"/>
                <a:sym typeface="Assistant"/>
              </a:rPr>
              <a:t>בחלק הראשון הכרנו את שלבי הפיתוח, את הלוגיקה ואת סביבת העבודה של MIT App Inventor. עכשיו נשתמש בכל מה שלמדנו ונבנה יחד את האפליקציה הראשונה שלנו: Magic 8-Ball - כדור הקסם שחוזה את העתיד.</a:t>
            </a:r>
          </a:p>
        </p:txBody>
      </p:sp>
      <p:pic>
        <p:nvPicPr>
          <p:cNvPr id="258" name="Picture 257" descr="8ball_big.png"/>
          <p:cNvPicPr>
            <a:picLocks noChangeAspect="1"/>
          </p:cNvPicPr>
          <p:nvPr/>
        </p:nvPicPr>
        <p:blipFill>
          <a:blip r:embed="rId7"/>
          <a:stretch>
            <a:fillRect/>
          </a:stretch>
        </p:blipFill>
        <p:spPr>
          <a:xfrm>
            <a:off x="502920" y="793013"/>
            <a:ext cx="3154680" cy="3123133"/>
          </a:xfrm>
          <a:prstGeom prst="rect">
            <a:avLst/>
          </a:prstGeom>
        </p:spPr>
      </p:pic>
      <p:sp>
        <p:nvSpPr>
          <p:cNvPr id="259" name="TextBox 258"/>
          <p:cNvSpPr txBox="1"/>
          <p:nvPr/>
        </p:nvSpPr>
        <p:spPr>
          <a:xfrm>
            <a:off x="365760" y="3977639"/>
            <a:ext cx="8412480" cy="502920"/>
          </a:xfrm>
          <a:prstGeom prst="rect">
            <a:avLst/>
          </a:prstGeom>
          <a:noFill/>
        </p:spPr>
        <p:txBody>
          <a:bodyPr wrap="square" anchor="t" anchorCtr="0" lIns="91425" rIns="91425" tIns="45700" bIns="45700" spcFirstLastPara="1">
            <a:noAutofit/>
          </a:bodyPr>
          <a:lstStyle/>
          <a:p>
            <a:pPr indent="0" lvl="0" marL="0" rtl="1" algn="ctr">
              <a:lnSpc>
                <a:spcPct val="90000"/>
              </a:lnSpc>
              <a:spcBef>
                <a:spcPts val="0"/>
              </a:spcBef>
              <a:spcAft>
                <a:spcPts val="0"/>
              </a:spcAft>
              <a:buNone/>
            </a:pPr>
            <a:r>
              <a:rPr lang="iw" sz="1200" b="1">
                <a:solidFill>
                  <a:srgbClr val="17B3A9"/>
                </a:solidFill>
                <a:latin typeface="Assistant"/>
                <a:ea typeface="Assistant"/>
                <a:cs typeface="Assistant"/>
                <a:sym typeface="Assistant"/>
              </a:rPr>
              <a:t>שואלים שאלה   ←   מנערים את הטלפון   ←   מקבלים תשובה</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311700" y="372500"/>
            <a:ext cx="399600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מה זה כדור הקסם?</a:t>
            </a:r>
          </a:p>
        </p:txBody>
      </p:sp>
      <p:sp>
        <p:nvSpPr>
          <p:cNvPr id="257" name="TextBox 256"/>
          <p:cNvSpPr txBox="1"/>
          <p:nvPr/>
        </p:nvSpPr>
        <p:spPr>
          <a:xfrm>
            <a:off x="64000" y="1468825"/>
            <a:ext cx="4243000" cy="31000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כדור הקסם הוא צעצוע אמריקאי מפורסם משנת 1950: כדור ביליארד שחור עם המספר 8, ובתוכו נוזל וקובייה צפה עם 20 תשובות. שואלים שאלה של כן או לא, מנערים את הכדור, והתשובה צפה אל החלון.</a:t>
            </a:r>
          </a:p>
          <a:p>
            <a:pPr indent="0" lvl="0" marL="0" rtl="1" algn="r">
              <a:lnSpc>
                <a:spcPct val="95000"/>
              </a:lnSpc>
              <a:spcBef>
                <a:spcPts val="280"/>
              </a:spcBef>
              <a:spcAft>
                <a:spcPts val="90"/>
              </a:spcAft>
              <a:buNone/>
            </a:pPr>
            <a:r>
              <a:rPr lang="iw" sz="1500" b="1">
                <a:solidFill>
                  <a:srgbClr val="E91D63"/>
                </a:solidFill>
                <a:latin typeface="Assistant"/>
                <a:ea typeface="Assistant"/>
                <a:cs typeface="Assistant"/>
                <a:sym typeface="Assistant"/>
              </a:rPr>
              <a:t>ומה אנחנו נבנה?</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תמונה של כדור הקסם על המסך</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לחיצה על הכדור (ובהמשך - ניעור הטלפון) תשמיע צליל</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ותציג אחת מהתשובות שנכתוב מראש</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הכדור לא באמת יודע לחזות את העתיד - הוא בוחר תשובה אקראית מתוך רשימה. בדיוק את זה נלמד לתכנת.</a:t>
            </a:r>
          </a:p>
        </p:txBody>
      </p:sp>
      <p:pic>
        <p:nvPicPr>
          <p:cNvPr id="258" name="Picture 257" descr="8ball_big.png"/>
          <p:cNvPicPr>
            <a:picLocks noChangeAspect="1"/>
          </p:cNvPicPr>
          <p:nvPr/>
        </p:nvPicPr>
        <p:blipFill>
          <a:blip r:embed="rId7"/>
          <a:stretch>
            <a:fillRect/>
          </a:stretch>
        </p:blipFill>
        <p:spPr>
          <a:xfrm>
            <a:off x="5150658" y="1005840"/>
            <a:ext cx="3140363" cy="310896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600" b="1">
                <a:solidFill>
                  <a:srgbClr val="E91D63"/>
                </a:solidFill>
                <a:latin typeface="Assistant"/>
                <a:ea typeface="Assistant"/>
                <a:cs typeface="Assistant"/>
                <a:sym typeface="Assistant"/>
              </a:rPr>
              <a:t>שלושת שלבי הפיתוח - הפעם באמת</a:t>
            </a:r>
          </a:p>
        </p:txBody>
      </p:sp>
      <p:sp>
        <p:nvSpPr>
          <p:cNvPr id="257" name="Rounded Rectangle 256"/>
          <p:cNvSpPr/>
          <p:nvPr/>
        </p:nvSpPr>
        <p:spPr>
          <a:xfrm>
            <a:off x="310896" y="1517904"/>
            <a:ext cx="4151376" cy="2916936"/>
          </a:xfrm>
          <a:prstGeom prst="roundRect">
            <a:avLst>
              <a:gd name="adj" fmla="val 6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457200" y="1609344"/>
            <a:ext cx="3858768" cy="384048"/>
          </a:xfrm>
          <a:prstGeom prst="rect">
            <a:avLst/>
          </a:prstGeom>
          <a:noFill/>
        </p:spPr>
        <p:txBody>
          <a:bodyPr wrap="square" anchor="t" anchorCtr="0" lIns="91425" rIns="91425" tIns="45700" bIns="45700" spcFirstLastPara="1">
            <a:noAutofit/>
          </a:bodyPr>
          <a:lstStyle/>
          <a:p>
            <a:pPr indent="0" lvl="0" marL="0" rtl="1" algn="r">
              <a:lnSpc>
                <a:spcPct val="90000"/>
              </a:lnSpc>
              <a:spcBef>
                <a:spcPts val="0"/>
              </a:spcBef>
              <a:spcAft>
                <a:spcPts val="0"/>
              </a:spcAft>
              <a:buNone/>
            </a:pPr>
            <a:r>
              <a:rPr lang="iw" sz="1400" b="1">
                <a:solidFill>
                  <a:srgbClr val="E91D63"/>
                </a:solidFill>
                <a:latin typeface="Assistant"/>
                <a:ea typeface="Assistant"/>
                <a:cs typeface="Assistant"/>
                <a:sym typeface="Assistant"/>
              </a:rPr>
              <a:t>מה למדנו בחלק הראשון?</a:t>
            </a:r>
          </a:p>
        </p:txBody>
      </p:sp>
      <p:sp>
        <p:nvSpPr>
          <p:cNvPr id="259" name="TextBox 258"/>
          <p:cNvSpPr txBox="1"/>
          <p:nvPr/>
        </p:nvSpPr>
        <p:spPr>
          <a:xfrm>
            <a:off x="457200" y="2011680"/>
            <a:ext cx="3858768" cy="2359152"/>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ראינו שכל פיתוח אפליקציה מורכב משלושה שלבים:</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שלב התכנון - מה נבנה ולמה</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שלב העיצוב - איך זה ייראה</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שלב תכנות ההתנהגות - מה יקרה כשהמשתמש יפעיל אותה</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שלושת השלבים האלה מלווים כל אפליקציה, גדולה כקטנה.</a:t>
            </a:r>
          </a:p>
        </p:txBody>
      </p:sp>
      <p:sp>
        <p:nvSpPr>
          <p:cNvPr id="260" name="Rounded Rectangle 259"/>
          <p:cNvSpPr/>
          <p:nvPr/>
        </p:nvSpPr>
        <p:spPr>
          <a:xfrm>
            <a:off x="4681728" y="1517904"/>
            <a:ext cx="4151376" cy="2916936"/>
          </a:xfrm>
          <a:prstGeom prst="roundRect">
            <a:avLst>
              <a:gd name="adj" fmla="val 6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4828032" y="1609344"/>
            <a:ext cx="3858768" cy="384048"/>
          </a:xfrm>
          <a:prstGeom prst="rect">
            <a:avLst/>
          </a:prstGeom>
          <a:noFill/>
        </p:spPr>
        <p:txBody>
          <a:bodyPr wrap="square" anchor="t" anchorCtr="0" lIns="91425" rIns="91425" tIns="45700" bIns="45700" spcFirstLastPara="1">
            <a:noAutofit/>
          </a:bodyPr>
          <a:lstStyle/>
          <a:p>
            <a:pPr indent="0" lvl="0" marL="0" rtl="1" algn="r">
              <a:lnSpc>
                <a:spcPct val="90000"/>
              </a:lnSpc>
              <a:spcBef>
                <a:spcPts val="0"/>
              </a:spcBef>
              <a:spcAft>
                <a:spcPts val="0"/>
              </a:spcAft>
              <a:buNone/>
            </a:pPr>
            <a:r>
              <a:rPr lang="iw" sz="1400" b="1">
                <a:solidFill>
                  <a:srgbClr val="E91D63"/>
                </a:solidFill>
                <a:latin typeface="Assistant"/>
                <a:ea typeface="Assistant"/>
                <a:cs typeface="Assistant"/>
                <a:sym typeface="Assistant"/>
              </a:rPr>
              <a:t>איך זה מתורגם לכדור הקסם?</a:t>
            </a:r>
          </a:p>
        </p:txBody>
      </p:sp>
      <p:sp>
        <p:nvSpPr>
          <p:cNvPr id="262" name="TextBox 261"/>
          <p:cNvSpPr txBox="1"/>
          <p:nvPr/>
        </p:nvSpPr>
        <p:spPr>
          <a:xfrm>
            <a:off x="4828032" y="2011680"/>
            <a:ext cx="3858768" cy="2359152"/>
          </a:xfrm>
          <a:prstGeom prst="rect">
            <a:avLst/>
          </a:prstGeom>
          <a:noFill/>
        </p:spPr>
        <p:txBody>
          <a:bodyPr wrap="square" anchor="t" anchorCtr="0" lIns="91425" rIns="91425" tIns="45700" bIns="45700" spcFirstLastPara="1">
            <a:noAutofit/>
          </a:bodyPr>
          <a:lstStyle/>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תכנון: נחליט מה האפליקציה עושה ואילו רכיבים היא צריכה</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עיצוב: נגרור רכיבים ב-Designer ונקבע להם תכונות</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תכנות התנהגות: נחבר בלוקים ב-Blocks Editor</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אחרי כל שלב נבדוק על הטלפון שהכול עובד - לפני שממשיכים.</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שלב התכנון: בונים בשלוש פעימות</a:t>
            </a:r>
          </a:p>
        </p:txBody>
      </p:sp>
      <p:sp>
        <p:nvSpPr>
          <p:cNvPr id="257" name="TextBox 256"/>
          <p:cNvSpPr txBox="1"/>
          <p:nvPr/>
        </p:nvSpPr>
        <p:spPr>
          <a:xfrm>
            <a:off x="311700" y="1468825"/>
            <a:ext cx="8520600" cy="29679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לא בונים אפליקציה בבת אחת. מוסיפים יכולת אחת, בודקים שהיא עובדת, ורק אז ממשיכים. ככה עובדים מתכנתים אמיתיים - וככה נבנה גם אנחנו:</a:t>
            </a:r>
          </a:p>
          <a:p>
            <a:pPr indent="0" lvl="0" marL="0" rtl="1" algn="r">
              <a:lnSpc>
                <a:spcPct val="95000"/>
              </a:lnSpc>
              <a:spcBef>
                <a:spcPts val="300"/>
              </a:spcBef>
              <a:spcAft>
                <a:spcPts val="0"/>
              </a:spcAft>
              <a:buNone/>
            </a:pPr>
            <a:r>
              <a:rPr lang="iw" sz="1500" b="1">
                <a:solidFill>
                  <a:srgbClr val="E91D63"/>
                </a:solidFill>
                <a:latin typeface="Assistant"/>
                <a:ea typeface="Assistant"/>
                <a:cs typeface="Assistant"/>
                <a:sym typeface="Assistant"/>
              </a:rPr>
              <a:t>שלב 1</a:t>
            </a:r>
            <a:r>
              <a:rPr lang="iw" sz="1400">
                <a:solidFill>
                  <a:srgbClr val="2C3687"/>
                </a:solidFill>
                <a:latin typeface="Assistant"/>
                <a:ea typeface="Assistant"/>
                <a:cs typeface="Assistant"/>
                <a:sym typeface="Assistant"/>
              </a:rPr>
              <a:t xml:space="preserve">   לוחצים על תמונת הכדור   ←   נשמע צליל</a:t>
            </a:r>
          </a:p>
          <a:p>
            <a:pPr indent="0" lvl="0" marL="0" rtl="1" algn="r">
              <a:lnSpc>
                <a:spcPct val="95000"/>
              </a:lnSpc>
              <a:spcBef>
                <a:spcPts val="200"/>
              </a:spcBef>
              <a:spcAft>
                <a:spcPts val="0"/>
              </a:spcAft>
              <a:buNone/>
            </a:pPr>
            <a:r>
              <a:rPr lang="iw" sz="1500" b="1">
                <a:solidFill>
                  <a:srgbClr val="E91D63"/>
                </a:solidFill>
                <a:latin typeface="Assistant"/>
                <a:ea typeface="Assistant"/>
                <a:cs typeface="Assistant"/>
                <a:sym typeface="Assistant"/>
              </a:rPr>
              <a:t>שלב 2</a:t>
            </a:r>
            <a:r>
              <a:rPr lang="iw" sz="1400">
                <a:solidFill>
                  <a:srgbClr val="2C3687"/>
                </a:solidFill>
                <a:latin typeface="Assistant"/>
                <a:ea typeface="Assistant"/>
                <a:cs typeface="Assistant"/>
                <a:sym typeface="Assistant"/>
              </a:rPr>
              <a:t xml:space="preserve">   לוחצים על הכדור   ←   מופיעה תשובה אקראית + נשמע צליל</a:t>
            </a:r>
          </a:p>
          <a:p>
            <a:pPr indent="0" lvl="0" marL="0" rtl="1" algn="r">
              <a:lnSpc>
                <a:spcPct val="95000"/>
              </a:lnSpc>
              <a:spcBef>
                <a:spcPts val="200"/>
              </a:spcBef>
              <a:spcAft>
                <a:spcPts val="0"/>
              </a:spcAft>
              <a:buNone/>
            </a:pPr>
            <a:r>
              <a:rPr lang="iw" sz="1500" b="1">
                <a:solidFill>
                  <a:srgbClr val="E91D63"/>
                </a:solidFill>
                <a:latin typeface="Assistant"/>
                <a:ea typeface="Assistant"/>
                <a:cs typeface="Assistant"/>
                <a:sym typeface="Assistant"/>
              </a:rPr>
              <a:t>שלב 3</a:t>
            </a:r>
            <a:r>
              <a:rPr lang="iw" sz="1400">
                <a:solidFill>
                  <a:srgbClr val="2C3687"/>
                </a:solidFill>
                <a:latin typeface="Assistant"/>
                <a:ea typeface="Assistant"/>
                <a:cs typeface="Assistant"/>
                <a:sym typeface="Assistant"/>
              </a:rPr>
              <a:t xml:space="preserve">   מנערים את הטלפון   ←   מופיעה תשובה אקראית + נשמע צליל</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שלב 3 דורש טלפון או טאבלט אמיתי עם חיישן תאוצה. באמולטור אי אפשר לנער את המכשיר - אז מי שעובד באמולטור יעצור בשלב 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311700" y="372500"/>
            <a:ext cx="399600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יוצרים פרויקט חדש</a:t>
            </a:r>
          </a:p>
        </p:txBody>
      </p:sp>
      <p:sp>
        <p:nvSpPr>
          <p:cNvPr id="257" name="TextBox 256"/>
          <p:cNvSpPr txBox="1"/>
          <p:nvPr/>
        </p:nvSpPr>
        <p:spPr>
          <a:xfrm>
            <a:off x="64000" y="1468825"/>
            <a:ext cx="4243000" cy="31000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נכנסים ל-ai2.appinventor.mit.edu ומתחברים עם חשבון הגוגל, בדיוק כמו שראינו בחלק הראשון. ואז:</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בתפריט העליון: Project ואז My Projects</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לוחצים על Start new project</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נותנים שם ולוחצים OK</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חשוב! בשם הפרויקט אסור רווחים, הוא חייב להתחיל באות, ומותרים בו רק אותיות באנגלית, ספרות וקו תחתון. לכן: Magic8Ball ולא Magic 8 Ball.</a:t>
            </a:r>
          </a:p>
        </p:txBody>
      </p:sp>
      <p:pic>
        <p:nvPicPr>
          <p:cNvPr id="258" name="Picture 257" descr="newproject.png"/>
          <p:cNvPicPr>
            <a:picLocks noChangeAspect="1"/>
          </p:cNvPicPr>
          <p:nvPr/>
        </p:nvPicPr>
        <p:blipFill>
          <a:blip r:embed="rId7"/>
          <a:stretch>
            <a:fillRect/>
          </a:stretch>
        </p:blipFill>
        <p:spPr>
          <a:xfrm>
            <a:off x="4343400" y="1440648"/>
            <a:ext cx="4617720" cy="2102184"/>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311700" y="372500"/>
            <a:ext cx="399600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הקבצים שנצטרך</a:t>
            </a:r>
          </a:p>
        </p:txBody>
      </p:sp>
      <p:sp>
        <p:nvSpPr>
          <p:cNvPr id="257" name="TextBox 256"/>
          <p:cNvSpPr txBox="1"/>
          <p:nvPr/>
        </p:nvSpPr>
        <p:spPr>
          <a:xfrm>
            <a:off x="64000" y="1468825"/>
            <a:ext cx="4243000" cy="31000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לאפליקציה דרושים שני קבצים בלבד:</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תמונה אחת של כדור הקסם - 8ball.jpg</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קובץ צליל אחד - למשל Tada.mp3, Cha_Ching.mp3 או Clinking_Teaspoon.mp3</a:t>
            </a:r>
          </a:p>
          <a:p>
            <a:pPr indent="0" lvl="0" marL="0" rtl="1" algn="r">
              <a:lnSpc>
                <a:spcPct val="95000"/>
              </a:lnSpc>
              <a:spcBef>
                <a:spcPts val="280"/>
              </a:spcBef>
              <a:spcAft>
                <a:spcPts val="90"/>
              </a:spcAft>
              <a:buNone/>
            </a:pPr>
            <a:r>
              <a:rPr lang="iw" sz="1500" b="1">
                <a:solidFill>
                  <a:srgbClr val="E91D63"/>
                </a:solidFill>
                <a:latin typeface="Assistant"/>
                <a:ea typeface="Assistant"/>
                <a:cs typeface="Assistant"/>
                <a:sym typeface="Assistant"/>
              </a:rPr>
              <a:t>איפה מורידים?</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מדף השיעור של MIT: appinventor.mit.edu/explore/ai2/magic-8-ball</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או מספריית המדיה: appinventor.mit.edu/explore/media-library</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אפשר גם תמונה וצליל משלכם. שמרו את הקבצים במקום שתזכרו במחשב - עוד רגע נעלה אותם לפרויקט.</a:t>
            </a:r>
          </a:p>
        </p:txBody>
      </p:sp>
      <p:pic>
        <p:nvPicPr>
          <p:cNvPr id="258" name="Picture 257" descr="8ball_big.png"/>
          <p:cNvPicPr>
            <a:picLocks noChangeAspect="1"/>
          </p:cNvPicPr>
          <p:nvPr/>
        </p:nvPicPr>
        <p:blipFill>
          <a:blip r:embed="rId7"/>
          <a:stretch>
            <a:fillRect/>
          </a:stretch>
        </p:blipFill>
        <p:spPr>
          <a:xfrm>
            <a:off x="5243021" y="1097280"/>
            <a:ext cx="2955636" cy="292608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311700" y="372500"/>
            <a:ext cx="399600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עיצוב: מוסיפים את הכפתור</a:t>
            </a:r>
          </a:p>
        </p:txBody>
      </p:sp>
      <p:sp>
        <p:nvSpPr>
          <p:cNvPr id="257" name="TextBox 256"/>
          <p:cNvSpPr txBox="1"/>
          <p:nvPr/>
        </p:nvSpPr>
        <p:spPr>
          <a:xfrm>
            <a:off x="64000" y="1468825"/>
            <a:ext cx="4243000" cy="31000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הרכיב הראשון הוא כפתור - Button. הכפתור הוא הכדור עצמו: נשים עליו תמונה, וכשלוחצים עליו יקרה משהו.</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בעמודה השמאלית (Palette) פותחים את המגירה User Interface</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גוררים את Button אל תוך המסך שב-Viewer</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בחלון Components מופיע רכיב חדש בשם Button1</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App Inventor נותן לכל רכיב שם אוטומטי עם מספר - Button1, Button2 וכן הלאה. בשם הזה נשתמש אחר כך בבלוקים.</a:t>
            </a:r>
          </a:p>
        </p:txBody>
      </p:sp>
      <p:pic>
        <p:nvPicPr>
          <p:cNvPr id="258" name="Picture 257" descr="newbutton.png"/>
          <p:cNvPicPr>
            <a:picLocks noChangeAspect="1"/>
          </p:cNvPicPr>
          <p:nvPr/>
        </p:nvPicPr>
        <p:blipFill>
          <a:blip r:embed="rId7"/>
          <a:stretch>
            <a:fillRect/>
          </a:stretch>
        </p:blipFill>
        <p:spPr>
          <a:xfrm>
            <a:off x="4315968" y="1342319"/>
            <a:ext cx="4663440" cy="2253122"/>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311700" y="372500"/>
            <a:ext cx="399600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עיצוב: תכונות הכפתור</a:t>
            </a:r>
          </a:p>
        </p:txBody>
      </p:sp>
      <p:sp>
        <p:nvSpPr>
          <p:cNvPr id="257" name="TextBox 256"/>
          <p:cNvSpPr txBox="1"/>
          <p:nvPr/>
        </p:nvSpPr>
        <p:spPr>
          <a:xfrm>
            <a:off x="64000" y="1468825"/>
            <a:ext cx="4243000" cy="31000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עכשיו נהפוך את הכפתור האפור לכדור קסם. בוחרים את Button1, ומשנים לו שתי תכונות בחלון Properties:</a:t>
            </a:r>
          </a:p>
          <a:p>
            <a:pPr indent="-317500" lvl="0" marL="457200" rtl="1" algn="r">
              <a:lnSpc>
                <a:spcPct val="95000"/>
              </a:lnSpc>
              <a:spcBef>
                <a:spcPts val="0"/>
              </a:spcBef>
              <a:spcAft>
                <a:spcPts val="150"/>
              </a:spcAft>
              <a:buClr>
                <a:srgbClr val="2C3687"/>
              </a:buClr>
              <a:buSzPts val="1300"/>
              <a:buFont typeface="Assistant"/>
              <a:buChar char="-"/>
            </a:pPr>
            <a:r>
              <a:rPr lang="iw" sz="1300" b="1">
                <a:solidFill>
                  <a:srgbClr val="E91D63"/>
                </a:solidFill>
                <a:latin typeface="Source Code Pro"/>
                <a:ea typeface="Source Code Pro"/>
                <a:cs typeface="Source Code Pro"/>
                <a:sym typeface="Source Code Pro"/>
              </a:rPr>
              <a:t>Image</a:t>
            </a:r>
            <a:r>
              <a:rPr lang="iw" sz="1300">
                <a:solidFill>
                  <a:srgbClr val="2C3687"/>
                </a:solidFill>
                <a:latin typeface="Assistant"/>
                <a:ea typeface="Assistant"/>
                <a:cs typeface="Assistant"/>
                <a:sym typeface="Assistant"/>
              </a:rPr>
              <a:t xml:space="preserve">   לוחצים על ...None, אחר כך Upload File, בוחרים את תמונת הכדור ומאשרים ב-OK</a:t>
            </a:r>
          </a:p>
          <a:p>
            <a:pPr indent="-317500" lvl="0" marL="457200" rtl="1" algn="r">
              <a:lnSpc>
                <a:spcPct val="95000"/>
              </a:lnSpc>
              <a:spcBef>
                <a:spcPts val="0"/>
              </a:spcBef>
              <a:spcAft>
                <a:spcPts val="150"/>
              </a:spcAft>
              <a:buClr>
                <a:srgbClr val="2C3687"/>
              </a:buClr>
              <a:buSzPts val="1300"/>
              <a:buFont typeface="Assistant"/>
              <a:buChar char="-"/>
            </a:pPr>
            <a:r>
              <a:rPr lang="iw" sz="1300" b="1">
                <a:solidFill>
                  <a:srgbClr val="E91D63"/>
                </a:solidFill>
                <a:latin typeface="Source Code Pro"/>
                <a:ea typeface="Source Code Pro"/>
                <a:cs typeface="Source Code Pro"/>
                <a:sym typeface="Source Code Pro"/>
              </a:rPr>
              <a:t>Text</a:t>
            </a:r>
            <a:r>
              <a:rPr lang="iw" sz="1300">
                <a:solidFill>
                  <a:srgbClr val="2C3687"/>
                </a:solidFill>
                <a:latin typeface="Assistant"/>
                <a:ea typeface="Assistant"/>
                <a:cs typeface="Assistant"/>
                <a:sym typeface="Assistant"/>
              </a:rPr>
              <a:t xml:space="preserve">   מוחקים את המילה Text, כדי שלא תופיע כתובית על הכדור</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התמונה שהעליתם נשמרת אוטומטית בחלון Media, שם נמצאים כל קבצי המדיה של הפרויקט.</a:t>
            </a:r>
          </a:p>
        </p:txBody>
      </p:sp>
      <p:pic>
        <p:nvPicPr>
          <p:cNvPr id="258" name="Picture 257" descr="buttonproperties.png"/>
          <p:cNvPicPr>
            <a:picLocks noChangeAspect="1"/>
          </p:cNvPicPr>
          <p:nvPr/>
        </p:nvPicPr>
        <p:blipFill>
          <a:blip r:embed="rId7"/>
          <a:stretch>
            <a:fillRect/>
          </a:stretch>
        </p:blipFill>
        <p:spPr>
          <a:xfrm>
            <a:off x="6040116" y="685800"/>
            <a:ext cx="1361448" cy="38862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311700" y="372500"/>
            <a:ext cx="399600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600" b="1">
                <a:solidFill>
                  <a:srgbClr val="E91D63"/>
                </a:solidFill>
                <a:latin typeface="Assistant"/>
                <a:ea typeface="Assistant"/>
                <a:cs typeface="Assistant"/>
                <a:sym typeface="Assistant"/>
              </a:rPr>
              <a:t>עיצוב: מוסיפים נגן צלילים</a:t>
            </a:r>
          </a:p>
        </p:txBody>
      </p:sp>
      <p:sp>
        <p:nvSpPr>
          <p:cNvPr id="257" name="TextBox 256"/>
          <p:cNvSpPr txBox="1"/>
          <p:nvPr/>
        </p:nvSpPr>
        <p:spPr>
          <a:xfrm>
            <a:off x="64000" y="1468825"/>
            <a:ext cx="4243000" cy="31000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כדי להשמיע צליל צריך רכיב שיודע לנגן, ושמו Player.</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במגירה Media גוררים את Player אל המסך</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שימו לב - Player לא נראה על המסך! הוא צונח לאזור Non-visible components שמתחת לטלפון</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בוחרים את Player1, ובתכונה Source מעלים את קובץ הצליל</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רכיב בלתי נראה עושה עבודה מאחורי הקלעים: נגן, חיישן, שעון. הוא קיים באפליקציה - המשתמש פשוט לא רואה אותו.</a:t>
            </a:r>
          </a:p>
        </p:txBody>
      </p:sp>
      <p:pic>
        <p:nvPicPr>
          <p:cNvPr id="258" name="Picture 257" descr="soundproperties.png"/>
          <p:cNvPicPr>
            <a:picLocks noChangeAspect="1"/>
          </p:cNvPicPr>
          <p:nvPr/>
        </p:nvPicPr>
        <p:blipFill>
          <a:blip r:embed="rId7"/>
          <a:stretch>
            <a:fillRect/>
          </a:stretch>
        </p:blipFill>
        <p:spPr>
          <a:xfrm>
            <a:off x="4315968" y="1184357"/>
            <a:ext cx="4663440" cy="2569045"/>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311700" y="372500"/>
            <a:ext cx="399600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עוברים ל-Blocks Editor</a:t>
            </a:r>
          </a:p>
        </p:txBody>
      </p:sp>
      <p:sp>
        <p:nvSpPr>
          <p:cNvPr id="257" name="TextBox 256"/>
          <p:cNvSpPr txBox="1"/>
          <p:nvPr/>
        </p:nvSpPr>
        <p:spPr>
          <a:xfrm>
            <a:off x="64000" y="1468825"/>
            <a:ext cx="4243000" cy="31000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סיימנו את העיצוב של שלב 1. בפינה הימנית העליונה לוחצים על Blocks.</a:t>
            </a:r>
          </a:p>
          <a:p>
            <a:pPr indent="0" lvl="0" marL="0" rtl="1" algn="r">
              <a:lnSpc>
                <a:spcPct val="95000"/>
              </a:lnSpc>
              <a:spcBef>
                <a:spcPts val="280"/>
              </a:spcBef>
              <a:spcAft>
                <a:spcPts val="90"/>
              </a:spcAft>
              <a:buNone/>
            </a:pPr>
            <a:r>
              <a:rPr lang="iw" sz="1500" b="1">
                <a:solidFill>
                  <a:srgbClr val="E91D63"/>
                </a:solidFill>
                <a:latin typeface="Assistant"/>
                <a:ea typeface="Assistant"/>
                <a:cs typeface="Assistant"/>
                <a:sym typeface="Assistant"/>
              </a:rPr>
              <a:t>מה יש שם?</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Built-in - המגירות הכלליות: Control, Logic, Math, Text, Lists ועוד</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Screen1 - הרכיבים שהוספנו: Button1, Player1...</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לחיצה על מגירה פותחת את כל הבלוקים שלה</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גוררים בלוק מהמגירה אל הקנבס. בלוקים נצמדים זה לזה כמו פאזל מגנטי - ורק אם הם באמת מתאימים.</a:t>
            </a:r>
          </a:p>
        </p:txBody>
      </p:sp>
      <p:pic>
        <p:nvPicPr>
          <p:cNvPr id="258" name="Picture 257" descr="blocks_drag.png"/>
          <p:cNvPicPr>
            <a:picLocks noChangeAspect="1"/>
          </p:cNvPicPr>
          <p:nvPr/>
        </p:nvPicPr>
        <p:blipFill>
          <a:blip r:embed="rId7"/>
          <a:stretch>
            <a:fillRect/>
          </a:stretch>
        </p:blipFill>
        <p:spPr>
          <a:xfrm>
            <a:off x="4315968" y="914400"/>
            <a:ext cx="4663440" cy="310896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600" b="1">
                <a:solidFill>
                  <a:srgbClr val="E91D63"/>
                </a:solidFill>
                <a:latin typeface="Assistant"/>
                <a:ea typeface="Assistant"/>
                <a:cs typeface="Assistant"/>
                <a:sym typeface="Assistant"/>
              </a:rPr>
              <a:t>הבלוקים של שלב 1 - אנגלית ועברית</a:t>
            </a:r>
          </a:p>
        </p:txBody>
      </p:sp>
      <p:sp>
        <p:nvSpPr>
          <p:cNvPr id="257" name="Rounded Rectangle 256"/>
          <p:cNvSpPr/>
          <p:nvPr/>
        </p:nvSpPr>
        <p:spPr>
          <a:xfrm>
            <a:off x="274320" y="1517904"/>
            <a:ext cx="8595360" cy="1207008"/>
          </a:xfrm>
          <a:prstGeom prst="roundRect">
            <a:avLst>
              <a:gd name="adj" fmla="val 10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8" name="Picture 257" descr="blk_when_click.png"/>
          <p:cNvPicPr>
            <a:picLocks noChangeAspect="1"/>
          </p:cNvPicPr>
          <p:nvPr/>
        </p:nvPicPr>
        <p:blipFill>
          <a:blip r:embed="rId7"/>
          <a:stretch>
            <a:fillRect/>
          </a:stretch>
        </p:blipFill>
        <p:spPr>
          <a:xfrm>
            <a:off x="5584564" y="1927770"/>
            <a:ext cx="2226832" cy="387275"/>
          </a:xfrm>
          <a:prstGeom prst="rect">
            <a:avLst/>
          </a:prstGeom>
        </p:spPr>
      </p:pic>
      <p:sp>
        <p:nvSpPr>
          <p:cNvPr id="259" name="TextBox 258"/>
          <p:cNvSpPr txBox="1"/>
          <p:nvPr/>
        </p:nvSpPr>
        <p:spPr>
          <a:xfrm>
            <a:off x="402336" y="1517904"/>
            <a:ext cx="4133087" cy="1207008"/>
          </a:xfrm>
          <a:prstGeom prst="rect">
            <a:avLst/>
          </a:prstGeom>
          <a:noFill/>
        </p:spPr>
        <p:txBody>
          <a:bodyPr wrap="square" anchor="ctr" anchorCtr="0" lIns="91425" rIns="91425" tIns="45700" bIns="45700" spcFirstLastPara="1">
            <a:noAutofit/>
          </a:bodyPr>
          <a:lstStyle/>
          <a:p>
            <a:pPr indent="0" lvl="0" marL="0" rtl="1" algn="r">
              <a:lnSpc>
                <a:spcPct val="95000"/>
              </a:lnSpc>
              <a:spcBef>
                <a:spcPts val="0"/>
              </a:spcBef>
              <a:spcAft>
                <a:spcPts val="0"/>
              </a:spcAft>
              <a:buNone/>
            </a:pPr>
            <a:r>
              <a:rPr lang="iw" sz="1300" b="1">
                <a:solidFill>
                  <a:srgbClr val="2C3687"/>
                </a:solidFill>
                <a:latin typeface="Assistant"/>
                <a:ea typeface="Assistant"/>
                <a:cs typeface="Assistant"/>
                <a:sym typeface="Assistant"/>
              </a:rPr>
              <a:t>כאשר לוחצים על Button1 - בצע</a:t>
            </a:r>
          </a:p>
          <a:p>
            <a:pPr indent="0" lvl="0" marL="0" rtl="1" algn="r">
              <a:lnSpc>
                <a:spcPct val="92000"/>
              </a:lnSpc>
              <a:spcBef>
                <a:spcPts val="220"/>
              </a:spcBef>
              <a:spcAft>
                <a:spcPts val="0"/>
              </a:spcAft>
              <a:buNone/>
            </a:pPr>
            <a:r>
              <a:rPr lang="iw" sz="1100">
                <a:solidFill>
                  <a:srgbClr val="2C36A6"/>
                </a:solidFill>
                <a:latin typeface="Assistant"/>
                <a:ea typeface="Assistant"/>
                <a:cs typeface="Assistant"/>
                <a:sym typeface="Assistant"/>
              </a:rPr>
              <a:t>when = כאשר   |   Click = לחיצה   |   do = בצע. בלוק אירוע: הוא לא רץ כל הזמן, אלא מחכה שהמשתמש ילחץ. נמצא במגירה Button1.</a:t>
            </a:r>
          </a:p>
        </p:txBody>
      </p:sp>
      <p:sp>
        <p:nvSpPr>
          <p:cNvPr id="260" name="Rounded Rectangle 259"/>
          <p:cNvSpPr/>
          <p:nvPr/>
        </p:nvSpPr>
        <p:spPr>
          <a:xfrm>
            <a:off x="274320" y="2798064"/>
            <a:ext cx="8595360" cy="1207008"/>
          </a:xfrm>
          <a:prstGeom prst="roundRect">
            <a:avLst>
              <a:gd name="adj" fmla="val 10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1" name="Picture 260" descr="blk_call_start.png"/>
          <p:cNvPicPr>
            <a:picLocks noChangeAspect="1"/>
          </p:cNvPicPr>
          <p:nvPr/>
        </p:nvPicPr>
        <p:blipFill>
          <a:blip r:embed="rId8"/>
          <a:stretch>
            <a:fillRect/>
          </a:stretch>
        </p:blipFill>
        <p:spPr>
          <a:xfrm>
            <a:off x="5697519" y="3224067"/>
            <a:ext cx="2000922" cy="355002"/>
          </a:xfrm>
          <a:prstGeom prst="rect">
            <a:avLst/>
          </a:prstGeom>
        </p:spPr>
      </p:pic>
      <p:sp>
        <p:nvSpPr>
          <p:cNvPr id="262" name="TextBox 261"/>
          <p:cNvSpPr txBox="1"/>
          <p:nvPr/>
        </p:nvSpPr>
        <p:spPr>
          <a:xfrm>
            <a:off x="402336" y="2798064"/>
            <a:ext cx="4133087" cy="1207008"/>
          </a:xfrm>
          <a:prstGeom prst="rect">
            <a:avLst/>
          </a:prstGeom>
          <a:noFill/>
        </p:spPr>
        <p:txBody>
          <a:bodyPr wrap="square" anchor="ctr" anchorCtr="0" lIns="91425" rIns="91425" tIns="45700" bIns="45700" spcFirstLastPara="1">
            <a:noAutofit/>
          </a:bodyPr>
          <a:lstStyle/>
          <a:p>
            <a:pPr indent="0" lvl="0" marL="0" rtl="1" algn="r">
              <a:lnSpc>
                <a:spcPct val="95000"/>
              </a:lnSpc>
              <a:spcBef>
                <a:spcPts val="0"/>
              </a:spcBef>
              <a:spcAft>
                <a:spcPts val="0"/>
              </a:spcAft>
              <a:buNone/>
            </a:pPr>
            <a:r>
              <a:rPr lang="iw" sz="1300" b="1">
                <a:solidFill>
                  <a:srgbClr val="2C3687"/>
                </a:solidFill>
                <a:latin typeface="Assistant"/>
                <a:ea typeface="Assistant"/>
                <a:cs typeface="Assistant"/>
                <a:sym typeface="Assistant"/>
              </a:rPr>
              <a:t>הפעל את Player1 - התחל לנגן</a:t>
            </a:r>
          </a:p>
          <a:p>
            <a:pPr indent="0" lvl="0" marL="0" rtl="1" algn="r">
              <a:lnSpc>
                <a:spcPct val="92000"/>
              </a:lnSpc>
              <a:spcBef>
                <a:spcPts val="220"/>
              </a:spcBef>
              <a:spcAft>
                <a:spcPts val="0"/>
              </a:spcAft>
              <a:buNone/>
            </a:pPr>
            <a:r>
              <a:rPr lang="iw" sz="1100">
                <a:solidFill>
                  <a:srgbClr val="2C36A6"/>
                </a:solidFill>
                <a:latin typeface="Assistant"/>
                <a:ea typeface="Assistant"/>
                <a:cs typeface="Assistant"/>
                <a:sym typeface="Assistant"/>
              </a:rPr>
              <a:t>call = הפעל / קרא ל   |   Start = התחל. פקודה לרכיב: אמרנו ל-Player1 לנגן את הצליל שהגדרנו לו ב-Source. נמצא במגירה Player1.</a:t>
            </a:r>
          </a:p>
        </p:txBody>
      </p:sp>
      <p:sp>
        <p:nvSpPr>
          <p:cNvPr id="263" name="TextBox 262"/>
          <p:cNvSpPr txBox="1"/>
          <p:nvPr/>
        </p:nvSpPr>
        <p:spPr>
          <a:xfrm>
            <a:off x="310896" y="4041648"/>
            <a:ext cx="8522208" cy="384048"/>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0"/>
              </a:spcAft>
              <a:buNone/>
            </a:pPr>
            <a:r>
              <a:rPr lang="iw" sz="1150" b="1">
                <a:solidFill>
                  <a:srgbClr val="17B3A9"/>
                </a:solidFill>
                <a:latin typeface="Assistant"/>
                <a:ea typeface="Assistant"/>
                <a:cs typeface="Assistant"/>
                <a:sym typeface="Assistant"/>
              </a:rPr>
              <a:t>שימו לב: הפעולה של רכיב Player נקראת Start (ולא Play).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התוכנית המלאה של שלב 1</a:t>
            </a:r>
          </a:p>
        </p:txBody>
      </p:sp>
      <p:sp>
        <p:nvSpPr>
          <p:cNvPr id="257" name="TextBox 256"/>
          <p:cNvSpPr txBox="1"/>
          <p:nvPr/>
        </p:nvSpPr>
        <p:spPr>
          <a:xfrm>
            <a:off x="310896" y="1490472"/>
            <a:ext cx="8522208" cy="676656"/>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גוררים את when Button1.Click לקנבס, ואז מכניסים את call Player1.Start אל תוך החלל של do. זהו - זו כל התוכנית.</a:t>
            </a:r>
          </a:p>
        </p:txBody>
      </p:sp>
      <p:pic>
        <p:nvPicPr>
          <p:cNvPr id="258" name="Picture 257" descr="prog_part1.png"/>
          <p:cNvPicPr>
            <a:picLocks noChangeAspect="1"/>
          </p:cNvPicPr>
          <p:nvPr/>
        </p:nvPicPr>
        <p:blipFill>
          <a:blip r:embed="rId7"/>
          <a:stretch>
            <a:fillRect/>
          </a:stretch>
        </p:blipFill>
        <p:spPr>
          <a:xfrm>
            <a:off x="2246190" y="2212848"/>
            <a:ext cx="4651620" cy="1947672"/>
          </a:xfrm>
          <a:prstGeom prst="rect">
            <a:avLst/>
          </a:prstGeom>
        </p:spPr>
      </p:pic>
      <p:sp>
        <p:nvSpPr>
          <p:cNvPr id="259" name="TextBox 258"/>
          <p:cNvSpPr txBox="1"/>
          <p:nvPr/>
        </p:nvSpPr>
        <p:spPr>
          <a:xfrm>
            <a:off x="365760" y="4197096"/>
            <a:ext cx="8412480" cy="274320"/>
          </a:xfrm>
          <a:prstGeom prst="rect">
            <a:avLst/>
          </a:prstGeom>
          <a:noFill/>
        </p:spPr>
        <p:txBody>
          <a:bodyPr wrap="square" anchor="t" anchorCtr="0" lIns="91425" rIns="91425" tIns="45700" bIns="45700" spcFirstLastPara="1">
            <a:noAutofit/>
          </a:bodyPr>
          <a:lstStyle/>
          <a:p>
            <a:pPr indent="0" lvl="0" marL="0" rtl="1" algn="ctr">
              <a:lnSpc>
                <a:spcPct val="90000"/>
              </a:lnSpc>
              <a:spcBef>
                <a:spcPts val="0"/>
              </a:spcBef>
              <a:spcAft>
                <a:spcPts val="0"/>
              </a:spcAft>
              <a:buNone/>
            </a:pPr>
            <a:r>
              <a:rPr lang="iw" sz="1000">
                <a:solidFill>
                  <a:srgbClr val="374151"/>
                </a:solidFill>
                <a:latin typeface="Assistant"/>
                <a:ea typeface="Assistant"/>
                <a:cs typeface="Assistant"/>
                <a:sym typeface="Assistant"/>
              </a:rPr>
              <a:t>when Button1.Click  →  do  →  call Player1.Start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איך קוראים את זה בעברית?</a:t>
            </a:r>
          </a:p>
        </p:txBody>
      </p:sp>
      <p:sp>
        <p:nvSpPr>
          <p:cNvPr id="257" name="TextBox 256"/>
          <p:cNvSpPr txBox="1"/>
          <p:nvPr/>
        </p:nvSpPr>
        <p:spPr>
          <a:xfrm>
            <a:off x="311700" y="1468825"/>
            <a:ext cx="8520600" cy="29679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0"/>
              </a:spcAft>
              <a:buNone/>
            </a:pPr>
            <a:r>
              <a:rPr lang="iw" sz="1700" b="1">
                <a:solidFill>
                  <a:srgbClr val="B18E35"/>
                </a:solidFill>
                <a:latin typeface="Assistant"/>
                <a:ea typeface="Assistant"/>
                <a:cs typeface="Assistant"/>
                <a:sym typeface="Assistant"/>
              </a:rPr>
              <a:t xml:space="preserve">כאשר </a:t>
            </a:r>
            <a:r>
              <a:rPr lang="iw" sz="1700">
                <a:solidFill>
                  <a:srgbClr val="2C3687"/>
                </a:solidFill>
                <a:latin typeface="Assistant"/>
                <a:ea typeface="Assistant"/>
                <a:cs typeface="Assistant"/>
                <a:sym typeface="Assistant"/>
              </a:rPr>
              <a:t xml:space="preserve">לוחצים על הכפתור </a:t>
            </a:r>
            <a:r>
              <a:rPr lang="iw" sz="1700" b="1">
                <a:solidFill>
                  <a:srgbClr val="B18E35"/>
                </a:solidFill>
                <a:latin typeface="Source Code Pro"/>
                <a:ea typeface="Source Code Pro"/>
                <a:cs typeface="Source Code Pro"/>
                <a:sym typeface="Source Code Pro"/>
              </a:rPr>
              <a:t>Button1</a:t>
            </a:r>
            <a:r>
              <a:rPr lang="iw" sz="1700">
                <a:solidFill>
                  <a:srgbClr val="2C3687"/>
                </a:solidFill>
                <a:latin typeface="Assistant"/>
                <a:ea typeface="Assistant"/>
                <a:cs typeface="Assistant"/>
                <a:sym typeface="Assistant"/>
              </a:rPr>
              <a:t xml:space="preserve"> אז </a:t>
            </a:r>
            <a:r>
              <a:rPr lang="iw" sz="1700" b="1">
                <a:solidFill>
                  <a:srgbClr val="704778"/>
                </a:solidFill>
                <a:latin typeface="Assistant"/>
                <a:ea typeface="Assistant"/>
                <a:cs typeface="Assistant"/>
                <a:sym typeface="Assistant"/>
              </a:rPr>
              <a:t>נגן את הצליל</a:t>
            </a:r>
          </a:p>
          <a:p>
            <a:pPr indent="0" lvl="0" marL="0" rtl="1" algn="r">
              <a:lnSpc>
                <a:spcPct val="90000"/>
              </a:lnSpc>
              <a:spcBef>
                <a:spcPts val="0"/>
              </a:spcBef>
              <a:spcAft>
                <a:spcPts val="150"/>
              </a:spcAft>
              <a:buNone/>
            </a:pPr>
            <a:r>
              <a:rPr lang="iw" sz="600">
                <a:solidFill>
                  <a:srgbClr val="2C3687"/>
                </a:solidFill>
                <a:latin typeface="Assistant"/>
                <a:ea typeface="Assistant"/>
                <a:cs typeface="Assistant"/>
                <a:sym typeface="Assistant"/>
              </a:rPr>
              <a:t xml:space="preserve"> </a:t>
            </a:r>
          </a:p>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זוכרים את מתג האור מהחלק הראשון? אם אני לוחץ על המתג - אז האור נדלק. כאן זה בדיוק אותו הדבר, רק עם כפתור וצליל.</a:t>
            </a:r>
          </a:p>
          <a:p>
            <a:pPr indent="0" lvl="0" marL="0" rtl="1" algn="r">
              <a:lnSpc>
                <a:spcPct val="95000"/>
              </a:lnSpc>
              <a:spcBef>
                <a:spcPts val="280"/>
              </a:spcBef>
              <a:spcAft>
                <a:spcPts val="90"/>
              </a:spcAft>
              <a:buNone/>
            </a:pPr>
            <a:r>
              <a:rPr lang="iw" sz="1500" b="1">
                <a:solidFill>
                  <a:srgbClr val="E91D63"/>
                </a:solidFill>
                <a:latin typeface="Assistant"/>
                <a:ea typeface="Assistant"/>
                <a:cs typeface="Assistant"/>
                <a:sym typeface="Assistant"/>
              </a:rPr>
              <a:t>מה קורה מאחורי הקלעים?</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האפליקציה יושבת ומחכה - היא לא עושה כלום עד שקורה אירוע (event)</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הלחיצה על הכפתור היא האירוע שמפעיל את הבלוק</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כל מה שנמצא בתוך ה-do ירוץ, פקודה אחרי פקודה, מלמעלה למטה</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600" b="1">
                <a:solidFill>
                  <a:srgbClr val="E91D63"/>
                </a:solidFill>
                <a:latin typeface="Assistant"/>
                <a:ea typeface="Assistant"/>
                <a:cs typeface="Assistant"/>
                <a:sym typeface="Assistant"/>
              </a:rPr>
              <a:t>סוגי הבלוקים והצבעים שלהם</a:t>
            </a:r>
          </a:p>
        </p:txBody>
      </p:sp>
      <p:sp>
        <p:nvSpPr>
          <p:cNvPr id="257" name="Rounded Rectangle 256"/>
          <p:cNvSpPr/>
          <p:nvPr/>
        </p:nvSpPr>
        <p:spPr>
          <a:xfrm>
            <a:off x="274320" y="1517904"/>
            <a:ext cx="8595360" cy="524865"/>
          </a:xfrm>
          <a:prstGeom prst="roundRect">
            <a:avLst>
              <a:gd name="adj" fmla="val 10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8" name="Picture 257" descr="blk_when_click.png"/>
          <p:cNvPicPr>
            <a:picLocks noChangeAspect="1"/>
          </p:cNvPicPr>
          <p:nvPr/>
        </p:nvPicPr>
        <p:blipFill>
          <a:blip r:embed="rId7"/>
          <a:stretch>
            <a:fillRect/>
          </a:stretch>
        </p:blipFill>
        <p:spPr>
          <a:xfrm>
            <a:off x="5584564" y="1586699"/>
            <a:ext cx="2226832" cy="387275"/>
          </a:xfrm>
          <a:prstGeom prst="rect">
            <a:avLst/>
          </a:prstGeom>
        </p:spPr>
      </p:pic>
      <p:sp>
        <p:nvSpPr>
          <p:cNvPr id="259" name="TextBox 258"/>
          <p:cNvSpPr txBox="1"/>
          <p:nvPr/>
        </p:nvSpPr>
        <p:spPr>
          <a:xfrm>
            <a:off x="402336" y="1517904"/>
            <a:ext cx="4133087" cy="524865"/>
          </a:xfrm>
          <a:prstGeom prst="rect">
            <a:avLst/>
          </a:prstGeom>
          <a:noFill/>
        </p:spPr>
        <p:txBody>
          <a:bodyPr wrap="square" anchor="ctr" anchorCtr="0" lIns="91425" rIns="91425" tIns="45700" bIns="45700" spcFirstLastPara="1">
            <a:noAutofit/>
          </a:bodyPr>
          <a:lstStyle/>
          <a:p>
            <a:pPr indent="0" lvl="0" marL="0" rtl="1" algn="r">
              <a:lnSpc>
                <a:spcPct val="95000"/>
              </a:lnSpc>
              <a:spcBef>
                <a:spcPts val="0"/>
              </a:spcBef>
              <a:spcAft>
                <a:spcPts val="0"/>
              </a:spcAft>
              <a:buNone/>
            </a:pPr>
            <a:r>
              <a:rPr lang="iw" sz="1300" b="1">
                <a:solidFill>
                  <a:srgbClr val="2C3687"/>
                </a:solidFill>
                <a:latin typeface="Assistant"/>
                <a:ea typeface="Assistant"/>
                <a:cs typeface="Assistant"/>
                <a:sym typeface="Assistant"/>
              </a:rPr>
              <a:t>בלוק אירוע (Event) - כתום</a:t>
            </a:r>
          </a:p>
          <a:p>
            <a:pPr indent="0" lvl="0" marL="0" rtl="1" algn="r">
              <a:lnSpc>
                <a:spcPct val="92000"/>
              </a:lnSpc>
              <a:spcBef>
                <a:spcPts val="220"/>
              </a:spcBef>
              <a:spcAft>
                <a:spcPts val="0"/>
              </a:spcAft>
              <a:buNone/>
            </a:pPr>
            <a:r>
              <a:rPr lang="iw" sz="1100">
                <a:solidFill>
                  <a:srgbClr val="2C36A6"/>
                </a:solidFill>
                <a:latin typeface="Assistant"/>
                <a:ea typeface="Assistant"/>
                <a:cs typeface="Assistant"/>
                <a:sym typeface="Assistant"/>
              </a:rPr>
              <a:t>when ... do  =  כאשר קורה משהו, בצע. תמיד הבלוק החיצוני ביותר.</a:t>
            </a:r>
          </a:p>
        </p:txBody>
      </p:sp>
      <p:sp>
        <p:nvSpPr>
          <p:cNvPr id="260" name="Rounded Rectangle 259"/>
          <p:cNvSpPr/>
          <p:nvPr/>
        </p:nvSpPr>
        <p:spPr>
          <a:xfrm>
            <a:off x="274320" y="2115921"/>
            <a:ext cx="8595360" cy="524865"/>
          </a:xfrm>
          <a:prstGeom prst="roundRect">
            <a:avLst>
              <a:gd name="adj" fmla="val 10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1" name="Picture 260" descr="blk_call_start.png"/>
          <p:cNvPicPr>
            <a:picLocks noChangeAspect="1"/>
          </p:cNvPicPr>
          <p:nvPr/>
        </p:nvPicPr>
        <p:blipFill>
          <a:blip r:embed="rId8"/>
          <a:stretch>
            <a:fillRect/>
          </a:stretch>
        </p:blipFill>
        <p:spPr>
          <a:xfrm>
            <a:off x="5697519" y="2200852"/>
            <a:ext cx="2000922" cy="355002"/>
          </a:xfrm>
          <a:prstGeom prst="rect">
            <a:avLst/>
          </a:prstGeom>
        </p:spPr>
      </p:pic>
      <p:sp>
        <p:nvSpPr>
          <p:cNvPr id="262" name="TextBox 261"/>
          <p:cNvSpPr txBox="1"/>
          <p:nvPr/>
        </p:nvSpPr>
        <p:spPr>
          <a:xfrm>
            <a:off x="402336" y="2115921"/>
            <a:ext cx="4133087" cy="524865"/>
          </a:xfrm>
          <a:prstGeom prst="rect">
            <a:avLst/>
          </a:prstGeom>
          <a:noFill/>
        </p:spPr>
        <p:txBody>
          <a:bodyPr wrap="square" anchor="ctr" anchorCtr="0" lIns="91425" rIns="91425" tIns="45700" bIns="45700" spcFirstLastPara="1">
            <a:noAutofit/>
          </a:bodyPr>
          <a:lstStyle/>
          <a:p>
            <a:pPr indent="0" lvl="0" marL="0" rtl="1" algn="r">
              <a:lnSpc>
                <a:spcPct val="95000"/>
              </a:lnSpc>
              <a:spcBef>
                <a:spcPts val="0"/>
              </a:spcBef>
              <a:spcAft>
                <a:spcPts val="0"/>
              </a:spcAft>
              <a:buNone/>
            </a:pPr>
            <a:r>
              <a:rPr lang="iw" sz="1300" b="1">
                <a:solidFill>
                  <a:srgbClr val="2C3687"/>
                </a:solidFill>
                <a:latin typeface="Assistant"/>
                <a:ea typeface="Assistant"/>
                <a:cs typeface="Assistant"/>
                <a:sym typeface="Assistant"/>
              </a:rPr>
              <a:t>בלוק פקודה (Method) - סגול</a:t>
            </a:r>
          </a:p>
          <a:p>
            <a:pPr indent="0" lvl="0" marL="0" rtl="1" algn="r">
              <a:lnSpc>
                <a:spcPct val="92000"/>
              </a:lnSpc>
              <a:spcBef>
                <a:spcPts val="220"/>
              </a:spcBef>
              <a:spcAft>
                <a:spcPts val="0"/>
              </a:spcAft>
              <a:buNone/>
            </a:pPr>
            <a:r>
              <a:rPr lang="iw" sz="1100">
                <a:solidFill>
                  <a:srgbClr val="2C36A6"/>
                </a:solidFill>
                <a:latin typeface="Assistant"/>
                <a:ea typeface="Assistant"/>
                <a:cs typeface="Assistant"/>
                <a:sym typeface="Assistant"/>
              </a:rPr>
              <a:t>call ...  =  הפעל פעולה של רכיב: נגן, דבר, צלם.</a:t>
            </a:r>
          </a:p>
        </p:txBody>
      </p:sp>
      <p:sp>
        <p:nvSpPr>
          <p:cNvPr id="263" name="Rounded Rectangle 262"/>
          <p:cNvSpPr/>
          <p:nvPr/>
        </p:nvSpPr>
        <p:spPr>
          <a:xfrm>
            <a:off x="274320" y="2713938"/>
            <a:ext cx="8595360" cy="524865"/>
          </a:xfrm>
          <a:prstGeom prst="roundRect">
            <a:avLst>
              <a:gd name="adj" fmla="val 10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4" name="Picture 263" descr="blk_set_text2.png"/>
          <p:cNvPicPr>
            <a:picLocks noChangeAspect="1"/>
          </p:cNvPicPr>
          <p:nvPr/>
        </p:nvPicPr>
        <p:blipFill>
          <a:blip r:embed="rId9"/>
          <a:stretch>
            <a:fillRect/>
          </a:stretch>
        </p:blipFill>
        <p:spPr>
          <a:xfrm>
            <a:off x="5452569" y="2768802"/>
            <a:ext cx="2490822" cy="415137"/>
          </a:xfrm>
          <a:prstGeom prst="rect">
            <a:avLst/>
          </a:prstGeom>
        </p:spPr>
      </p:pic>
      <p:sp>
        <p:nvSpPr>
          <p:cNvPr id="265" name="TextBox 264"/>
          <p:cNvSpPr txBox="1"/>
          <p:nvPr/>
        </p:nvSpPr>
        <p:spPr>
          <a:xfrm>
            <a:off x="402336" y="2713938"/>
            <a:ext cx="4133087" cy="524865"/>
          </a:xfrm>
          <a:prstGeom prst="rect">
            <a:avLst/>
          </a:prstGeom>
          <a:noFill/>
        </p:spPr>
        <p:txBody>
          <a:bodyPr wrap="square" anchor="ctr" anchorCtr="0" lIns="91425" rIns="91425" tIns="45700" bIns="45700" spcFirstLastPara="1">
            <a:noAutofit/>
          </a:bodyPr>
          <a:lstStyle/>
          <a:p>
            <a:pPr indent="0" lvl="0" marL="0" rtl="1" algn="r">
              <a:lnSpc>
                <a:spcPct val="95000"/>
              </a:lnSpc>
              <a:spcBef>
                <a:spcPts val="0"/>
              </a:spcBef>
              <a:spcAft>
                <a:spcPts val="0"/>
              </a:spcAft>
              <a:buNone/>
            </a:pPr>
            <a:r>
              <a:rPr lang="iw" sz="1300" b="1">
                <a:solidFill>
                  <a:srgbClr val="2C3687"/>
                </a:solidFill>
                <a:latin typeface="Assistant"/>
                <a:ea typeface="Assistant"/>
                <a:cs typeface="Assistant"/>
                <a:sym typeface="Assistant"/>
              </a:rPr>
              <a:t>בלוק קביעת תכונה (Set) - ירוק</a:t>
            </a:r>
          </a:p>
          <a:p>
            <a:pPr indent="0" lvl="0" marL="0" rtl="1" algn="r">
              <a:lnSpc>
                <a:spcPct val="92000"/>
              </a:lnSpc>
              <a:spcBef>
                <a:spcPts val="220"/>
              </a:spcBef>
              <a:spcAft>
                <a:spcPts val="0"/>
              </a:spcAft>
              <a:buNone/>
            </a:pPr>
            <a:r>
              <a:rPr lang="iw" sz="1100">
                <a:solidFill>
                  <a:srgbClr val="2C36A6"/>
                </a:solidFill>
                <a:latin typeface="Assistant"/>
                <a:ea typeface="Assistant"/>
                <a:cs typeface="Assistant"/>
                <a:sym typeface="Assistant"/>
              </a:rPr>
              <a:t>set ... to  =  שנה תכונה של רכיב: טקסט, צבע, גודל.</a:t>
            </a:r>
          </a:p>
        </p:txBody>
      </p:sp>
      <p:sp>
        <p:nvSpPr>
          <p:cNvPr id="266" name="Rounded Rectangle 265"/>
          <p:cNvSpPr/>
          <p:nvPr/>
        </p:nvSpPr>
        <p:spPr>
          <a:xfrm>
            <a:off x="274320" y="3311955"/>
            <a:ext cx="8595360" cy="524865"/>
          </a:xfrm>
          <a:prstGeom prst="roundRect">
            <a:avLst>
              <a:gd name="adj" fmla="val 10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7" name="Picture 266" descr="blk_make_list.png"/>
          <p:cNvPicPr>
            <a:picLocks noChangeAspect="1"/>
          </p:cNvPicPr>
          <p:nvPr/>
        </p:nvPicPr>
        <p:blipFill>
          <a:blip r:embed="rId10"/>
          <a:stretch>
            <a:fillRect/>
          </a:stretch>
        </p:blipFill>
        <p:spPr>
          <a:xfrm>
            <a:off x="5966460" y="3413023"/>
            <a:ext cx="1463040" cy="322729"/>
          </a:xfrm>
          <a:prstGeom prst="rect">
            <a:avLst/>
          </a:prstGeom>
        </p:spPr>
      </p:pic>
      <p:sp>
        <p:nvSpPr>
          <p:cNvPr id="268" name="TextBox 267"/>
          <p:cNvSpPr txBox="1"/>
          <p:nvPr/>
        </p:nvSpPr>
        <p:spPr>
          <a:xfrm>
            <a:off x="402336" y="3311955"/>
            <a:ext cx="4133087" cy="524865"/>
          </a:xfrm>
          <a:prstGeom prst="rect">
            <a:avLst/>
          </a:prstGeom>
          <a:noFill/>
        </p:spPr>
        <p:txBody>
          <a:bodyPr wrap="square" anchor="ctr" anchorCtr="0" lIns="91425" rIns="91425" tIns="45700" bIns="45700" spcFirstLastPara="1">
            <a:noAutofit/>
          </a:bodyPr>
          <a:lstStyle/>
          <a:p>
            <a:pPr indent="0" lvl="0" marL="0" rtl="1" algn="r">
              <a:lnSpc>
                <a:spcPct val="95000"/>
              </a:lnSpc>
              <a:spcBef>
                <a:spcPts val="0"/>
              </a:spcBef>
              <a:spcAft>
                <a:spcPts val="0"/>
              </a:spcAft>
              <a:buNone/>
            </a:pPr>
            <a:r>
              <a:rPr lang="iw" sz="1300" b="1">
                <a:solidFill>
                  <a:srgbClr val="2C3687"/>
                </a:solidFill>
                <a:latin typeface="Assistant"/>
                <a:ea typeface="Assistant"/>
                <a:cs typeface="Assistant"/>
                <a:sym typeface="Assistant"/>
              </a:rPr>
              <a:t>בלוק רשימה (Lists) - כחול</a:t>
            </a:r>
          </a:p>
          <a:p>
            <a:pPr indent="0" lvl="0" marL="0" rtl="1" algn="r">
              <a:lnSpc>
                <a:spcPct val="92000"/>
              </a:lnSpc>
              <a:spcBef>
                <a:spcPts val="220"/>
              </a:spcBef>
              <a:spcAft>
                <a:spcPts val="0"/>
              </a:spcAft>
              <a:buNone/>
            </a:pPr>
            <a:r>
              <a:rPr lang="iw" sz="1100">
                <a:solidFill>
                  <a:srgbClr val="2C36A6"/>
                </a:solidFill>
                <a:latin typeface="Assistant"/>
                <a:ea typeface="Assistant"/>
                <a:cs typeface="Assistant"/>
                <a:sym typeface="Assistant"/>
              </a:rPr>
              <a:t>make a list  =  צור רשימה. אוסף מסודר של פריטים.</a:t>
            </a:r>
          </a:p>
        </p:txBody>
      </p:sp>
      <p:sp>
        <p:nvSpPr>
          <p:cNvPr id="269" name="Rounded Rectangle 268"/>
          <p:cNvSpPr/>
          <p:nvPr/>
        </p:nvSpPr>
        <p:spPr>
          <a:xfrm>
            <a:off x="274320" y="3909972"/>
            <a:ext cx="8595360" cy="524865"/>
          </a:xfrm>
          <a:prstGeom prst="roundRect">
            <a:avLst>
              <a:gd name="adj" fmla="val 10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0" name="Picture 269" descr="blk_text_filled.png"/>
          <p:cNvPicPr>
            <a:picLocks noChangeAspect="1"/>
          </p:cNvPicPr>
          <p:nvPr/>
        </p:nvPicPr>
        <p:blipFill>
          <a:blip r:embed="rId11"/>
          <a:stretch>
            <a:fillRect/>
          </a:stretch>
        </p:blipFill>
        <p:spPr>
          <a:xfrm>
            <a:off x="5982596" y="4011040"/>
            <a:ext cx="1430767" cy="322729"/>
          </a:xfrm>
          <a:prstGeom prst="rect">
            <a:avLst/>
          </a:prstGeom>
        </p:spPr>
      </p:pic>
      <p:sp>
        <p:nvSpPr>
          <p:cNvPr id="271" name="TextBox 270"/>
          <p:cNvSpPr txBox="1"/>
          <p:nvPr/>
        </p:nvSpPr>
        <p:spPr>
          <a:xfrm>
            <a:off x="402336" y="3909972"/>
            <a:ext cx="4133087" cy="524865"/>
          </a:xfrm>
          <a:prstGeom prst="rect">
            <a:avLst/>
          </a:prstGeom>
          <a:noFill/>
        </p:spPr>
        <p:txBody>
          <a:bodyPr wrap="square" anchor="ctr" anchorCtr="0" lIns="91425" rIns="91425" tIns="45700" bIns="45700" spcFirstLastPara="1">
            <a:noAutofit/>
          </a:bodyPr>
          <a:lstStyle/>
          <a:p>
            <a:pPr indent="0" lvl="0" marL="0" rtl="1" algn="r">
              <a:lnSpc>
                <a:spcPct val="95000"/>
              </a:lnSpc>
              <a:spcBef>
                <a:spcPts val="0"/>
              </a:spcBef>
              <a:spcAft>
                <a:spcPts val="0"/>
              </a:spcAft>
              <a:buNone/>
            </a:pPr>
            <a:r>
              <a:rPr lang="iw" sz="1300" b="1">
                <a:solidFill>
                  <a:srgbClr val="2C3687"/>
                </a:solidFill>
                <a:latin typeface="Assistant"/>
                <a:ea typeface="Assistant"/>
                <a:cs typeface="Assistant"/>
                <a:sym typeface="Assistant"/>
              </a:rPr>
              <a:t>בלוק טקסט (Text) - ורוד</a:t>
            </a:r>
          </a:p>
          <a:p>
            <a:pPr indent="0" lvl="0" marL="0" rtl="1" algn="r">
              <a:lnSpc>
                <a:spcPct val="92000"/>
              </a:lnSpc>
              <a:spcBef>
                <a:spcPts val="220"/>
              </a:spcBef>
              <a:spcAft>
                <a:spcPts val="0"/>
              </a:spcAft>
              <a:buNone/>
            </a:pPr>
            <a:r>
              <a:rPr lang="iw" sz="1100">
                <a:solidFill>
                  <a:srgbClr val="2C36A6"/>
                </a:solidFill>
                <a:latin typeface="Assistant"/>
                <a:ea typeface="Assistant"/>
                <a:cs typeface="Assistant"/>
                <a:sym typeface="Assistant"/>
              </a:rPr>
              <a:t>טקסט חופשי בין גרשיים. באנגלית קוראים לזה string.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311700" y="372500"/>
            <a:ext cx="399600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בודקים שהכול עובד</a:t>
            </a:r>
          </a:p>
        </p:txBody>
      </p:sp>
      <p:sp>
        <p:nvSpPr>
          <p:cNvPr id="257" name="TextBox 256"/>
          <p:cNvSpPr txBox="1"/>
          <p:nvPr/>
        </p:nvSpPr>
        <p:spPr>
          <a:xfrm>
            <a:off x="64000" y="1468825"/>
            <a:ext cx="4243000" cy="31000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אפליקציה בודקים על מכשיר, לא רק בעיניים. שתי דרכים:</a:t>
            </a:r>
          </a:p>
          <a:p>
            <a:pPr indent="-317500" lvl="0" marL="457200" rtl="1" algn="r">
              <a:lnSpc>
                <a:spcPct val="95000"/>
              </a:lnSpc>
              <a:spcBef>
                <a:spcPts val="0"/>
              </a:spcBef>
              <a:spcAft>
                <a:spcPts val="150"/>
              </a:spcAft>
              <a:buClr>
                <a:srgbClr val="2C3687"/>
              </a:buClr>
              <a:buSzPts val="1300"/>
              <a:buFont typeface="Assistant"/>
              <a:buChar char="-"/>
            </a:pPr>
            <a:r>
              <a:rPr lang="iw" sz="1300" b="1">
                <a:solidFill>
                  <a:srgbClr val="E91D63"/>
                </a:solidFill>
                <a:latin typeface="Source Code Pro"/>
                <a:ea typeface="Source Code Pro"/>
                <a:cs typeface="Source Code Pro"/>
                <a:sym typeface="Source Code Pro"/>
              </a:rPr>
              <a:t>AI2 Companion</a:t>
            </a:r>
            <a:r>
              <a:rPr lang="iw" sz="1300">
                <a:solidFill>
                  <a:srgbClr val="2C3687"/>
                </a:solidFill>
                <a:latin typeface="Assistant"/>
                <a:ea typeface="Assistant"/>
                <a:cs typeface="Assistant"/>
                <a:sym typeface="Assistant"/>
              </a:rPr>
              <a:t xml:space="preserve">   מתקינים את האפליקציה בטלפון, לוחצים במחשב על Connect ואז AI Companion, וסורקים את הברקוד שמופיע</a:t>
            </a:r>
          </a:p>
          <a:p>
            <a:pPr indent="-317500" lvl="0" marL="457200" rtl="1" algn="r">
              <a:lnSpc>
                <a:spcPct val="95000"/>
              </a:lnSpc>
              <a:spcBef>
                <a:spcPts val="0"/>
              </a:spcBef>
              <a:spcAft>
                <a:spcPts val="150"/>
              </a:spcAft>
              <a:buClr>
                <a:srgbClr val="2C3687"/>
              </a:buClr>
              <a:buSzPts val="1300"/>
              <a:buFont typeface="Assistant"/>
              <a:buChar char="-"/>
            </a:pPr>
            <a:r>
              <a:rPr lang="iw" sz="1300" b="1">
                <a:solidFill>
                  <a:srgbClr val="E91D63"/>
                </a:solidFill>
                <a:latin typeface="Source Code Pro"/>
                <a:ea typeface="Source Code Pro"/>
                <a:cs typeface="Source Code Pro"/>
                <a:sym typeface="Source Code Pro"/>
              </a:rPr>
              <a:t>Emulator</a:t>
            </a:r>
            <a:r>
              <a:rPr lang="iw" sz="1300">
                <a:solidFill>
                  <a:srgbClr val="2C3687"/>
                </a:solidFill>
                <a:latin typeface="Assistant"/>
                <a:ea typeface="Assistant"/>
                <a:cs typeface="Assistant"/>
                <a:sym typeface="Assistant"/>
              </a:rPr>
              <a:t xml:space="preserve">   טלפון וירטואלי על המחשב, למי שאין מכשיר אנדרואיד</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לוחצים על הכדור - אמור להישמע הצליל. לא נשמע? בדקו שעוצמת הקול פתוחה, ושבאמת בחרתם קובץ בתכונה Source של Player1.</a:t>
            </a:r>
          </a:p>
        </p:txBody>
      </p:sp>
      <p:pic>
        <p:nvPicPr>
          <p:cNvPr id="258" name="Picture 257" descr="align.png"/>
          <p:cNvPicPr>
            <a:picLocks noChangeAspect="1"/>
          </p:cNvPicPr>
          <p:nvPr/>
        </p:nvPicPr>
        <p:blipFill>
          <a:blip r:embed="rId7"/>
          <a:stretch>
            <a:fillRect/>
          </a:stretch>
        </p:blipFill>
        <p:spPr>
          <a:xfrm>
            <a:off x="4315968" y="1406850"/>
            <a:ext cx="4663440" cy="212406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שלב 2: הכדור נותן תשובה</a:t>
            </a:r>
          </a:p>
        </p:txBody>
      </p:sp>
      <p:sp>
        <p:nvSpPr>
          <p:cNvPr id="257" name="TextBox 256"/>
          <p:cNvSpPr txBox="1"/>
          <p:nvPr/>
        </p:nvSpPr>
        <p:spPr>
          <a:xfrm>
            <a:off x="311700" y="1468825"/>
            <a:ext cx="8520600" cy="29679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עכשיו נוסיף את הדבר החשוב באמת - התשובה. לשם כך נצטרך תוספות בשני העולמות שהכרנו:</a:t>
            </a:r>
          </a:p>
          <a:p>
            <a:pPr indent="0" lvl="0" marL="0" rtl="1" algn="r">
              <a:lnSpc>
                <a:spcPct val="95000"/>
              </a:lnSpc>
              <a:spcBef>
                <a:spcPts val="280"/>
              </a:spcBef>
              <a:spcAft>
                <a:spcPts val="90"/>
              </a:spcAft>
              <a:buNone/>
            </a:pPr>
            <a:r>
              <a:rPr lang="iw" sz="1500" b="1">
                <a:solidFill>
                  <a:srgbClr val="E91D63"/>
                </a:solidFill>
                <a:latin typeface="Assistant"/>
                <a:ea typeface="Assistant"/>
                <a:cs typeface="Assistant"/>
                <a:sym typeface="Assistant"/>
              </a:rPr>
              <a:t>ב-Designer (עיצוב)</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שתי תוויות (Labels): Label1 להוראות, ו-Label2 לתשובה עצמה</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מסדר אנכי (VerticalArrangement) שיסדר את הכול אחד מתחת לשני</a:t>
            </a:r>
          </a:p>
          <a:p>
            <a:pPr indent="0" lvl="0" marL="0" rtl="1" algn="r">
              <a:lnSpc>
                <a:spcPct val="95000"/>
              </a:lnSpc>
              <a:spcBef>
                <a:spcPts val="280"/>
              </a:spcBef>
              <a:spcAft>
                <a:spcPts val="90"/>
              </a:spcAft>
              <a:buNone/>
            </a:pPr>
            <a:r>
              <a:rPr lang="iw" sz="1500" b="1">
                <a:solidFill>
                  <a:srgbClr val="E91D63"/>
                </a:solidFill>
                <a:latin typeface="Assistant"/>
                <a:ea typeface="Assistant"/>
                <a:cs typeface="Assistant"/>
                <a:sym typeface="Assistant"/>
              </a:rPr>
              <a:t>ב-Blocks Editor (תכנות)</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רשימה של תשובות שנכתוב מראש</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בלוק שבוחר מהרשימה תשובה אקראית ומציג אותה ב-Label2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311700" y="372500"/>
            <a:ext cx="399600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עיצוב: מסדר אנכי</a:t>
            </a:r>
          </a:p>
        </p:txBody>
      </p:sp>
      <p:sp>
        <p:nvSpPr>
          <p:cNvPr id="257" name="TextBox 256"/>
          <p:cNvSpPr txBox="1"/>
          <p:nvPr/>
        </p:nvSpPr>
        <p:spPr>
          <a:xfrm>
            <a:off x="64000" y="1468825"/>
            <a:ext cx="4243000" cy="31000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בלי מסדר, הרכיבים יתפזרו על המסך. המסדר האנכי הוא כמו קופסה: כל מה שנשים בתוכה יסתדר אחד מתחת לשני, לפי הסדר.</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במגירה Layout גוררים VerticalArrangement אל המסך</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בהתחלה זו רק מסגרת ריקה - וזה בסדר גמור</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בתכונה AlignHorizontal אפשר לבחור Center כדי למרכז את התוכן</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יש גם HorizontalArrangement שמסדר רכיבים זה לצד זה, ו-TableArrangement שמסדר אותם בטבלה.</a:t>
            </a:r>
          </a:p>
        </p:txBody>
      </p:sp>
      <p:pic>
        <p:nvPicPr>
          <p:cNvPr id="258" name="Picture 257" descr="viewer_addvertarr.png"/>
          <p:cNvPicPr>
            <a:picLocks noChangeAspect="1"/>
          </p:cNvPicPr>
          <p:nvPr/>
        </p:nvPicPr>
        <p:blipFill>
          <a:blip r:embed="rId7"/>
          <a:stretch>
            <a:fillRect/>
          </a:stretch>
        </p:blipFill>
        <p:spPr>
          <a:xfrm>
            <a:off x="4480560" y="1089587"/>
            <a:ext cx="4434840" cy="2804306"/>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311700" y="372500"/>
            <a:ext cx="399600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עיצוב: שתי התוויות</a:t>
            </a:r>
          </a:p>
        </p:txBody>
      </p:sp>
      <p:sp>
        <p:nvSpPr>
          <p:cNvPr id="257" name="TextBox 256"/>
          <p:cNvSpPr txBox="1"/>
          <p:nvPr/>
        </p:nvSpPr>
        <p:spPr>
          <a:xfrm>
            <a:off x="64000" y="1468825"/>
            <a:ext cx="4243000" cy="31000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Label הוא רכיב שכל תפקידו להציג טקסט. גוררים שני Labels מהמגירה User Interface אל תוך המסדר, ומשנים להם את התכונה Text:</a:t>
            </a:r>
          </a:p>
          <a:p>
            <a:pPr indent="-317500" lvl="0" marL="457200" rtl="1" algn="r">
              <a:lnSpc>
                <a:spcPct val="95000"/>
              </a:lnSpc>
              <a:spcBef>
                <a:spcPts val="0"/>
              </a:spcBef>
              <a:spcAft>
                <a:spcPts val="150"/>
              </a:spcAft>
              <a:buClr>
                <a:srgbClr val="2C3687"/>
              </a:buClr>
              <a:buSzPts val="1300"/>
              <a:buFont typeface="Assistant"/>
              <a:buChar char="-"/>
            </a:pPr>
            <a:r>
              <a:rPr lang="iw" sz="1300" b="1">
                <a:solidFill>
                  <a:srgbClr val="E91D63"/>
                </a:solidFill>
                <a:latin typeface="Source Code Pro"/>
                <a:ea typeface="Source Code Pro"/>
                <a:cs typeface="Source Code Pro"/>
                <a:sym typeface="Source Code Pro"/>
              </a:rPr>
              <a:t>Label1</a:t>
            </a:r>
            <a:r>
              <a:rPr lang="iw" sz="1300">
                <a:solidFill>
                  <a:srgbClr val="2C3687"/>
                </a:solidFill>
                <a:latin typeface="Assistant"/>
                <a:ea typeface="Assistant"/>
                <a:cs typeface="Assistant"/>
                <a:sym typeface="Assistant"/>
              </a:rPr>
              <a:t xml:space="preserve">   שאל את כדור הקסם שאלה</a:t>
            </a:r>
          </a:p>
          <a:p>
            <a:pPr indent="-317500" lvl="0" marL="457200" rtl="1" algn="r">
              <a:lnSpc>
                <a:spcPct val="95000"/>
              </a:lnSpc>
              <a:spcBef>
                <a:spcPts val="0"/>
              </a:spcBef>
              <a:spcAft>
                <a:spcPts val="150"/>
              </a:spcAft>
              <a:buClr>
                <a:srgbClr val="2C3687"/>
              </a:buClr>
              <a:buSzPts val="1300"/>
              <a:buFont typeface="Assistant"/>
              <a:buChar char="-"/>
            </a:pPr>
            <a:r>
              <a:rPr lang="iw" sz="1300" b="1">
                <a:solidFill>
                  <a:srgbClr val="E91D63"/>
                </a:solidFill>
                <a:latin typeface="Source Code Pro"/>
                <a:ea typeface="Source Code Pro"/>
                <a:cs typeface="Source Code Pro"/>
                <a:sym typeface="Source Code Pro"/>
              </a:rPr>
              <a:t>Label2</a:t>
            </a:r>
            <a:r>
              <a:rPr lang="iw" sz="1300">
                <a:solidFill>
                  <a:srgbClr val="2C3687"/>
                </a:solidFill>
                <a:latin typeface="Assistant"/>
                <a:ea typeface="Assistant"/>
                <a:cs typeface="Assistant"/>
                <a:sym typeface="Assistant"/>
              </a:rPr>
              <a:t xml:space="preserve">   גע בכדור הקסם כדי לקבל תשובה</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Label1 הוא ההוראה למשתמש והוא לא ישתנה לעולם. Label2 הוא זה שהבלוקים יחליפו לו את הטקסט בכל לחיצה.</a:t>
            </a:r>
          </a:p>
        </p:txBody>
      </p:sp>
      <p:pic>
        <p:nvPicPr>
          <p:cNvPr id="258" name="Picture 257" descr="vert_addlabel.png"/>
          <p:cNvPicPr>
            <a:picLocks noChangeAspect="1"/>
          </p:cNvPicPr>
          <p:nvPr/>
        </p:nvPicPr>
        <p:blipFill>
          <a:blip r:embed="rId7"/>
          <a:stretch>
            <a:fillRect/>
          </a:stretch>
        </p:blipFill>
        <p:spPr>
          <a:xfrm>
            <a:off x="4315968" y="1457708"/>
            <a:ext cx="4663440" cy="2022343"/>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311700" y="372500"/>
            <a:ext cx="399600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עיצוב: מסדרים הכול יחד</a:t>
            </a:r>
          </a:p>
        </p:txBody>
      </p:sp>
      <p:sp>
        <p:nvSpPr>
          <p:cNvPr id="257" name="TextBox 256"/>
          <p:cNvSpPr txBox="1"/>
          <p:nvPr/>
        </p:nvSpPr>
        <p:spPr>
          <a:xfrm>
            <a:off x="64000" y="1468825"/>
            <a:ext cx="4243000" cy="31000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לבסוף גוררים גם את Button1 אל תוך ה-VerticalArrangement, מתחת לשתי התוויות. עכשיו שלושת הרכיבים מסודרים בטור אחד.</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גרירה פנימה היא עבודה עדינה עם העכבר. סימן שהצלחתם: המסגרת של המסדר גדלה בעצמה כדי להכיל את הכול, וב-Components הרכיבים מופיעים מוזחים פנימה מתחת ל-VerticalArrangement1.</a:t>
            </a:r>
          </a:p>
          <a:p>
            <a:pPr indent="0" lvl="0" marL="0" rtl="1" algn="r">
              <a:lnSpc>
                <a:spcPct val="95000"/>
              </a:lnSpc>
              <a:spcBef>
                <a:spcPts val="280"/>
              </a:spcBef>
              <a:spcAft>
                <a:spcPts val="90"/>
              </a:spcAft>
              <a:buNone/>
            </a:pPr>
            <a:r>
              <a:rPr lang="iw" sz="1500" b="1">
                <a:solidFill>
                  <a:srgbClr val="E91D63"/>
                </a:solidFill>
                <a:latin typeface="Assistant"/>
                <a:ea typeface="Assistant"/>
                <a:cs typeface="Assistant"/>
                <a:sym typeface="Assistant"/>
              </a:rPr>
              <a:t>בדקו את עץ הרכיבים</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Screen1  ←  VerticalArrangement1  ←  Label1, Label2, Button1</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Player1 יושב בנפרד - הוא רכיב בלתי נראה</a:t>
            </a:r>
          </a:p>
        </p:txBody>
      </p:sp>
      <p:pic>
        <p:nvPicPr>
          <p:cNvPr id="258" name="Picture 257" descr="align.png"/>
          <p:cNvPicPr>
            <a:picLocks noChangeAspect="1"/>
          </p:cNvPicPr>
          <p:nvPr/>
        </p:nvPicPr>
        <p:blipFill>
          <a:blip r:embed="rId7"/>
          <a:stretch>
            <a:fillRect/>
          </a:stretch>
        </p:blipFill>
        <p:spPr>
          <a:xfrm>
            <a:off x="4315968" y="1406850"/>
            <a:ext cx="4663440" cy="212406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600" b="1">
                <a:solidFill>
                  <a:srgbClr val="E91D63"/>
                </a:solidFill>
                <a:latin typeface="Assistant"/>
                <a:ea typeface="Assistant"/>
                <a:cs typeface="Assistant"/>
                <a:sym typeface="Assistant"/>
              </a:rPr>
              <a:t>בלוק חדש: קביעת טקסט לתווית</a:t>
            </a:r>
          </a:p>
        </p:txBody>
      </p:sp>
      <p:sp>
        <p:nvSpPr>
          <p:cNvPr id="257" name="Rounded Rectangle 256"/>
          <p:cNvSpPr/>
          <p:nvPr/>
        </p:nvSpPr>
        <p:spPr>
          <a:xfrm>
            <a:off x="274320" y="1517904"/>
            <a:ext cx="8595360" cy="1207008"/>
          </a:xfrm>
          <a:prstGeom prst="roundRect">
            <a:avLst>
              <a:gd name="adj" fmla="val 10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8" name="Picture 257" descr="blk_set_bgcolor.png"/>
          <p:cNvPicPr>
            <a:picLocks noChangeAspect="1"/>
          </p:cNvPicPr>
          <p:nvPr/>
        </p:nvPicPr>
        <p:blipFill>
          <a:blip r:embed="rId7"/>
          <a:stretch>
            <a:fillRect/>
          </a:stretch>
        </p:blipFill>
        <p:spPr>
          <a:xfrm>
            <a:off x="4914900" y="1917013"/>
            <a:ext cx="3566160" cy="408790"/>
          </a:xfrm>
          <a:prstGeom prst="rect">
            <a:avLst/>
          </a:prstGeom>
        </p:spPr>
      </p:pic>
      <p:sp>
        <p:nvSpPr>
          <p:cNvPr id="259" name="TextBox 258"/>
          <p:cNvSpPr txBox="1"/>
          <p:nvPr/>
        </p:nvSpPr>
        <p:spPr>
          <a:xfrm>
            <a:off x="402336" y="1517904"/>
            <a:ext cx="4133087" cy="1207008"/>
          </a:xfrm>
          <a:prstGeom prst="rect">
            <a:avLst/>
          </a:prstGeom>
          <a:noFill/>
        </p:spPr>
        <p:txBody>
          <a:bodyPr wrap="square" anchor="ctr" anchorCtr="0" lIns="91425" rIns="91425" tIns="45700" bIns="45700" spcFirstLastPara="1">
            <a:noAutofit/>
          </a:bodyPr>
          <a:lstStyle/>
          <a:p>
            <a:pPr indent="0" lvl="0" marL="0" rtl="1" algn="r">
              <a:lnSpc>
                <a:spcPct val="95000"/>
              </a:lnSpc>
              <a:spcBef>
                <a:spcPts val="0"/>
              </a:spcBef>
              <a:spcAft>
                <a:spcPts val="0"/>
              </a:spcAft>
              <a:buNone/>
            </a:pPr>
            <a:r>
              <a:rPr lang="iw" sz="1300" b="1">
                <a:solidFill>
                  <a:srgbClr val="2C3687"/>
                </a:solidFill>
                <a:latin typeface="Assistant"/>
                <a:ea typeface="Assistant"/>
                <a:cs typeface="Assistant"/>
                <a:sym typeface="Assistant"/>
              </a:rPr>
              <a:t>כך הבלוק מגיע מהמגירה</a:t>
            </a:r>
          </a:p>
          <a:p>
            <a:pPr indent="0" lvl="0" marL="0" rtl="1" algn="r">
              <a:lnSpc>
                <a:spcPct val="92000"/>
              </a:lnSpc>
              <a:spcBef>
                <a:spcPts val="220"/>
              </a:spcBef>
              <a:spcAft>
                <a:spcPts val="0"/>
              </a:spcAft>
              <a:buNone/>
            </a:pPr>
            <a:r>
              <a:rPr lang="iw" sz="1100">
                <a:solidFill>
                  <a:srgbClr val="2C36A6"/>
                </a:solidFill>
                <a:latin typeface="Assistant"/>
                <a:ea typeface="Assistant"/>
                <a:cs typeface="Assistant"/>
                <a:sym typeface="Assistant"/>
              </a:rPr>
              <a:t>גוררים מהמגירה Label2 את הבלוק הירוק set, והוא מגיע עם התכונה BackgroundColor - וזו לא התכונה שאנחנו צריכים.</a:t>
            </a:r>
          </a:p>
        </p:txBody>
      </p:sp>
      <p:sp>
        <p:nvSpPr>
          <p:cNvPr id="260" name="Rounded Rectangle 259"/>
          <p:cNvSpPr/>
          <p:nvPr/>
        </p:nvSpPr>
        <p:spPr>
          <a:xfrm>
            <a:off x="274320" y="2798064"/>
            <a:ext cx="8595360" cy="1207008"/>
          </a:xfrm>
          <a:prstGeom prst="roundRect">
            <a:avLst>
              <a:gd name="adj" fmla="val 10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1" name="Picture 260" descr="blk_set_text2.png"/>
          <p:cNvPicPr>
            <a:picLocks noChangeAspect="1"/>
          </p:cNvPicPr>
          <p:nvPr/>
        </p:nvPicPr>
        <p:blipFill>
          <a:blip r:embed="rId8"/>
          <a:stretch>
            <a:fillRect/>
          </a:stretch>
        </p:blipFill>
        <p:spPr>
          <a:xfrm>
            <a:off x="5439335" y="3191794"/>
            <a:ext cx="2517289" cy="419548"/>
          </a:xfrm>
          <a:prstGeom prst="rect">
            <a:avLst/>
          </a:prstGeom>
        </p:spPr>
      </p:pic>
      <p:sp>
        <p:nvSpPr>
          <p:cNvPr id="262" name="TextBox 261"/>
          <p:cNvSpPr txBox="1"/>
          <p:nvPr/>
        </p:nvSpPr>
        <p:spPr>
          <a:xfrm>
            <a:off x="402336" y="2798064"/>
            <a:ext cx="4133087" cy="1207008"/>
          </a:xfrm>
          <a:prstGeom prst="rect">
            <a:avLst/>
          </a:prstGeom>
          <a:noFill/>
        </p:spPr>
        <p:txBody>
          <a:bodyPr wrap="square" anchor="ctr" anchorCtr="0" lIns="91425" rIns="91425" tIns="45700" bIns="45700" spcFirstLastPara="1">
            <a:noAutofit/>
          </a:bodyPr>
          <a:lstStyle/>
          <a:p>
            <a:pPr indent="0" lvl="0" marL="0" rtl="1" algn="r">
              <a:lnSpc>
                <a:spcPct val="95000"/>
              </a:lnSpc>
              <a:spcBef>
                <a:spcPts val="0"/>
              </a:spcBef>
              <a:spcAft>
                <a:spcPts val="0"/>
              </a:spcAft>
              <a:buNone/>
            </a:pPr>
            <a:r>
              <a:rPr lang="iw" sz="1300" b="1">
                <a:solidFill>
                  <a:srgbClr val="2C3687"/>
                </a:solidFill>
                <a:latin typeface="Assistant"/>
                <a:ea typeface="Assistant"/>
                <a:cs typeface="Assistant"/>
                <a:sym typeface="Assistant"/>
              </a:rPr>
              <a:t>קבע את הטקסט של Label2 להיות...</a:t>
            </a:r>
          </a:p>
          <a:p>
            <a:pPr indent="0" lvl="0" marL="0" rtl="1" algn="r">
              <a:lnSpc>
                <a:spcPct val="92000"/>
              </a:lnSpc>
              <a:spcBef>
                <a:spcPts val="220"/>
              </a:spcBef>
              <a:spcAft>
                <a:spcPts val="0"/>
              </a:spcAft>
              <a:buNone/>
            </a:pPr>
            <a:r>
              <a:rPr lang="iw" sz="1100">
                <a:solidFill>
                  <a:srgbClr val="2C36A6"/>
                </a:solidFill>
                <a:latin typeface="Assistant"/>
                <a:ea typeface="Assistant"/>
                <a:cs typeface="Assistant"/>
                <a:sym typeface="Assistant"/>
              </a:rPr>
              <a:t>לוחצים על המילה BackgroundColor, נפתחת רשימה, ובוחרים Text. set = קבע   |   to = להיות.</a:t>
            </a:r>
          </a:p>
        </p:txBody>
      </p:sp>
      <p:sp>
        <p:nvSpPr>
          <p:cNvPr id="263" name="TextBox 262"/>
          <p:cNvSpPr txBox="1"/>
          <p:nvPr/>
        </p:nvSpPr>
        <p:spPr>
          <a:xfrm>
            <a:off x="310896" y="4041648"/>
            <a:ext cx="8522208" cy="384048"/>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0"/>
              </a:spcAft>
              <a:buNone/>
            </a:pPr>
            <a:r>
              <a:rPr lang="iw" sz="1150" b="1">
                <a:solidFill>
                  <a:srgbClr val="17B3A9"/>
                </a:solidFill>
                <a:latin typeface="Assistant"/>
                <a:ea typeface="Assistant"/>
                <a:cs typeface="Assistant"/>
                <a:sym typeface="Assistant"/>
              </a:rPr>
              <a:t>את הבלוק הזה מכניסים לתוך ה-do, מעל הבלוק call Player1.Start.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311700" y="372500"/>
            <a:ext cx="399600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הרשימה הנפתחת (Dropdown)</a:t>
            </a:r>
          </a:p>
        </p:txBody>
      </p:sp>
      <p:sp>
        <p:nvSpPr>
          <p:cNvPr id="257" name="TextBox 256"/>
          <p:cNvSpPr txBox="1"/>
          <p:nvPr/>
        </p:nvSpPr>
        <p:spPr>
          <a:xfrm>
            <a:off x="64000" y="1468825"/>
            <a:ext cx="4243000" cy="31000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הרבה בלוקים ב-App Inventor הם בלוק אחד שמשרת הרבה תכונות. המשולש הקטן שליד המילה מסמן רשימה נפתחת.</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לוחצים על המילה BackgroundColor שבתוך הבלוק</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נפתחת רשימת כל התכונות של Label: FontSize, Height, Text, TextColor, Visible, Width ועוד</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בוחרים Text - והבלוק משנה את עצמו ל-set Label2.Text to</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אותו טריק עובד גם על שם הרכיב: אפשר ללחוץ על Label2 ולהחליף אותו ב-Label1 בלי לגרור בלוק חדש.</a:t>
            </a:r>
          </a:p>
        </p:txBody>
      </p:sp>
      <p:pic>
        <p:nvPicPr>
          <p:cNvPr id="258" name="Picture 257" descr="dropdown_menu.png"/>
          <p:cNvPicPr>
            <a:picLocks noChangeAspect="1"/>
          </p:cNvPicPr>
          <p:nvPr/>
        </p:nvPicPr>
        <p:blipFill>
          <a:blip r:embed="rId7"/>
          <a:stretch>
            <a:fillRect/>
          </a:stretch>
        </p:blipFill>
        <p:spPr>
          <a:xfrm>
            <a:off x="5120640" y="1005840"/>
            <a:ext cx="3291840" cy="32004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בלוקים של רשימות (Lists)</a:t>
            </a:r>
          </a:p>
        </p:txBody>
      </p:sp>
      <p:sp>
        <p:nvSpPr>
          <p:cNvPr id="257" name="TextBox 256"/>
          <p:cNvSpPr txBox="1"/>
          <p:nvPr/>
        </p:nvSpPr>
        <p:spPr>
          <a:xfrm>
            <a:off x="310896" y="1490472"/>
            <a:ext cx="8522208" cy="384048"/>
          </a:xfrm>
          <a:prstGeom prst="rect">
            <a:avLst/>
          </a:prstGeom>
          <a:noFill/>
        </p:spPr>
        <p:txBody>
          <a:bodyPr wrap="square" anchor="t" anchorCtr="0" lIns="91425" rIns="91425" tIns="45700" bIns="45700" spcFirstLastPara="1">
            <a:noAutofit/>
          </a:bodyPr>
          <a:lstStyle/>
          <a:p>
            <a:pPr indent="0" lvl="0" marL="0" rtl="1" algn="r">
              <a:lnSpc>
                <a:spcPct val="90000"/>
              </a:lnSpc>
              <a:spcBef>
                <a:spcPts val="0"/>
              </a:spcBef>
              <a:spcAft>
                <a:spcPts val="0"/>
              </a:spcAft>
              <a:buNone/>
            </a:pPr>
            <a:r>
              <a:rPr lang="iw" sz="1300">
                <a:solidFill>
                  <a:srgbClr val="2C3687"/>
                </a:solidFill>
                <a:latin typeface="Assistant"/>
                <a:ea typeface="Assistant"/>
                <a:cs typeface="Assistant"/>
                <a:sym typeface="Assistant"/>
              </a:rPr>
              <a:t>רשימה היא אוסף מסודר של פריטים - כמו רשימת קניות. שני הבלוקים האלה נמצאים במגירה Lists שתחת Built-in:</a:t>
            </a:r>
          </a:p>
        </p:txBody>
      </p:sp>
      <p:sp>
        <p:nvSpPr>
          <p:cNvPr id="258" name="Rounded Rectangle 257"/>
          <p:cNvSpPr/>
          <p:nvPr/>
        </p:nvSpPr>
        <p:spPr>
          <a:xfrm>
            <a:off x="274320" y="1920240"/>
            <a:ext cx="8595360" cy="1005840"/>
          </a:xfrm>
          <a:prstGeom prst="roundRect">
            <a:avLst>
              <a:gd name="adj" fmla="val 10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9" name="Picture 258" descr="blk_pick_palette.png"/>
          <p:cNvPicPr>
            <a:picLocks noChangeAspect="1"/>
          </p:cNvPicPr>
          <p:nvPr/>
        </p:nvPicPr>
        <p:blipFill>
          <a:blip r:embed="rId7"/>
          <a:stretch>
            <a:fillRect/>
          </a:stretch>
        </p:blipFill>
        <p:spPr>
          <a:xfrm>
            <a:off x="5339827" y="2194560"/>
            <a:ext cx="2716305" cy="457200"/>
          </a:xfrm>
          <a:prstGeom prst="rect">
            <a:avLst/>
          </a:prstGeom>
        </p:spPr>
      </p:pic>
      <p:sp>
        <p:nvSpPr>
          <p:cNvPr id="260" name="TextBox 259"/>
          <p:cNvSpPr txBox="1"/>
          <p:nvPr/>
        </p:nvSpPr>
        <p:spPr>
          <a:xfrm>
            <a:off x="402336" y="1920240"/>
            <a:ext cx="4133087" cy="1005840"/>
          </a:xfrm>
          <a:prstGeom prst="rect">
            <a:avLst/>
          </a:prstGeom>
          <a:noFill/>
        </p:spPr>
        <p:txBody>
          <a:bodyPr wrap="square" anchor="ctr" anchorCtr="0" lIns="91425" rIns="91425" tIns="45700" bIns="45700" spcFirstLastPara="1">
            <a:noAutofit/>
          </a:bodyPr>
          <a:lstStyle/>
          <a:p>
            <a:pPr indent="0" lvl="0" marL="0" rtl="1" algn="r">
              <a:lnSpc>
                <a:spcPct val="95000"/>
              </a:lnSpc>
              <a:spcBef>
                <a:spcPts val="0"/>
              </a:spcBef>
              <a:spcAft>
                <a:spcPts val="0"/>
              </a:spcAft>
              <a:buNone/>
            </a:pPr>
            <a:r>
              <a:rPr lang="iw" sz="1300" b="1">
                <a:solidFill>
                  <a:srgbClr val="2C3687"/>
                </a:solidFill>
                <a:latin typeface="Assistant"/>
                <a:ea typeface="Assistant"/>
                <a:cs typeface="Assistant"/>
                <a:sym typeface="Assistant"/>
              </a:rPr>
              <a:t>בחר פריט אקראי מתוך הרשימה</a:t>
            </a:r>
          </a:p>
          <a:p>
            <a:pPr indent="0" lvl="0" marL="0" rtl="1" algn="r">
              <a:lnSpc>
                <a:spcPct val="92000"/>
              </a:lnSpc>
              <a:spcBef>
                <a:spcPts val="220"/>
              </a:spcBef>
              <a:spcAft>
                <a:spcPts val="0"/>
              </a:spcAft>
              <a:buNone/>
            </a:pPr>
            <a:r>
              <a:rPr lang="iw" sz="1100">
                <a:solidFill>
                  <a:srgbClr val="2C36A6"/>
                </a:solidFill>
                <a:latin typeface="Assistant"/>
                <a:ea typeface="Assistant"/>
                <a:cs typeface="Assistant"/>
                <a:sym typeface="Assistant"/>
              </a:rPr>
              <a:t>pick a random item = בחר פריט אקראי   |   list = רשימה. בכל הפעלה הוא מגריל פריט אחר. זה סוד הקסם של הכדור.</a:t>
            </a:r>
          </a:p>
        </p:txBody>
      </p:sp>
      <p:sp>
        <p:nvSpPr>
          <p:cNvPr id="261" name="Rounded Rectangle 260"/>
          <p:cNvSpPr/>
          <p:nvPr/>
        </p:nvSpPr>
        <p:spPr>
          <a:xfrm>
            <a:off x="274320" y="2999232"/>
            <a:ext cx="8595360" cy="1005840"/>
          </a:xfrm>
          <a:prstGeom prst="roundRect">
            <a:avLst>
              <a:gd name="adj" fmla="val 10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2" name="Picture 261" descr="blk_make_list.png"/>
          <p:cNvPicPr>
            <a:picLocks noChangeAspect="1"/>
          </p:cNvPicPr>
          <p:nvPr/>
        </p:nvPicPr>
        <p:blipFill>
          <a:blip r:embed="rId8"/>
          <a:stretch>
            <a:fillRect/>
          </a:stretch>
        </p:blipFill>
        <p:spPr>
          <a:xfrm>
            <a:off x="5966460" y="3340787"/>
            <a:ext cx="1463040" cy="322729"/>
          </a:xfrm>
          <a:prstGeom prst="rect">
            <a:avLst/>
          </a:prstGeom>
        </p:spPr>
      </p:pic>
      <p:sp>
        <p:nvSpPr>
          <p:cNvPr id="263" name="TextBox 262"/>
          <p:cNvSpPr txBox="1"/>
          <p:nvPr/>
        </p:nvSpPr>
        <p:spPr>
          <a:xfrm>
            <a:off x="402336" y="2999232"/>
            <a:ext cx="4133087" cy="1005840"/>
          </a:xfrm>
          <a:prstGeom prst="rect">
            <a:avLst/>
          </a:prstGeom>
          <a:noFill/>
        </p:spPr>
        <p:txBody>
          <a:bodyPr wrap="square" anchor="ctr" anchorCtr="0" lIns="91425" rIns="91425" tIns="45700" bIns="45700" spcFirstLastPara="1">
            <a:noAutofit/>
          </a:bodyPr>
          <a:lstStyle/>
          <a:p>
            <a:pPr indent="0" lvl="0" marL="0" rtl="1" algn="r">
              <a:lnSpc>
                <a:spcPct val="95000"/>
              </a:lnSpc>
              <a:spcBef>
                <a:spcPts val="0"/>
              </a:spcBef>
              <a:spcAft>
                <a:spcPts val="0"/>
              </a:spcAft>
              <a:buNone/>
            </a:pPr>
            <a:r>
              <a:rPr lang="iw" sz="1300" b="1">
                <a:solidFill>
                  <a:srgbClr val="2C3687"/>
                </a:solidFill>
                <a:latin typeface="Assistant"/>
                <a:ea typeface="Assistant"/>
                <a:cs typeface="Assistant"/>
                <a:sym typeface="Assistant"/>
              </a:rPr>
              <a:t>צור רשימה</a:t>
            </a:r>
          </a:p>
          <a:p>
            <a:pPr indent="0" lvl="0" marL="0" rtl="1" algn="r">
              <a:lnSpc>
                <a:spcPct val="92000"/>
              </a:lnSpc>
              <a:spcBef>
                <a:spcPts val="220"/>
              </a:spcBef>
              <a:spcAft>
                <a:spcPts val="0"/>
              </a:spcAft>
              <a:buNone/>
            </a:pPr>
            <a:r>
              <a:rPr lang="iw" sz="1100">
                <a:solidFill>
                  <a:srgbClr val="2C36A6"/>
                </a:solidFill>
                <a:latin typeface="Assistant"/>
                <a:ea typeface="Assistant"/>
                <a:cs typeface="Assistant"/>
                <a:sym typeface="Assistant"/>
              </a:rPr>
              <a:t>make a list = צור רשימה   |   item = פריט. כאן נכתוב את כל התשובות האפשריות.</a:t>
            </a:r>
          </a:p>
        </p:txBody>
      </p:sp>
      <p:sp>
        <p:nvSpPr>
          <p:cNvPr id="264" name="TextBox 263"/>
          <p:cNvSpPr txBox="1"/>
          <p:nvPr/>
        </p:nvSpPr>
        <p:spPr>
          <a:xfrm>
            <a:off x="310896" y="4041648"/>
            <a:ext cx="8522208" cy="384048"/>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0"/>
              </a:spcAft>
              <a:buNone/>
            </a:pPr>
            <a:r>
              <a:rPr lang="iw" sz="1150" b="1">
                <a:solidFill>
                  <a:srgbClr val="17B3A9"/>
                </a:solidFill>
                <a:latin typeface="Assistant"/>
                <a:ea typeface="Assistant"/>
                <a:cs typeface="Assistant"/>
                <a:sym typeface="Assistant"/>
              </a:rPr>
              <a:t>מחברים את make a list אל השקע שבצד ימין של pick a random item.</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311700" y="372500"/>
            <a:ext cx="399600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המוטטור - גלגל השיניים</a:t>
            </a:r>
          </a:p>
        </p:txBody>
      </p:sp>
      <p:sp>
        <p:nvSpPr>
          <p:cNvPr id="257" name="TextBox 256"/>
          <p:cNvSpPr txBox="1"/>
          <p:nvPr/>
        </p:nvSpPr>
        <p:spPr>
          <a:xfrm>
            <a:off x="64000" y="1468825"/>
            <a:ext cx="4243000" cy="31000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הבלוק make a list מגיע עם שני שקעים בלבד. איך מוסיפים עוד?</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לוחצים על גלגל השיניים הכחול שבפינת הבלוק</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נפתח חלון קטן עם בלוק list ובלוקי item</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גוררים item נוסף לתוך ה-list - וכל גרירה מוסיפה שקע חדש</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לוחצים שוב על הגלגל כדי לסגור</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בלוק שאפשר להרחיב ולכווץ ככה נקרא mutator - בלוק מִשְׁתַּנֶּה. גם create empty list ו-add items to list הם מוטטורים.</a:t>
            </a:r>
          </a:p>
        </p:txBody>
      </p:sp>
      <p:pic>
        <p:nvPicPr>
          <p:cNvPr id="258" name="Picture 257" descr="blk_list_drawer.png"/>
          <p:cNvPicPr>
            <a:picLocks noChangeAspect="1"/>
          </p:cNvPicPr>
          <p:nvPr/>
        </p:nvPicPr>
        <p:blipFill>
          <a:blip r:embed="rId7"/>
          <a:stretch>
            <a:fillRect/>
          </a:stretch>
        </p:blipFill>
        <p:spPr>
          <a:xfrm>
            <a:off x="4937760" y="1263748"/>
            <a:ext cx="3657600" cy="2410264"/>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600" b="1">
                <a:solidFill>
                  <a:srgbClr val="E91D63"/>
                </a:solidFill>
                <a:latin typeface="Assistant"/>
                <a:ea typeface="Assistant"/>
                <a:cs typeface="Assistant"/>
                <a:sym typeface="Assistant"/>
              </a:rPr>
              <a:t>בלוק הטקסט - כותבים את התשובות</a:t>
            </a:r>
          </a:p>
        </p:txBody>
      </p:sp>
      <p:sp>
        <p:nvSpPr>
          <p:cNvPr id="257" name="TextBox 256"/>
          <p:cNvSpPr txBox="1"/>
          <p:nvPr/>
        </p:nvSpPr>
        <p:spPr>
          <a:xfrm>
            <a:off x="310896" y="1490472"/>
            <a:ext cx="8522208" cy="384048"/>
          </a:xfrm>
          <a:prstGeom prst="rect">
            <a:avLst/>
          </a:prstGeom>
          <a:noFill/>
        </p:spPr>
        <p:txBody>
          <a:bodyPr wrap="square" anchor="t" anchorCtr="0" lIns="91425" rIns="91425" tIns="45700" bIns="45700" spcFirstLastPara="1">
            <a:noAutofit/>
          </a:bodyPr>
          <a:lstStyle/>
          <a:p>
            <a:pPr indent="0" lvl="0" marL="0" rtl="1" algn="r">
              <a:lnSpc>
                <a:spcPct val="90000"/>
              </a:lnSpc>
              <a:spcBef>
                <a:spcPts val="0"/>
              </a:spcBef>
              <a:spcAft>
                <a:spcPts val="0"/>
              </a:spcAft>
              <a:buNone/>
            </a:pPr>
            <a:r>
              <a:rPr lang="iw" sz="1300">
                <a:solidFill>
                  <a:srgbClr val="2C3687"/>
                </a:solidFill>
                <a:latin typeface="Assistant"/>
                <a:ea typeface="Assistant"/>
                <a:cs typeface="Assistant"/>
                <a:sym typeface="Assistant"/>
              </a:rPr>
              <a:t>נשאר רק למלא את הרשימה. את בלוק הטקסט לוקחים מהמגירה Text:</a:t>
            </a:r>
          </a:p>
        </p:txBody>
      </p:sp>
      <p:sp>
        <p:nvSpPr>
          <p:cNvPr id="258" name="Rounded Rectangle 257"/>
          <p:cNvSpPr/>
          <p:nvPr/>
        </p:nvSpPr>
        <p:spPr>
          <a:xfrm>
            <a:off x="274320" y="1920240"/>
            <a:ext cx="8595360" cy="1005840"/>
          </a:xfrm>
          <a:prstGeom prst="roundRect">
            <a:avLst>
              <a:gd name="adj" fmla="val 10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9" name="Picture 258" descr="blk_text_filled.png"/>
          <p:cNvPicPr>
            <a:picLocks noChangeAspect="1"/>
          </p:cNvPicPr>
          <p:nvPr/>
        </p:nvPicPr>
        <p:blipFill>
          <a:blip r:embed="rId7"/>
          <a:stretch>
            <a:fillRect/>
          </a:stretch>
        </p:blipFill>
        <p:spPr>
          <a:xfrm>
            <a:off x="5982596" y="2261795"/>
            <a:ext cx="1430767" cy="322729"/>
          </a:xfrm>
          <a:prstGeom prst="rect">
            <a:avLst/>
          </a:prstGeom>
        </p:spPr>
      </p:pic>
      <p:sp>
        <p:nvSpPr>
          <p:cNvPr id="260" name="TextBox 259"/>
          <p:cNvSpPr txBox="1"/>
          <p:nvPr/>
        </p:nvSpPr>
        <p:spPr>
          <a:xfrm>
            <a:off x="402336" y="1920240"/>
            <a:ext cx="4133087" cy="1005840"/>
          </a:xfrm>
          <a:prstGeom prst="rect">
            <a:avLst/>
          </a:prstGeom>
          <a:noFill/>
        </p:spPr>
        <p:txBody>
          <a:bodyPr wrap="square" anchor="ctr" anchorCtr="0" lIns="91425" rIns="91425" tIns="45700" bIns="45700" spcFirstLastPara="1">
            <a:noAutofit/>
          </a:bodyPr>
          <a:lstStyle/>
          <a:p>
            <a:pPr indent="0" lvl="0" marL="0" rtl="1" algn="r">
              <a:lnSpc>
                <a:spcPct val="95000"/>
              </a:lnSpc>
              <a:spcBef>
                <a:spcPts val="0"/>
              </a:spcBef>
              <a:spcAft>
                <a:spcPts val="0"/>
              </a:spcAft>
              <a:buNone/>
            </a:pPr>
            <a:r>
              <a:rPr lang="iw" sz="1300" b="1">
                <a:solidFill>
                  <a:srgbClr val="2C3687"/>
                </a:solidFill>
                <a:latin typeface="Assistant"/>
                <a:ea typeface="Assistant"/>
                <a:cs typeface="Assistant"/>
                <a:sym typeface="Assistant"/>
              </a:rPr>
              <a:t>בלוק טקסט אחד</a:t>
            </a:r>
          </a:p>
          <a:p>
            <a:pPr indent="0" lvl="0" marL="0" rtl="1" algn="r">
              <a:lnSpc>
                <a:spcPct val="92000"/>
              </a:lnSpc>
              <a:spcBef>
                <a:spcPts val="220"/>
              </a:spcBef>
              <a:spcAft>
                <a:spcPts val="0"/>
              </a:spcAft>
              <a:buNone/>
            </a:pPr>
            <a:r>
              <a:rPr lang="iw" sz="1100">
                <a:solidFill>
                  <a:srgbClr val="2C36A6"/>
                </a:solidFill>
                <a:latin typeface="Assistant"/>
                <a:ea typeface="Assistant"/>
                <a:cs typeface="Assistant"/>
                <a:sym typeface="Assistant"/>
              </a:rPr>
              <a:t>לוחצים על השדה הלבן שבין הגרשיים וכותבים בפנים את התשובה. אפשר לכתוב גם בעברית.</a:t>
            </a:r>
          </a:p>
        </p:txBody>
      </p:sp>
      <p:sp>
        <p:nvSpPr>
          <p:cNvPr id="261" name="Rounded Rectangle 260"/>
          <p:cNvSpPr/>
          <p:nvPr/>
        </p:nvSpPr>
        <p:spPr>
          <a:xfrm>
            <a:off x="274320" y="2999232"/>
            <a:ext cx="8595360" cy="1005840"/>
          </a:xfrm>
          <a:prstGeom prst="roundRect">
            <a:avLst>
              <a:gd name="adj" fmla="val 10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2" name="Picture 261" descr="blk_list_items.png"/>
          <p:cNvPicPr>
            <a:picLocks noChangeAspect="1"/>
          </p:cNvPicPr>
          <p:nvPr/>
        </p:nvPicPr>
        <p:blipFill>
          <a:blip r:embed="rId8"/>
          <a:stretch>
            <a:fillRect/>
          </a:stretch>
        </p:blipFill>
        <p:spPr>
          <a:xfrm>
            <a:off x="4788498" y="3160597"/>
            <a:ext cx="3818964" cy="683110"/>
          </a:xfrm>
          <a:prstGeom prst="rect">
            <a:avLst/>
          </a:prstGeom>
        </p:spPr>
      </p:pic>
      <p:sp>
        <p:nvSpPr>
          <p:cNvPr id="263" name="TextBox 262"/>
          <p:cNvSpPr txBox="1"/>
          <p:nvPr/>
        </p:nvSpPr>
        <p:spPr>
          <a:xfrm>
            <a:off x="402336" y="2999232"/>
            <a:ext cx="4133087" cy="1005840"/>
          </a:xfrm>
          <a:prstGeom prst="rect">
            <a:avLst/>
          </a:prstGeom>
          <a:noFill/>
        </p:spPr>
        <p:txBody>
          <a:bodyPr wrap="square" anchor="ctr" anchorCtr="0" lIns="91425" rIns="91425" tIns="45700" bIns="45700" spcFirstLastPara="1">
            <a:noAutofit/>
          </a:bodyPr>
          <a:lstStyle/>
          <a:p>
            <a:pPr indent="0" lvl="0" marL="0" rtl="1" algn="r">
              <a:lnSpc>
                <a:spcPct val="95000"/>
              </a:lnSpc>
              <a:spcBef>
                <a:spcPts val="0"/>
              </a:spcBef>
              <a:spcAft>
                <a:spcPts val="0"/>
              </a:spcAft>
              <a:buNone/>
            </a:pPr>
            <a:r>
              <a:rPr lang="iw" sz="1300" b="1">
                <a:solidFill>
                  <a:srgbClr val="2C3687"/>
                </a:solidFill>
                <a:latin typeface="Assistant"/>
                <a:ea typeface="Assistant"/>
                <a:cs typeface="Assistant"/>
                <a:sym typeface="Assistant"/>
              </a:rPr>
              <a:t>כל תשובה בבלוק משלה</a:t>
            </a:r>
          </a:p>
          <a:p>
            <a:pPr indent="0" lvl="0" marL="0" rtl="1" algn="r">
              <a:lnSpc>
                <a:spcPct val="92000"/>
              </a:lnSpc>
              <a:spcBef>
                <a:spcPts val="220"/>
              </a:spcBef>
              <a:spcAft>
                <a:spcPts val="0"/>
              </a:spcAft>
              <a:buNone/>
            </a:pPr>
            <a:r>
              <a:rPr lang="iw" sz="1100">
                <a:solidFill>
                  <a:srgbClr val="2C36A6"/>
                </a:solidFill>
                <a:latin typeface="Assistant"/>
                <a:ea typeface="Assistant"/>
                <a:cs typeface="Assistant"/>
                <a:sym typeface="Assistant"/>
              </a:rPr>
              <a:t>כל בלוק טקסט מתחבר לשקע item משלו בתוך make a list - וכך נבנית רשימת התשובות.</a:t>
            </a:r>
          </a:p>
        </p:txBody>
      </p:sp>
      <p:sp>
        <p:nvSpPr>
          <p:cNvPr id="264" name="TextBox 263"/>
          <p:cNvSpPr txBox="1"/>
          <p:nvPr/>
        </p:nvSpPr>
        <p:spPr>
          <a:xfrm>
            <a:off x="310896" y="4041648"/>
            <a:ext cx="8522208" cy="384048"/>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0"/>
              </a:spcAft>
              <a:buNone/>
            </a:pPr>
            <a:r>
              <a:rPr lang="iw" sz="1150" b="1">
                <a:solidFill>
                  <a:srgbClr val="17B3A9"/>
                </a:solidFill>
                <a:latin typeface="Assistant"/>
                <a:ea typeface="Assistant"/>
                <a:cs typeface="Assistant"/>
                <a:sym typeface="Assistant"/>
              </a:rPr>
              <a:t>מומלץ 8 עד 20 תשובות. ככל שיש יותר - כך הכדור מרגיש אקראי יותר.</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התוכנית המלאה של שלב 2</a:t>
            </a:r>
          </a:p>
        </p:txBody>
      </p:sp>
      <p:sp>
        <p:nvSpPr>
          <p:cNvPr id="257" name="TextBox 256"/>
          <p:cNvSpPr txBox="1"/>
          <p:nvPr/>
        </p:nvSpPr>
        <p:spPr>
          <a:xfrm>
            <a:off x="310896" y="1490472"/>
            <a:ext cx="8522208" cy="676656"/>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ככה נראית התוכנית אחרי שחיברנו את הכול. שימו לב שהבלוקים מקוננים זה בתוך זה, כמו קופסאות בתוך קופסאות.</a:t>
            </a:r>
          </a:p>
        </p:txBody>
      </p:sp>
      <p:pic>
        <p:nvPicPr>
          <p:cNvPr id="258" name="Picture 257" descr="finalblocks.png"/>
          <p:cNvPicPr>
            <a:picLocks noChangeAspect="1"/>
          </p:cNvPicPr>
          <p:nvPr/>
        </p:nvPicPr>
        <p:blipFill>
          <a:blip r:embed="rId7"/>
          <a:stretch>
            <a:fillRect/>
          </a:stretch>
        </p:blipFill>
        <p:spPr>
          <a:xfrm>
            <a:off x="1681415" y="2212848"/>
            <a:ext cx="5781170" cy="2221992"/>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קוראים את התוכנית שורה-שורה</a:t>
            </a:r>
          </a:p>
        </p:txBody>
      </p:sp>
      <p:sp>
        <p:nvSpPr>
          <p:cNvPr id="257" name="TextBox 256"/>
          <p:cNvSpPr txBox="1"/>
          <p:nvPr/>
        </p:nvSpPr>
        <p:spPr>
          <a:xfrm>
            <a:off x="311700" y="1468825"/>
            <a:ext cx="8520600" cy="29679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0"/>
              </a:spcAft>
              <a:buNone/>
            </a:pPr>
            <a:r>
              <a:rPr lang="iw" sz="1500" b="1">
                <a:solidFill>
                  <a:srgbClr val="B18E35"/>
                </a:solidFill>
                <a:latin typeface="Assistant"/>
                <a:ea typeface="Assistant"/>
                <a:cs typeface="Assistant"/>
                <a:sym typeface="Assistant"/>
              </a:rPr>
              <a:t>כאשר לוחצים על Button1, בצע:</a:t>
            </a:r>
          </a:p>
          <a:p>
            <a:pPr indent="0" lvl="0" marL="0" rtl="1" algn="r">
              <a:lnSpc>
                <a:spcPct val="95000"/>
              </a:lnSpc>
              <a:spcBef>
                <a:spcPts val="220"/>
              </a:spcBef>
              <a:spcAft>
                <a:spcPts val="0"/>
              </a:spcAft>
              <a:buNone/>
            </a:pPr>
            <a:r>
              <a:rPr lang="iw" sz="1400" b="1">
                <a:solidFill>
                  <a:srgbClr val="3E8A63"/>
                </a:solidFill>
                <a:latin typeface="Assistant"/>
                <a:ea typeface="Assistant"/>
                <a:cs typeface="Assistant"/>
                <a:sym typeface="Assistant"/>
              </a:rPr>
              <a:t>קבע את הטקסט של Label2 להיות...</a:t>
            </a:r>
          </a:p>
          <a:p>
            <a:pPr indent="0" lvl="0" marL="0" rtl="1" algn="r">
              <a:lnSpc>
                <a:spcPct val="95000"/>
              </a:lnSpc>
              <a:spcBef>
                <a:spcPts val="130"/>
              </a:spcBef>
              <a:spcAft>
                <a:spcPts val="0"/>
              </a:spcAft>
              <a:buNone/>
            </a:pPr>
            <a:r>
              <a:rPr lang="iw" sz="1400" b="1">
                <a:solidFill>
                  <a:srgbClr val="3D8FBA"/>
                </a:solidFill>
                <a:latin typeface="Assistant"/>
                <a:ea typeface="Assistant"/>
                <a:cs typeface="Assistant"/>
                <a:sym typeface="Assistant"/>
              </a:rPr>
              <a:t>...פריט אקראי מתוך רשימה...</a:t>
            </a:r>
          </a:p>
          <a:p>
            <a:pPr indent="0" lvl="0" marL="0" rtl="1" algn="r">
              <a:lnSpc>
                <a:spcPct val="95000"/>
              </a:lnSpc>
              <a:spcBef>
                <a:spcPts val="130"/>
              </a:spcBef>
              <a:spcAft>
                <a:spcPts val="0"/>
              </a:spcAft>
              <a:buNone/>
            </a:pPr>
            <a:r>
              <a:rPr lang="iw" sz="1400" b="1">
                <a:solidFill>
                  <a:srgbClr val="B32D5E"/>
                </a:solidFill>
                <a:latin typeface="Assistant"/>
                <a:ea typeface="Assistant"/>
                <a:cs typeface="Assistant"/>
                <a:sym typeface="Assistant"/>
              </a:rPr>
              <a:t>...המורכבת משמונה התשובות שכתבנו</a:t>
            </a:r>
          </a:p>
          <a:p>
            <a:pPr indent="0" lvl="0" marL="0" rtl="1" algn="r">
              <a:lnSpc>
                <a:spcPct val="95000"/>
              </a:lnSpc>
              <a:spcBef>
                <a:spcPts val="220"/>
              </a:spcBef>
              <a:spcAft>
                <a:spcPts val="0"/>
              </a:spcAft>
              <a:buNone/>
            </a:pPr>
            <a:r>
              <a:rPr lang="iw" sz="1400" b="1">
                <a:solidFill>
                  <a:srgbClr val="704778"/>
                </a:solidFill>
                <a:latin typeface="Assistant"/>
                <a:ea typeface="Assistant"/>
                <a:cs typeface="Assistant"/>
                <a:sym typeface="Assistant"/>
              </a:rPr>
              <a:t>ואז הפעל את Player1 והשמע את הצליל</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הסדר חשוב: קודם מציגים את התשובה, ורק אחר כך משמיעים צליל. המחשב מבצע את הפקודות אחת אחרי השנייה, מלמעלה למטה.</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311700" y="372500"/>
            <a:ext cx="399600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שמונה התשובות של המדריך</a:t>
            </a:r>
          </a:p>
        </p:txBody>
      </p:sp>
      <p:sp>
        <p:nvSpPr>
          <p:cNvPr id="257" name="TextBox 256"/>
          <p:cNvSpPr txBox="1"/>
          <p:nvPr/>
        </p:nvSpPr>
        <p:spPr>
          <a:xfrm>
            <a:off x="64000" y="1468825"/>
            <a:ext cx="4243000" cy="31000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300">
                <a:solidFill>
                  <a:srgbClr val="2C3687"/>
                </a:solidFill>
                <a:latin typeface="Assistant"/>
                <a:ea typeface="Assistant"/>
                <a:cs typeface="Assistant"/>
                <a:sym typeface="Assistant"/>
              </a:rPr>
              <a:t>אלה שמונה התשובות שמופיעות בתמונה, והתרגום שלהן:</a:t>
            </a:r>
          </a:p>
          <a:p>
            <a:pPr indent="-317500" lvl="0" marL="457200" rtl="1" algn="r">
              <a:lnSpc>
                <a:spcPct val="95000"/>
              </a:lnSpc>
              <a:spcBef>
                <a:spcPts val="0"/>
              </a:spcBef>
              <a:spcAft>
                <a:spcPts val="100"/>
              </a:spcAft>
              <a:buClr>
                <a:srgbClr val="2C3687"/>
              </a:buClr>
              <a:buSzPts val="1250"/>
              <a:buFont typeface="Assistant"/>
              <a:buChar char="-"/>
            </a:pPr>
            <a:r>
              <a:rPr lang="iw" sz="1250">
                <a:solidFill>
                  <a:srgbClr val="2C3687"/>
                </a:solidFill>
                <a:latin typeface="Assistant"/>
                <a:ea typeface="Assistant"/>
                <a:cs typeface="Assistant"/>
                <a:sym typeface="Assistant"/>
              </a:rPr>
              <a:t>זה בטוח</a:t>
            </a:r>
            <a:r>
              <a:rPr lang="iw" sz="1250">
                <a:solidFill>
                  <a:srgbClr val="374151"/>
                </a:solidFill>
                <a:latin typeface="Assistant"/>
                <a:ea typeface="Assistant"/>
                <a:cs typeface="Assistant"/>
                <a:sym typeface="Assistant"/>
              </a:rPr>
              <a:t xml:space="preserve">   =   </a:t>
            </a:r>
            <a:r>
              <a:rPr lang="iw" sz="1150" b="1">
                <a:solidFill>
                  <a:srgbClr val="2C36A6"/>
                </a:solidFill>
                <a:latin typeface="Source Code Pro"/>
                <a:ea typeface="Source Code Pro"/>
                <a:cs typeface="Source Code Pro"/>
                <a:sym typeface="Source Code Pro"/>
              </a:rPr>
              <a:t>It is certain</a:t>
            </a:r>
          </a:p>
          <a:p>
            <a:pPr indent="-317500" lvl="0" marL="457200" rtl="1" algn="r">
              <a:lnSpc>
                <a:spcPct val="95000"/>
              </a:lnSpc>
              <a:spcBef>
                <a:spcPts val="0"/>
              </a:spcBef>
              <a:spcAft>
                <a:spcPts val="100"/>
              </a:spcAft>
              <a:buClr>
                <a:srgbClr val="2C3687"/>
              </a:buClr>
              <a:buSzPts val="1250"/>
              <a:buFont typeface="Assistant"/>
              <a:buChar char="-"/>
            </a:pPr>
            <a:r>
              <a:rPr lang="iw" sz="1250">
                <a:solidFill>
                  <a:srgbClr val="2C3687"/>
                </a:solidFill>
                <a:latin typeface="Assistant"/>
                <a:ea typeface="Assistant"/>
                <a:cs typeface="Assistant"/>
                <a:sym typeface="Assistant"/>
              </a:rPr>
              <a:t>ללא ספק</a:t>
            </a:r>
            <a:r>
              <a:rPr lang="iw" sz="1250">
                <a:solidFill>
                  <a:srgbClr val="374151"/>
                </a:solidFill>
                <a:latin typeface="Assistant"/>
                <a:ea typeface="Assistant"/>
                <a:cs typeface="Assistant"/>
                <a:sym typeface="Assistant"/>
              </a:rPr>
              <a:t xml:space="preserve">   =   </a:t>
            </a:r>
            <a:r>
              <a:rPr lang="iw" sz="1150" b="1">
                <a:solidFill>
                  <a:srgbClr val="2C36A6"/>
                </a:solidFill>
                <a:latin typeface="Source Code Pro"/>
                <a:ea typeface="Source Code Pro"/>
                <a:cs typeface="Source Code Pro"/>
                <a:sym typeface="Source Code Pro"/>
              </a:rPr>
              <a:t>Without a doubt</a:t>
            </a:r>
          </a:p>
          <a:p>
            <a:pPr indent="-317500" lvl="0" marL="457200" rtl="1" algn="r">
              <a:lnSpc>
                <a:spcPct val="95000"/>
              </a:lnSpc>
              <a:spcBef>
                <a:spcPts val="0"/>
              </a:spcBef>
              <a:spcAft>
                <a:spcPts val="100"/>
              </a:spcAft>
              <a:buClr>
                <a:srgbClr val="2C3687"/>
              </a:buClr>
              <a:buSzPts val="1250"/>
              <a:buFont typeface="Assistant"/>
              <a:buChar char="-"/>
            </a:pPr>
            <a:r>
              <a:rPr lang="iw" sz="1250">
                <a:solidFill>
                  <a:srgbClr val="2C3687"/>
                </a:solidFill>
                <a:latin typeface="Assistant"/>
                <a:ea typeface="Assistant"/>
                <a:cs typeface="Assistant"/>
                <a:sym typeface="Assistant"/>
              </a:rPr>
              <a:t>כפי שאני רואה זאת - כן</a:t>
            </a:r>
            <a:r>
              <a:rPr lang="iw" sz="1250">
                <a:solidFill>
                  <a:srgbClr val="374151"/>
                </a:solidFill>
                <a:latin typeface="Assistant"/>
                <a:ea typeface="Assistant"/>
                <a:cs typeface="Assistant"/>
                <a:sym typeface="Assistant"/>
              </a:rPr>
              <a:t xml:space="preserve">   =   </a:t>
            </a:r>
            <a:r>
              <a:rPr lang="iw" sz="1150" b="1">
                <a:solidFill>
                  <a:srgbClr val="2C36A6"/>
                </a:solidFill>
                <a:latin typeface="Source Code Pro"/>
                <a:ea typeface="Source Code Pro"/>
                <a:cs typeface="Source Code Pro"/>
                <a:sym typeface="Source Code Pro"/>
              </a:rPr>
              <a:t>As I see it, yes</a:t>
            </a:r>
          </a:p>
          <a:p>
            <a:pPr indent="-317500" lvl="0" marL="457200" rtl="1" algn="r">
              <a:lnSpc>
                <a:spcPct val="95000"/>
              </a:lnSpc>
              <a:spcBef>
                <a:spcPts val="0"/>
              </a:spcBef>
              <a:spcAft>
                <a:spcPts val="100"/>
              </a:spcAft>
              <a:buClr>
                <a:srgbClr val="2C3687"/>
              </a:buClr>
              <a:buSzPts val="1250"/>
              <a:buFont typeface="Assistant"/>
              <a:buChar char="-"/>
            </a:pPr>
            <a:r>
              <a:rPr lang="iw" sz="1250">
                <a:solidFill>
                  <a:srgbClr val="2C3687"/>
                </a:solidFill>
                <a:latin typeface="Assistant"/>
                <a:ea typeface="Assistant"/>
                <a:cs typeface="Assistant"/>
                <a:sym typeface="Assistant"/>
              </a:rPr>
              <a:t>שאל אותי שוב מאוחר יותר</a:t>
            </a:r>
            <a:r>
              <a:rPr lang="iw" sz="1250">
                <a:solidFill>
                  <a:srgbClr val="374151"/>
                </a:solidFill>
                <a:latin typeface="Assistant"/>
                <a:ea typeface="Assistant"/>
                <a:cs typeface="Assistant"/>
                <a:sym typeface="Assistant"/>
              </a:rPr>
              <a:t xml:space="preserve">   =   </a:t>
            </a:r>
            <a:r>
              <a:rPr lang="iw" sz="1150" b="1">
                <a:solidFill>
                  <a:srgbClr val="2C36A6"/>
                </a:solidFill>
                <a:latin typeface="Source Code Pro"/>
                <a:ea typeface="Source Code Pro"/>
                <a:cs typeface="Source Code Pro"/>
                <a:sym typeface="Source Code Pro"/>
              </a:rPr>
              <a:t>Ask again later</a:t>
            </a:r>
          </a:p>
          <a:p>
            <a:pPr indent="-317500" lvl="0" marL="457200" rtl="1" algn="r">
              <a:lnSpc>
                <a:spcPct val="95000"/>
              </a:lnSpc>
              <a:spcBef>
                <a:spcPts val="0"/>
              </a:spcBef>
              <a:spcAft>
                <a:spcPts val="100"/>
              </a:spcAft>
              <a:buClr>
                <a:srgbClr val="2C3687"/>
              </a:buClr>
              <a:buSzPts val="1250"/>
              <a:buFont typeface="Assistant"/>
              <a:buChar char="-"/>
            </a:pPr>
            <a:r>
              <a:rPr lang="iw" sz="1250">
                <a:solidFill>
                  <a:srgbClr val="2C3687"/>
                </a:solidFill>
                <a:latin typeface="Assistant"/>
                <a:ea typeface="Assistant"/>
                <a:cs typeface="Assistant"/>
                <a:sym typeface="Assistant"/>
              </a:rPr>
              <a:t>התשובה מעורפלת, נסה שוב</a:t>
            </a:r>
            <a:r>
              <a:rPr lang="iw" sz="1250">
                <a:solidFill>
                  <a:srgbClr val="374151"/>
                </a:solidFill>
                <a:latin typeface="Assistant"/>
                <a:ea typeface="Assistant"/>
                <a:cs typeface="Assistant"/>
                <a:sym typeface="Assistant"/>
              </a:rPr>
              <a:t xml:space="preserve">   =   </a:t>
            </a:r>
            <a:r>
              <a:rPr lang="iw" sz="1150" b="1">
                <a:solidFill>
                  <a:srgbClr val="2C36A6"/>
                </a:solidFill>
                <a:latin typeface="Source Code Pro"/>
                <a:ea typeface="Source Code Pro"/>
                <a:cs typeface="Source Code Pro"/>
                <a:sym typeface="Source Code Pro"/>
              </a:rPr>
              <a:t>Reply hazy try again</a:t>
            </a:r>
          </a:p>
          <a:p>
            <a:pPr indent="-317500" lvl="0" marL="457200" rtl="1" algn="r">
              <a:lnSpc>
                <a:spcPct val="95000"/>
              </a:lnSpc>
              <a:spcBef>
                <a:spcPts val="0"/>
              </a:spcBef>
              <a:spcAft>
                <a:spcPts val="100"/>
              </a:spcAft>
              <a:buClr>
                <a:srgbClr val="2C3687"/>
              </a:buClr>
              <a:buSzPts val="1250"/>
              <a:buFont typeface="Assistant"/>
              <a:buChar char="-"/>
            </a:pPr>
            <a:r>
              <a:rPr lang="iw" sz="1250">
                <a:solidFill>
                  <a:srgbClr val="2C3687"/>
                </a:solidFill>
                <a:latin typeface="Assistant"/>
                <a:ea typeface="Assistant"/>
                <a:cs typeface="Assistant"/>
                <a:sym typeface="Assistant"/>
              </a:rPr>
              <a:t>אל תסמוך על זה</a:t>
            </a:r>
            <a:r>
              <a:rPr lang="iw" sz="1250">
                <a:solidFill>
                  <a:srgbClr val="374151"/>
                </a:solidFill>
                <a:latin typeface="Assistant"/>
                <a:ea typeface="Assistant"/>
                <a:cs typeface="Assistant"/>
                <a:sym typeface="Assistant"/>
              </a:rPr>
              <a:t xml:space="preserve">   =   </a:t>
            </a:r>
            <a:r>
              <a:rPr lang="iw" sz="1150" b="1">
                <a:solidFill>
                  <a:srgbClr val="2C36A6"/>
                </a:solidFill>
                <a:latin typeface="Source Code Pro"/>
                <a:ea typeface="Source Code Pro"/>
                <a:cs typeface="Source Code Pro"/>
                <a:sym typeface="Source Code Pro"/>
              </a:rPr>
              <a:t>Don't count on it</a:t>
            </a:r>
          </a:p>
          <a:p>
            <a:pPr indent="-317500" lvl="0" marL="457200" rtl="1" algn="r">
              <a:lnSpc>
                <a:spcPct val="95000"/>
              </a:lnSpc>
              <a:spcBef>
                <a:spcPts val="0"/>
              </a:spcBef>
              <a:spcAft>
                <a:spcPts val="100"/>
              </a:spcAft>
              <a:buClr>
                <a:srgbClr val="2C3687"/>
              </a:buClr>
              <a:buSzPts val="1250"/>
              <a:buFont typeface="Assistant"/>
              <a:buChar char="-"/>
            </a:pPr>
            <a:r>
              <a:rPr lang="iw" sz="1250">
                <a:solidFill>
                  <a:srgbClr val="2C3687"/>
                </a:solidFill>
                <a:latin typeface="Assistant"/>
                <a:ea typeface="Assistant"/>
                <a:cs typeface="Assistant"/>
                <a:sym typeface="Assistant"/>
              </a:rPr>
              <a:t>המקורות שלי אומרים שלא</a:t>
            </a:r>
            <a:r>
              <a:rPr lang="iw" sz="1250">
                <a:solidFill>
                  <a:srgbClr val="374151"/>
                </a:solidFill>
                <a:latin typeface="Assistant"/>
                <a:ea typeface="Assistant"/>
                <a:cs typeface="Assistant"/>
                <a:sym typeface="Assistant"/>
              </a:rPr>
              <a:t xml:space="preserve">   =   </a:t>
            </a:r>
            <a:r>
              <a:rPr lang="iw" sz="1150" b="1">
                <a:solidFill>
                  <a:srgbClr val="2C36A6"/>
                </a:solidFill>
                <a:latin typeface="Source Code Pro"/>
                <a:ea typeface="Source Code Pro"/>
                <a:cs typeface="Source Code Pro"/>
                <a:sym typeface="Source Code Pro"/>
              </a:rPr>
              <a:t>My sources say no</a:t>
            </a:r>
          </a:p>
          <a:p>
            <a:pPr indent="-317500" lvl="0" marL="457200" rtl="1" algn="r">
              <a:lnSpc>
                <a:spcPct val="95000"/>
              </a:lnSpc>
              <a:spcBef>
                <a:spcPts val="0"/>
              </a:spcBef>
              <a:spcAft>
                <a:spcPts val="100"/>
              </a:spcAft>
              <a:buClr>
                <a:srgbClr val="2C3687"/>
              </a:buClr>
              <a:buSzPts val="1250"/>
              <a:buFont typeface="Assistant"/>
              <a:buChar char="-"/>
            </a:pPr>
            <a:r>
              <a:rPr lang="iw" sz="1250">
                <a:solidFill>
                  <a:srgbClr val="2C3687"/>
                </a:solidFill>
                <a:latin typeface="Assistant"/>
                <a:ea typeface="Assistant"/>
                <a:cs typeface="Assistant"/>
                <a:sym typeface="Assistant"/>
              </a:rPr>
              <a:t>התחזית לא משהו</a:t>
            </a:r>
            <a:r>
              <a:rPr lang="iw" sz="1250">
                <a:solidFill>
                  <a:srgbClr val="374151"/>
                </a:solidFill>
                <a:latin typeface="Assistant"/>
                <a:ea typeface="Assistant"/>
                <a:cs typeface="Assistant"/>
                <a:sym typeface="Assistant"/>
              </a:rPr>
              <a:t xml:space="preserve">   =   </a:t>
            </a:r>
            <a:r>
              <a:rPr lang="iw" sz="1150" b="1">
                <a:solidFill>
                  <a:srgbClr val="2C36A6"/>
                </a:solidFill>
                <a:latin typeface="Source Code Pro"/>
                <a:ea typeface="Source Code Pro"/>
                <a:cs typeface="Source Code Pro"/>
                <a:sym typeface="Source Code Pro"/>
              </a:rPr>
              <a:t>Outlook not so good</a:t>
            </a:r>
          </a:p>
        </p:txBody>
      </p:sp>
      <p:pic>
        <p:nvPicPr>
          <p:cNvPr id="258" name="Picture 257" descr="blk_predictions.png"/>
          <p:cNvPicPr>
            <a:picLocks noChangeAspect="1"/>
          </p:cNvPicPr>
          <p:nvPr/>
        </p:nvPicPr>
        <p:blipFill>
          <a:blip r:embed="rId7"/>
          <a:stretch>
            <a:fillRect/>
          </a:stretch>
        </p:blipFill>
        <p:spPr>
          <a:xfrm>
            <a:off x="5212080" y="1003020"/>
            <a:ext cx="3291840" cy="3480359"/>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עוד תשובות לבחירתכם</a:t>
            </a:r>
          </a:p>
        </p:txBody>
      </p:sp>
      <p:sp>
        <p:nvSpPr>
          <p:cNvPr id="257" name="Rounded Rectangle 256"/>
          <p:cNvSpPr/>
          <p:nvPr/>
        </p:nvSpPr>
        <p:spPr>
          <a:xfrm>
            <a:off x="310896" y="1517904"/>
            <a:ext cx="4151376" cy="2916936"/>
          </a:xfrm>
          <a:prstGeom prst="roundRect">
            <a:avLst>
              <a:gd name="adj" fmla="val 6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457200" y="1609344"/>
            <a:ext cx="3858768" cy="384048"/>
          </a:xfrm>
          <a:prstGeom prst="rect">
            <a:avLst/>
          </a:prstGeom>
          <a:noFill/>
        </p:spPr>
        <p:txBody>
          <a:bodyPr wrap="square" anchor="t" anchorCtr="0" lIns="91425" rIns="91425" tIns="45700" bIns="45700" spcFirstLastPara="1">
            <a:noAutofit/>
          </a:bodyPr>
          <a:lstStyle/>
          <a:p>
            <a:pPr indent="0" lvl="0" marL="0" rtl="1" algn="r">
              <a:lnSpc>
                <a:spcPct val="90000"/>
              </a:lnSpc>
              <a:spcBef>
                <a:spcPts val="0"/>
              </a:spcBef>
              <a:spcAft>
                <a:spcPts val="0"/>
              </a:spcAft>
              <a:buNone/>
            </a:pPr>
            <a:r>
              <a:rPr lang="iw" sz="1400" b="1">
                <a:solidFill>
                  <a:srgbClr val="E91D63"/>
                </a:solidFill>
                <a:latin typeface="Assistant"/>
                <a:ea typeface="Assistant"/>
                <a:cs typeface="Assistant"/>
                <a:sym typeface="Assistant"/>
              </a:rPr>
              <a:t>תשובות חיוביות</a:t>
            </a:r>
          </a:p>
        </p:txBody>
      </p:sp>
      <p:sp>
        <p:nvSpPr>
          <p:cNvPr id="259" name="TextBox 258"/>
          <p:cNvSpPr txBox="1"/>
          <p:nvPr/>
        </p:nvSpPr>
        <p:spPr>
          <a:xfrm>
            <a:off x="457200" y="2011680"/>
            <a:ext cx="3858768" cy="2359152"/>
          </a:xfrm>
          <a:prstGeom prst="rect">
            <a:avLst/>
          </a:prstGeom>
          <a:noFill/>
        </p:spPr>
        <p:txBody>
          <a:bodyPr wrap="square" anchor="t" anchorCtr="0" lIns="91425" rIns="91425" tIns="45700" bIns="45700" spcFirstLastPara="1">
            <a:noAutofit/>
          </a:bodyPr>
          <a:lstStyle/>
          <a:p>
            <a:pPr indent="-317500" lvl="0" marL="457200" rtl="1" algn="r">
              <a:lnSpc>
                <a:spcPct val="95000"/>
              </a:lnSpc>
              <a:spcBef>
                <a:spcPts val="0"/>
              </a:spcBef>
              <a:spcAft>
                <a:spcPts val="100"/>
              </a:spcAft>
              <a:buClr>
                <a:srgbClr val="2C3687"/>
              </a:buClr>
              <a:buSzPts val="1100"/>
              <a:buFont typeface="Assistant"/>
              <a:buChar char="-"/>
            </a:pPr>
            <a:r>
              <a:rPr lang="iw" sz="1100">
                <a:solidFill>
                  <a:srgbClr val="2C3687"/>
                </a:solidFill>
                <a:latin typeface="Assistant"/>
                <a:ea typeface="Assistant"/>
                <a:cs typeface="Assistant"/>
                <a:sym typeface="Assistant"/>
              </a:rPr>
              <a:t>כן, בהחלט</a:t>
            </a:r>
            <a:r>
              <a:rPr lang="iw" sz="1100">
                <a:solidFill>
                  <a:srgbClr val="374151"/>
                </a:solidFill>
                <a:latin typeface="Assistant"/>
                <a:ea typeface="Assistant"/>
                <a:cs typeface="Assistant"/>
                <a:sym typeface="Assistant"/>
              </a:rPr>
              <a:t xml:space="preserve">   =   </a:t>
            </a:r>
            <a:r>
              <a:rPr lang="iw" sz="1000" b="1">
                <a:solidFill>
                  <a:srgbClr val="2C36A6"/>
                </a:solidFill>
                <a:latin typeface="Source Code Pro"/>
                <a:ea typeface="Source Code Pro"/>
                <a:cs typeface="Source Code Pro"/>
                <a:sym typeface="Source Code Pro"/>
              </a:rPr>
              <a:t>Yes definitely</a:t>
            </a:r>
          </a:p>
          <a:p>
            <a:pPr indent="-317500" lvl="0" marL="457200" rtl="1" algn="r">
              <a:lnSpc>
                <a:spcPct val="95000"/>
              </a:lnSpc>
              <a:spcBef>
                <a:spcPts val="0"/>
              </a:spcBef>
              <a:spcAft>
                <a:spcPts val="100"/>
              </a:spcAft>
              <a:buClr>
                <a:srgbClr val="2C3687"/>
              </a:buClr>
              <a:buSzPts val="1100"/>
              <a:buFont typeface="Assistant"/>
              <a:buChar char="-"/>
            </a:pPr>
            <a:r>
              <a:rPr lang="iw" sz="1100">
                <a:solidFill>
                  <a:srgbClr val="2C3687"/>
                </a:solidFill>
                <a:latin typeface="Assistant"/>
                <a:ea typeface="Assistant"/>
                <a:cs typeface="Assistant"/>
                <a:sym typeface="Assistant"/>
              </a:rPr>
              <a:t>אפשר לסמוך על זה</a:t>
            </a:r>
            <a:r>
              <a:rPr lang="iw" sz="1100">
                <a:solidFill>
                  <a:srgbClr val="374151"/>
                </a:solidFill>
                <a:latin typeface="Assistant"/>
                <a:ea typeface="Assistant"/>
                <a:cs typeface="Assistant"/>
                <a:sym typeface="Assistant"/>
              </a:rPr>
              <a:t xml:space="preserve">   =   </a:t>
            </a:r>
            <a:r>
              <a:rPr lang="iw" sz="1000" b="1">
                <a:solidFill>
                  <a:srgbClr val="2C36A6"/>
                </a:solidFill>
                <a:latin typeface="Source Code Pro"/>
                <a:ea typeface="Source Code Pro"/>
                <a:cs typeface="Source Code Pro"/>
                <a:sym typeface="Source Code Pro"/>
              </a:rPr>
              <a:t>You may rely on it</a:t>
            </a:r>
          </a:p>
          <a:p>
            <a:pPr indent="-317500" lvl="0" marL="457200" rtl="1" algn="r">
              <a:lnSpc>
                <a:spcPct val="95000"/>
              </a:lnSpc>
              <a:spcBef>
                <a:spcPts val="0"/>
              </a:spcBef>
              <a:spcAft>
                <a:spcPts val="100"/>
              </a:spcAft>
              <a:buClr>
                <a:srgbClr val="2C3687"/>
              </a:buClr>
              <a:buSzPts val="1100"/>
              <a:buFont typeface="Assistant"/>
              <a:buChar char="-"/>
            </a:pPr>
            <a:r>
              <a:rPr lang="iw" sz="1100">
                <a:solidFill>
                  <a:srgbClr val="2C3687"/>
                </a:solidFill>
                <a:latin typeface="Assistant"/>
                <a:ea typeface="Assistant"/>
                <a:cs typeface="Assistant"/>
                <a:sym typeface="Assistant"/>
              </a:rPr>
              <a:t>סביר מאוד</a:t>
            </a:r>
            <a:r>
              <a:rPr lang="iw" sz="1100">
                <a:solidFill>
                  <a:srgbClr val="374151"/>
                </a:solidFill>
                <a:latin typeface="Assistant"/>
                <a:ea typeface="Assistant"/>
                <a:cs typeface="Assistant"/>
                <a:sym typeface="Assistant"/>
              </a:rPr>
              <a:t xml:space="preserve">   =   </a:t>
            </a:r>
            <a:r>
              <a:rPr lang="iw" sz="1000" b="1">
                <a:solidFill>
                  <a:srgbClr val="2C36A6"/>
                </a:solidFill>
                <a:latin typeface="Source Code Pro"/>
                <a:ea typeface="Source Code Pro"/>
                <a:cs typeface="Source Code Pro"/>
                <a:sym typeface="Source Code Pro"/>
              </a:rPr>
              <a:t>Most likely</a:t>
            </a:r>
          </a:p>
          <a:p>
            <a:pPr indent="-317500" lvl="0" marL="457200" rtl="1" algn="r">
              <a:lnSpc>
                <a:spcPct val="95000"/>
              </a:lnSpc>
              <a:spcBef>
                <a:spcPts val="0"/>
              </a:spcBef>
              <a:spcAft>
                <a:spcPts val="100"/>
              </a:spcAft>
              <a:buClr>
                <a:srgbClr val="2C3687"/>
              </a:buClr>
              <a:buSzPts val="1100"/>
              <a:buFont typeface="Assistant"/>
              <a:buChar char="-"/>
            </a:pPr>
            <a:r>
              <a:rPr lang="iw" sz="1100">
                <a:solidFill>
                  <a:srgbClr val="2C3687"/>
                </a:solidFill>
                <a:latin typeface="Assistant"/>
                <a:ea typeface="Assistant"/>
                <a:cs typeface="Assistant"/>
                <a:sym typeface="Assistant"/>
              </a:rPr>
              <a:t>התחזית טובה</a:t>
            </a:r>
            <a:r>
              <a:rPr lang="iw" sz="1100">
                <a:solidFill>
                  <a:srgbClr val="374151"/>
                </a:solidFill>
                <a:latin typeface="Assistant"/>
                <a:ea typeface="Assistant"/>
                <a:cs typeface="Assistant"/>
                <a:sym typeface="Assistant"/>
              </a:rPr>
              <a:t xml:space="preserve">   =   </a:t>
            </a:r>
            <a:r>
              <a:rPr lang="iw" sz="1000" b="1">
                <a:solidFill>
                  <a:srgbClr val="2C36A6"/>
                </a:solidFill>
                <a:latin typeface="Source Code Pro"/>
                <a:ea typeface="Source Code Pro"/>
                <a:cs typeface="Source Code Pro"/>
                <a:sym typeface="Source Code Pro"/>
              </a:rPr>
              <a:t>Outlook good</a:t>
            </a:r>
          </a:p>
          <a:p>
            <a:pPr indent="-317500" lvl="0" marL="457200" rtl="1" algn="r">
              <a:lnSpc>
                <a:spcPct val="95000"/>
              </a:lnSpc>
              <a:spcBef>
                <a:spcPts val="0"/>
              </a:spcBef>
              <a:spcAft>
                <a:spcPts val="100"/>
              </a:spcAft>
              <a:buClr>
                <a:srgbClr val="2C3687"/>
              </a:buClr>
              <a:buSzPts val="1100"/>
              <a:buFont typeface="Assistant"/>
              <a:buChar char="-"/>
            </a:pPr>
            <a:r>
              <a:rPr lang="iw" sz="1100">
                <a:solidFill>
                  <a:srgbClr val="2C3687"/>
                </a:solidFill>
                <a:latin typeface="Assistant"/>
                <a:ea typeface="Assistant"/>
                <a:cs typeface="Assistant"/>
                <a:sym typeface="Assistant"/>
              </a:rPr>
              <a:t>הסימנים מצביעים על כן</a:t>
            </a:r>
            <a:r>
              <a:rPr lang="iw" sz="1100">
                <a:solidFill>
                  <a:srgbClr val="374151"/>
                </a:solidFill>
                <a:latin typeface="Assistant"/>
                <a:ea typeface="Assistant"/>
                <a:cs typeface="Assistant"/>
                <a:sym typeface="Assistant"/>
              </a:rPr>
              <a:t xml:space="preserve">   =   </a:t>
            </a:r>
            <a:r>
              <a:rPr lang="iw" sz="1000" b="1">
                <a:solidFill>
                  <a:srgbClr val="2C36A6"/>
                </a:solidFill>
                <a:latin typeface="Source Code Pro"/>
                <a:ea typeface="Source Code Pro"/>
                <a:cs typeface="Source Code Pro"/>
                <a:sym typeface="Source Code Pro"/>
              </a:rPr>
              <a:t>Signs point to yes</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בכדור המקורי יש בדיוק 20 תשובות: 10 חיוביות, 5 מתחמקות ו-5 שליליות.</a:t>
            </a:r>
          </a:p>
        </p:txBody>
      </p:sp>
      <p:sp>
        <p:nvSpPr>
          <p:cNvPr id="260" name="Rounded Rectangle 259"/>
          <p:cNvSpPr/>
          <p:nvPr/>
        </p:nvSpPr>
        <p:spPr>
          <a:xfrm>
            <a:off x="4681728" y="1517904"/>
            <a:ext cx="4151376" cy="2916936"/>
          </a:xfrm>
          <a:prstGeom prst="roundRect">
            <a:avLst>
              <a:gd name="adj" fmla="val 6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4828032" y="1609344"/>
            <a:ext cx="3858768" cy="384048"/>
          </a:xfrm>
          <a:prstGeom prst="rect">
            <a:avLst/>
          </a:prstGeom>
          <a:noFill/>
        </p:spPr>
        <p:txBody>
          <a:bodyPr wrap="square" anchor="t" anchorCtr="0" lIns="91425" rIns="91425" tIns="45700" bIns="45700" spcFirstLastPara="1">
            <a:noAutofit/>
          </a:bodyPr>
          <a:lstStyle/>
          <a:p>
            <a:pPr indent="0" lvl="0" marL="0" rtl="1" algn="r">
              <a:lnSpc>
                <a:spcPct val="90000"/>
              </a:lnSpc>
              <a:spcBef>
                <a:spcPts val="0"/>
              </a:spcBef>
              <a:spcAft>
                <a:spcPts val="0"/>
              </a:spcAft>
              <a:buNone/>
            </a:pPr>
            <a:r>
              <a:rPr lang="iw" sz="1400" b="1">
                <a:solidFill>
                  <a:srgbClr val="E91D63"/>
                </a:solidFill>
                <a:latin typeface="Assistant"/>
                <a:ea typeface="Assistant"/>
                <a:cs typeface="Assistant"/>
                <a:sym typeface="Assistant"/>
              </a:rPr>
              <a:t>תשובות שליליות ומתחמקות</a:t>
            </a:r>
          </a:p>
        </p:txBody>
      </p:sp>
      <p:sp>
        <p:nvSpPr>
          <p:cNvPr id="262" name="TextBox 261"/>
          <p:cNvSpPr txBox="1"/>
          <p:nvPr/>
        </p:nvSpPr>
        <p:spPr>
          <a:xfrm>
            <a:off x="4828032" y="2011680"/>
            <a:ext cx="3858768" cy="2359152"/>
          </a:xfrm>
          <a:prstGeom prst="rect">
            <a:avLst/>
          </a:prstGeom>
          <a:noFill/>
        </p:spPr>
        <p:txBody>
          <a:bodyPr wrap="square" anchor="t" anchorCtr="0" lIns="91425" rIns="91425" tIns="45700" bIns="45700" spcFirstLastPara="1">
            <a:noAutofit/>
          </a:bodyPr>
          <a:lstStyle/>
          <a:p>
            <a:pPr indent="-317500" lvl="0" marL="457200" rtl="1" algn="r">
              <a:lnSpc>
                <a:spcPct val="95000"/>
              </a:lnSpc>
              <a:spcBef>
                <a:spcPts val="0"/>
              </a:spcBef>
              <a:spcAft>
                <a:spcPts val="100"/>
              </a:spcAft>
              <a:buClr>
                <a:srgbClr val="2C3687"/>
              </a:buClr>
              <a:buSzPts val="1100"/>
              <a:buFont typeface="Assistant"/>
              <a:buChar char="-"/>
            </a:pPr>
            <a:r>
              <a:rPr lang="iw" sz="1100">
                <a:solidFill>
                  <a:srgbClr val="2C3687"/>
                </a:solidFill>
                <a:latin typeface="Assistant"/>
                <a:ea typeface="Assistant"/>
                <a:cs typeface="Assistant"/>
                <a:sym typeface="Assistant"/>
              </a:rPr>
              <a:t>תשובתי היא לא</a:t>
            </a:r>
            <a:r>
              <a:rPr lang="iw" sz="1100">
                <a:solidFill>
                  <a:srgbClr val="374151"/>
                </a:solidFill>
                <a:latin typeface="Assistant"/>
                <a:ea typeface="Assistant"/>
                <a:cs typeface="Assistant"/>
                <a:sym typeface="Assistant"/>
              </a:rPr>
              <a:t xml:space="preserve">   =   </a:t>
            </a:r>
            <a:r>
              <a:rPr lang="iw" sz="1000" b="1">
                <a:solidFill>
                  <a:srgbClr val="2C36A6"/>
                </a:solidFill>
                <a:latin typeface="Source Code Pro"/>
                <a:ea typeface="Source Code Pro"/>
                <a:cs typeface="Source Code Pro"/>
                <a:sym typeface="Source Code Pro"/>
              </a:rPr>
              <a:t>My reply is no</a:t>
            </a:r>
          </a:p>
          <a:p>
            <a:pPr indent="-317500" lvl="0" marL="457200" rtl="1" algn="r">
              <a:lnSpc>
                <a:spcPct val="95000"/>
              </a:lnSpc>
              <a:spcBef>
                <a:spcPts val="0"/>
              </a:spcBef>
              <a:spcAft>
                <a:spcPts val="100"/>
              </a:spcAft>
              <a:buClr>
                <a:srgbClr val="2C3687"/>
              </a:buClr>
              <a:buSzPts val="1100"/>
              <a:buFont typeface="Assistant"/>
              <a:buChar char="-"/>
            </a:pPr>
            <a:r>
              <a:rPr lang="iw" sz="1100">
                <a:solidFill>
                  <a:srgbClr val="2C3687"/>
                </a:solidFill>
                <a:latin typeface="Assistant"/>
                <a:ea typeface="Assistant"/>
                <a:cs typeface="Assistant"/>
                <a:sym typeface="Assistant"/>
              </a:rPr>
              <a:t>מוטל בספק רב</a:t>
            </a:r>
            <a:r>
              <a:rPr lang="iw" sz="1100">
                <a:solidFill>
                  <a:srgbClr val="374151"/>
                </a:solidFill>
                <a:latin typeface="Assistant"/>
                <a:ea typeface="Assistant"/>
                <a:cs typeface="Assistant"/>
                <a:sym typeface="Assistant"/>
              </a:rPr>
              <a:t xml:space="preserve">   =   </a:t>
            </a:r>
            <a:r>
              <a:rPr lang="iw" sz="1000" b="1">
                <a:solidFill>
                  <a:srgbClr val="2C36A6"/>
                </a:solidFill>
                <a:latin typeface="Source Code Pro"/>
                <a:ea typeface="Source Code Pro"/>
                <a:cs typeface="Source Code Pro"/>
                <a:sym typeface="Source Code Pro"/>
              </a:rPr>
              <a:t>Very doubtful</a:t>
            </a:r>
          </a:p>
          <a:p>
            <a:pPr indent="-317500" lvl="0" marL="457200" rtl="1" algn="r">
              <a:lnSpc>
                <a:spcPct val="95000"/>
              </a:lnSpc>
              <a:spcBef>
                <a:spcPts val="0"/>
              </a:spcBef>
              <a:spcAft>
                <a:spcPts val="100"/>
              </a:spcAft>
              <a:buClr>
                <a:srgbClr val="2C3687"/>
              </a:buClr>
              <a:buSzPts val="1100"/>
              <a:buFont typeface="Assistant"/>
              <a:buChar char="-"/>
            </a:pPr>
            <a:r>
              <a:rPr lang="iw" sz="1100">
                <a:solidFill>
                  <a:srgbClr val="2C3687"/>
                </a:solidFill>
                <a:latin typeface="Assistant"/>
                <a:ea typeface="Assistant"/>
                <a:cs typeface="Assistant"/>
                <a:sym typeface="Assistant"/>
              </a:rPr>
              <a:t>עדיף שלא אגיד לך עכשיו</a:t>
            </a:r>
            <a:r>
              <a:rPr lang="iw" sz="1100">
                <a:solidFill>
                  <a:srgbClr val="374151"/>
                </a:solidFill>
                <a:latin typeface="Assistant"/>
                <a:ea typeface="Assistant"/>
                <a:cs typeface="Assistant"/>
                <a:sym typeface="Assistant"/>
              </a:rPr>
              <a:t xml:space="preserve">   =   </a:t>
            </a:r>
            <a:r>
              <a:rPr lang="iw" sz="1000" b="1">
                <a:solidFill>
                  <a:srgbClr val="2C36A6"/>
                </a:solidFill>
                <a:latin typeface="Source Code Pro"/>
                <a:ea typeface="Source Code Pro"/>
                <a:cs typeface="Source Code Pro"/>
                <a:sym typeface="Source Code Pro"/>
              </a:rPr>
              <a:t>Better not tell you now</a:t>
            </a:r>
          </a:p>
          <a:p>
            <a:pPr indent="-317500" lvl="0" marL="457200" rtl="1" algn="r">
              <a:lnSpc>
                <a:spcPct val="95000"/>
              </a:lnSpc>
              <a:spcBef>
                <a:spcPts val="0"/>
              </a:spcBef>
              <a:spcAft>
                <a:spcPts val="100"/>
              </a:spcAft>
              <a:buClr>
                <a:srgbClr val="2C3687"/>
              </a:buClr>
              <a:buSzPts val="1100"/>
              <a:buFont typeface="Assistant"/>
              <a:buChar char="-"/>
            </a:pPr>
            <a:r>
              <a:rPr lang="iw" sz="1100">
                <a:solidFill>
                  <a:srgbClr val="2C3687"/>
                </a:solidFill>
                <a:latin typeface="Assistant"/>
                <a:ea typeface="Assistant"/>
                <a:cs typeface="Assistant"/>
                <a:sym typeface="Assistant"/>
              </a:rPr>
              <a:t>לא ניתן לחזות כרגע</a:t>
            </a:r>
            <a:r>
              <a:rPr lang="iw" sz="1100">
                <a:solidFill>
                  <a:srgbClr val="374151"/>
                </a:solidFill>
                <a:latin typeface="Assistant"/>
                <a:ea typeface="Assistant"/>
                <a:cs typeface="Assistant"/>
                <a:sym typeface="Assistant"/>
              </a:rPr>
              <a:t xml:space="preserve">   =   </a:t>
            </a:r>
            <a:r>
              <a:rPr lang="iw" sz="1000" b="1">
                <a:solidFill>
                  <a:srgbClr val="2C36A6"/>
                </a:solidFill>
                <a:latin typeface="Source Code Pro"/>
                <a:ea typeface="Source Code Pro"/>
                <a:cs typeface="Source Code Pro"/>
                <a:sym typeface="Source Code Pro"/>
              </a:rPr>
              <a:t>Cannot predict now</a:t>
            </a:r>
          </a:p>
          <a:p>
            <a:pPr indent="-317500" lvl="0" marL="457200" rtl="1" algn="r">
              <a:lnSpc>
                <a:spcPct val="95000"/>
              </a:lnSpc>
              <a:spcBef>
                <a:spcPts val="0"/>
              </a:spcBef>
              <a:spcAft>
                <a:spcPts val="100"/>
              </a:spcAft>
              <a:buClr>
                <a:srgbClr val="2C3687"/>
              </a:buClr>
              <a:buSzPts val="1100"/>
              <a:buFont typeface="Assistant"/>
              <a:buChar char="-"/>
            </a:pPr>
            <a:r>
              <a:rPr lang="iw" sz="1100">
                <a:solidFill>
                  <a:srgbClr val="2C3687"/>
                </a:solidFill>
                <a:latin typeface="Assistant"/>
                <a:ea typeface="Assistant"/>
                <a:cs typeface="Assistant"/>
                <a:sym typeface="Assistant"/>
              </a:rPr>
              <a:t>התרכז ושאל שוב</a:t>
            </a:r>
            <a:r>
              <a:rPr lang="iw" sz="1100">
                <a:solidFill>
                  <a:srgbClr val="374151"/>
                </a:solidFill>
                <a:latin typeface="Assistant"/>
                <a:ea typeface="Assistant"/>
                <a:cs typeface="Assistant"/>
                <a:sym typeface="Assistant"/>
              </a:rPr>
              <a:t xml:space="preserve">   =   </a:t>
            </a:r>
            <a:r>
              <a:rPr lang="iw" sz="1000" b="1">
                <a:solidFill>
                  <a:srgbClr val="2C36A6"/>
                </a:solidFill>
                <a:latin typeface="Source Code Pro"/>
                <a:ea typeface="Source Code Pro"/>
                <a:cs typeface="Source Code Pro"/>
                <a:sym typeface="Source Code Pro"/>
              </a:rPr>
              <a:t>Concentrate and ask again</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אפשר וכדאי לכתוב תשובות בעברית - App Inventor תומך בעברית בתוך בלוקי טקסט.</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שלב 3: מנערים את הטלפון</a:t>
            </a:r>
          </a:p>
        </p:txBody>
      </p:sp>
      <p:sp>
        <p:nvSpPr>
          <p:cNvPr id="257" name="TextBox 256"/>
          <p:cNvSpPr txBox="1"/>
          <p:nvPr/>
        </p:nvSpPr>
        <p:spPr>
          <a:xfrm>
            <a:off x="311700" y="1468825"/>
            <a:ext cx="8520600" cy="29679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האפליקציה עובדת - אבל כדור קסם אמיתי לא לוחצים, מנערים! בשביל זה נשתמש בחיישן התאוצה - AccelerometerSensor.</a:t>
            </a:r>
          </a:p>
          <a:p>
            <a:pPr indent="0" lvl="0" marL="0" rtl="1" algn="r">
              <a:lnSpc>
                <a:spcPct val="95000"/>
              </a:lnSpc>
              <a:spcBef>
                <a:spcPts val="280"/>
              </a:spcBef>
              <a:spcAft>
                <a:spcPts val="90"/>
              </a:spcAft>
              <a:buNone/>
            </a:pPr>
            <a:r>
              <a:rPr lang="iw" sz="1500" b="1">
                <a:solidFill>
                  <a:srgbClr val="E91D63"/>
                </a:solidFill>
                <a:latin typeface="Assistant"/>
                <a:ea typeface="Assistant"/>
                <a:cs typeface="Assistant"/>
                <a:sym typeface="Assistant"/>
              </a:rPr>
              <a:t>מה זה חיישן תאוצה?</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רכיב חומרה שיושב בתוך הטלפון ומודד תאוצה בשלושה צירים</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הוא זה שיודע מתי סובבתם את המסך, כמה צעדים הלכתם, ומתי ניערתם</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App Inventor כבר עשה בשבילנו את החישוב המסובך והכין אירוע מוכן בשם Shaking</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שימו לב: את השלב הזה אפשר לבצע רק על טלפון או טאבלט אמיתי. באמולטור אי אפשר לדמות ניעור - אז דלגו ישר לאתגר.</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עיצוב: מוסיפים את החיישן</a:t>
            </a:r>
          </a:p>
        </p:txBody>
      </p:sp>
      <p:sp>
        <p:nvSpPr>
          <p:cNvPr id="257" name="TextBox 256"/>
          <p:cNvSpPr txBox="1"/>
          <p:nvPr/>
        </p:nvSpPr>
        <p:spPr>
          <a:xfrm>
            <a:off x="311700" y="1468825"/>
            <a:ext cx="8520600" cy="29679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זהו הרכיב היחיד שנוסיף בשלב הזה - ושלושה צעדים קטנים:</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חוזרים ל-Designer</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במגירה Sensors גוררים את AccelerometerSensor אל המסך</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גם הוא רכיב בלתי נראה, ולכן צונח לאזור Non-visible components יחד עם Player1</a:t>
            </a:r>
          </a:p>
          <a:p>
            <a:pPr indent="0" lvl="0" marL="0" rtl="1" algn="r">
              <a:lnSpc>
                <a:spcPct val="95000"/>
              </a:lnSpc>
              <a:spcBef>
                <a:spcPts val="280"/>
              </a:spcBef>
              <a:spcAft>
                <a:spcPts val="90"/>
              </a:spcAft>
              <a:buNone/>
            </a:pPr>
            <a:r>
              <a:rPr lang="iw" sz="1500" b="1">
                <a:solidFill>
                  <a:srgbClr val="E91D63"/>
                </a:solidFill>
                <a:latin typeface="Assistant"/>
                <a:ea typeface="Assistant"/>
                <a:cs typeface="Assistant"/>
                <a:sym typeface="Assistant"/>
              </a:rPr>
              <a:t>תכונה ששווה להכיר</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Sensitivity (רגישות) - אפשר לבחור weak, moderate או strong. אם הכדור מגיב יותר מדי בקלות, בחרו weak</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החיישן לא צריך שום עיצוב ולא תופס מקום על המסך - הוא פשוט יושב שם ומחכה שהמכשיר יזוז.</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הבלוק החדש של שלב 3</a:t>
            </a:r>
          </a:p>
        </p:txBody>
      </p:sp>
      <p:sp>
        <p:nvSpPr>
          <p:cNvPr id="257" name="Rounded Rectangle 256"/>
          <p:cNvSpPr/>
          <p:nvPr/>
        </p:nvSpPr>
        <p:spPr>
          <a:xfrm>
            <a:off x="274320" y="1517904"/>
            <a:ext cx="8595360" cy="1207008"/>
          </a:xfrm>
          <a:prstGeom prst="roundRect">
            <a:avLst>
              <a:gd name="adj" fmla="val 10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8" name="Picture 257" descr="blk_when_shaking.png"/>
          <p:cNvPicPr>
            <a:picLocks noChangeAspect="1"/>
          </p:cNvPicPr>
          <p:nvPr/>
        </p:nvPicPr>
        <p:blipFill>
          <a:blip r:embed="rId7"/>
          <a:stretch>
            <a:fillRect/>
          </a:stretch>
        </p:blipFill>
        <p:spPr>
          <a:xfrm>
            <a:off x="4874559" y="1922392"/>
            <a:ext cx="3646842" cy="398032"/>
          </a:xfrm>
          <a:prstGeom prst="rect">
            <a:avLst/>
          </a:prstGeom>
        </p:spPr>
      </p:pic>
      <p:sp>
        <p:nvSpPr>
          <p:cNvPr id="259" name="TextBox 258"/>
          <p:cNvSpPr txBox="1"/>
          <p:nvPr/>
        </p:nvSpPr>
        <p:spPr>
          <a:xfrm>
            <a:off x="402336" y="1517904"/>
            <a:ext cx="4133087" cy="1207008"/>
          </a:xfrm>
          <a:prstGeom prst="rect">
            <a:avLst/>
          </a:prstGeom>
          <a:noFill/>
        </p:spPr>
        <p:txBody>
          <a:bodyPr wrap="square" anchor="ctr" anchorCtr="0" lIns="91425" rIns="91425" tIns="45700" bIns="45700" spcFirstLastPara="1">
            <a:noAutofit/>
          </a:bodyPr>
          <a:lstStyle/>
          <a:p>
            <a:pPr indent="0" lvl="0" marL="0" rtl="1" algn="r">
              <a:lnSpc>
                <a:spcPct val="95000"/>
              </a:lnSpc>
              <a:spcBef>
                <a:spcPts val="0"/>
              </a:spcBef>
              <a:spcAft>
                <a:spcPts val="0"/>
              </a:spcAft>
              <a:buNone/>
            </a:pPr>
            <a:r>
              <a:rPr lang="iw" sz="1300" b="1">
                <a:solidFill>
                  <a:srgbClr val="2C3687"/>
                </a:solidFill>
                <a:latin typeface="Assistant"/>
                <a:ea typeface="Assistant"/>
                <a:cs typeface="Assistant"/>
                <a:sym typeface="Assistant"/>
              </a:rPr>
              <a:t>כאשר מנערים את הטלפון - בצע</a:t>
            </a:r>
          </a:p>
          <a:p>
            <a:pPr indent="0" lvl="0" marL="0" rtl="1" algn="r">
              <a:lnSpc>
                <a:spcPct val="92000"/>
              </a:lnSpc>
              <a:spcBef>
                <a:spcPts val="220"/>
              </a:spcBef>
              <a:spcAft>
                <a:spcPts val="0"/>
              </a:spcAft>
              <a:buNone/>
            </a:pPr>
            <a:r>
              <a:rPr lang="iw" sz="1100">
                <a:solidFill>
                  <a:srgbClr val="2C36A6"/>
                </a:solidFill>
                <a:latin typeface="Assistant"/>
                <a:ea typeface="Assistant"/>
                <a:cs typeface="Assistant"/>
                <a:sym typeface="Assistant"/>
              </a:rPr>
              <a:t>when = כאשר   |   Shaking = ניעור   |   do = בצע. בדיוק כמו when Button1.Click, רק שהפעם האירוע הוא ניעור המכשיר במקום לחיצה. נמצא במגירה AccelerometerSensor1.</a:t>
            </a:r>
          </a:p>
        </p:txBody>
      </p:sp>
      <p:sp>
        <p:nvSpPr>
          <p:cNvPr id="260" name="Rounded Rectangle 259"/>
          <p:cNvSpPr/>
          <p:nvPr/>
        </p:nvSpPr>
        <p:spPr>
          <a:xfrm>
            <a:off x="274320" y="2798064"/>
            <a:ext cx="8595360" cy="1207008"/>
          </a:xfrm>
          <a:prstGeom prst="roundRect">
            <a:avLst>
              <a:gd name="adj" fmla="val 10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1" name="Picture 260" descr="prog_part1.png"/>
          <p:cNvPicPr>
            <a:picLocks noChangeAspect="1"/>
          </p:cNvPicPr>
          <p:nvPr/>
        </p:nvPicPr>
        <p:blipFill>
          <a:blip r:embed="rId8"/>
          <a:stretch>
            <a:fillRect/>
          </a:stretch>
        </p:blipFill>
        <p:spPr>
          <a:xfrm>
            <a:off x="5490434" y="2895959"/>
            <a:ext cx="2415091" cy="1011218"/>
          </a:xfrm>
          <a:prstGeom prst="rect">
            <a:avLst/>
          </a:prstGeom>
        </p:spPr>
      </p:pic>
      <p:sp>
        <p:nvSpPr>
          <p:cNvPr id="262" name="TextBox 261"/>
          <p:cNvSpPr txBox="1"/>
          <p:nvPr/>
        </p:nvSpPr>
        <p:spPr>
          <a:xfrm>
            <a:off x="402336" y="2798064"/>
            <a:ext cx="4133087" cy="1207008"/>
          </a:xfrm>
          <a:prstGeom prst="rect">
            <a:avLst/>
          </a:prstGeom>
          <a:noFill/>
        </p:spPr>
        <p:txBody>
          <a:bodyPr wrap="square" anchor="ctr" anchorCtr="0" lIns="91425" rIns="91425" tIns="45700" bIns="45700" spcFirstLastPara="1">
            <a:noAutofit/>
          </a:bodyPr>
          <a:lstStyle/>
          <a:p>
            <a:pPr indent="0" lvl="0" marL="0" rtl="1" algn="r">
              <a:lnSpc>
                <a:spcPct val="95000"/>
              </a:lnSpc>
              <a:spcBef>
                <a:spcPts val="0"/>
              </a:spcBef>
              <a:spcAft>
                <a:spcPts val="0"/>
              </a:spcAft>
              <a:buNone/>
            </a:pPr>
            <a:r>
              <a:rPr lang="iw" sz="1300" b="1">
                <a:solidFill>
                  <a:srgbClr val="2C3687"/>
                </a:solidFill>
                <a:latin typeface="Assistant"/>
                <a:ea typeface="Assistant"/>
                <a:cs typeface="Assistant"/>
                <a:sym typeface="Assistant"/>
              </a:rPr>
              <a:t>מה עושים עם הבלוקים הישנים?</a:t>
            </a:r>
          </a:p>
          <a:p>
            <a:pPr indent="0" lvl="0" marL="0" rtl="1" algn="r">
              <a:lnSpc>
                <a:spcPct val="92000"/>
              </a:lnSpc>
              <a:spcBef>
                <a:spcPts val="220"/>
              </a:spcBef>
              <a:spcAft>
                <a:spcPts val="0"/>
              </a:spcAft>
              <a:buNone/>
            </a:pPr>
            <a:r>
              <a:rPr lang="iw" sz="1100">
                <a:solidFill>
                  <a:srgbClr val="2C36A6"/>
                </a:solidFill>
                <a:latin typeface="Assistant"/>
                <a:ea typeface="Assistant"/>
                <a:cs typeface="Assistant"/>
                <a:sym typeface="Assistant"/>
              </a:rPr>
              <a:t>מוציאים את כל הבלוקים מתוך ה-do של when Button1.Click, מכניסים אותם לתוך ה-do של when AccelerometerSensor1.Shaking, ואז מוחקים את הבלוק הריק שנשאר.</a:t>
            </a:r>
          </a:p>
        </p:txBody>
      </p:sp>
      <p:sp>
        <p:nvSpPr>
          <p:cNvPr id="263" name="TextBox 262"/>
          <p:cNvSpPr txBox="1"/>
          <p:nvPr/>
        </p:nvSpPr>
        <p:spPr>
          <a:xfrm>
            <a:off x="310896" y="4041648"/>
            <a:ext cx="8522208" cy="384048"/>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0"/>
              </a:spcAft>
              <a:buNone/>
            </a:pPr>
            <a:r>
              <a:rPr lang="iw" sz="1150" b="1">
                <a:solidFill>
                  <a:srgbClr val="17B3A9"/>
                </a:solidFill>
                <a:latin typeface="Assistant"/>
                <a:ea typeface="Assistant"/>
                <a:cs typeface="Assistant"/>
                <a:sym typeface="Assistant"/>
              </a:rPr>
              <a:t>טיפ: גוררים את הבלוק העליון ביותר - וכל הבלוקים המחוברים אליו באים איתו. למחיקה: גוררים לפח האשפה, או Delete במקלדת.</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התוכנית הסופית</a:t>
            </a:r>
          </a:p>
        </p:txBody>
      </p:sp>
      <p:sp>
        <p:nvSpPr>
          <p:cNvPr id="257" name="TextBox 256"/>
          <p:cNvSpPr txBox="1"/>
          <p:nvPr/>
        </p:nvSpPr>
        <p:spPr>
          <a:xfrm>
            <a:off x="310896" y="1490472"/>
            <a:ext cx="8522208" cy="676656"/>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אותה תוכנית בדיוק - רק שהאירוע שמפעיל אותה הוא ניעור הטלפון ולא לחיצה על כפתור. הכפתור נשאר על המסך בתור התמונה של הכדור.</a:t>
            </a:r>
          </a:p>
        </p:txBody>
      </p:sp>
      <p:pic>
        <p:nvPicPr>
          <p:cNvPr id="258" name="Picture 257" descr="shaking.png"/>
          <p:cNvPicPr>
            <a:picLocks noChangeAspect="1"/>
          </p:cNvPicPr>
          <p:nvPr/>
        </p:nvPicPr>
        <p:blipFill>
          <a:blip r:embed="rId7"/>
          <a:stretch>
            <a:fillRect/>
          </a:stretch>
        </p:blipFill>
        <p:spPr>
          <a:xfrm>
            <a:off x="1856232" y="2212848"/>
            <a:ext cx="5431536" cy="2221992"/>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311700" y="372500"/>
            <a:ext cx="399600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600" b="1">
                <a:solidFill>
                  <a:srgbClr val="E91D63"/>
                </a:solidFill>
                <a:latin typeface="Assistant"/>
                <a:ea typeface="Assistant"/>
                <a:cs typeface="Assistant"/>
                <a:sym typeface="Assistant"/>
              </a:rPr>
              <a:t>מתקינים את האפליקציה על הטלפון</a:t>
            </a:r>
          </a:p>
        </p:txBody>
      </p:sp>
      <p:sp>
        <p:nvSpPr>
          <p:cNvPr id="257" name="TextBox 256"/>
          <p:cNvSpPr txBox="1"/>
          <p:nvPr/>
        </p:nvSpPr>
        <p:spPr>
          <a:xfrm>
            <a:off x="64000" y="1468825"/>
            <a:ext cx="4243000" cy="31000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כל עוד אתם מחוברים ב-Companion, האפליקציה חיה על השרת של MIT. כדי שהיא תישאר בטלפון גם אחרי הניתוק, צריך לארוז אותה:</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בתפריט העליון: Build</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בוחרים Android App (.apk)</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מחכים לבנייה, ואז סורקים את הברקוד עם הטלפון - או מורידים את קובץ ה-apk למחשב</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הברקוד שמשמאל הוא של אפליקציית הדוגמה של MIT. הברקוד שלכם יהיה שונה, והוא תקף לשעתיים בלבד.</a:t>
            </a:r>
          </a:p>
        </p:txBody>
      </p:sp>
      <p:pic>
        <p:nvPicPr>
          <p:cNvPr id="258" name="Picture 257" descr="barcode_big.png"/>
          <p:cNvPicPr>
            <a:picLocks noChangeAspect="1"/>
          </p:cNvPicPr>
          <p:nvPr/>
        </p:nvPicPr>
        <p:blipFill>
          <a:blip r:embed="rId7"/>
          <a:stretch>
            <a:fillRect/>
          </a:stretch>
        </p:blipFill>
        <p:spPr>
          <a:xfrm>
            <a:off x="5669280" y="1417320"/>
            <a:ext cx="2377440" cy="237744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אתגר 1: שהכדור ידבר</a:t>
            </a:r>
          </a:p>
        </p:txBody>
      </p:sp>
      <p:sp>
        <p:nvSpPr>
          <p:cNvPr id="257" name="TextBox 256"/>
          <p:cNvSpPr txBox="1"/>
          <p:nvPr/>
        </p:nvSpPr>
        <p:spPr>
          <a:xfrm>
            <a:off x="311700" y="1468825"/>
            <a:ext cx="8520600" cy="29679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במקום (או בנוסף) להציג את התשובה כטקסט - אפשר לגרום לטלפון להקריא אותה בקול. כך עושים את זה:</a:t>
            </a:r>
          </a:p>
          <a:p>
            <a:pPr indent="0" lvl="0" marL="0" rtl="1" algn="r">
              <a:lnSpc>
                <a:spcPct val="95000"/>
              </a:lnSpc>
              <a:spcBef>
                <a:spcPts val="280"/>
              </a:spcBef>
              <a:spcAft>
                <a:spcPts val="90"/>
              </a:spcAft>
              <a:buNone/>
            </a:pPr>
            <a:r>
              <a:rPr lang="iw" sz="1500" b="1">
                <a:solidFill>
                  <a:srgbClr val="E91D63"/>
                </a:solidFill>
                <a:latin typeface="Assistant"/>
                <a:ea typeface="Assistant"/>
                <a:cs typeface="Assistant"/>
                <a:sym typeface="Assistant"/>
              </a:rPr>
              <a:t>ב-Designer</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מהמגירה Media גוררים רכיב TextToSpeech - גם הוא בלתי נראה</a:t>
            </a:r>
          </a:p>
          <a:p>
            <a:pPr indent="0" lvl="0" marL="0" rtl="1" algn="r">
              <a:lnSpc>
                <a:spcPct val="95000"/>
              </a:lnSpc>
              <a:spcBef>
                <a:spcPts val="280"/>
              </a:spcBef>
              <a:spcAft>
                <a:spcPts val="90"/>
              </a:spcAft>
              <a:buNone/>
            </a:pPr>
            <a:r>
              <a:rPr lang="iw" sz="1500" b="1">
                <a:solidFill>
                  <a:srgbClr val="E91D63"/>
                </a:solidFill>
                <a:latin typeface="Assistant"/>
                <a:ea typeface="Assistant"/>
                <a:cs typeface="Assistant"/>
                <a:sym typeface="Assistant"/>
              </a:rPr>
              <a:t>ב-Blocks Editor</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מהמגירה TextToSpeech1 גוררים את call TextToSpeech1.Speak</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מכניסים אותו לתוך ה-do, אחרי בלוק ה-set</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לשקע message מחברים את הבלוק Label2.Text מהמגירה Label2 - כך הוא יקריא בדיוק את מה שכתוב על המסך</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call TextToSpeech1.Speak message = הקרא בקול את ההודעה. ברוב מכשירי האנדרואיד זה עובד מיד; אם לא - צריך להתקין או להפעיל TTS בהגדרות המכשיר.</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אתגרים והרחבות</a:t>
            </a:r>
          </a:p>
        </p:txBody>
      </p:sp>
      <p:sp>
        <p:nvSpPr>
          <p:cNvPr id="257" name="Rounded Rectangle 256"/>
          <p:cNvSpPr/>
          <p:nvPr/>
        </p:nvSpPr>
        <p:spPr>
          <a:xfrm>
            <a:off x="310896" y="1517904"/>
            <a:ext cx="4151376" cy="2916936"/>
          </a:xfrm>
          <a:prstGeom prst="roundRect">
            <a:avLst>
              <a:gd name="adj" fmla="val 6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457200" y="1609344"/>
            <a:ext cx="3858768" cy="384048"/>
          </a:xfrm>
          <a:prstGeom prst="rect">
            <a:avLst/>
          </a:prstGeom>
          <a:noFill/>
        </p:spPr>
        <p:txBody>
          <a:bodyPr wrap="square" anchor="t" anchorCtr="0" lIns="91425" rIns="91425" tIns="45700" bIns="45700" spcFirstLastPara="1">
            <a:noAutofit/>
          </a:bodyPr>
          <a:lstStyle/>
          <a:p>
            <a:pPr indent="0" lvl="0" marL="0" rtl="1" algn="r">
              <a:lnSpc>
                <a:spcPct val="90000"/>
              </a:lnSpc>
              <a:spcBef>
                <a:spcPts val="0"/>
              </a:spcBef>
              <a:spcAft>
                <a:spcPts val="0"/>
              </a:spcAft>
              <a:buNone/>
            </a:pPr>
            <a:r>
              <a:rPr lang="iw" sz="1400" b="1">
                <a:solidFill>
                  <a:srgbClr val="E91D63"/>
                </a:solidFill>
                <a:latin typeface="Assistant"/>
                <a:ea typeface="Assistant"/>
                <a:cs typeface="Assistant"/>
                <a:sym typeface="Assistant"/>
              </a:rPr>
              <a:t>שדרוגים לכדור עצמו</a:t>
            </a:r>
          </a:p>
        </p:txBody>
      </p:sp>
      <p:sp>
        <p:nvSpPr>
          <p:cNvPr id="259" name="TextBox 258"/>
          <p:cNvSpPr txBox="1"/>
          <p:nvPr/>
        </p:nvSpPr>
        <p:spPr>
          <a:xfrm>
            <a:off x="457200" y="2011680"/>
            <a:ext cx="3858768" cy="2359152"/>
          </a:xfrm>
          <a:prstGeom prst="rect">
            <a:avLst/>
          </a:prstGeom>
          <a:noFill/>
        </p:spPr>
        <p:txBody>
          <a:bodyPr wrap="square" anchor="t" anchorCtr="0" lIns="91425" rIns="91425" tIns="45700" bIns="45700" spcFirstLastPara="1">
            <a:noAutofit/>
          </a:bodyPr>
          <a:lstStyle/>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שהתמונה תסתובב או תתחלף בזמן הניעור</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תמונה שונה לכל סוג תשובה - חיובית, שלילית או מתחמקת</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שהמשתמש יוכל להוסיף תשובות משלו לרשימה</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החליפו את התשובות לתשובות מצחיקות משלכם</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כל שדרוג כזה מתחיל באותה שאלה: איזה רכיב ואיזה בלוק אני צריך?</a:t>
            </a:r>
          </a:p>
        </p:txBody>
      </p:sp>
      <p:sp>
        <p:nvSpPr>
          <p:cNvPr id="260" name="Rounded Rectangle 259"/>
          <p:cNvSpPr/>
          <p:nvPr/>
        </p:nvSpPr>
        <p:spPr>
          <a:xfrm>
            <a:off x="4681728" y="1517904"/>
            <a:ext cx="4151376" cy="2916936"/>
          </a:xfrm>
          <a:prstGeom prst="roundRect">
            <a:avLst>
              <a:gd name="adj" fmla="val 6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4828032" y="1609344"/>
            <a:ext cx="3858768" cy="384048"/>
          </a:xfrm>
          <a:prstGeom prst="rect">
            <a:avLst/>
          </a:prstGeom>
          <a:noFill/>
        </p:spPr>
        <p:txBody>
          <a:bodyPr wrap="square" anchor="t" anchorCtr="0" lIns="91425" rIns="91425" tIns="45700" bIns="45700" spcFirstLastPara="1">
            <a:noAutofit/>
          </a:bodyPr>
          <a:lstStyle/>
          <a:p>
            <a:pPr indent="0" lvl="0" marL="0" rtl="1" algn="r">
              <a:lnSpc>
                <a:spcPct val="90000"/>
              </a:lnSpc>
              <a:spcBef>
                <a:spcPts val="0"/>
              </a:spcBef>
              <a:spcAft>
                <a:spcPts val="0"/>
              </a:spcAft>
              <a:buNone/>
            </a:pPr>
            <a:r>
              <a:rPr lang="iw" sz="1400" b="1">
                <a:solidFill>
                  <a:srgbClr val="E91D63"/>
                </a:solidFill>
                <a:latin typeface="Assistant"/>
                <a:ea typeface="Assistant"/>
                <a:cs typeface="Assistant"/>
                <a:sym typeface="Assistant"/>
              </a:rPr>
              <a:t>רעיונות לאפליקציות דומות</a:t>
            </a:r>
          </a:p>
        </p:txBody>
      </p:sp>
      <p:sp>
        <p:nvSpPr>
          <p:cNvPr id="262" name="TextBox 261"/>
          <p:cNvSpPr txBox="1"/>
          <p:nvPr/>
        </p:nvSpPr>
        <p:spPr>
          <a:xfrm>
            <a:off x="4828032" y="2011680"/>
            <a:ext cx="3858768" cy="2359152"/>
          </a:xfrm>
          <a:prstGeom prst="rect">
            <a:avLst/>
          </a:prstGeom>
          <a:noFill/>
        </p:spPr>
        <p:txBody>
          <a:bodyPr wrap="square" anchor="t" anchorCtr="0" lIns="91425" rIns="91425" tIns="45700" bIns="45700" spcFirstLastPara="1">
            <a:noAutofit/>
          </a:bodyPr>
          <a:lstStyle/>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קובייה: הגרילו מספר בין 1 ל-6 עם בלוק random integer</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הטלת מטבע: רשימה עם שני פריטים בלבד - עץ ופלי</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מגריל שמות: רשימת התלמידים בכיתה, ולחיצה בוחרת אחד</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מחולל צבעים אקראי לבדיקת הסתברות</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כל אלה הם אותה תוכנית בדיוק - רק עם רשימה אחרת.</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600" b="1">
                <a:solidFill>
                  <a:srgbClr val="E91D63"/>
                </a:solidFill>
                <a:latin typeface="Assistant"/>
                <a:ea typeface="Assistant"/>
                <a:cs typeface="Assistant"/>
                <a:sym typeface="Assistant"/>
              </a:rPr>
              <a:t>מילון הבלוקים: אנגלית - עברית</a:t>
            </a:r>
          </a:p>
        </p:txBody>
      </p:sp>
      <p:sp>
        <p:nvSpPr>
          <p:cNvPr id="257" name="Rounded Rectangle 256"/>
          <p:cNvSpPr/>
          <p:nvPr/>
        </p:nvSpPr>
        <p:spPr>
          <a:xfrm>
            <a:off x="310896" y="1517904"/>
            <a:ext cx="4151376" cy="2916936"/>
          </a:xfrm>
          <a:prstGeom prst="roundRect">
            <a:avLst>
              <a:gd name="adj" fmla="val 5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438912" y="1591056"/>
            <a:ext cx="3895344" cy="347472"/>
          </a:xfrm>
          <a:prstGeom prst="rect">
            <a:avLst/>
          </a:prstGeom>
          <a:noFill/>
        </p:spPr>
        <p:txBody>
          <a:bodyPr wrap="square" anchor="t" anchorCtr="0" lIns="91425" rIns="91425" tIns="45700" bIns="45700" spcFirstLastPara="1">
            <a:noAutofit/>
          </a:bodyPr>
          <a:lstStyle/>
          <a:p>
            <a:pPr indent="0" lvl="0" marL="0" rtl="1" algn="r">
              <a:lnSpc>
                <a:spcPct val="90000"/>
              </a:lnSpc>
              <a:spcBef>
                <a:spcPts val="0"/>
              </a:spcBef>
              <a:spcAft>
                <a:spcPts val="0"/>
              </a:spcAft>
              <a:buNone/>
            </a:pPr>
            <a:r>
              <a:rPr lang="iw" sz="1300" b="1">
                <a:solidFill>
                  <a:srgbClr val="E91D63"/>
                </a:solidFill>
                <a:latin typeface="Assistant"/>
                <a:ea typeface="Assistant"/>
                <a:cs typeface="Assistant"/>
                <a:sym typeface="Assistant"/>
              </a:rPr>
              <a:t>בלוקים של רשימות</a:t>
            </a:r>
          </a:p>
        </p:txBody>
      </p:sp>
      <p:sp>
        <p:nvSpPr>
          <p:cNvPr id="259" name="TextBox 258"/>
          <p:cNvSpPr txBox="1"/>
          <p:nvPr/>
        </p:nvSpPr>
        <p:spPr>
          <a:xfrm>
            <a:off x="438912" y="1956816"/>
            <a:ext cx="3895344" cy="2414016"/>
          </a:xfrm>
          <a:prstGeom prst="rect">
            <a:avLst/>
          </a:prstGeom>
          <a:noFill/>
        </p:spPr>
        <p:txBody>
          <a:bodyPr wrap="square" anchor="t" anchorCtr="0" lIns="91425" rIns="91425" tIns="45700" bIns="45700" spcFirstLastPara="1">
            <a:noAutofit/>
          </a:bodyPr>
          <a:lstStyle/>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צור רשימה</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make a list</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בחר פריט אקראי</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pick a random item</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רשימה / פריט</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list / item</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אורך הרשימה</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length of list</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האם הרשימה ריקה?</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is list empty?</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הוסף פריטים לרשימה</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add items to list</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צור רשימה ריקה</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create empty list</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בחר פריט לפי מיקום</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select list item</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המיקום ברשימה</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index in list</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מספר שלם אקראי</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random integer</a:t>
            </a:r>
          </a:p>
        </p:txBody>
      </p:sp>
      <p:sp>
        <p:nvSpPr>
          <p:cNvPr id="260" name="Rounded Rectangle 259"/>
          <p:cNvSpPr/>
          <p:nvPr/>
        </p:nvSpPr>
        <p:spPr>
          <a:xfrm>
            <a:off x="4681728" y="1517904"/>
            <a:ext cx="4151376" cy="2916936"/>
          </a:xfrm>
          <a:prstGeom prst="roundRect">
            <a:avLst>
              <a:gd name="adj" fmla="val 5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4809744" y="1591056"/>
            <a:ext cx="3895344" cy="347472"/>
          </a:xfrm>
          <a:prstGeom prst="rect">
            <a:avLst/>
          </a:prstGeom>
          <a:noFill/>
        </p:spPr>
        <p:txBody>
          <a:bodyPr wrap="square" anchor="t" anchorCtr="0" lIns="91425" rIns="91425" tIns="45700" bIns="45700" spcFirstLastPara="1">
            <a:noAutofit/>
          </a:bodyPr>
          <a:lstStyle/>
          <a:p>
            <a:pPr indent="0" lvl="0" marL="0" rtl="1" algn="r">
              <a:lnSpc>
                <a:spcPct val="90000"/>
              </a:lnSpc>
              <a:spcBef>
                <a:spcPts val="0"/>
              </a:spcBef>
              <a:spcAft>
                <a:spcPts val="0"/>
              </a:spcAft>
              <a:buNone/>
            </a:pPr>
            <a:r>
              <a:rPr lang="iw" sz="1300" b="1">
                <a:solidFill>
                  <a:srgbClr val="E91D63"/>
                </a:solidFill>
                <a:latin typeface="Assistant"/>
                <a:ea typeface="Assistant"/>
                <a:cs typeface="Assistant"/>
                <a:sym typeface="Assistant"/>
              </a:rPr>
              <a:t>בלוקים של רכיבים</a:t>
            </a:r>
          </a:p>
        </p:txBody>
      </p:sp>
      <p:sp>
        <p:nvSpPr>
          <p:cNvPr id="262" name="TextBox 261"/>
          <p:cNvSpPr txBox="1"/>
          <p:nvPr/>
        </p:nvSpPr>
        <p:spPr>
          <a:xfrm>
            <a:off x="4809744" y="1956816"/>
            <a:ext cx="3895344" cy="2414016"/>
          </a:xfrm>
          <a:prstGeom prst="rect">
            <a:avLst/>
          </a:prstGeom>
          <a:noFill/>
        </p:spPr>
        <p:txBody>
          <a:bodyPr wrap="square" anchor="t" anchorCtr="0" lIns="91425" rIns="91425" tIns="45700" bIns="45700" spcFirstLastPara="1">
            <a:noAutofit/>
          </a:bodyPr>
          <a:lstStyle/>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כאשר ... בצע</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when ... do</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הפעל / קרא ל</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call</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קבע ... להיות</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set ... to</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לחיצה</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Click</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ניעור</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Shaking</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התחל לנגן</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Start / Play</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טקסט</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Text</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דבר / הודעה</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Speak / message</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תמונה</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Image</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מקור (הקובץ)</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Source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מילון סביבת העבודה</a:t>
            </a:r>
          </a:p>
        </p:txBody>
      </p:sp>
      <p:sp>
        <p:nvSpPr>
          <p:cNvPr id="257" name="Rounded Rectangle 256"/>
          <p:cNvSpPr/>
          <p:nvPr/>
        </p:nvSpPr>
        <p:spPr>
          <a:xfrm>
            <a:off x="310896" y="1517904"/>
            <a:ext cx="4151376" cy="2916936"/>
          </a:xfrm>
          <a:prstGeom prst="roundRect">
            <a:avLst>
              <a:gd name="adj" fmla="val 5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438912" y="1591056"/>
            <a:ext cx="3895344" cy="347472"/>
          </a:xfrm>
          <a:prstGeom prst="rect">
            <a:avLst/>
          </a:prstGeom>
          <a:noFill/>
        </p:spPr>
        <p:txBody>
          <a:bodyPr wrap="square" anchor="t" anchorCtr="0" lIns="91425" rIns="91425" tIns="45700" bIns="45700" spcFirstLastPara="1">
            <a:noAutofit/>
          </a:bodyPr>
          <a:lstStyle/>
          <a:p>
            <a:pPr indent="0" lvl="0" marL="0" rtl="1" algn="r">
              <a:lnSpc>
                <a:spcPct val="90000"/>
              </a:lnSpc>
              <a:spcBef>
                <a:spcPts val="0"/>
              </a:spcBef>
              <a:spcAft>
                <a:spcPts val="0"/>
              </a:spcAft>
              <a:buNone/>
            </a:pPr>
            <a:r>
              <a:rPr lang="iw" sz="1300" b="1">
                <a:solidFill>
                  <a:srgbClr val="E91D63"/>
                </a:solidFill>
                <a:latin typeface="Assistant"/>
                <a:ea typeface="Assistant"/>
                <a:cs typeface="Assistant"/>
                <a:sym typeface="Assistant"/>
              </a:rPr>
              <a:t>אזורי המסך</a:t>
            </a:r>
          </a:p>
        </p:txBody>
      </p:sp>
      <p:sp>
        <p:nvSpPr>
          <p:cNvPr id="259" name="TextBox 258"/>
          <p:cNvSpPr txBox="1"/>
          <p:nvPr/>
        </p:nvSpPr>
        <p:spPr>
          <a:xfrm>
            <a:off x="438912" y="1956816"/>
            <a:ext cx="3895344" cy="2414016"/>
          </a:xfrm>
          <a:prstGeom prst="rect">
            <a:avLst/>
          </a:prstGeom>
          <a:noFill/>
        </p:spPr>
        <p:txBody>
          <a:bodyPr wrap="square" anchor="t" anchorCtr="0" lIns="91425" rIns="91425" tIns="45700" bIns="45700" spcFirstLastPara="1">
            <a:noAutofit/>
          </a:bodyPr>
          <a:lstStyle/>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כפתור</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Button</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תווית טקסט</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Label</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נגן צלילים</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Player</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מסדר אנכי</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VerticalArrangement</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מסדר אופקי</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HorizontalArrangement</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חיישן תאוצה</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AccelerometerSensor</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המרת טקסט לדיבור</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TextToSpeech</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מסך</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Screen</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אירוע</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Event</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תכונה</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Property</a:t>
            </a:r>
          </a:p>
        </p:txBody>
      </p:sp>
      <p:sp>
        <p:nvSpPr>
          <p:cNvPr id="260" name="Rounded Rectangle 259"/>
          <p:cNvSpPr/>
          <p:nvPr/>
        </p:nvSpPr>
        <p:spPr>
          <a:xfrm>
            <a:off x="4681728" y="1517904"/>
            <a:ext cx="4151376" cy="2916936"/>
          </a:xfrm>
          <a:prstGeom prst="roundRect">
            <a:avLst>
              <a:gd name="adj" fmla="val 5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4809744" y="1591056"/>
            <a:ext cx="3895344" cy="347472"/>
          </a:xfrm>
          <a:prstGeom prst="rect">
            <a:avLst/>
          </a:prstGeom>
          <a:noFill/>
        </p:spPr>
        <p:txBody>
          <a:bodyPr wrap="square" anchor="t" anchorCtr="0" lIns="91425" rIns="91425" tIns="45700" bIns="45700" spcFirstLastPara="1">
            <a:noAutofit/>
          </a:bodyPr>
          <a:lstStyle/>
          <a:p>
            <a:pPr indent="0" lvl="0" marL="0" rtl="1" algn="r">
              <a:lnSpc>
                <a:spcPct val="90000"/>
              </a:lnSpc>
              <a:spcBef>
                <a:spcPts val="0"/>
              </a:spcBef>
              <a:spcAft>
                <a:spcPts val="0"/>
              </a:spcAft>
              <a:buNone/>
            </a:pPr>
            <a:r>
              <a:rPr lang="iw" sz="1300" b="1">
                <a:solidFill>
                  <a:srgbClr val="E91D63"/>
                </a:solidFill>
                <a:latin typeface="Assistant"/>
                <a:ea typeface="Assistant"/>
                <a:cs typeface="Assistant"/>
                <a:sym typeface="Assistant"/>
              </a:rPr>
              <a:t>רכיבים ומושגים</a:t>
            </a:r>
          </a:p>
        </p:txBody>
      </p:sp>
      <p:sp>
        <p:nvSpPr>
          <p:cNvPr id="262" name="TextBox 261"/>
          <p:cNvSpPr txBox="1"/>
          <p:nvPr/>
        </p:nvSpPr>
        <p:spPr>
          <a:xfrm>
            <a:off x="4809744" y="1956816"/>
            <a:ext cx="3895344" cy="2414016"/>
          </a:xfrm>
          <a:prstGeom prst="rect">
            <a:avLst/>
          </a:prstGeom>
          <a:noFill/>
        </p:spPr>
        <p:txBody>
          <a:bodyPr wrap="square" anchor="t" anchorCtr="0" lIns="91425" rIns="91425" tIns="45700" bIns="45700" spcFirstLastPara="1">
            <a:noAutofit/>
          </a:bodyPr>
          <a:lstStyle/>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מסך העיצוב</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Designer</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עורך הבלוקים</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Blocks Editor</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מגירת הרכיבים</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Palette</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הקנבס / התצוגה</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Viewer</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רשימת הרכיבים</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Components</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תכונות הרכיב</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Properties</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קבצי המדיה</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Media</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רכיב בלתי נראה</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Non-visible component</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המגירות המובנות</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Built-in</a:t>
            </a:r>
          </a:p>
          <a:p>
            <a:pPr indent="0" lvl="0" marL="0" rtl="1" algn="r">
              <a:lnSpc>
                <a:spcPct val="92000"/>
              </a:lnSpc>
              <a:spcBef>
                <a:spcPts val="0"/>
              </a:spcBef>
              <a:spcAft>
                <a:spcPts val="95"/>
              </a:spcAft>
              <a:buNone/>
            </a:pPr>
            <a:r>
              <a:rPr lang="iw" sz="1150" b="1">
                <a:solidFill>
                  <a:srgbClr val="2C3687"/>
                </a:solidFill>
                <a:latin typeface="Assistant"/>
                <a:ea typeface="Assistant"/>
                <a:cs typeface="Assistant"/>
                <a:sym typeface="Assistant"/>
              </a:rPr>
              <a:t>בלוק מִשְׁתַּנֶּה (גלגל שיניים)</a:t>
            </a:r>
            <a:r>
              <a:rPr lang="iw" sz="1150">
                <a:solidFill>
                  <a:srgbClr val="2C3687"/>
                </a:solidFill>
                <a:latin typeface="Assistant"/>
                <a:ea typeface="Assistant"/>
                <a:cs typeface="Assistant"/>
                <a:sym typeface="Assistant"/>
              </a:rPr>
              <a:t xml:space="preserve">  </a:t>
            </a:r>
            <a:r>
              <a:rPr lang="iw" sz="1100" b="1">
                <a:solidFill>
                  <a:srgbClr val="2C36A6"/>
                </a:solidFill>
                <a:latin typeface="Source Code Pro"/>
                <a:ea typeface="Source Code Pro"/>
                <a:cs typeface="Source Code Pro"/>
                <a:sym typeface="Source Code Pro"/>
              </a:rPr>
              <a:t>Mutator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פתרון תקלות נפוצות</a:t>
            </a:r>
          </a:p>
        </p:txBody>
      </p:sp>
      <p:sp>
        <p:nvSpPr>
          <p:cNvPr id="257" name="Rounded Rectangle 256"/>
          <p:cNvSpPr/>
          <p:nvPr/>
        </p:nvSpPr>
        <p:spPr>
          <a:xfrm>
            <a:off x="310896" y="1517904"/>
            <a:ext cx="4151376" cy="2916936"/>
          </a:xfrm>
          <a:prstGeom prst="roundRect">
            <a:avLst>
              <a:gd name="adj" fmla="val 6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457200" y="1609344"/>
            <a:ext cx="3858768" cy="384048"/>
          </a:xfrm>
          <a:prstGeom prst="rect">
            <a:avLst/>
          </a:prstGeom>
          <a:noFill/>
        </p:spPr>
        <p:txBody>
          <a:bodyPr wrap="square" anchor="t" anchorCtr="0" lIns="91425" rIns="91425" tIns="45700" bIns="45700" spcFirstLastPara="1">
            <a:noAutofit/>
          </a:bodyPr>
          <a:lstStyle/>
          <a:p>
            <a:pPr indent="0" lvl="0" marL="0" rtl="1" algn="r">
              <a:lnSpc>
                <a:spcPct val="90000"/>
              </a:lnSpc>
              <a:spcBef>
                <a:spcPts val="0"/>
              </a:spcBef>
              <a:spcAft>
                <a:spcPts val="0"/>
              </a:spcAft>
              <a:buNone/>
            </a:pPr>
            <a:r>
              <a:rPr lang="iw" sz="1400" b="1">
                <a:solidFill>
                  <a:srgbClr val="E91D63"/>
                </a:solidFill>
                <a:latin typeface="Assistant"/>
                <a:ea typeface="Assistant"/>
                <a:cs typeface="Assistant"/>
                <a:sym typeface="Assistant"/>
              </a:rPr>
              <a:t>בעיות באפליקציה</a:t>
            </a:r>
          </a:p>
        </p:txBody>
      </p:sp>
      <p:sp>
        <p:nvSpPr>
          <p:cNvPr id="259" name="TextBox 258"/>
          <p:cNvSpPr txBox="1"/>
          <p:nvPr/>
        </p:nvSpPr>
        <p:spPr>
          <a:xfrm>
            <a:off x="457200" y="2011680"/>
            <a:ext cx="3858768" cy="2359152"/>
          </a:xfrm>
          <a:prstGeom prst="rect">
            <a:avLst/>
          </a:prstGeom>
          <a:noFill/>
        </p:spPr>
        <p:txBody>
          <a:bodyPr wrap="square" anchor="t" anchorCtr="0" lIns="91425" rIns="91425" tIns="45700" bIns="45700" spcFirstLastPara="1">
            <a:noAutofit/>
          </a:bodyPr>
          <a:lstStyle/>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אין צליל? בדקו עוצמת קול, ושבחרתם קובץ ב-Source</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אין תשובה? ודאו שהבלוק set מצביע על Label2 ולא על Label1</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הניעור לא עובד? זה עובד רק על מכשיר אמיתי, לא באמולטור</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אותה תשובה כל הזמן? זה יכול לקרות באקראיות - נסו שוב, או הוסיפו עוד תשובות לרשימה</a:t>
            </a:r>
          </a:p>
        </p:txBody>
      </p:sp>
      <p:sp>
        <p:nvSpPr>
          <p:cNvPr id="260" name="Rounded Rectangle 259"/>
          <p:cNvSpPr/>
          <p:nvPr/>
        </p:nvSpPr>
        <p:spPr>
          <a:xfrm>
            <a:off x="4681728" y="1517904"/>
            <a:ext cx="4151376" cy="2916936"/>
          </a:xfrm>
          <a:prstGeom prst="roundRect">
            <a:avLst>
              <a:gd name="adj" fmla="val 6000"/>
            </a:avLst>
          </a:prstGeom>
          <a:solidFill>
            <a:srgbClr val="F1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4828032" y="1609344"/>
            <a:ext cx="3858768" cy="384048"/>
          </a:xfrm>
          <a:prstGeom prst="rect">
            <a:avLst/>
          </a:prstGeom>
          <a:noFill/>
        </p:spPr>
        <p:txBody>
          <a:bodyPr wrap="square" anchor="t" anchorCtr="0" lIns="91425" rIns="91425" tIns="45700" bIns="45700" spcFirstLastPara="1">
            <a:noAutofit/>
          </a:bodyPr>
          <a:lstStyle/>
          <a:p>
            <a:pPr indent="0" lvl="0" marL="0" rtl="1" algn="r">
              <a:lnSpc>
                <a:spcPct val="90000"/>
              </a:lnSpc>
              <a:spcBef>
                <a:spcPts val="0"/>
              </a:spcBef>
              <a:spcAft>
                <a:spcPts val="0"/>
              </a:spcAft>
              <a:buNone/>
            </a:pPr>
            <a:r>
              <a:rPr lang="iw" sz="1400" b="1">
                <a:solidFill>
                  <a:srgbClr val="E91D63"/>
                </a:solidFill>
                <a:latin typeface="Assistant"/>
                <a:ea typeface="Assistant"/>
                <a:cs typeface="Assistant"/>
                <a:sym typeface="Assistant"/>
              </a:rPr>
              <a:t>בעיות בבלוקים</a:t>
            </a:r>
          </a:p>
        </p:txBody>
      </p:sp>
      <p:sp>
        <p:nvSpPr>
          <p:cNvPr id="262" name="TextBox 261"/>
          <p:cNvSpPr txBox="1"/>
          <p:nvPr/>
        </p:nvSpPr>
        <p:spPr>
          <a:xfrm>
            <a:off x="4828032" y="2011680"/>
            <a:ext cx="3858768" cy="2359152"/>
          </a:xfrm>
          <a:prstGeom prst="rect">
            <a:avLst/>
          </a:prstGeom>
          <a:noFill/>
        </p:spPr>
        <p:txBody>
          <a:bodyPr wrap="square" anchor="t" anchorCtr="0" lIns="91425" rIns="91425" tIns="45700" bIns="45700" spcFirstLastPara="1">
            <a:noAutofit/>
          </a:bodyPr>
          <a:lstStyle/>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הבלוק לא נכנס? בדקו את הצורה - בלוק פקודה נכנס רק לתוך do</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סימן קריאה אדום או משולש צהוב? יש בלוק ריק או בלוק שלא מחובר לכלום</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שכחתם לשנות את BackgroundColor ל-Text ברשימה הנפתחת</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הבלוק נעלם? אולי גררתם אותו לפח - Ctrl+Z מחזיר</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אז מה למדנו היום?</a:t>
            </a:r>
          </a:p>
        </p:txBody>
      </p:sp>
      <p:sp>
        <p:nvSpPr>
          <p:cNvPr id="257" name="TextBox 256"/>
          <p:cNvSpPr txBox="1"/>
          <p:nvPr/>
        </p:nvSpPr>
        <p:spPr>
          <a:xfrm>
            <a:off x="311700" y="1468825"/>
            <a:ext cx="8520600" cy="2967900"/>
          </a:xfrm>
          <a:prstGeom prst="rect">
            <a:avLst/>
          </a:prstGeom>
          <a:noFill/>
        </p:spPr>
        <p:txBody>
          <a:bodyPr wrap="square" anchor="t" anchorCtr="0" lIns="91425" rIns="91425" tIns="45700" bIns="45700" spcFirstLastPara="1">
            <a:noAutofit/>
          </a:bodyPr>
          <a:lstStyle/>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בנינו אפליקציה שלמה מאפס - מרעיון ועד קובץ שרץ על הטלפון</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הכרנו רכיבים חדשים: Button, Label, Player, VerticalArrangement ו-AccelerometerSensor</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למדנו מה זה רכיב בלתי נראה, ומה ההבדל בין תכונה (Property) לבין פעולה (Method)</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הבנו מה זה אירוע (Event): הקוד מחכה, ומשהו מבחוץ מפעיל אותו</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עבדנו עם רשימה (List) ולמדנו לבחור ממנה פריט אקראי</a:t>
            </a:r>
          </a:p>
          <a:p>
            <a:pPr indent="-317500" lvl="0" marL="457200" rtl="1" algn="r">
              <a:lnSpc>
                <a:spcPct val="95000"/>
              </a:lnSpc>
              <a:spcBef>
                <a:spcPts val="0"/>
              </a:spcBef>
              <a:spcAft>
                <a:spcPts val="110"/>
              </a:spcAft>
              <a:buClr>
                <a:srgbClr val="2C3687"/>
              </a:buClr>
              <a:buSzPts val="1400"/>
              <a:buFont typeface="Assistant"/>
              <a:buChar char="-"/>
            </a:pPr>
            <a:r>
              <a:rPr lang="iw" sz="1400">
                <a:solidFill>
                  <a:srgbClr val="2C3687"/>
                </a:solidFill>
                <a:latin typeface="Assistant"/>
                <a:ea typeface="Assistant"/>
                <a:cs typeface="Assistant"/>
                <a:sym typeface="Assistant"/>
              </a:rPr>
              <a:t>ראינו שאותה תוכנית בדיוק יכולה לרוץ מאירועים שונים - לחיצה או ניעור</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בשיעור הבא נמשיך לאפליקציה מורכבת יותר - ונוסיף משתנים, תנאים ומסכים נוספים.</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9" name="Google Shape;249;p28"/>
          <p:cNvPicPr preferRelativeResize="0"/>
          <p:nvPr/>
        </p:nvPicPr>
        <p:blipFill rotWithShape="1">
          <a:blip r:embed="rId2">
            <a:alphaModFix amt="39000"/>
          </a:blip>
          <a:srcRect b="42110" l="0" r="0" t="0"/>
          <a:stretch/>
        </p:blipFill>
        <p:spPr>
          <a:xfrm>
            <a:off x="0" y="0"/>
            <a:ext cx="9144000" cy="5143500"/>
          </a:xfrm>
          <a:prstGeom prst="rect">
            <a:avLst/>
          </a:prstGeom>
          <a:noFill/>
          <a:ln>
            <a:noFill/>
          </a:ln>
        </p:spPr>
      </p:pic>
      <p:pic>
        <p:nvPicPr>
          <p:cNvPr id="252" name="Google Shape;252;p28"/>
          <p:cNvPicPr preferRelativeResize="0"/>
          <p:nvPr/>
        </p:nvPicPr>
        <p:blipFill>
          <a:blip r:embed="rId3">
            <a:alphaModFix/>
          </a:blip>
          <a:stretch>
            <a:fillRect/>
          </a:stretch>
        </p:blipFill>
        <p:spPr>
          <a:xfrm>
            <a:off x="175925" y="4557100"/>
            <a:ext cx="448904" cy="391875"/>
          </a:xfrm>
          <a:prstGeom prst="rect">
            <a:avLst/>
          </a:prstGeom>
          <a:noFill/>
          <a:ln>
            <a:noFill/>
          </a:ln>
        </p:spPr>
      </p:pic>
      <p:pic>
        <p:nvPicPr>
          <p:cNvPr id="253" name="Google Shape;253;p28"/>
          <p:cNvPicPr preferRelativeResize="0"/>
          <p:nvPr/>
        </p:nvPicPr>
        <p:blipFill>
          <a:blip r:embed="rId4">
            <a:alphaModFix/>
          </a:blip>
          <a:stretch>
            <a:fillRect/>
          </a:stretch>
        </p:blipFill>
        <p:spPr>
          <a:xfrm>
            <a:off x="8220675" y="126222"/>
            <a:ext cx="771001" cy="250876"/>
          </a:xfrm>
          <a:prstGeom prst="rect">
            <a:avLst/>
          </a:prstGeom>
          <a:noFill/>
          <a:ln>
            <a:noFill/>
          </a:ln>
        </p:spPr>
      </p:pic>
      <p:pic>
        <p:nvPicPr>
          <p:cNvPr id="254" name="Google Shape;254;p28"/>
          <p:cNvPicPr preferRelativeResize="0"/>
          <p:nvPr/>
        </p:nvPicPr>
        <p:blipFill>
          <a:blip r:embed="rId5">
            <a:alphaModFix/>
          </a:blip>
          <a:stretch>
            <a:fillRect/>
          </a:stretch>
        </p:blipFill>
        <p:spPr>
          <a:xfrm>
            <a:off x="175925" y="126225"/>
            <a:ext cx="1023225" cy="391875"/>
          </a:xfrm>
          <a:prstGeom prst="rect">
            <a:avLst/>
          </a:prstGeom>
          <a:noFill/>
          <a:ln>
            <a:noFill/>
          </a:ln>
        </p:spPr>
      </p:pic>
      <p:pic>
        <p:nvPicPr>
          <p:cNvPr id="255" name="Google Shape;255;p28"/>
          <p:cNvPicPr preferRelativeResize="0"/>
          <p:nvPr/>
        </p:nvPicPr>
        <p:blipFill>
          <a:blip r:embed="rId6">
            <a:alphaModFix/>
          </a:blip>
          <a:stretch>
            <a:fillRect/>
          </a:stretch>
        </p:blipFill>
        <p:spPr>
          <a:xfrm>
            <a:off x="794775" y="4723425"/>
            <a:ext cx="457185" cy="225550"/>
          </a:xfrm>
          <a:prstGeom prst="rect">
            <a:avLst/>
          </a:prstGeom>
          <a:noFill/>
          <a:ln>
            <a:noFill/>
          </a:ln>
        </p:spPr>
      </p:pic>
      <p:sp>
        <p:nvSpPr>
          <p:cNvPr id="256" name="TextBox 255"/>
          <p:cNvSpPr txBox="1"/>
          <p:nvPr/>
        </p:nvSpPr>
        <p:spPr>
          <a:xfrm>
            <a:off x="1325880" y="372500"/>
            <a:ext cx="7506420" cy="1096200"/>
          </a:xfrm>
          <a:prstGeom prst="rect">
            <a:avLst/>
          </a:prstGeom>
          <a:noFill/>
        </p:spPr>
        <p:txBody>
          <a:bodyPr wrap="square" anchor="b" anchorCtr="0" lIns="91425" rIns="91425" tIns="45700" bIns="45700" spcFirstLastPara="1">
            <a:normAutofit/>
          </a:bodyPr>
          <a:lstStyle/>
          <a:p>
            <a:pPr indent="0" lvl="0" marL="0" rtl="1" algn="r">
              <a:lnSpc>
                <a:spcPct val="95000"/>
              </a:lnSpc>
              <a:spcBef>
                <a:spcPts val="0"/>
              </a:spcBef>
              <a:spcAft>
                <a:spcPts val="0"/>
              </a:spcAft>
              <a:buNone/>
            </a:pPr>
            <a:r>
              <a:rPr lang="iw" sz="2800" b="1">
                <a:solidFill>
                  <a:srgbClr val="E91D63"/>
                </a:solidFill>
                <a:latin typeface="Assistant"/>
                <a:ea typeface="Assistant"/>
                <a:cs typeface="Assistant"/>
                <a:sym typeface="Assistant"/>
              </a:rPr>
              <a:t>קרדיטים ומקורות</a:t>
            </a:r>
          </a:p>
        </p:txBody>
      </p:sp>
      <p:sp>
        <p:nvSpPr>
          <p:cNvPr id="257" name="TextBox 256"/>
          <p:cNvSpPr txBox="1"/>
          <p:nvPr/>
        </p:nvSpPr>
        <p:spPr>
          <a:xfrm>
            <a:off x="311700" y="1468825"/>
            <a:ext cx="8520600" cy="2967900"/>
          </a:xfrm>
          <a:prstGeom prst="rect">
            <a:avLst/>
          </a:prstGeom>
          <a:noFill/>
        </p:spPr>
        <p:txBody>
          <a:bodyPr wrap="square" anchor="t" anchorCtr="0" lIns="91425" rIns="91425" tIns="45700" bIns="45700" spcFirstLastPara="1">
            <a:noAutofit/>
          </a:bodyPr>
          <a:lstStyle/>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השיעור מבוסס על המדריך הרשמי Magic 8-Ball של MIT App Inventor:</a:t>
            </a:r>
          </a:p>
          <a:p>
            <a:pPr indent="0" lvl="0" marL="0" rtl="1" algn="r">
              <a:lnSpc>
                <a:spcPct val="95000"/>
              </a:lnSpc>
              <a:spcBef>
                <a:spcPts val="0"/>
              </a:spcBef>
              <a:spcAft>
                <a:spcPts val="110"/>
              </a:spcAft>
              <a:buNone/>
            </a:pPr>
            <a:r>
              <a:rPr lang="iw" sz="1300">
                <a:solidFill>
                  <a:srgbClr val="2C36A6"/>
                </a:solidFill>
                <a:latin typeface="Assistant"/>
                <a:ea typeface="Assistant"/>
                <a:cs typeface="Assistant"/>
                <a:sym typeface="Assistant"/>
              </a:rPr>
              <a:t>appinventor.mit.edu/explore/ai2/magic-8-ball</a:t>
            </a:r>
          </a:p>
          <a:p>
            <a:pPr indent="0" lvl="0" marL="0" rtl="1" algn="r">
              <a:lnSpc>
                <a:spcPct val="90000"/>
              </a:lnSpc>
              <a:spcBef>
                <a:spcPts val="0"/>
              </a:spcBef>
              <a:spcAft>
                <a:spcPts val="150"/>
              </a:spcAft>
              <a:buNone/>
            </a:pPr>
            <a:r>
              <a:rPr lang="iw" sz="600">
                <a:solidFill>
                  <a:srgbClr val="2C3687"/>
                </a:solidFill>
                <a:latin typeface="Assistant"/>
                <a:ea typeface="Assistant"/>
                <a:cs typeface="Assistant"/>
                <a:sym typeface="Assistant"/>
              </a:rPr>
              <a:t xml:space="preserve"> </a:t>
            </a:r>
          </a:p>
          <a:p>
            <a:pPr indent="0" lvl="0" marL="0" rtl="1" algn="r">
              <a:lnSpc>
                <a:spcPct val="95000"/>
              </a:lnSpc>
              <a:spcBef>
                <a:spcPts val="0"/>
              </a:spcBef>
              <a:spcAft>
                <a:spcPts val="110"/>
              </a:spcAft>
              <a:buNone/>
            </a:pPr>
            <a:r>
              <a:rPr lang="iw" sz="1400">
                <a:solidFill>
                  <a:srgbClr val="2C3687"/>
                </a:solidFill>
                <a:latin typeface="Assistant"/>
                <a:ea typeface="Assistant"/>
                <a:cs typeface="Assistant"/>
                <a:sym typeface="Assistant"/>
              </a:rPr>
              <a:t>צילומי המסך והתמונות בחלק זה לקוחים מהמדריך המקורי.</a:t>
            </a:r>
          </a:p>
          <a:p>
            <a:pPr indent="0" lvl="0" marL="0" rtl="1" algn="r">
              <a:lnSpc>
                <a:spcPct val="95000"/>
              </a:lnSpc>
              <a:spcBef>
                <a:spcPts val="0"/>
              </a:spcBef>
              <a:spcAft>
                <a:spcPts val="110"/>
              </a:spcAft>
              <a:buNone/>
            </a:pPr>
            <a:r>
              <a:rPr lang="iw" sz="1200">
                <a:solidFill>
                  <a:srgbClr val="374151"/>
                </a:solidFill>
                <a:latin typeface="Assistant"/>
                <a:ea typeface="Assistant"/>
                <a:cs typeface="Assistant"/>
                <a:sym typeface="Assistant"/>
              </a:rPr>
              <a:t>© 2012-2025 Massachusetts Institute of Technology, ברישיון Creative Commons Attribution-ShareAlike 4.0 International (CC BY-SA 4.0).</a:t>
            </a:r>
          </a:p>
          <a:p>
            <a:pPr indent="0" lvl="0" marL="0" rtl="1" algn="r">
              <a:lnSpc>
                <a:spcPct val="95000"/>
              </a:lnSpc>
              <a:spcBef>
                <a:spcPts val="280"/>
              </a:spcBef>
              <a:spcAft>
                <a:spcPts val="0"/>
              </a:spcAft>
              <a:buNone/>
            </a:pPr>
            <a:r>
              <a:rPr lang="iw" sz="1200" b="1">
                <a:solidFill>
                  <a:srgbClr val="17B3A9"/>
                </a:solidFill>
                <a:latin typeface="Assistant"/>
                <a:ea typeface="Assistant"/>
                <a:cs typeface="Assistant"/>
                <a:sym typeface="Assistant"/>
              </a:rPr>
              <a:t>אפשר להוריד את קוד המקור (קובץ aia.) של האפליקציה מדף המדריך, ולפתוח אותו דרך Projects  ←  Import project (.aia) from my computer.</a:t>
            </a:r>
          </a:p>
        </p:txBody>
      </p:sp>
    </p:spTree>
  </p:cSld>
  <p:clrMapOvr>
    <a:masterClrMapping/>
  </p:clrMapOvr>
</p:sld>
</file>

<file path=ppt/theme/theme1.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