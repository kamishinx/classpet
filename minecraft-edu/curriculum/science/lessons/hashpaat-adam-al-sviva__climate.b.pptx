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docx" ContentType="application/vnd.openxmlformats-officedocument.wordprocessingml.document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67" r:id="rId4"/>
    <p:sldId id="258" r:id="rId5"/>
    <p:sldId id="268" r:id="rId6"/>
    <p:sldId id="269" r:id="rId7"/>
    <p:sldId id="270" r:id="rId8"/>
    <p:sldId id="271" r:id="rId9"/>
    <p:sldId id="272" r:id="rId10"/>
    <p:sldId id="265" r:id="rId11"/>
    <p:sldId id="274" r:id="rId12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4"/>
      <p:bold r:id="rId15"/>
      <p:italic r:id="rId16"/>
      <p:boldItalic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David" panose="020E0502060401010101" pitchFamily="34" charset="-79"/>
      <p:regular r:id="rId22"/>
      <p:bold r:id="rId23"/>
    </p:embeddedFont>
    <p:embeddedFont>
      <p:font typeface="Wingdings 3" panose="05040102010807070707" pitchFamily="18" charset="2"/>
      <p:regular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F55"/>
    <a:srgbClr val="366F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720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A7DB774-4F76-4EC7-9630-2D0129354217}" type="doc">
      <dgm:prSet loTypeId="urn:microsoft.com/office/officeart/2005/8/layout/hierarchy1" loCatId="hierarchy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41C1552-DF53-4501-9F53-B5776E474EC3}">
      <dgm:prSet custT="1"/>
      <dgm:spPr/>
      <dgm:t>
        <a:bodyPr/>
        <a:lstStyle/>
        <a:p>
          <a:r>
            <a:rPr lang="he-IL" sz="3600" b="0" i="0" dirty="0"/>
            <a:t>ענו על שאלון </a:t>
          </a:r>
          <a:r>
            <a:rPr lang="en-US" sz="3600" b="0" i="0" dirty="0"/>
            <a:t/>
          </a:r>
          <a:br>
            <a:rPr lang="en-US" sz="3600" b="0" i="0" dirty="0"/>
          </a:br>
          <a:r>
            <a:rPr lang="he-IL" sz="3600" b="0" i="0" dirty="0"/>
            <a:t>טביעת הרגל האקולוגית שלכם</a:t>
          </a:r>
          <a:endParaRPr lang="en-US" sz="3600" dirty="0"/>
        </a:p>
      </dgm:t>
    </dgm:pt>
    <dgm:pt modelId="{5935F70A-D49A-4E87-B5F9-F1035BEB1C2C}" type="parTrans" cxnId="{34F15766-7450-4581-B48B-E8196798D82E}">
      <dgm:prSet/>
      <dgm:spPr/>
      <dgm:t>
        <a:bodyPr/>
        <a:lstStyle/>
        <a:p>
          <a:endParaRPr lang="en-US"/>
        </a:p>
      </dgm:t>
    </dgm:pt>
    <dgm:pt modelId="{05029B5B-B49A-4CA4-A5F5-DA1E85B3B098}" type="sibTrans" cxnId="{34F15766-7450-4581-B48B-E8196798D82E}">
      <dgm:prSet/>
      <dgm:spPr/>
      <dgm:t>
        <a:bodyPr/>
        <a:lstStyle/>
        <a:p>
          <a:endParaRPr lang="en-US"/>
        </a:p>
      </dgm:t>
    </dgm:pt>
    <dgm:pt modelId="{108249A7-2129-4AB9-B2A5-65460DC6C71F}" type="pres">
      <dgm:prSet presAssocID="{EA7DB774-4F76-4EC7-9630-2D012935421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pPr rtl="1"/>
          <a:endParaRPr lang="he-IL"/>
        </a:p>
      </dgm:t>
    </dgm:pt>
    <dgm:pt modelId="{0523007C-4A93-411B-8464-7B40440682DA}" type="pres">
      <dgm:prSet presAssocID="{341C1552-DF53-4501-9F53-B5776E474EC3}" presName="hierRoot1" presStyleCnt="0"/>
      <dgm:spPr/>
    </dgm:pt>
    <dgm:pt modelId="{851F4C6E-D5D1-409A-93E5-E9C050A3DFF0}" type="pres">
      <dgm:prSet presAssocID="{341C1552-DF53-4501-9F53-B5776E474EC3}" presName="composite" presStyleCnt="0"/>
      <dgm:spPr/>
    </dgm:pt>
    <dgm:pt modelId="{4C7EBE28-1E70-4BDC-8F0C-69BEBD936330}" type="pres">
      <dgm:prSet presAssocID="{341C1552-DF53-4501-9F53-B5776E474EC3}" presName="background" presStyleLbl="node0" presStyleIdx="0" presStyleCnt="1"/>
      <dgm:spPr/>
    </dgm:pt>
    <dgm:pt modelId="{8A7E0B53-25F5-4DCB-8B84-71DC7FC59DDB}" type="pres">
      <dgm:prSet presAssocID="{341C1552-DF53-4501-9F53-B5776E474EC3}" presName="text" presStyleLbl="fgAcc0" presStyleIdx="0" presStyleCnt="1" custScaleX="183966" custLinFactNeighborX="34670" custLinFactNeighborY="-1517">
        <dgm:presLayoutVars>
          <dgm:chPref val="3"/>
        </dgm:presLayoutVars>
      </dgm:prSet>
      <dgm:spPr/>
      <dgm:t>
        <a:bodyPr/>
        <a:lstStyle/>
        <a:p>
          <a:pPr rtl="1"/>
          <a:endParaRPr lang="he-IL"/>
        </a:p>
      </dgm:t>
    </dgm:pt>
    <dgm:pt modelId="{F4C5BD90-2DF0-45D5-A6CE-D44373278513}" type="pres">
      <dgm:prSet presAssocID="{341C1552-DF53-4501-9F53-B5776E474EC3}" presName="hierChild2" presStyleCnt="0"/>
      <dgm:spPr/>
    </dgm:pt>
  </dgm:ptLst>
  <dgm:cxnLst>
    <dgm:cxn modelId="{EE64DBAB-08F4-4F67-B6D7-35E9A7298D2F}" type="presOf" srcId="{341C1552-DF53-4501-9F53-B5776E474EC3}" destId="{8A7E0B53-25F5-4DCB-8B84-71DC7FC59DDB}" srcOrd="0" destOrd="0" presId="urn:microsoft.com/office/officeart/2005/8/layout/hierarchy1"/>
    <dgm:cxn modelId="{34F15766-7450-4581-B48B-E8196798D82E}" srcId="{EA7DB774-4F76-4EC7-9630-2D0129354217}" destId="{341C1552-DF53-4501-9F53-B5776E474EC3}" srcOrd="0" destOrd="0" parTransId="{5935F70A-D49A-4E87-B5F9-F1035BEB1C2C}" sibTransId="{05029B5B-B49A-4CA4-A5F5-DA1E85B3B098}"/>
    <dgm:cxn modelId="{28ACBF7B-32BC-4F72-90F2-DA0D0894AE81}" type="presOf" srcId="{EA7DB774-4F76-4EC7-9630-2D0129354217}" destId="{108249A7-2129-4AB9-B2A5-65460DC6C71F}" srcOrd="0" destOrd="0" presId="urn:microsoft.com/office/officeart/2005/8/layout/hierarchy1"/>
    <dgm:cxn modelId="{03A095DF-F84E-47D9-9CAC-359A4A8F5835}" type="presParOf" srcId="{108249A7-2129-4AB9-B2A5-65460DC6C71F}" destId="{0523007C-4A93-411B-8464-7B40440682DA}" srcOrd="0" destOrd="0" presId="urn:microsoft.com/office/officeart/2005/8/layout/hierarchy1"/>
    <dgm:cxn modelId="{0C4D367D-E8CC-494E-93C4-42DB6A26DABE}" type="presParOf" srcId="{0523007C-4A93-411B-8464-7B40440682DA}" destId="{851F4C6E-D5D1-409A-93E5-E9C050A3DFF0}" srcOrd="0" destOrd="0" presId="urn:microsoft.com/office/officeart/2005/8/layout/hierarchy1"/>
    <dgm:cxn modelId="{7E9011E2-E89B-4905-9421-5A9272977377}" type="presParOf" srcId="{851F4C6E-D5D1-409A-93E5-E9C050A3DFF0}" destId="{4C7EBE28-1E70-4BDC-8F0C-69BEBD936330}" srcOrd="0" destOrd="0" presId="urn:microsoft.com/office/officeart/2005/8/layout/hierarchy1"/>
    <dgm:cxn modelId="{1002003A-5E02-4A59-BAB8-0A75C2E52240}" type="presParOf" srcId="{851F4C6E-D5D1-409A-93E5-E9C050A3DFF0}" destId="{8A7E0B53-25F5-4DCB-8B84-71DC7FC59DDB}" srcOrd="1" destOrd="0" presId="urn:microsoft.com/office/officeart/2005/8/layout/hierarchy1"/>
    <dgm:cxn modelId="{107C8117-66D2-4FC1-B400-2EDA7510A620}" type="presParOf" srcId="{0523007C-4A93-411B-8464-7B40440682DA}" destId="{F4C5BD90-2DF0-45D5-A6CE-D4437327851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A7DB774-4F76-4EC7-9630-2D0129354217}" type="doc">
      <dgm:prSet loTypeId="urn:microsoft.com/office/officeart/2005/8/layout/hierarchy1" loCatId="hierarchy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52F48BE-25A0-4B72-8915-9F6798B5947B}">
      <dgm:prSet/>
      <dgm:spPr/>
      <dgm:t>
        <a:bodyPr/>
        <a:lstStyle/>
        <a:p>
          <a:r>
            <a:rPr lang="he-IL" b="0" i="0" dirty="0"/>
            <a:t>השלימו את המידע </a:t>
          </a:r>
          <a:r>
            <a:rPr lang="en-US" b="0" i="0" dirty="0"/>
            <a:t/>
          </a:r>
          <a:br>
            <a:rPr lang="en-US" b="0" i="0" dirty="0"/>
          </a:br>
          <a:r>
            <a:rPr lang="he-IL" b="0" i="0" dirty="0"/>
            <a:t>בשקופית המצגת של קבוצתכם היעזרו במקורות המידע </a:t>
          </a:r>
          <a:r>
            <a:rPr lang="en-US" b="0" i="0" dirty="0"/>
            <a:t/>
          </a:r>
          <a:br>
            <a:rPr lang="en-US" b="0" i="0" dirty="0"/>
          </a:br>
          <a:r>
            <a:rPr lang="he-IL" b="0" i="0" dirty="0"/>
            <a:t>המצורפים בסוף המצגת</a:t>
          </a:r>
          <a:endParaRPr lang="en-US" dirty="0"/>
        </a:p>
      </dgm:t>
    </dgm:pt>
    <dgm:pt modelId="{D05EC6DB-1077-4620-ABE6-E0C7151C1B64}" type="parTrans" cxnId="{256F5127-483B-4A30-90C0-13E473339424}">
      <dgm:prSet/>
      <dgm:spPr/>
      <dgm:t>
        <a:bodyPr/>
        <a:lstStyle/>
        <a:p>
          <a:pPr rtl="1"/>
          <a:endParaRPr lang="he-IL"/>
        </a:p>
      </dgm:t>
    </dgm:pt>
    <dgm:pt modelId="{67C3F209-5B7D-4AAB-91DD-D0E148AD9FDD}" type="sibTrans" cxnId="{256F5127-483B-4A30-90C0-13E473339424}">
      <dgm:prSet/>
      <dgm:spPr/>
      <dgm:t>
        <a:bodyPr/>
        <a:lstStyle/>
        <a:p>
          <a:pPr rtl="1"/>
          <a:endParaRPr lang="he-IL"/>
        </a:p>
      </dgm:t>
    </dgm:pt>
    <dgm:pt modelId="{108249A7-2129-4AB9-B2A5-65460DC6C71F}" type="pres">
      <dgm:prSet presAssocID="{EA7DB774-4F76-4EC7-9630-2D012935421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pPr rtl="1"/>
          <a:endParaRPr lang="he-IL"/>
        </a:p>
      </dgm:t>
    </dgm:pt>
    <dgm:pt modelId="{8F4D5782-CF5F-4AB3-921D-5E64C90423BF}" type="pres">
      <dgm:prSet presAssocID="{652F48BE-25A0-4B72-8915-9F6798B5947B}" presName="hierRoot1" presStyleCnt="0"/>
      <dgm:spPr/>
    </dgm:pt>
    <dgm:pt modelId="{32F42544-7F4B-4DA2-B3E8-D02ACC269639}" type="pres">
      <dgm:prSet presAssocID="{652F48BE-25A0-4B72-8915-9F6798B5947B}" presName="composite" presStyleCnt="0"/>
      <dgm:spPr/>
    </dgm:pt>
    <dgm:pt modelId="{1A6B6566-7904-4F23-9770-6E1BB968F586}" type="pres">
      <dgm:prSet presAssocID="{652F48BE-25A0-4B72-8915-9F6798B5947B}" presName="background" presStyleLbl="node0" presStyleIdx="0" presStyleCnt="1"/>
      <dgm:spPr/>
    </dgm:pt>
    <dgm:pt modelId="{72296CE2-D324-40B0-A1D9-FF227A050C1B}" type="pres">
      <dgm:prSet presAssocID="{652F48BE-25A0-4B72-8915-9F6798B5947B}" presName="text" presStyleLbl="fgAcc0" presStyleIdx="0" presStyleCnt="1" custScaleX="179958" custLinFactNeighborX="-10197" custLinFactNeighborY="179">
        <dgm:presLayoutVars>
          <dgm:chPref val="3"/>
        </dgm:presLayoutVars>
      </dgm:prSet>
      <dgm:spPr/>
      <dgm:t>
        <a:bodyPr/>
        <a:lstStyle/>
        <a:p>
          <a:pPr rtl="1"/>
          <a:endParaRPr lang="he-IL"/>
        </a:p>
      </dgm:t>
    </dgm:pt>
    <dgm:pt modelId="{DD42D4B7-A0DF-40A1-8948-948AA805FDB1}" type="pres">
      <dgm:prSet presAssocID="{652F48BE-25A0-4B72-8915-9F6798B5947B}" presName="hierChild2" presStyleCnt="0"/>
      <dgm:spPr/>
    </dgm:pt>
  </dgm:ptLst>
  <dgm:cxnLst>
    <dgm:cxn modelId="{28ACBF7B-32BC-4F72-90F2-DA0D0894AE81}" type="presOf" srcId="{EA7DB774-4F76-4EC7-9630-2D0129354217}" destId="{108249A7-2129-4AB9-B2A5-65460DC6C71F}" srcOrd="0" destOrd="0" presId="urn:microsoft.com/office/officeart/2005/8/layout/hierarchy1"/>
    <dgm:cxn modelId="{256F5127-483B-4A30-90C0-13E473339424}" srcId="{EA7DB774-4F76-4EC7-9630-2D0129354217}" destId="{652F48BE-25A0-4B72-8915-9F6798B5947B}" srcOrd="0" destOrd="0" parTransId="{D05EC6DB-1077-4620-ABE6-E0C7151C1B64}" sibTransId="{67C3F209-5B7D-4AAB-91DD-D0E148AD9FDD}"/>
    <dgm:cxn modelId="{79D763BA-B3A4-4B0D-BF1D-197389C17D56}" type="presOf" srcId="{652F48BE-25A0-4B72-8915-9F6798B5947B}" destId="{72296CE2-D324-40B0-A1D9-FF227A050C1B}" srcOrd="0" destOrd="0" presId="urn:microsoft.com/office/officeart/2005/8/layout/hierarchy1"/>
    <dgm:cxn modelId="{0B57B486-45C7-458F-9DB5-08D8EC7CA4F1}" type="presParOf" srcId="{108249A7-2129-4AB9-B2A5-65460DC6C71F}" destId="{8F4D5782-CF5F-4AB3-921D-5E64C90423BF}" srcOrd="0" destOrd="0" presId="urn:microsoft.com/office/officeart/2005/8/layout/hierarchy1"/>
    <dgm:cxn modelId="{A88395E7-AD94-4D7C-85F3-7FF4443C34D7}" type="presParOf" srcId="{8F4D5782-CF5F-4AB3-921D-5E64C90423BF}" destId="{32F42544-7F4B-4DA2-B3E8-D02ACC269639}" srcOrd="0" destOrd="0" presId="urn:microsoft.com/office/officeart/2005/8/layout/hierarchy1"/>
    <dgm:cxn modelId="{5C8D6BDF-DA9D-446D-AD55-50EBF6EB56F5}" type="presParOf" srcId="{32F42544-7F4B-4DA2-B3E8-D02ACC269639}" destId="{1A6B6566-7904-4F23-9770-6E1BB968F586}" srcOrd="0" destOrd="0" presId="urn:microsoft.com/office/officeart/2005/8/layout/hierarchy1"/>
    <dgm:cxn modelId="{894FC695-EB03-4E0F-AF96-00EAC362A10F}" type="presParOf" srcId="{32F42544-7F4B-4DA2-B3E8-D02ACC269639}" destId="{72296CE2-D324-40B0-A1D9-FF227A050C1B}" srcOrd="1" destOrd="0" presId="urn:microsoft.com/office/officeart/2005/8/layout/hierarchy1"/>
    <dgm:cxn modelId="{EEC79A1C-FD52-4C54-90D9-319290CCE08D}" type="presParOf" srcId="{8F4D5782-CF5F-4AB3-921D-5E64C90423BF}" destId="{DD42D4B7-A0DF-40A1-8948-948AA805FDB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7EBE28-1E70-4BDC-8F0C-69BEBD936330}">
      <dsp:nvSpPr>
        <dsp:cNvPr id="0" name=""/>
        <dsp:cNvSpPr/>
      </dsp:nvSpPr>
      <dsp:spPr>
        <a:xfrm>
          <a:off x="2299992" y="-27009"/>
          <a:ext cx="5225524" cy="180370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A7E0B53-25F5-4DCB-8B84-71DC7FC59DDB}">
      <dsp:nvSpPr>
        <dsp:cNvPr id="0" name=""/>
        <dsp:cNvSpPr/>
      </dsp:nvSpPr>
      <dsp:spPr>
        <a:xfrm>
          <a:off x="2615602" y="272819"/>
          <a:ext cx="5225524" cy="180370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e-IL" sz="3600" b="0" i="0" kern="1200" dirty="0"/>
            <a:t>ענו על שאלון </a:t>
          </a:r>
          <a:r>
            <a:rPr lang="en-US" sz="3600" b="0" i="0" kern="1200" dirty="0"/>
            <a:t/>
          </a:r>
          <a:br>
            <a:rPr lang="en-US" sz="3600" b="0" i="0" kern="1200" dirty="0"/>
          </a:br>
          <a:r>
            <a:rPr lang="he-IL" sz="3600" b="0" i="0" kern="1200" dirty="0"/>
            <a:t>טביעת הרגל האקולוגית שלכם</a:t>
          </a:r>
          <a:endParaRPr lang="en-US" sz="3600" kern="1200" dirty="0"/>
        </a:p>
      </dsp:txBody>
      <dsp:txXfrm>
        <a:off x="2668431" y="325648"/>
        <a:ext cx="5119866" cy="169804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6B6566-7904-4F23-9770-6E1BB968F586}">
      <dsp:nvSpPr>
        <dsp:cNvPr id="0" name=""/>
        <dsp:cNvSpPr/>
      </dsp:nvSpPr>
      <dsp:spPr>
        <a:xfrm>
          <a:off x="440813" y="242"/>
          <a:ext cx="6203806" cy="218907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2296CE2-D324-40B0-A1D9-FF227A050C1B}">
      <dsp:nvSpPr>
        <dsp:cNvPr id="0" name=""/>
        <dsp:cNvSpPr/>
      </dsp:nvSpPr>
      <dsp:spPr>
        <a:xfrm>
          <a:off x="823853" y="364131"/>
          <a:ext cx="6203806" cy="21890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e-IL" sz="3200" b="0" i="0" kern="1200" dirty="0"/>
            <a:t>השלימו את המידע </a:t>
          </a:r>
          <a:r>
            <a:rPr lang="en-US" sz="3200" b="0" i="0" kern="1200" dirty="0"/>
            <a:t/>
          </a:r>
          <a:br>
            <a:rPr lang="en-US" sz="3200" b="0" i="0" kern="1200" dirty="0"/>
          </a:br>
          <a:r>
            <a:rPr lang="he-IL" sz="3200" b="0" i="0" kern="1200" dirty="0"/>
            <a:t>בשקופית המצגת של קבוצתכם היעזרו במקורות המידע </a:t>
          </a:r>
          <a:r>
            <a:rPr lang="en-US" sz="3200" b="0" i="0" kern="1200" dirty="0"/>
            <a:t/>
          </a:r>
          <a:br>
            <a:rPr lang="en-US" sz="3200" b="0" i="0" kern="1200" dirty="0"/>
          </a:br>
          <a:r>
            <a:rPr lang="he-IL" sz="3200" b="0" i="0" kern="1200" dirty="0"/>
            <a:t>המצורפים בסוף המצגת</a:t>
          </a:r>
          <a:endParaRPr lang="en-US" sz="3200" kern="1200" dirty="0"/>
        </a:p>
      </dsp:txBody>
      <dsp:txXfrm>
        <a:off x="887969" y="428247"/>
        <a:ext cx="6075574" cy="20608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76959c3085_3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76959c3085_3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76959c3085_3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76959c3085_3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0592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76959c308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76959c308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76959c308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76959c308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68289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76959c308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76959c308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29771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76959c308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76959c308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96703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76959c308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76959c308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28294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76959c308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76959c308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1784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76959c3085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76959c3085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76959c3085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76959c3085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01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085850"/>
            <a:ext cx="6619244" cy="2497186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4/8/2021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e" smtClean="0"/>
              <a:t>‹#›</a:t>
            </a:fld>
            <a:endParaRPr lang="he"/>
          </a:p>
        </p:txBody>
      </p:sp>
    </p:spTree>
    <p:extLst>
      <p:ext uri="{BB962C8B-B14F-4D97-AF65-F5344CB8AC3E}">
        <p14:creationId xmlns:p14="http://schemas.microsoft.com/office/powerpoint/2010/main" val="370835389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e" smtClean="0"/>
              <a:t>‹#›</a:t>
            </a:fld>
            <a:endParaRPr lang="he"/>
          </a:p>
        </p:txBody>
      </p:sp>
    </p:spTree>
    <p:extLst>
      <p:ext uri="{BB962C8B-B14F-4D97-AF65-F5344CB8AC3E}">
        <p14:creationId xmlns:p14="http://schemas.microsoft.com/office/powerpoint/2010/main" val="151706482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2146300"/>
            <a:ext cx="6619243" cy="143673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e" smtClean="0"/>
              <a:t>‹#›</a:t>
            </a:fld>
            <a:endParaRPr lang="he"/>
          </a:p>
        </p:txBody>
      </p:sp>
    </p:spTree>
    <p:extLst>
      <p:ext uri="{BB962C8B-B14F-4D97-AF65-F5344CB8AC3E}">
        <p14:creationId xmlns:p14="http://schemas.microsoft.com/office/powerpoint/2010/main" val="353596307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485" y="1545432"/>
            <a:ext cx="3297254" cy="3146822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0870" y="1542069"/>
            <a:ext cx="3297256" cy="315018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e" smtClean="0"/>
              <a:t>‹#›</a:t>
            </a:fld>
            <a:endParaRPr lang="he"/>
          </a:p>
        </p:txBody>
      </p:sp>
    </p:spTree>
    <p:extLst>
      <p:ext uri="{BB962C8B-B14F-4D97-AF65-F5344CB8AC3E}">
        <p14:creationId xmlns:p14="http://schemas.microsoft.com/office/powerpoint/2010/main" val="233595168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5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485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0872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0872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4/8/2021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e" smtClean="0"/>
              <a:t>‹#›</a:t>
            </a:fld>
            <a:endParaRPr lang="he"/>
          </a:p>
        </p:txBody>
      </p:sp>
    </p:spTree>
    <p:extLst>
      <p:ext uri="{BB962C8B-B14F-4D97-AF65-F5344CB8AC3E}">
        <p14:creationId xmlns:p14="http://schemas.microsoft.com/office/powerpoint/2010/main" val="9758195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4/8/2021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e" smtClean="0"/>
              <a:t>‹#›</a:t>
            </a:fld>
            <a:endParaRPr lang="he"/>
          </a:p>
        </p:txBody>
      </p:sp>
    </p:spTree>
    <p:extLst>
      <p:ext uri="{BB962C8B-B14F-4D97-AF65-F5344CB8AC3E}">
        <p14:creationId xmlns:p14="http://schemas.microsoft.com/office/powerpoint/2010/main" val="25753009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4/8/2021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e" smtClean="0"/>
              <a:t>‹#›</a:t>
            </a:fld>
            <a:endParaRPr lang="he"/>
          </a:p>
        </p:txBody>
      </p:sp>
    </p:spTree>
    <p:extLst>
      <p:ext uri="{BB962C8B-B14F-4D97-AF65-F5344CB8AC3E}">
        <p14:creationId xmlns:p14="http://schemas.microsoft.com/office/powerpoint/2010/main" val="20692914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1085850"/>
            <a:ext cx="2550798" cy="10858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8462" y="1085850"/>
            <a:ext cx="3896998" cy="3429000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2346961"/>
            <a:ext cx="2550797" cy="2171699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4/8/2021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e" smtClean="0"/>
              <a:t>‹#›</a:t>
            </a:fld>
            <a:endParaRPr lang="he"/>
          </a:p>
        </p:txBody>
      </p:sp>
    </p:spTree>
    <p:extLst>
      <p:ext uri="{BB962C8B-B14F-4D97-AF65-F5344CB8AC3E}">
        <p14:creationId xmlns:p14="http://schemas.microsoft.com/office/powerpoint/2010/main" val="422336252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430" y="1390644"/>
            <a:ext cx="3819680" cy="1181106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2160" y="857250"/>
            <a:ext cx="2400300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3813734" cy="1028700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e" smtClean="0"/>
              <a:t>‹#›</a:t>
            </a:fld>
            <a:endParaRPr lang="he"/>
          </a:p>
        </p:txBody>
      </p:sp>
    </p:spTree>
    <p:extLst>
      <p:ext uri="{BB962C8B-B14F-4D97-AF65-F5344CB8AC3E}">
        <p14:creationId xmlns:p14="http://schemas.microsoft.com/office/powerpoint/2010/main" val="312876434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3600440"/>
            <a:ext cx="6619243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7305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7" y="4025494"/>
            <a:ext cx="6619242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e" smtClean="0"/>
              <a:t>‹#›</a:t>
            </a:fld>
            <a:endParaRPr lang="he"/>
          </a:p>
        </p:txBody>
      </p:sp>
    </p:spTree>
    <p:extLst>
      <p:ext uri="{BB962C8B-B14F-4D97-AF65-F5344CB8AC3E}">
        <p14:creationId xmlns:p14="http://schemas.microsoft.com/office/powerpoint/2010/main" val="238184077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085850"/>
            <a:ext cx="6619244" cy="1485900"/>
          </a:xfrm>
        </p:spPr>
        <p:txBody>
          <a:bodyPr/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6619244" cy="177165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e" smtClean="0"/>
              <a:t>‹#›</a:t>
            </a:fld>
            <a:endParaRPr lang="he"/>
          </a:p>
        </p:txBody>
      </p:sp>
    </p:spTree>
    <p:extLst>
      <p:ext uri="{BB962C8B-B14F-4D97-AF65-F5344CB8AC3E}">
        <p14:creationId xmlns:p14="http://schemas.microsoft.com/office/powerpoint/2010/main" val="327215997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101" y="1085850"/>
            <a:ext cx="5999486" cy="1742531"/>
          </a:xfrm>
        </p:spPr>
        <p:txBody>
          <a:bodyPr/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7800" y="2828380"/>
            <a:ext cx="5459737" cy="256631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marL="0" lvl="0" indent="0">
              <a:buNone/>
            </a:pPr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262993"/>
            <a:ext cx="6619244" cy="125730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e" smtClean="0"/>
              <a:t>‹#›</a:t>
            </a:fld>
            <a:endParaRPr lang="he"/>
          </a:p>
        </p:txBody>
      </p:sp>
      <p:sp>
        <p:nvSpPr>
          <p:cNvPr id="12" name="TextBox 11"/>
          <p:cNvSpPr txBox="1"/>
          <p:nvPr/>
        </p:nvSpPr>
        <p:spPr>
          <a:xfrm>
            <a:off x="673721" y="728440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7868" y="1960341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124705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343151"/>
            <a:ext cx="6619245" cy="123988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e" smtClean="0"/>
              <a:t>‹#›</a:t>
            </a:fld>
            <a:endParaRPr lang="he"/>
          </a:p>
        </p:txBody>
      </p:sp>
    </p:spTree>
    <p:extLst>
      <p:ext uri="{BB962C8B-B14F-4D97-AF65-F5344CB8AC3E}">
        <p14:creationId xmlns:p14="http://schemas.microsoft.com/office/powerpoint/2010/main" val="91278550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710" y="1485900"/>
            <a:ext cx="221015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347" y="2000250"/>
            <a:ext cx="2195513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2745" y="1485900"/>
            <a:ext cx="220218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4829" y="2000250"/>
            <a:ext cx="2210096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1485900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3525" y="2000250"/>
            <a:ext cx="2199085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4/8/2021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e" smtClean="0"/>
              <a:t>‹#›</a:t>
            </a:fld>
            <a:endParaRPr lang="he"/>
          </a:p>
        </p:txBody>
      </p:sp>
    </p:spTree>
    <p:extLst>
      <p:ext uri="{BB962C8B-B14F-4D97-AF65-F5344CB8AC3E}">
        <p14:creationId xmlns:p14="http://schemas.microsoft.com/office/powerpoint/2010/main" val="55844374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347" y="3188212"/>
            <a:ext cx="220503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347" y="1657350"/>
            <a:ext cx="2205038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347" y="3620409"/>
            <a:ext cx="220503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032" y="3188212"/>
            <a:ext cx="219789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031" y="1657350"/>
            <a:ext cx="2197894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016" y="3620408"/>
            <a:ext cx="2200805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3188212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3525" y="1657350"/>
            <a:ext cx="2199085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3432" y="3620406"/>
            <a:ext cx="220199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4/8/2021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e" smtClean="0"/>
              <a:t>‹#›</a:t>
            </a:fld>
            <a:endParaRPr lang="he"/>
          </a:p>
        </p:txBody>
      </p:sp>
    </p:spTree>
    <p:extLst>
      <p:ext uri="{BB962C8B-B14F-4D97-AF65-F5344CB8AC3E}">
        <p14:creationId xmlns:p14="http://schemas.microsoft.com/office/powerpoint/2010/main" val="25257207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e" smtClean="0"/>
              <a:t>‹#›</a:t>
            </a:fld>
            <a:endParaRPr lang="he"/>
          </a:p>
        </p:txBody>
      </p:sp>
    </p:spTree>
    <p:extLst>
      <p:ext uri="{BB962C8B-B14F-4D97-AF65-F5344CB8AC3E}">
        <p14:creationId xmlns:p14="http://schemas.microsoft.com/office/powerpoint/2010/main" val="335832895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8159" y="322660"/>
            <a:ext cx="1314451" cy="4369594"/>
          </a:xfrm>
        </p:spPr>
        <p:txBody>
          <a:bodyPr vert="eaVert" anchor="b" anchorCtr="0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348" y="665561"/>
            <a:ext cx="5567362" cy="4026693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e" smtClean="0"/>
              <a:t>‹#›</a:t>
            </a:fld>
            <a:endParaRPr lang="he"/>
          </a:p>
        </p:txBody>
      </p:sp>
    </p:spTree>
    <p:extLst>
      <p:ext uri="{BB962C8B-B14F-4D97-AF65-F5344CB8AC3E}">
        <p14:creationId xmlns:p14="http://schemas.microsoft.com/office/powerpoint/2010/main" val="4058562571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bg>
      <p:bgPr>
        <a:solidFill>
          <a:schemeClr val="dk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92360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4"/>
            <a:ext cx="3027759" cy="31412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1"/>
            <a:ext cx="1141809" cy="177409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60" y="1"/>
            <a:ext cx="1202540" cy="85605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4572000"/>
            <a:ext cx="745301" cy="5715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584" y="339538"/>
            <a:ext cx="7053542" cy="10503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4" y="1539689"/>
            <a:ext cx="6709906" cy="3146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616730" y="1343026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4/8/2021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713680" y="2418973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e" smtClean="0"/>
              <a:t>‹#›</a:t>
            </a:fld>
            <a:endParaRPr lang="he"/>
          </a:p>
        </p:txBody>
      </p:sp>
    </p:spTree>
    <p:extLst>
      <p:ext uri="{BB962C8B-B14F-4D97-AF65-F5344CB8AC3E}">
        <p14:creationId xmlns:p14="http://schemas.microsoft.com/office/powerpoint/2010/main" val="27839816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hf sldNum="0" hdr="0" ftr="0" dt="0"/>
  <p:txStyles>
    <p:titleStyle>
      <a:lvl1pPr algn="l" defTabSz="342900" rtl="1" eaLnBrk="1" latinLnBrk="0" hangingPunct="1">
        <a:spcBef>
          <a:spcPct val="0"/>
        </a:spcBef>
        <a:buNone/>
        <a:defRPr sz="315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257175" indent="-257175" algn="r" defTabSz="342900" rtl="1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5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557213" indent="-214313" algn="r" defTabSz="342900" rtl="1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35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857250" indent="-171450" algn="r" defTabSz="342900" rtl="1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200150" indent="-171450" algn="r" defTabSz="342900" rtl="1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1543050" indent="-171450" algn="r" defTabSz="342900" rtl="1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1879500" indent="-171450" algn="r" defTabSz="342900" rtl="1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228850" indent="-171450" algn="r" defTabSz="342900" rtl="1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571750" indent="-171450" algn="r" defTabSz="342900" rtl="1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2914650" indent="-171450" algn="r" defTabSz="342900" rtl="1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r" defTabSz="3429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r" defTabSz="3429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r" defTabSz="3429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r" defTabSz="3429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r" defTabSz="3429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r" defTabSz="3429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r" defTabSz="3429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r" defTabSz="3429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r" defTabSz="3429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.xml"/><Relationship Id="rId13" Type="http://schemas.openxmlformats.org/officeDocument/2006/relationships/package" Target="../embeddings/_______________Microsoft_Excel.xlsx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5.png"/><Relationship Id="rId12" Type="http://schemas.microsoft.com/office/2007/relationships/diagramDrawing" Target="../diagrams/drawing1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png"/><Relationship Id="rId11" Type="http://schemas.openxmlformats.org/officeDocument/2006/relationships/diagramColors" Target="../diagrams/colors1.xml"/><Relationship Id="rId5" Type="http://schemas.openxmlformats.org/officeDocument/2006/relationships/image" Target="../media/image3.png"/><Relationship Id="rId10" Type="http://schemas.openxmlformats.org/officeDocument/2006/relationships/diagramQuickStyle" Target="../diagrams/quickStyle1.xml"/><Relationship Id="rId4" Type="http://schemas.openxmlformats.org/officeDocument/2006/relationships/image" Target="../media/image2.png"/><Relationship Id="rId9" Type="http://schemas.openxmlformats.org/officeDocument/2006/relationships/diagramLayout" Target="../diagrams/layout1.xml"/><Relationship Id="rId14" Type="http://schemas.openxmlformats.org/officeDocument/2006/relationships/image" Target="../media/image7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image" Target="../media/image2.png"/><Relationship Id="rId7" Type="http://schemas.openxmlformats.org/officeDocument/2006/relationships/diagramData" Target="../diagrams/data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microsoft.com/office/2007/relationships/diagramDrawing" Target="../diagrams/drawing2.xml"/><Relationship Id="rId5" Type="http://schemas.openxmlformats.org/officeDocument/2006/relationships/image" Target="../media/image4.png"/><Relationship Id="rId10" Type="http://schemas.openxmlformats.org/officeDocument/2006/relationships/diagramColors" Target="../diagrams/colors2.xml"/><Relationship Id="rId4" Type="http://schemas.openxmlformats.org/officeDocument/2006/relationships/image" Target="../media/image3.png"/><Relationship Id="rId9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hyperlink" Target="http://www.sviva.gov.il/subjectsEnv/OpenSpaces/mining-quarry/Pages/default.aspx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6" Type="http://schemas.openxmlformats.org/officeDocument/2006/relationships/hyperlink" Target="https://mafish.org.il/fishing-reform/the-cause/" TargetMode="External"/><Relationship Id="rId5" Type="http://schemas.openxmlformats.org/officeDocument/2006/relationships/hyperlink" Target="https://www.haaretz.co.il/misc/1.1298977" TargetMode="External"/><Relationship Id="rId4" Type="http://schemas.openxmlformats.org/officeDocument/2006/relationships/hyperlink" Target="https://www.ynet.co.il/articles/0,7340,L-5018847,00.html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notesSlide" Target="../notesSlides/notesSlide11.xml"/><Relationship Id="rId7" Type="http://schemas.openxmlformats.org/officeDocument/2006/relationships/package" Target="../embeddings/Microsoft_Word_Document1.docx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emf"/><Relationship Id="rId5" Type="http://schemas.openxmlformats.org/officeDocument/2006/relationships/package" Target="../embeddings/Microsoft_Word_Document.docx"/><Relationship Id="rId10" Type="http://schemas.openxmlformats.org/officeDocument/2006/relationships/image" Target="../media/image11.emf"/><Relationship Id="rId4" Type="http://schemas.openxmlformats.org/officeDocument/2006/relationships/image" Target="../media/image8.png"/><Relationship Id="rId9" Type="http://schemas.openxmlformats.org/officeDocument/2006/relationships/package" Target="../embeddings/Microsoft_Word_Document2.docx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Google Shape;128;p13"/>
          <p:cNvSpPr txBox="1">
            <a:spLocks noGrp="1"/>
          </p:cNvSpPr>
          <p:nvPr>
            <p:ph type="ctrTitle"/>
          </p:nvPr>
        </p:nvSpPr>
        <p:spPr>
          <a:xfrm>
            <a:off x="6017364" y="994410"/>
            <a:ext cx="2640861" cy="2299880"/>
          </a:xfrm>
          <a:prstGeom prst="rect">
            <a:avLst/>
          </a:prstGeom>
        </p:spPr>
        <p:txBody>
          <a:bodyPr spcFirstLastPara="1" lIns="91425" tIns="91425" rIns="91425" bIns="91425" anchorCtr="0">
            <a:norm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4800" b="1" dirty="0">
                <a:solidFill>
                  <a:srgbClr val="EBEBEB"/>
                </a:solidFill>
              </a:rPr>
              <a:t>טביעת רגל אקולוגית </a:t>
            </a:r>
          </a:p>
        </p:txBody>
      </p:sp>
      <p:sp>
        <p:nvSpPr>
          <p:cNvPr id="129" name="Google Shape;129;p13"/>
          <p:cNvSpPr txBox="1">
            <a:spLocks noGrp="1"/>
          </p:cNvSpPr>
          <p:nvPr>
            <p:ph type="subTitle" idx="1"/>
          </p:nvPr>
        </p:nvSpPr>
        <p:spPr>
          <a:xfrm>
            <a:off x="6143943" y="3441246"/>
            <a:ext cx="2514282" cy="1216131"/>
          </a:xfrm>
          <a:prstGeom prst="rect">
            <a:avLst/>
          </a:prstGeom>
        </p:spPr>
        <p:txBody>
          <a:bodyPr spcFirstLastPara="1" lIns="91425" tIns="91425" rIns="91425" bIns="91425" anchorCtr="0">
            <a:normAutofit/>
          </a:bodyPr>
          <a:lstStyle/>
          <a:p>
            <a:pPr marL="0" lvl="0" indent="0" algn="r">
              <a:spcBef>
                <a:spcPts val="0"/>
              </a:spcBef>
              <a:spcAft>
                <a:spcPts val="600"/>
              </a:spcAft>
              <a:buNone/>
            </a:pPr>
            <a:r>
              <a:rPr lang="he-IL" sz="28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מצגת שיתופית</a:t>
            </a:r>
          </a:p>
        </p:txBody>
      </p:sp>
      <p:sp>
        <p:nvSpPr>
          <p:cNvPr id="77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597760" y="0"/>
            <a:ext cx="419604" cy="2782230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9" name="Freeform: Shape 78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857465" cy="51435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D0A5A223-3E13-4E1A-86CB-ED51843A4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90" y="503462"/>
            <a:ext cx="4702997" cy="4136225"/>
          </a:xfrm>
          <a:prstGeom prst="rect">
            <a:avLst/>
          </a:prstGeom>
          <a:effectLst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76">
            <a:extLst>
              <a:ext uri="{FF2B5EF4-FFF2-40B4-BE49-F238E27FC236}">
                <a16:creationId xmlns:a16="http://schemas.microsoft.com/office/drawing/2014/main" id="{F1B8F9CB-890B-4CB8-B503-188A763E2FC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3"/>
            <a:ext cx="3027759" cy="3141237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AA632AB4-3837-4FD0-8B62-0A18B573F46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0"/>
            <a:ext cx="1141809" cy="1774090"/>
          </a:xfrm>
          <a:prstGeom prst="rect">
            <a:avLst/>
          </a:prstGeom>
        </p:spPr>
      </p:pic>
      <p:sp>
        <p:nvSpPr>
          <p:cNvPr id="81" name="Oval 80">
            <a:extLst>
              <a:ext uri="{FF2B5EF4-FFF2-40B4-BE49-F238E27FC236}">
                <a16:creationId xmlns:a16="http://schemas.microsoft.com/office/drawing/2014/main" id="{C393B4A7-6ABF-423D-A762-3CDB4897A83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9CD2319A-6FA9-4EFB-9EDF-7304467425E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856055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D1692A93-3514-4486-8B67-CCA4E0259BC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4572000"/>
            <a:ext cx="745301" cy="571500"/>
          </a:xfrm>
          <a:prstGeom prst="rect">
            <a:avLst/>
          </a:prstGeom>
        </p:spPr>
      </p:pic>
      <p:sp>
        <p:nvSpPr>
          <p:cNvPr id="87" name="Rectangle 86">
            <a:extLst>
              <a:ext uri="{FF2B5EF4-FFF2-40B4-BE49-F238E27FC236}">
                <a16:creationId xmlns:a16="http://schemas.microsoft.com/office/drawing/2014/main" id="{01AD250C-F2EA-449F-9B14-DF5BB674C50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095172"/>
            <a:ext cx="2604045" cy="619449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321550"/>
            <a:ext cx="9144312" cy="3821950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graphicFrame>
        <p:nvGraphicFramePr>
          <p:cNvPr id="137" name="Google Shape;135;p14">
            <a:extLst>
              <a:ext uri="{FF2B5EF4-FFF2-40B4-BE49-F238E27FC236}">
                <a16:creationId xmlns:a16="http://schemas.microsoft.com/office/drawing/2014/main" id="{59A831A2-6924-4D11-B7F2-D39B09CDB6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9899078"/>
              </p:ext>
            </p:extLst>
          </p:nvPr>
        </p:nvGraphicFramePr>
        <p:xfrm>
          <a:off x="870941" y="2002264"/>
          <a:ext cx="8171528" cy="21042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15" name="מלבן 14">
            <a:extLst>
              <a:ext uri="{FF2B5EF4-FFF2-40B4-BE49-F238E27FC236}">
                <a16:creationId xmlns:a16="http://schemas.microsoft.com/office/drawing/2014/main" id="{39CEF402-41B7-46A8-A192-0D45CB85756D}"/>
              </a:ext>
            </a:extLst>
          </p:cNvPr>
          <p:cNvSpPr/>
          <p:nvPr/>
        </p:nvSpPr>
        <p:spPr>
          <a:xfrm>
            <a:off x="6386513" y="0"/>
            <a:ext cx="1950243" cy="930866"/>
          </a:xfrm>
          <a:prstGeom prst="rect">
            <a:avLst/>
          </a:prstGeom>
          <a:solidFill>
            <a:srgbClr val="B01513"/>
          </a:solidFill>
          <a:ln w="19050" cap="rnd" cmpd="sng" algn="ctr">
            <a:noFill/>
            <a:prstDash val="solid"/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txBody>
          <a:bodyPr rtlCol="1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34" name="Google Shape;134;p14"/>
          <p:cNvSpPr txBox="1">
            <a:spLocks noGrp="1"/>
          </p:cNvSpPr>
          <p:nvPr>
            <p:ph type="ctrTitle"/>
          </p:nvPr>
        </p:nvSpPr>
        <p:spPr>
          <a:xfrm>
            <a:off x="6459143" y="64068"/>
            <a:ext cx="1859641" cy="762490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 algn="r" defTabSz="457200" rtl="0">
              <a:spcAft>
                <a:spcPts val="0"/>
              </a:spcAft>
            </a:pPr>
            <a:r>
              <a:rPr lang="en-US" sz="4000" b="1" dirty="0">
                <a:solidFill>
                  <a:schemeClr val="bg1"/>
                </a:solidFill>
                <a:latin typeface="Century Gothic" panose="020B0502020202020204"/>
                <a:ea typeface="+mn-ea"/>
                <a:cs typeface="Arial" panose="020B0604020202020204" pitchFamily="34" charset="0"/>
              </a:rPr>
              <a:t>ה</a:t>
            </a:r>
            <a:r>
              <a:rPr lang="he-IL" sz="4000" b="1" dirty="0">
                <a:solidFill>
                  <a:schemeClr val="bg1"/>
                </a:solidFill>
                <a:latin typeface="Century Gothic" panose="020B0502020202020204"/>
                <a:ea typeface="+mn-ea"/>
                <a:cs typeface="Arial" panose="020B0604020202020204" pitchFamily="34" charset="0"/>
              </a:rPr>
              <a:t>נחיות</a:t>
            </a:r>
            <a:endParaRPr lang="en-US" sz="4000" b="1" dirty="0">
              <a:solidFill>
                <a:schemeClr val="bg1"/>
              </a:solidFill>
              <a:latin typeface="Century Gothic" panose="020B050202020202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מלבן 16">
            <a:extLst>
              <a:ext uri="{FF2B5EF4-FFF2-40B4-BE49-F238E27FC236}">
                <a16:creationId xmlns:a16="http://schemas.microsoft.com/office/drawing/2014/main" id="{96338FCD-F0E7-4BAD-91C4-2472BBDBDFEB}"/>
              </a:ext>
            </a:extLst>
          </p:cNvPr>
          <p:cNvSpPr/>
          <p:nvPr/>
        </p:nvSpPr>
        <p:spPr>
          <a:xfrm>
            <a:off x="463414" y="2571750"/>
            <a:ext cx="1198534" cy="969522"/>
          </a:xfrm>
          <a:prstGeom prst="rect">
            <a:avLst/>
          </a:prstGeom>
          <a:solidFill>
            <a:srgbClr val="B01513"/>
          </a:solidFill>
          <a:ln w="19050" cap="rnd" cmpd="sng" algn="ctr">
            <a:noFill/>
            <a:prstDash val="solid"/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txBody>
          <a:bodyPr rtlCol="1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2" name="אובייקט 1">
            <a:extLst>
              <a:ext uri="{FF2B5EF4-FFF2-40B4-BE49-F238E27FC236}">
                <a16:creationId xmlns:a16="http://schemas.microsoft.com/office/drawing/2014/main" id="{24AB3ADA-2F5E-4912-A619-68F1872D91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6592849"/>
              </p:ext>
            </p:extLst>
          </p:nvPr>
        </p:nvGraphicFramePr>
        <p:xfrm>
          <a:off x="605481" y="2749109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Worksheet" showAsIcon="1" r:id="rId13" imgW="914400" imgH="792417" progId="Excel.Sheet.12">
                  <p:embed/>
                </p:oleObj>
              </mc:Choice>
              <mc:Fallback>
                <p:oleObj name="Worksheet" showAsIcon="1" r:id="rId13" imgW="914400" imgH="79241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05481" y="2749109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חץ: שמאלה 2">
            <a:extLst>
              <a:ext uri="{FF2B5EF4-FFF2-40B4-BE49-F238E27FC236}">
                <a16:creationId xmlns:a16="http://schemas.microsoft.com/office/drawing/2014/main" id="{5617D18F-1740-48FA-ACBE-428CB0AED337}"/>
              </a:ext>
            </a:extLst>
          </p:cNvPr>
          <p:cNvSpPr/>
          <p:nvPr/>
        </p:nvSpPr>
        <p:spPr>
          <a:xfrm>
            <a:off x="1778950" y="2678907"/>
            <a:ext cx="1223744" cy="700087"/>
          </a:xfrm>
          <a:prstGeom prst="leftArrow">
            <a:avLst/>
          </a:prstGeom>
          <a:solidFill>
            <a:srgbClr val="1F4F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b="1" dirty="0"/>
              <a:t>בקישור</a:t>
            </a:r>
            <a:r>
              <a:rPr lang="he-IL" dirty="0"/>
              <a:t> </a:t>
            </a:r>
          </a:p>
        </p:txBody>
      </p:sp>
      <p:sp>
        <p:nvSpPr>
          <p:cNvPr id="19" name="תיבת טקסט 18">
            <a:extLst>
              <a:ext uri="{FF2B5EF4-FFF2-40B4-BE49-F238E27FC236}">
                <a16:creationId xmlns:a16="http://schemas.microsoft.com/office/drawing/2014/main" id="{F8E2BEF6-D29D-4386-ADEE-D1291E72EC70}"/>
              </a:ext>
            </a:extLst>
          </p:cNvPr>
          <p:cNvSpPr txBox="1"/>
          <p:nvPr/>
        </p:nvSpPr>
        <p:spPr>
          <a:xfrm>
            <a:off x="383397" y="4641656"/>
            <a:ext cx="871537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 dirty="0">
                <a:solidFill>
                  <a:srgbClr val="FF0000"/>
                </a:solidFill>
              </a:rPr>
              <a:t>שימו לב!!! </a:t>
            </a:r>
            <a:r>
              <a:rPr lang="he-IL" dirty="0"/>
              <a:t>- כדי להיכנס לשאלון, יש לצאת ממצב הצגת שקופיות וללחוץ פעמיים על הסמל.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76">
            <a:extLst>
              <a:ext uri="{FF2B5EF4-FFF2-40B4-BE49-F238E27FC236}">
                <a16:creationId xmlns:a16="http://schemas.microsoft.com/office/drawing/2014/main" id="{F1B8F9CB-890B-4CB8-B503-188A763E2FC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3"/>
            <a:ext cx="3027759" cy="3141237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AA632AB4-3837-4FD0-8B62-0A18B573F46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0"/>
            <a:ext cx="1141809" cy="1774090"/>
          </a:xfrm>
          <a:prstGeom prst="rect">
            <a:avLst/>
          </a:prstGeom>
        </p:spPr>
      </p:pic>
      <p:sp>
        <p:nvSpPr>
          <p:cNvPr id="81" name="Oval 80">
            <a:extLst>
              <a:ext uri="{FF2B5EF4-FFF2-40B4-BE49-F238E27FC236}">
                <a16:creationId xmlns:a16="http://schemas.microsoft.com/office/drawing/2014/main" id="{C393B4A7-6ABF-423D-A762-3CDB4897A83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9CD2319A-6FA9-4EFB-9EDF-7304467425E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856055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D1692A93-3514-4486-8B67-CCA4E0259BC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4572000"/>
            <a:ext cx="745301" cy="571500"/>
          </a:xfrm>
          <a:prstGeom prst="rect">
            <a:avLst/>
          </a:prstGeom>
        </p:spPr>
      </p:pic>
      <p:sp>
        <p:nvSpPr>
          <p:cNvPr id="87" name="Rectangle 86">
            <a:extLst>
              <a:ext uri="{FF2B5EF4-FFF2-40B4-BE49-F238E27FC236}">
                <a16:creationId xmlns:a16="http://schemas.microsoft.com/office/drawing/2014/main" id="{01AD250C-F2EA-449F-9B14-DF5BB674C50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095172"/>
            <a:ext cx="2604045" cy="619449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321550"/>
            <a:ext cx="9144312" cy="3821950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graphicFrame>
        <p:nvGraphicFramePr>
          <p:cNvPr id="137" name="Google Shape;135;p14">
            <a:extLst>
              <a:ext uri="{FF2B5EF4-FFF2-40B4-BE49-F238E27FC236}">
                <a16:creationId xmlns:a16="http://schemas.microsoft.com/office/drawing/2014/main" id="{59A831A2-6924-4D11-B7F2-D39B09CDB6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728920"/>
              </p:ext>
            </p:extLst>
          </p:nvPr>
        </p:nvGraphicFramePr>
        <p:xfrm>
          <a:off x="570904" y="2101256"/>
          <a:ext cx="8171528" cy="25532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6" name="מלבן 15">
            <a:extLst>
              <a:ext uri="{FF2B5EF4-FFF2-40B4-BE49-F238E27FC236}">
                <a16:creationId xmlns:a16="http://schemas.microsoft.com/office/drawing/2014/main" id="{66E58138-9164-4F01-AF2D-DC4EE21853EB}"/>
              </a:ext>
            </a:extLst>
          </p:cNvPr>
          <p:cNvSpPr/>
          <p:nvPr/>
        </p:nvSpPr>
        <p:spPr>
          <a:xfrm>
            <a:off x="6386513" y="0"/>
            <a:ext cx="1950243" cy="930866"/>
          </a:xfrm>
          <a:prstGeom prst="rect">
            <a:avLst/>
          </a:prstGeom>
          <a:solidFill>
            <a:srgbClr val="B01513"/>
          </a:solidFill>
          <a:ln w="19050" cap="rnd" cmpd="sng" algn="ctr">
            <a:noFill/>
            <a:prstDash val="solid"/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txBody>
          <a:bodyPr rtlCol="1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Google Shape;134;p14">
            <a:extLst>
              <a:ext uri="{FF2B5EF4-FFF2-40B4-BE49-F238E27FC236}">
                <a16:creationId xmlns:a16="http://schemas.microsoft.com/office/drawing/2014/main" id="{3A988E00-A4A8-4D55-B2B6-B742E3994FA8}"/>
              </a:ext>
            </a:extLst>
          </p:cNvPr>
          <p:cNvSpPr txBox="1">
            <a:spLocks/>
          </p:cNvSpPr>
          <p:nvPr/>
        </p:nvSpPr>
        <p:spPr>
          <a:xfrm>
            <a:off x="6459143" y="64068"/>
            <a:ext cx="1859641" cy="762490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>
            <a:lvl1pPr algn="l" defTabSz="342900" rtl="1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pPr algn="r" defTabSz="457200" rtl="0"/>
            <a:r>
              <a:rPr lang="en-US" sz="4000" b="1" dirty="0">
                <a:solidFill>
                  <a:schemeClr val="bg1"/>
                </a:solidFill>
                <a:cs typeface="Arial" panose="020B0604020202020204" pitchFamily="34" charset="0"/>
              </a:rPr>
              <a:t>ה</a:t>
            </a:r>
            <a:r>
              <a:rPr lang="he-IL" sz="4000" b="1" dirty="0">
                <a:solidFill>
                  <a:schemeClr val="bg1"/>
                </a:solidFill>
                <a:cs typeface="Arial" panose="020B0604020202020204" pitchFamily="34" charset="0"/>
              </a:rPr>
              <a:t>נחיות</a:t>
            </a:r>
            <a:endParaRPr lang="en-US" sz="4200" b="1" dirty="0">
              <a:solidFill>
                <a:srgbClr val="EBEBE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01864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/>
        </p:nvSpPr>
        <p:spPr>
          <a:xfrm>
            <a:off x="2420700" y="1190250"/>
            <a:ext cx="2151300" cy="36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6741312" y="1628773"/>
            <a:ext cx="2165363" cy="3262752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rgbClr val="233A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en-US"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b="1" dirty="0"/>
              <a:t>     </a:t>
            </a:r>
            <a:r>
              <a:rPr lang="iw" b="1" u="sng" dirty="0"/>
              <a:t>רקע מדעי:</a:t>
            </a:r>
            <a:endParaRPr lang="he-IL"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b="1" u="sng" dirty="0"/>
              <a:t/>
            </a:r>
            <a:br>
              <a:rPr lang="iw" b="1" u="sng" dirty="0"/>
            </a:b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b="1" u="sng" dirty="0">
                <a:solidFill>
                  <a:schemeClr val="bg1"/>
                </a:solidFill>
              </a:rPr>
              <a:t>השימושים במשאב: </a:t>
            </a:r>
            <a:endParaRPr b="1" u="sng" dirty="0">
              <a:solidFill>
                <a:schemeClr val="bg1"/>
              </a:solidFill>
            </a:endParaRPr>
          </a:p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" dirty="0"/>
              <a:t> </a:t>
            </a: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" name="Google Shape;143;p15"/>
          <p:cNvSpPr/>
          <p:nvPr/>
        </p:nvSpPr>
        <p:spPr>
          <a:xfrm>
            <a:off x="223037" y="1628774"/>
            <a:ext cx="1984800" cy="3285075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rgbClr val="233A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b="1" u="sng" dirty="0"/>
              <a:t>ה</a:t>
            </a:r>
            <a:r>
              <a:rPr lang="iw" b="1" u="sng" dirty="0"/>
              <a:t>פתרונות שלנו </a:t>
            </a:r>
            <a:r>
              <a:rPr lang="he-IL" b="1" u="sng" dirty="0"/>
              <a:t>ב</a:t>
            </a:r>
            <a:r>
              <a:rPr lang="iw" b="1" u="sng" dirty="0"/>
              <a:t>רמה הארצית</a:t>
            </a: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" dirty="0"/>
              <a:t> </a:t>
            </a: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4" name="Google Shape;144;p15"/>
          <p:cNvSpPr/>
          <p:nvPr/>
        </p:nvSpPr>
        <p:spPr>
          <a:xfrm>
            <a:off x="2403101" y="1628775"/>
            <a:ext cx="1984800" cy="326275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rgbClr val="233A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b="1" u="sng" dirty="0"/>
              <a:t>הפתרונות שלנו בבית ובכיתה:</a:t>
            </a: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</p:txBody>
      </p:sp>
      <p:sp>
        <p:nvSpPr>
          <p:cNvPr id="145" name="Google Shape;145;p15"/>
          <p:cNvSpPr/>
          <p:nvPr/>
        </p:nvSpPr>
        <p:spPr>
          <a:xfrm>
            <a:off x="4569427" y="1628773"/>
            <a:ext cx="1984800" cy="3262751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rgbClr val="233A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b="1" dirty="0"/>
              <a:t>     </a:t>
            </a:r>
            <a:r>
              <a:rPr lang="iw" b="1" u="sng" dirty="0"/>
              <a:t>מה הנזקים:</a:t>
            </a: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" dirty="0"/>
              <a:t> </a:t>
            </a: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3E75C57F-D3FD-4311-A86C-BA6AEC416EDD}"/>
              </a:ext>
            </a:extLst>
          </p:cNvPr>
          <p:cNvSpPr/>
          <p:nvPr/>
        </p:nvSpPr>
        <p:spPr>
          <a:xfrm>
            <a:off x="6850856" y="-1"/>
            <a:ext cx="1543050" cy="885825"/>
          </a:xfrm>
          <a:prstGeom prst="rect">
            <a:avLst/>
          </a:prstGeom>
          <a:ln>
            <a:noFill/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40" name="Google Shape;140;p15"/>
          <p:cNvSpPr txBox="1">
            <a:spLocks noGrp="1"/>
          </p:cNvSpPr>
          <p:nvPr>
            <p:ph type="title"/>
          </p:nvPr>
        </p:nvSpPr>
        <p:spPr>
          <a:xfrm>
            <a:off x="478631" y="91863"/>
            <a:ext cx="7834313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sz="3200" b="1" dirty="0"/>
              <a:t>דייג יתר</a:t>
            </a:r>
            <a:r>
              <a:rPr lang="he-IL" sz="1400" dirty="0"/>
              <a:t>          </a:t>
            </a:r>
            <a:r>
              <a:rPr lang="iw" sz="2000" b="1" dirty="0"/>
              <a:t>חברי הקבוצה:</a:t>
            </a:r>
            <a:r>
              <a:rPr lang="he-IL" sz="2000" b="1" dirty="0"/>
              <a:t>____________________________________</a:t>
            </a:r>
            <a:endParaRPr sz="14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/>
        </p:nvSpPr>
        <p:spPr>
          <a:xfrm>
            <a:off x="2420700" y="1190250"/>
            <a:ext cx="2151300" cy="36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6741312" y="1628773"/>
            <a:ext cx="2165363" cy="3262752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rgbClr val="233A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en-US"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b="1" dirty="0"/>
              <a:t>     </a:t>
            </a:r>
            <a:r>
              <a:rPr lang="iw" b="1" u="sng" dirty="0"/>
              <a:t>רקע מדעי:</a:t>
            </a:r>
            <a:endParaRPr lang="he-IL"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b="1" u="sng" dirty="0"/>
              <a:t/>
            </a:r>
            <a:br>
              <a:rPr lang="iw" b="1" u="sng" dirty="0"/>
            </a:b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b="1" u="sng" dirty="0">
                <a:solidFill>
                  <a:schemeClr val="bg1"/>
                </a:solidFill>
              </a:rPr>
              <a:t>השימושים במשאב: </a:t>
            </a:r>
            <a:endParaRPr b="1" u="sng" dirty="0">
              <a:solidFill>
                <a:schemeClr val="bg1"/>
              </a:solidFill>
            </a:endParaRPr>
          </a:p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" dirty="0"/>
              <a:t> </a:t>
            </a: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" name="Google Shape;143;p15"/>
          <p:cNvSpPr/>
          <p:nvPr/>
        </p:nvSpPr>
        <p:spPr>
          <a:xfrm>
            <a:off x="223037" y="1628774"/>
            <a:ext cx="1984800" cy="3285075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rgbClr val="233A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b="1" u="sng" dirty="0"/>
              <a:t>ה</a:t>
            </a:r>
            <a:r>
              <a:rPr lang="iw" b="1" u="sng" dirty="0"/>
              <a:t>פתרונות שלנו </a:t>
            </a:r>
            <a:r>
              <a:rPr lang="he-IL" b="1" u="sng" dirty="0"/>
              <a:t>ב</a:t>
            </a:r>
            <a:r>
              <a:rPr lang="iw" b="1" u="sng" dirty="0"/>
              <a:t>רמה הארצית</a:t>
            </a: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" dirty="0"/>
              <a:t> </a:t>
            </a: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4" name="Google Shape;144;p15"/>
          <p:cNvSpPr/>
          <p:nvPr/>
        </p:nvSpPr>
        <p:spPr>
          <a:xfrm>
            <a:off x="2403101" y="1628775"/>
            <a:ext cx="1984800" cy="326275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rgbClr val="233A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b="1" u="sng" dirty="0"/>
              <a:t>הפתרונות שלנו בבית ובכיתה:</a:t>
            </a: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</p:txBody>
      </p:sp>
      <p:sp>
        <p:nvSpPr>
          <p:cNvPr id="145" name="Google Shape;145;p15"/>
          <p:cNvSpPr/>
          <p:nvPr/>
        </p:nvSpPr>
        <p:spPr>
          <a:xfrm>
            <a:off x="4569427" y="1628773"/>
            <a:ext cx="1984800" cy="3262751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rgbClr val="233A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b="1" dirty="0"/>
              <a:t>     </a:t>
            </a:r>
            <a:r>
              <a:rPr lang="iw" b="1" u="sng" dirty="0"/>
              <a:t>מה הנזקים:</a:t>
            </a: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" dirty="0"/>
              <a:t> </a:t>
            </a: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3E75C57F-D3FD-4311-A86C-BA6AEC416EDD}"/>
              </a:ext>
            </a:extLst>
          </p:cNvPr>
          <p:cNvSpPr/>
          <p:nvPr/>
        </p:nvSpPr>
        <p:spPr>
          <a:xfrm>
            <a:off x="6850856" y="-1"/>
            <a:ext cx="1543050" cy="900113"/>
          </a:xfrm>
          <a:prstGeom prst="rect">
            <a:avLst/>
          </a:prstGeom>
          <a:ln>
            <a:noFill/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40" name="Google Shape;140;p15"/>
          <p:cNvSpPr txBox="1">
            <a:spLocks noGrp="1"/>
          </p:cNvSpPr>
          <p:nvPr>
            <p:ph type="title"/>
          </p:nvPr>
        </p:nvSpPr>
        <p:spPr>
          <a:xfrm>
            <a:off x="478631" y="91863"/>
            <a:ext cx="7834313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r"/>
            <a:r>
              <a:rPr lang="iw" sz="3600" b="1" dirty="0"/>
              <a:t>מחצבות</a:t>
            </a:r>
            <a:r>
              <a:rPr lang="he-IL" sz="3600" b="1" dirty="0"/>
              <a:t> </a:t>
            </a:r>
            <a:r>
              <a:rPr lang="he-IL" sz="3200" dirty="0"/>
              <a:t>  </a:t>
            </a:r>
            <a:r>
              <a:rPr lang="iw" sz="2000" b="1" dirty="0"/>
              <a:t>חברי הקבוצה:</a:t>
            </a:r>
            <a:r>
              <a:rPr lang="he-IL" sz="2000" b="1" dirty="0"/>
              <a:t>____________________________________</a:t>
            </a:r>
            <a:endParaRPr sz="1400" b="1" dirty="0"/>
          </a:p>
        </p:txBody>
      </p:sp>
    </p:spTree>
    <p:extLst>
      <p:ext uri="{BB962C8B-B14F-4D97-AF65-F5344CB8AC3E}">
        <p14:creationId xmlns:p14="http://schemas.microsoft.com/office/powerpoint/2010/main" val="1451982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/>
        </p:nvSpPr>
        <p:spPr>
          <a:xfrm>
            <a:off x="2420700" y="1190250"/>
            <a:ext cx="2151300" cy="36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6741312" y="1628773"/>
            <a:ext cx="2165363" cy="3262752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rgbClr val="233A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en-US"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b="1" dirty="0"/>
              <a:t>     </a:t>
            </a:r>
            <a:r>
              <a:rPr lang="iw" b="1" u="sng" dirty="0"/>
              <a:t>רקע מדעי:</a:t>
            </a:r>
            <a:endParaRPr lang="he-IL"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b="1" u="sng" dirty="0"/>
              <a:t/>
            </a:r>
            <a:br>
              <a:rPr lang="iw" b="1" u="sng" dirty="0"/>
            </a:b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b="1" u="sng" dirty="0">
                <a:solidFill>
                  <a:schemeClr val="bg1"/>
                </a:solidFill>
              </a:rPr>
              <a:t>השימושים במשאב: </a:t>
            </a:r>
            <a:endParaRPr b="1" u="sng" dirty="0">
              <a:solidFill>
                <a:schemeClr val="bg1"/>
              </a:solidFill>
            </a:endParaRPr>
          </a:p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" dirty="0"/>
              <a:t> </a:t>
            </a: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" name="Google Shape;143;p15"/>
          <p:cNvSpPr/>
          <p:nvPr/>
        </p:nvSpPr>
        <p:spPr>
          <a:xfrm>
            <a:off x="223037" y="1628774"/>
            <a:ext cx="1984800" cy="3285075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rgbClr val="233A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b="1" u="sng" dirty="0"/>
              <a:t>ה</a:t>
            </a:r>
            <a:r>
              <a:rPr lang="iw" b="1" u="sng" dirty="0"/>
              <a:t>פתרונות שלנו </a:t>
            </a:r>
            <a:r>
              <a:rPr lang="he-IL" b="1" u="sng" dirty="0"/>
              <a:t>ב</a:t>
            </a:r>
            <a:r>
              <a:rPr lang="iw" b="1" u="sng" dirty="0"/>
              <a:t>רמה הארצית</a:t>
            </a: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" dirty="0"/>
              <a:t> </a:t>
            </a: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4" name="Google Shape;144;p15"/>
          <p:cNvSpPr/>
          <p:nvPr/>
        </p:nvSpPr>
        <p:spPr>
          <a:xfrm>
            <a:off x="2403101" y="1628775"/>
            <a:ext cx="1984800" cy="326275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rgbClr val="233A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b="1" u="sng" dirty="0"/>
              <a:t>הפתרונות שלנו בבית ובכיתה:</a:t>
            </a: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</p:txBody>
      </p:sp>
      <p:sp>
        <p:nvSpPr>
          <p:cNvPr id="145" name="Google Shape;145;p15"/>
          <p:cNvSpPr/>
          <p:nvPr/>
        </p:nvSpPr>
        <p:spPr>
          <a:xfrm>
            <a:off x="4569427" y="1628773"/>
            <a:ext cx="1984800" cy="3262751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rgbClr val="233A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b="1" dirty="0"/>
              <a:t>     </a:t>
            </a:r>
            <a:r>
              <a:rPr lang="iw" b="1" u="sng" dirty="0"/>
              <a:t>מה הנזקים:</a:t>
            </a: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" dirty="0"/>
              <a:t> </a:t>
            </a: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3E75C57F-D3FD-4311-A86C-BA6AEC416EDD}"/>
              </a:ext>
            </a:extLst>
          </p:cNvPr>
          <p:cNvSpPr/>
          <p:nvPr/>
        </p:nvSpPr>
        <p:spPr>
          <a:xfrm>
            <a:off x="6415090" y="-1"/>
            <a:ext cx="2014537" cy="900113"/>
          </a:xfrm>
          <a:prstGeom prst="rect">
            <a:avLst/>
          </a:prstGeom>
          <a:ln>
            <a:noFill/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40" name="Google Shape;140;p15"/>
          <p:cNvSpPr txBox="1">
            <a:spLocks noGrp="1"/>
          </p:cNvSpPr>
          <p:nvPr>
            <p:ph type="title"/>
          </p:nvPr>
        </p:nvSpPr>
        <p:spPr>
          <a:xfrm>
            <a:off x="292895" y="91863"/>
            <a:ext cx="802005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r"/>
            <a:r>
              <a:rPr lang="iw" sz="3200" b="1" dirty="0"/>
              <a:t>בירוא יערות</a:t>
            </a:r>
            <a:r>
              <a:rPr lang="he-IL" sz="3200" b="1" dirty="0"/>
              <a:t>   </a:t>
            </a:r>
            <a:r>
              <a:rPr lang="iw" sz="2000" b="1" dirty="0"/>
              <a:t>חברי</a:t>
            </a:r>
            <a:r>
              <a:rPr lang="he-IL" sz="2000" b="1" dirty="0"/>
              <a:t> </a:t>
            </a:r>
            <a:r>
              <a:rPr lang="iw" sz="2000" b="1" dirty="0"/>
              <a:t>הקבוצה:</a:t>
            </a:r>
            <a:r>
              <a:rPr lang="he-IL" sz="2000" b="1" dirty="0"/>
              <a:t>________________________________</a:t>
            </a:r>
            <a:endParaRPr sz="1400" b="1" dirty="0"/>
          </a:p>
        </p:txBody>
      </p:sp>
    </p:spTree>
    <p:extLst>
      <p:ext uri="{BB962C8B-B14F-4D97-AF65-F5344CB8AC3E}">
        <p14:creationId xmlns:p14="http://schemas.microsoft.com/office/powerpoint/2010/main" val="882120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/>
        </p:nvSpPr>
        <p:spPr>
          <a:xfrm>
            <a:off x="2420700" y="1190250"/>
            <a:ext cx="2151300" cy="36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6741312" y="1628773"/>
            <a:ext cx="2165363" cy="3262752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rgbClr val="233A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en-US"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b="1" dirty="0"/>
              <a:t>     </a:t>
            </a:r>
            <a:r>
              <a:rPr lang="iw" b="1" u="sng" dirty="0"/>
              <a:t>רקע מדעי:</a:t>
            </a:r>
            <a:endParaRPr lang="he-IL"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b="1" u="sng" dirty="0"/>
              <a:t/>
            </a:r>
            <a:br>
              <a:rPr lang="iw" b="1" u="sng" dirty="0"/>
            </a:b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b="1" u="sng" dirty="0">
                <a:solidFill>
                  <a:schemeClr val="bg1"/>
                </a:solidFill>
              </a:rPr>
              <a:t>השימושים במשאב: </a:t>
            </a:r>
            <a:endParaRPr b="1" u="sng" dirty="0">
              <a:solidFill>
                <a:schemeClr val="bg1"/>
              </a:solidFill>
            </a:endParaRPr>
          </a:p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" dirty="0"/>
              <a:t> </a:t>
            </a: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" name="Google Shape;143;p15"/>
          <p:cNvSpPr/>
          <p:nvPr/>
        </p:nvSpPr>
        <p:spPr>
          <a:xfrm>
            <a:off x="223037" y="1628774"/>
            <a:ext cx="1984800" cy="3285075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rgbClr val="233A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b="1" u="sng" dirty="0"/>
              <a:t>ה</a:t>
            </a:r>
            <a:r>
              <a:rPr lang="iw" b="1" u="sng" dirty="0"/>
              <a:t>פתרונות שלנו </a:t>
            </a:r>
            <a:r>
              <a:rPr lang="he-IL" b="1" u="sng" dirty="0"/>
              <a:t>ב</a:t>
            </a:r>
            <a:r>
              <a:rPr lang="iw" b="1" u="sng" dirty="0"/>
              <a:t>רמה הארצית</a:t>
            </a: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" dirty="0"/>
              <a:t> </a:t>
            </a: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4" name="Google Shape;144;p15"/>
          <p:cNvSpPr/>
          <p:nvPr/>
        </p:nvSpPr>
        <p:spPr>
          <a:xfrm>
            <a:off x="2403101" y="1628775"/>
            <a:ext cx="1984800" cy="326275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rgbClr val="233A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b="1" u="sng" dirty="0"/>
              <a:t>הפתרונות שלנו בבית ובכיתה:</a:t>
            </a: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</p:txBody>
      </p:sp>
      <p:sp>
        <p:nvSpPr>
          <p:cNvPr id="145" name="Google Shape;145;p15"/>
          <p:cNvSpPr/>
          <p:nvPr/>
        </p:nvSpPr>
        <p:spPr>
          <a:xfrm>
            <a:off x="4569427" y="1628773"/>
            <a:ext cx="1984800" cy="3262751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rgbClr val="233A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b="1" dirty="0"/>
              <a:t>     </a:t>
            </a:r>
            <a:r>
              <a:rPr lang="iw" b="1" u="sng" dirty="0"/>
              <a:t>מה הנזקים:</a:t>
            </a: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" dirty="0"/>
              <a:t> </a:t>
            </a: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3E75C57F-D3FD-4311-A86C-BA6AEC416EDD}"/>
              </a:ext>
            </a:extLst>
          </p:cNvPr>
          <p:cNvSpPr/>
          <p:nvPr/>
        </p:nvSpPr>
        <p:spPr>
          <a:xfrm>
            <a:off x="6798464" y="-1"/>
            <a:ext cx="1595444" cy="900113"/>
          </a:xfrm>
          <a:prstGeom prst="rect">
            <a:avLst/>
          </a:prstGeom>
          <a:ln>
            <a:noFill/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40" name="Google Shape;140;p15"/>
          <p:cNvSpPr txBox="1">
            <a:spLocks noGrp="1"/>
          </p:cNvSpPr>
          <p:nvPr>
            <p:ph type="title"/>
          </p:nvPr>
        </p:nvSpPr>
        <p:spPr>
          <a:xfrm>
            <a:off x="478631" y="91863"/>
            <a:ext cx="7834313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r"/>
            <a:r>
              <a:rPr lang="iw" sz="3600" b="1" dirty="0"/>
              <a:t>חד פעמי</a:t>
            </a:r>
            <a:r>
              <a:rPr lang="he-IL" sz="3600" b="1" dirty="0"/>
              <a:t> </a:t>
            </a:r>
            <a:r>
              <a:rPr lang="he-IL" sz="3200" b="1" dirty="0"/>
              <a:t>  </a:t>
            </a:r>
            <a:r>
              <a:rPr lang="iw" sz="2000" b="1" dirty="0"/>
              <a:t>חברי הקבוצה:</a:t>
            </a:r>
            <a:r>
              <a:rPr lang="he-IL" sz="2000" b="1" dirty="0"/>
              <a:t>____________________________________</a:t>
            </a:r>
            <a:endParaRPr sz="1400" b="1" dirty="0"/>
          </a:p>
        </p:txBody>
      </p:sp>
    </p:spTree>
    <p:extLst>
      <p:ext uri="{BB962C8B-B14F-4D97-AF65-F5344CB8AC3E}">
        <p14:creationId xmlns:p14="http://schemas.microsoft.com/office/powerpoint/2010/main" val="4183025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/>
        </p:nvSpPr>
        <p:spPr>
          <a:xfrm>
            <a:off x="2420700" y="1190250"/>
            <a:ext cx="2151300" cy="36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6741312" y="1628773"/>
            <a:ext cx="2165363" cy="3262752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rgbClr val="233A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en-US"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b="1" dirty="0"/>
              <a:t>     </a:t>
            </a:r>
            <a:r>
              <a:rPr lang="iw" b="1" u="sng" dirty="0"/>
              <a:t>רקע מדעי:</a:t>
            </a:r>
            <a:endParaRPr lang="he-IL"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b="1" u="sng" dirty="0"/>
              <a:t/>
            </a:r>
            <a:br>
              <a:rPr lang="iw" b="1" u="sng" dirty="0"/>
            </a:b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b="1" u="sng" dirty="0">
                <a:solidFill>
                  <a:schemeClr val="bg1"/>
                </a:solidFill>
              </a:rPr>
              <a:t>השימושים במשאב: </a:t>
            </a:r>
            <a:endParaRPr b="1" u="sng" dirty="0">
              <a:solidFill>
                <a:schemeClr val="bg1"/>
              </a:solidFill>
            </a:endParaRPr>
          </a:p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" dirty="0"/>
              <a:t> </a:t>
            </a: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" name="Google Shape;143;p15"/>
          <p:cNvSpPr/>
          <p:nvPr/>
        </p:nvSpPr>
        <p:spPr>
          <a:xfrm>
            <a:off x="223037" y="1628774"/>
            <a:ext cx="1984800" cy="3285075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rgbClr val="233A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b="1" u="sng" dirty="0"/>
              <a:t>ה</a:t>
            </a:r>
            <a:r>
              <a:rPr lang="iw" b="1" u="sng" dirty="0"/>
              <a:t>פתרונות שלנו </a:t>
            </a:r>
            <a:r>
              <a:rPr lang="he-IL" b="1" u="sng" dirty="0"/>
              <a:t>ב</a:t>
            </a:r>
            <a:r>
              <a:rPr lang="iw" b="1" u="sng" dirty="0"/>
              <a:t>רמה הארצית</a:t>
            </a: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" dirty="0"/>
              <a:t> </a:t>
            </a: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4" name="Google Shape;144;p15"/>
          <p:cNvSpPr/>
          <p:nvPr/>
        </p:nvSpPr>
        <p:spPr>
          <a:xfrm>
            <a:off x="2403101" y="1628775"/>
            <a:ext cx="1984800" cy="326275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rgbClr val="233A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b="1" u="sng" dirty="0"/>
              <a:t>הפתרונות שלנו בבית ובכיתה:</a:t>
            </a: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</p:txBody>
      </p:sp>
      <p:sp>
        <p:nvSpPr>
          <p:cNvPr id="145" name="Google Shape;145;p15"/>
          <p:cNvSpPr/>
          <p:nvPr/>
        </p:nvSpPr>
        <p:spPr>
          <a:xfrm>
            <a:off x="4569427" y="1628773"/>
            <a:ext cx="1984800" cy="3262751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rgbClr val="233A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b="1" dirty="0"/>
              <a:t>     </a:t>
            </a:r>
            <a:r>
              <a:rPr lang="iw" b="1" u="sng" dirty="0"/>
              <a:t>מה הנזקים:</a:t>
            </a: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" dirty="0"/>
              <a:t> </a:t>
            </a: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3E75C57F-D3FD-4311-A86C-BA6AEC416EDD}"/>
              </a:ext>
            </a:extLst>
          </p:cNvPr>
          <p:cNvSpPr/>
          <p:nvPr/>
        </p:nvSpPr>
        <p:spPr>
          <a:xfrm>
            <a:off x="6322219" y="7143"/>
            <a:ext cx="2271712" cy="900113"/>
          </a:xfrm>
          <a:prstGeom prst="rect">
            <a:avLst/>
          </a:prstGeom>
          <a:ln>
            <a:noFill/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40" name="Google Shape;140;p15"/>
          <p:cNvSpPr txBox="1">
            <a:spLocks noGrp="1"/>
          </p:cNvSpPr>
          <p:nvPr>
            <p:ph type="title"/>
          </p:nvPr>
        </p:nvSpPr>
        <p:spPr>
          <a:xfrm>
            <a:off x="292894" y="91863"/>
            <a:ext cx="8341524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r"/>
            <a:r>
              <a:rPr lang="he-IL" sz="3200" b="1" dirty="0"/>
              <a:t>תרבות הצריכה    </a:t>
            </a:r>
            <a:r>
              <a:rPr lang="iw" sz="2000" b="1" dirty="0"/>
              <a:t>חברי</a:t>
            </a:r>
            <a:r>
              <a:rPr lang="he-IL" sz="2000" b="1" dirty="0"/>
              <a:t> </a:t>
            </a:r>
            <a:r>
              <a:rPr lang="iw" sz="2000" b="1" dirty="0"/>
              <a:t>הקבוצה:</a:t>
            </a:r>
            <a:r>
              <a:rPr lang="he-IL" sz="2000" b="1" dirty="0"/>
              <a:t>________________________________</a:t>
            </a:r>
            <a:endParaRPr sz="1400" b="1" dirty="0"/>
          </a:p>
        </p:txBody>
      </p:sp>
    </p:spTree>
    <p:extLst>
      <p:ext uri="{BB962C8B-B14F-4D97-AF65-F5344CB8AC3E}">
        <p14:creationId xmlns:p14="http://schemas.microsoft.com/office/powerpoint/2010/main" val="415819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/>
        </p:nvSpPr>
        <p:spPr>
          <a:xfrm>
            <a:off x="2420700" y="1190250"/>
            <a:ext cx="2151300" cy="36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6741312" y="1628773"/>
            <a:ext cx="2165363" cy="3262752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rgbClr val="233A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en-US"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b="1" dirty="0"/>
              <a:t>     </a:t>
            </a:r>
            <a:r>
              <a:rPr lang="iw" b="1" u="sng" dirty="0"/>
              <a:t>רקע מדעי:</a:t>
            </a:r>
            <a:endParaRPr lang="he-IL"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b="1" u="sng" dirty="0"/>
              <a:t/>
            </a:r>
            <a:br>
              <a:rPr lang="iw" b="1" u="sng" dirty="0"/>
            </a:b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b="1" u="sng" dirty="0">
                <a:solidFill>
                  <a:schemeClr val="bg1"/>
                </a:solidFill>
              </a:rPr>
              <a:t>השימושים במשאב: </a:t>
            </a:r>
            <a:endParaRPr b="1" u="sng" dirty="0">
              <a:solidFill>
                <a:schemeClr val="bg1"/>
              </a:solidFill>
            </a:endParaRPr>
          </a:p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" dirty="0"/>
              <a:t> </a:t>
            </a: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" name="Google Shape;143;p15"/>
          <p:cNvSpPr/>
          <p:nvPr/>
        </p:nvSpPr>
        <p:spPr>
          <a:xfrm>
            <a:off x="223037" y="1628774"/>
            <a:ext cx="1984800" cy="3285075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rgbClr val="233A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b="1" u="sng" dirty="0"/>
              <a:t>ה</a:t>
            </a:r>
            <a:r>
              <a:rPr lang="iw" b="1" u="sng" dirty="0"/>
              <a:t>פתרונות שלנו </a:t>
            </a:r>
            <a:r>
              <a:rPr lang="he-IL" b="1" u="sng" dirty="0"/>
              <a:t>ב</a:t>
            </a:r>
            <a:r>
              <a:rPr lang="iw" b="1" u="sng" dirty="0"/>
              <a:t>רמה הארצית</a:t>
            </a: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" dirty="0"/>
              <a:t> </a:t>
            </a: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4" name="Google Shape;144;p15"/>
          <p:cNvSpPr/>
          <p:nvPr/>
        </p:nvSpPr>
        <p:spPr>
          <a:xfrm>
            <a:off x="2403101" y="1628775"/>
            <a:ext cx="1984800" cy="326275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rgbClr val="233A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b="1" u="sng" dirty="0"/>
              <a:t>הפתרונות שלנו בבית ובכיתה:</a:t>
            </a: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</p:txBody>
      </p:sp>
      <p:sp>
        <p:nvSpPr>
          <p:cNvPr id="145" name="Google Shape;145;p15"/>
          <p:cNvSpPr/>
          <p:nvPr/>
        </p:nvSpPr>
        <p:spPr>
          <a:xfrm>
            <a:off x="4569427" y="1628773"/>
            <a:ext cx="1984800" cy="3262751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rgbClr val="233A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b="1" dirty="0"/>
              <a:t>     </a:t>
            </a:r>
            <a:r>
              <a:rPr lang="iw" b="1" u="sng" dirty="0"/>
              <a:t>מה הנזקים:</a:t>
            </a: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u="sng" dirty="0"/>
          </a:p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u="sng"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" dirty="0"/>
              <a:t> </a:t>
            </a: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3E75C57F-D3FD-4311-A86C-BA6AEC416EDD}"/>
              </a:ext>
            </a:extLst>
          </p:cNvPr>
          <p:cNvSpPr/>
          <p:nvPr/>
        </p:nvSpPr>
        <p:spPr>
          <a:xfrm>
            <a:off x="6769888" y="7144"/>
            <a:ext cx="1595444" cy="900112"/>
          </a:xfrm>
          <a:prstGeom prst="rect">
            <a:avLst/>
          </a:prstGeom>
          <a:ln>
            <a:noFill/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40" name="Google Shape;140;p15"/>
          <p:cNvSpPr txBox="1">
            <a:spLocks noGrp="1"/>
          </p:cNvSpPr>
          <p:nvPr>
            <p:ph type="title"/>
          </p:nvPr>
        </p:nvSpPr>
        <p:spPr>
          <a:xfrm>
            <a:off x="478631" y="91863"/>
            <a:ext cx="7834313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r"/>
            <a:r>
              <a:rPr lang="he-IL" sz="3600" b="1" dirty="0"/>
              <a:t>תחבורה    </a:t>
            </a:r>
            <a:r>
              <a:rPr lang="iw" sz="2000" b="1" dirty="0"/>
              <a:t>חברי הקבוצה:</a:t>
            </a:r>
            <a:r>
              <a:rPr lang="he-IL" sz="2000" b="1" dirty="0"/>
              <a:t>____________________________________</a:t>
            </a:r>
            <a:endParaRPr sz="1400" b="1" dirty="0"/>
          </a:p>
        </p:txBody>
      </p:sp>
    </p:spTree>
    <p:extLst>
      <p:ext uri="{BB962C8B-B14F-4D97-AF65-F5344CB8AC3E}">
        <p14:creationId xmlns:p14="http://schemas.microsoft.com/office/powerpoint/2010/main" val="3369139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>
            <a:extLst>
              <a:ext uri="{FF2B5EF4-FFF2-40B4-BE49-F238E27FC236}">
                <a16:creationId xmlns:a16="http://schemas.microsoft.com/office/drawing/2014/main" id="{636D97DC-CBF1-4EA3-94F8-B8BA35EEF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173" y="0"/>
            <a:ext cx="3944496" cy="902286"/>
          </a:xfrm>
          <a:prstGeom prst="rect">
            <a:avLst/>
          </a:prstGeom>
        </p:spPr>
      </p:pic>
      <p:sp>
        <p:nvSpPr>
          <p:cNvPr id="210" name="Google Shape;210;p22"/>
          <p:cNvSpPr txBox="1">
            <a:spLocks noGrp="1"/>
          </p:cNvSpPr>
          <p:nvPr>
            <p:ph type="title"/>
          </p:nvPr>
        </p:nvSpPr>
        <p:spPr>
          <a:xfrm>
            <a:off x="1223962" y="1028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he-IL" b="1" dirty="0"/>
              <a:t>מקורות המידע למשימה:</a:t>
            </a:r>
            <a:endParaRPr b="1" dirty="0"/>
          </a:p>
        </p:txBody>
      </p:sp>
      <p:sp>
        <p:nvSpPr>
          <p:cNvPr id="3" name="מלבן: פינות מעוגלות 2">
            <a:extLst>
              <a:ext uri="{FF2B5EF4-FFF2-40B4-BE49-F238E27FC236}">
                <a16:creationId xmlns:a16="http://schemas.microsoft.com/office/drawing/2014/main" id="{EEC42B52-6AE1-48B0-ACD2-4BFD38A2B2E0}"/>
              </a:ext>
            </a:extLst>
          </p:cNvPr>
          <p:cNvSpPr/>
          <p:nvPr/>
        </p:nvSpPr>
        <p:spPr>
          <a:xfrm>
            <a:off x="6115051" y="1486631"/>
            <a:ext cx="2843212" cy="3007519"/>
          </a:xfrm>
          <a:prstGeom prst="roundRect">
            <a:avLst/>
          </a:prstGeom>
          <a:solidFill>
            <a:schemeClr val="tx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sz="2400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א. דייג יתר </a:t>
            </a:r>
            <a:r>
              <a:rPr lang="he-IL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/>
            </a:r>
            <a:br>
              <a:rPr lang="he-IL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</a:br>
            <a:r>
              <a:rPr lang="he-IL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מידע בספר מסע מדע עמודים 12-13</a:t>
            </a:r>
            <a:endParaRPr lang="en-US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dirty="0"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קישור ל</a:t>
            </a:r>
            <a:r>
              <a:rPr lang="he-IL" u="sng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דף מידע דייג יתר </a:t>
            </a:r>
            <a:r>
              <a:rPr lang="he-IL" sz="1600" u="sng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1</a:t>
            </a:r>
            <a:r>
              <a:rPr lang="he-IL" u="sng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</a:t>
            </a:r>
            <a:r>
              <a:rPr lang="he-IL" dirty="0"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dirty="0"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קישור ל</a:t>
            </a:r>
            <a:r>
              <a:rPr lang="he-IL" u="sng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  <a:hlinkClick r:id="rId5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דף מידע דייג יתר 2 </a:t>
            </a:r>
            <a:r>
              <a:rPr lang="he-IL" dirty="0"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dirty="0"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קישור ל</a:t>
            </a:r>
            <a:r>
              <a:rPr lang="he-IL" u="sng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  <a:hlinkClick r:id="rId6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דף מידע דייג יתר 3 </a:t>
            </a:r>
            <a:r>
              <a:rPr lang="he-IL" dirty="0"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/>
            <a:endParaRPr lang="he-IL" dirty="0"/>
          </a:p>
        </p:txBody>
      </p:sp>
      <p:sp>
        <p:nvSpPr>
          <p:cNvPr id="7" name="מלבן: פינות מעוגלות 6">
            <a:extLst>
              <a:ext uri="{FF2B5EF4-FFF2-40B4-BE49-F238E27FC236}">
                <a16:creationId xmlns:a16="http://schemas.microsoft.com/office/drawing/2014/main" id="{7406664E-083D-4605-8D12-BD78FB815D6D}"/>
              </a:ext>
            </a:extLst>
          </p:cNvPr>
          <p:cNvSpPr/>
          <p:nvPr/>
        </p:nvSpPr>
        <p:spPr>
          <a:xfrm>
            <a:off x="3150394" y="1486631"/>
            <a:ext cx="2843212" cy="3007519"/>
          </a:xfrm>
          <a:prstGeom prst="roundRect">
            <a:avLst/>
          </a:prstGeom>
          <a:solidFill>
            <a:schemeClr val="tx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146050" lvl="0" algn="r" defTabSz="342900" rtl="1">
              <a:lnSpc>
                <a:spcPct val="107000"/>
              </a:lnSpc>
              <a:spcAft>
                <a:spcPts val="800"/>
              </a:spcAft>
              <a:buClr>
                <a:srgbClr val="1E5155">
                  <a:lumMod val="40000"/>
                  <a:lumOff val="60000"/>
                </a:srgbClr>
              </a:buClr>
              <a:buSzPts val="1300"/>
            </a:pPr>
            <a:r>
              <a:rPr lang="he-IL" sz="2400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ב. מחצבות</a:t>
            </a:r>
            <a:endParaRPr lang="en-US" sz="20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31800" lvl="0" indent="-285750" algn="r" defTabSz="342900" rtl="1">
              <a:lnSpc>
                <a:spcPct val="107000"/>
              </a:lnSpc>
              <a:spcAft>
                <a:spcPts val="800"/>
              </a:spcAft>
              <a:buClr>
                <a:srgbClr val="1E5155">
                  <a:lumMod val="40000"/>
                  <a:lumOff val="60000"/>
                </a:srgbClr>
              </a:buClr>
              <a:buSzPts val="1300"/>
              <a:buFont typeface="Wingdings" panose="05000000000000000000" pitchFamily="2" charset="2"/>
              <a:buChar char="Ø"/>
            </a:pPr>
            <a:r>
              <a:rPr lang="he-IL" sz="16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מידע בספר מדע וטכנולוגיה עמוד 36, 62-64</a:t>
            </a:r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31800" lvl="0" indent="-285750" algn="r" defTabSz="342900" rtl="1">
              <a:lnSpc>
                <a:spcPct val="107000"/>
              </a:lnSpc>
              <a:spcAft>
                <a:spcPts val="800"/>
              </a:spcAft>
              <a:buClr>
                <a:srgbClr val="1E5155">
                  <a:lumMod val="40000"/>
                  <a:lumOff val="60000"/>
                </a:srgbClr>
              </a:buClr>
              <a:buSzPts val="1300"/>
              <a:buFont typeface="Wingdings" panose="05000000000000000000" pitchFamily="2" charset="2"/>
              <a:buChar char="Ø"/>
            </a:pPr>
            <a:r>
              <a:rPr lang="he-IL" sz="16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מידע בספר מסע מדע </a:t>
            </a:r>
            <a:r>
              <a:rPr lang="he-IL" sz="1600" dirty="0">
                <a:solidFill>
                  <a:prstClr val="white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עמודים </a:t>
            </a:r>
            <a:r>
              <a:rPr lang="he-IL" sz="16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48-52 , 66-67</a:t>
            </a:r>
          </a:p>
          <a:p>
            <a:pPr marL="431800" indent="-285750" algn="r" defTabSz="342900" rtl="1">
              <a:lnSpc>
                <a:spcPct val="107000"/>
              </a:lnSpc>
              <a:spcAft>
                <a:spcPts val="800"/>
              </a:spcAft>
              <a:buClr>
                <a:srgbClr val="1E5155">
                  <a:lumMod val="40000"/>
                  <a:lumOff val="60000"/>
                </a:srgbClr>
              </a:buClr>
              <a:buSzPts val="1300"/>
              <a:buFont typeface="Wingdings" panose="05000000000000000000" pitchFamily="2" charset="2"/>
              <a:buChar char="Ø"/>
            </a:pPr>
            <a:r>
              <a:rPr lang="he-IL" sz="1400" u="sng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  <a:hlinkClick r:id="rId7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דף מידע מחצבים</a:t>
            </a:r>
            <a:r>
              <a:rPr lang="he-IL" sz="1400" dirty="0"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r>
              <a:rPr lang="he-IL" sz="14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מהמשרד להגנת הסביבה</a:t>
            </a:r>
            <a:endParaRPr lang="en-US" sz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194F0EFC-28BF-4617-93BB-81584BD22CEE}"/>
              </a:ext>
            </a:extLst>
          </p:cNvPr>
          <p:cNvSpPr/>
          <p:nvPr/>
        </p:nvSpPr>
        <p:spPr>
          <a:xfrm>
            <a:off x="185737" y="1486631"/>
            <a:ext cx="2843212" cy="3007519"/>
          </a:xfrm>
          <a:prstGeom prst="roundRect">
            <a:avLst/>
          </a:prstGeom>
          <a:solidFill>
            <a:schemeClr val="tx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146050" lvl="0" algn="r" defTabSz="342900" rtl="1">
              <a:lnSpc>
                <a:spcPct val="107000"/>
              </a:lnSpc>
              <a:spcAft>
                <a:spcPts val="800"/>
              </a:spcAft>
              <a:buClr>
                <a:srgbClr val="1E5155">
                  <a:lumMod val="40000"/>
                  <a:lumOff val="60000"/>
                </a:srgbClr>
              </a:buClr>
              <a:buSzPts val="1300"/>
            </a:pPr>
            <a:r>
              <a:rPr lang="he-IL" sz="2400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 ג. תרבות הצריכה</a:t>
            </a:r>
          </a:p>
          <a:p>
            <a:pPr marL="431800" lvl="0" indent="-285750" algn="r" defTabSz="342900" rtl="1">
              <a:lnSpc>
                <a:spcPct val="107000"/>
              </a:lnSpc>
              <a:spcAft>
                <a:spcPts val="800"/>
              </a:spcAft>
              <a:buClr>
                <a:srgbClr val="1E5155">
                  <a:lumMod val="40000"/>
                  <a:lumOff val="60000"/>
                </a:srgbClr>
              </a:buClr>
              <a:buSzPts val="1300"/>
              <a:buFont typeface="Wingdings" panose="05000000000000000000" pitchFamily="2" charset="2"/>
              <a:buChar char="Ø"/>
            </a:pPr>
            <a:r>
              <a:rPr lang="he-IL" sz="16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מידע בספר מדע וטכנולוגיה עמוד 121</a:t>
            </a:r>
          </a:p>
          <a:p>
            <a:pPr marL="431800" lvl="0" indent="-285750" algn="r" defTabSz="342900" rtl="1">
              <a:lnSpc>
                <a:spcPct val="107000"/>
              </a:lnSpc>
              <a:spcAft>
                <a:spcPts val="800"/>
              </a:spcAft>
              <a:buClr>
                <a:srgbClr val="1E5155">
                  <a:lumMod val="40000"/>
                  <a:lumOff val="60000"/>
                </a:srgbClr>
              </a:buClr>
              <a:buSzPts val="1300"/>
              <a:buFont typeface="Wingdings" panose="05000000000000000000" pitchFamily="2" charset="2"/>
              <a:buChar char="Ø"/>
            </a:pPr>
            <a:endParaRPr lang="he-IL" sz="16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marL="431800" lvl="0" indent="-285750" algn="r" defTabSz="342900" rtl="1">
              <a:lnSpc>
                <a:spcPct val="107000"/>
              </a:lnSpc>
              <a:spcAft>
                <a:spcPts val="800"/>
              </a:spcAft>
              <a:buClr>
                <a:srgbClr val="1E5155">
                  <a:lumMod val="40000"/>
                  <a:lumOff val="60000"/>
                </a:srgbClr>
              </a:buClr>
              <a:buSzPts val="1300"/>
              <a:buFont typeface="Wingdings" panose="05000000000000000000" pitchFamily="2" charset="2"/>
              <a:buChar char="Ø"/>
            </a:pPr>
            <a:endParaRPr lang="he-IL" sz="16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marL="431800" lvl="0" indent="-285750" algn="r" defTabSz="342900" rtl="1">
              <a:lnSpc>
                <a:spcPct val="107000"/>
              </a:lnSpc>
              <a:spcAft>
                <a:spcPts val="800"/>
              </a:spcAft>
              <a:buClr>
                <a:srgbClr val="1E5155">
                  <a:lumMod val="40000"/>
                  <a:lumOff val="60000"/>
                </a:srgbClr>
              </a:buClr>
              <a:buSzPts val="1300"/>
              <a:buFont typeface="Wingdings" panose="05000000000000000000" pitchFamily="2" charset="2"/>
              <a:buChar char="Ø"/>
            </a:pPr>
            <a:endParaRPr lang="he-IL" sz="16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marL="431800" lvl="0" indent="-285750" algn="r" defTabSz="342900" rtl="1">
              <a:lnSpc>
                <a:spcPct val="107000"/>
              </a:lnSpc>
              <a:spcAft>
                <a:spcPts val="800"/>
              </a:spcAft>
              <a:buClr>
                <a:srgbClr val="1E5155">
                  <a:lumMod val="40000"/>
                  <a:lumOff val="60000"/>
                </a:srgbClr>
              </a:buClr>
              <a:buSzPts val="1300"/>
              <a:buFont typeface="Wingdings" panose="05000000000000000000" pitchFamily="2" charset="2"/>
              <a:buChar char="Ø"/>
            </a:pPr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>
            <a:extLst>
              <a:ext uri="{FF2B5EF4-FFF2-40B4-BE49-F238E27FC236}">
                <a16:creationId xmlns:a16="http://schemas.microsoft.com/office/drawing/2014/main" id="{636D97DC-CBF1-4EA3-94F8-B8BA35EEF0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5173" y="0"/>
            <a:ext cx="3944496" cy="902286"/>
          </a:xfrm>
          <a:prstGeom prst="rect">
            <a:avLst/>
          </a:prstGeom>
        </p:spPr>
      </p:pic>
      <p:sp>
        <p:nvSpPr>
          <p:cNvPr id="210" name="Google Shape;210;p22"/>
          <p:cNvSpPr txBox="1">
            <a:spLocks noGrp="1"/>
          </p:cNvSpPr>
          <p:nvPr>
            <p:ph type="title"/>
          </p:nvPr>
        </p:nvSpPr>
        <p:spPr>
          <a:xfrm>
            <a:off x="1223962" y="1028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he-IL" b="1" dirty="0"/>
              <a:t>מקורות המידע למשימה:</a:t>
            </a:r>
            <a:endParaRPr b="1" dirty="0"/>
          </a:p>
        </p:txBody>
      </p:sp>
      <p:sp>
        <p:nvSpPr>
          <p:cNvPr id="3" name="מלבן: פינות מעוגלות 2">
            <a:extLst>
              <a:ext uri="{FF2B5EF4-FFF2-40B4-BE49-F238E27FC236}">
                <a16:creationId xmlns:a16="http://schemas.microsoft.com/office/drawing/2014/main" id="{EEC42B52-6AE1-48B0-ACD2-4BFD38A2B2E0}"/>
              </a:ext>
            </a:extLst>
          </p:cNvPr>
          <p:cNvSpPr/>
          <p:nvPr/>
        </p:nvSpPr>
        <p:spPr>
          <a:xfrm>
            <a:off x="6157911" y="1486631"/>
            <a:ext cx="2843212" cy="3007519"/>
          </a:xfrm>
          <a:prstGeom prst="roundRect">
            <a:avLst/>
          </a:prstGeom>
          <a:solidFill>
            <a:schemeClr val="tx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sz="2400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ד. ברוא יערות </a:t>
            </a: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endParaRPr lang="he-IL" sz="2400" b="1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marL="285750" indent="-285750" algn="r" rt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e-IL" sz="1600" dirty="0">
                <a:solidFill>
                  <a:schemeClr val="bg1"/>
                </a:solidFill>
                <a:latin typeface="Arial" panose="020B0604020202020204" pitchFamily="34" charset="0"/>
                <a:cs typeface="David" panose="020E0502060401010101" pitchFamily="34" charset="-79"/>
              </a:rPr>
              <a:t>דף מידע ברוא יערות</a:t>
            </a: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endParaRPr lang="he-IL" sz="16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/>
            </a:r>
            <a:br>
              <a:rPr lang="he-IL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</a:br>
            <a:endParaRPr lang="he-IL" dirty="0"/>
          </a:p>
        </p:txBody>
      </p:sp>
      <p:sp>
        <p:nvSpPr>
          <p:cNvPr id="7" name="מלבן: פינות מעוגלות 6">
            <a:extLst>
              <a:ext uri="{FF2B5EF4-FFF2-40B4-BE49-F238E27FC236}">
                <a16:creationId xmlns:a16="http://schemas.microsoft.com/office/drawing/2014/main" id="{7406664E-083D-4605-8D12-BD78FB815D6D}"/>
              </a:ext>
            </a:extLst>
          </p:cNvPr>
          <p:cNvSpPr/>
          <p:nvPr/>
        </p:nvSpPr>
        <p:spPr>
          <a:xfrm>
            <a:off x="3150394" y="1486631"/>
            <a:ext cx="2843212" cy="3007519"/>
          </a:xfrm>
          <a:prstGeom prst="roundRect">
            <a:avLst/>
          </a:prstGeom>
          <a:solidFill>
            <a:schemeClr val="tx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146050" lvl="0" algn="r" defTabSz="342900" rtl="1">
              <a:lnSpc>
                <a:spcPct val="107000"/>
              </a:lnSpc>
              <a:spcAft>
                <a:spcPts val="800"/>
              </a:spcAft>
              <a:buClr>
                <a:srgbClr val="1E5155">
                  <a:lumMod val="40000"/>
                  <a:lumOff val="60000"/>
                </a:srgbClr>
              </a:buClr>
              <a:buSzPts val="1300"/>
            </a:pPr>
            <a:r>
              <a:rPr lang="he-IL" sz="2400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ה. תחבורה </a:t>
            </a:r>
          </a:p>
          <a:p>
            <a:pPr marL="431800" lvl="0" indent="-285750" algn="r" defTabSz="342900" rtl="1">
              <a:lnSpc>
                <a:spcPct val="107000"/>
              </a:lnSpc>
              <a:spcAft>
                <a:spcPts val="800"/>
              </a:spcAft>
              <a:buClr>
                <a:srgbClr val="1E5155">
                  <a:lumMod val="40000"/>
                  <a:lumOff val="60000"/>
                </a:srgbClr>
              </a:buClr>
              <a:buSzPts val="1300"/>
              <a:buFont typeface="Wingdings" panose="05000000000000000000" pitchFamily="2" charset="2"/>
              <a:buChar char="Ø"/>
            </a:pPr>
            <a:r>
              <a:rPr lang="he-IL" sz="16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דף מידע תחבורה מקיימת</a:t>
            </a:r>
          </a:p>
          <a:p>
            <a:pPr marL="431800" lvl="0" indent="-285750" algn="r" defTabSz="342900" rtl="1">
              <a:lnSpc>
                <a:spcPct val="107000"/>
              </a:lnSpc>
              <a:spcAft>
                <a:spcPts val="800"/>
              </a:spcAft>
              <a:buClr>
                <a:srgbClr val="1E5155">
                  <a:lumMod val="40000"/>
                  <a:lumOff val="60000"/>
                </a:srgbClr>
              </a:buClr>
              <a:buSzPts val="1300"/>
              <a:buFont typeface="Wingdings" panose="05000000000000000000" pitchFamily="2" charset="2"/>
              <a:buChar char="Ø"/>
            </a:pPr>
            <a:endParaRPr lang="he-IL" sz="16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marL="431800" lvl="0" indent="-285750" algn="r" defTabSz="342900" rtl="1">
              <a:lnSpc>
                <a:spcPct val="107000"/>
              </a:lnSpc>
              <a:spcAft>
                <a:spcPts val="800"/>
              </a:spcAft>
              <a:buClr>
                <a:srgbClr val="1E5155">
                  <a:lumMod val="40000"/>
                  <a:lumOff val="60000"/>
                </a:srgbClr>
              </a:buClr>
              <a:buSzPts val="1300"/>
              <a:buFont typeface="Wingdings" panose="05000000000000000000" pitchFamily="2" charset="2"/>
              <a:buChar char="Ø"/>
            </a:pPr>
            <a:endParaRPr lang="he-IL" sz="16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marL="431800" lvl="0" indent="-285750" algn="r" defTabSz="342900" rtl="1">
              <a:lnSpc>
                <a:spcPct val="107000"/>
              </a:lnSpc>
              <a:spcAft>
                <a:spcPts val="800"/>
              </a:spcAft>
              <a:buClr>
                <a:srgbClr val="1E5155">
                  <a:lumMod val="40000"/>
                  <a:lumOff val="60000"/>
                </a:srgbClr>
              </a:buClr>
              <a:buSzPts val="1300"/>
              <a:buFont typeface="Wingdings" panose="05000000000000000000" pitchFamily="2" charset="2"/>
              <a:buChar char="Ø"/>
            </a:pPr>
            <a:endParaRPr lang="he-IL" sz="16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marL="431800" lvl="0" indent="-285750" algn="r" defTabSz="342900" rtl="1">
              <a:lnSpc>
                <a:spcPct val="107000"/>
              </a:lnSpc>
              <a:spcAft>
                <a:spcPts val="800"/>
              </a:spcAft>
              <a:buClr>
                <a:srgbClr val="1E5155">
                  <a:lumMod val="40000"/>
                  <a:lumOff val="60000"/>
                </a:srgbClr>
              </a:buClr>
              <a:buSzPts val="1300"/>
              <a:buFont typeface="Wingdings" panose="05000000000000000000" pitchFamily="2" charset="2"/>
              <a:buChar char="Ø"/>
            </a:pPr>
            <a:endParaRPr lang="en-US" sz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194F0EFC-28BF-4617-93BB-81584BD22CEE}"/>
              </a:ext>
            </a:extLst>
          </p:cNvPr>
          <p:cNvSpPr/>
          <p:nvPr/>
        </p:nvSpPr>
        <p:spPr>
          <a:xfrm>
            <a:off x="142877" y="1486630"/>
            <a:ext cx="2843212" cy="3007519"/>
          </a:xfrm>
          <a:prstGeom prst="roundRect">
            <a:avLst/>
          </a:prstGeom>
          <a:solidFill>
            <a:schemeClr val="tx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r" rtl="1">
              <a:spcAft>
                <a:spcPts val="800"/>
              </a:spcAft>
            </a:pPr>
            <a:endParaRPr lang="he-IL" sz="2400" b="1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algn="r" rtl="1">
              <a:spcAft>
                <a:spcPts val="800"/>
              </a:spcAft>
            </a:pPr>
            <a:endParaRPr lang="he-IL" sz="2400" b="1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algn="r" rtl="1">
              <a:spcAft>
                <a:spcPts val="800"/>
              </a:spcAft>
            </a:pPr>
            <a:r>
              <a:rPr lang="he-IL" sz="2400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 ו. חד פעמי</a:t>
            </a:r>
            <a:br>
              <a:rPr lang="he-IL" sz="2400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</a:br>
            <a:endParaRPr lang="he-IL" sz="2400" b="1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marL="285750" indent="-285750" algn="r" rtl="1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e-IL" sz="1600" dirty="0">
                <a:solidFill>
                  <a:schemeClr val="bg1"/>
                </a:solidFill>
                <a:latin typeface="Arial" panose="020B0604020202020204" pitchFamily="34" charset="0"/>
                <a:cs typeface="David" panose="020E0502060401010101" pitchFamily="34" charset="-79"/>
              </a:rPr>
              <a:t>מידע בספר מדע וטכנולוגיה עמוד </a:t>
            </a:r>
            <a:r>
              <a:rPr lang="he-IL" sz="16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121</a:t>
            </a:r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 algn="r" rt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e-IL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דף מידע שימוש בכלים </a:t>
            </a:r>
            <a:r>
              <a:rPr lang="he-IL" dirty="0" err="1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חד"פ</a:t>
            </a:r>
            <a:endParaRPr lang="en-US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46050" lvl="0" algn="r" defTabSz="342900" rtl="1">
              <a:lnSpc>
                <a:spcPct val="107000"/>
              </a:lnSpc>
              <a:spcAft>
                <a:spcPts val="800"/>
              </a:spcAft>
              <a:buClr>
                <a:srgbClr val="1E5155">
                  <a:lumMod val="40000"/>
                  <a:lumOff val="60000"/>
                </a:srgbClr>
              </a:buClr>
              <a:buSzPts val="1300"/>
            </a:pPr>
            <a:endParaRPr lang="he-IL" sz="16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marL="431800" lvl="0" indent="-285750" algn="r" defTabSz="342900" rtl="1">
              <a:lnSpc>
                <a:spcPct val="107000"/>
              </a:lnSpc>
              <a:spcAft>
                <a:spcPts val="800"/>
              </a:spcAft>
              <a:buClr>
                <a:srgbClr val="1E5155">
                  <a:lumMod val="40000"/>
                  <a:lumOff val="60000"/>
                </a:srgbClr>
              </a:buClr>
              <a:buSzPts val="1300"/>
              <a:buFont typeface="Wingdings" panose="05000000000000000000" pitchFamily="2" charset="2"/>
              <a:buChar char="Ø"/>
            </a:pPr>
            <a:endParaRPr lang="he-IL" sz="16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marL="431800" lvl="0" indent="-285750" algn="r" defTabSz="342900" rtl="1">
              <a:lnSpc>
                <a:spcPct val="107000"/>
              </a:lnSpc>
              <a:spcAft>
                <a:spcPts val="800"/>
              </a:spcAft>
              <a:buClr>
                <a:srgbClr val="1E5155">
                  <a:lumMod val="40000"/>
                  <a:lumOff val="60000"/>
                </a:srgbClr>
              </a:buClr>
              <a:buSzPts val="1300"/>
              <a:buFont typeface="Wingdings" panose="05000000000000000000" pitchFamily="2" charset="2"/>
              <a:buChar char="Ø"/>
            </a:pPr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אובייקט 3">
            <a:extLst>
              <a:ext uri="{FF2B5EF4-FFF2-40B4-BE49-F238E27FC236}">
                <a16:creationId xmlns:a16="http://schemas.microsoft.com/office/drawing/2014/main" id="{F3FED2C1-30F0-4FB9-9E43-B13512B1B8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6963202"/>
              </p:ext>
            </p:extLst>
          </p:nvPr>
        </p:nvGraphicFramePr>
        <p:xfrm>
          <a:off x="7365207" y="3375025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Document" showAsIcon="1" r:id="rId5" imgW="914400" imgH="792417" progId="Word.Document.12">
                  <p:embed/>
                </p:oleObj>
              </mc:Choice>
              <mc:Fallback>
                <p:oleObj name="Document" showAsIcon="1" r:id="rId5" imgW="914400" imgH="79241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365207" y="3375025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אובייקט 4">
            <a:extLst>
              <a:ext uri="{FF2B5EF4-FFF2-40B4-BE49-F238E27FC236}">
                <a16:creationId xmlns:a16="http://schemas.microsoft.com/office/drawing/2014/main" id="{219F875F-425A-4175-895C-3C19837FF0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4443547"/>
              </p:ext>
            </p:extLst>
          </p:nvPr>
        </p:nvGraphicFramePr>
        <p:xfrm>
          <a:off x="4114800" y="2990390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Document" showAsIcon="1" r:id="rId7" imgW="914400" imgH="792417" progId="Word.Document.12">
                  <p:embed/>
                </p:oleObj>
              </mc:Choice>
              <mc:Fallback>
                <p:oleObj name="Document" showAsIcon="1" r:id="rId7" imgW="914400" imgH="79241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114800" y="2990390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אובייקט 5">
            <a:extLst>
              <a:ext uri="{FF2B5EF4-FFF2-40B4-BE49-F238E27FC236}">
                <a16:creationId xmlns:a16="http://schemas.microsoft.com/office/drawing/2014/main" id="{12FF9C1D-B899-417B-9FB4-AE45183D94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8816497"/>
              </p:ext>
            </p:extLst>
          </p:nvPr>
        </p:nvGraphicFramePr>
        <p:xfrm>
          <a:off x="766762" y="3701986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Document" showAsIcon="1" r:id="rId9" imgW="914400" imgH="792417" progId="Word.Document.12">
                  <p:embed/>
                </p:oleObj>
              </mc:Choice>
              <mc:Fallback>
                <p:oleObj name="Document" showAsIcon="1" r:id="rId9" imgW="914400" imgH="79241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66762" y="3701986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D93F4417-0835-4E14-B38F-B41E68A14FC2}"/>
              </a:ext>
            </a:extLst>
          </p:cNvPr>
          <p:cNvSpPr txBox="1"/>
          <p:nvPr/>
        </p:nvSpPr>
        <p:spPr>
          <a:xfrm>
            <a:off x="285749" y="4665281"/>
            <a:ext cx="871537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 dirty="0">
                <a:solidFill>
                  <a:srgbClr val="FF0000"/>
                </a:solidFill>
              </a:rPr>
              <a:t>שימו לב!!! </a:t>
            </a:r>
            <a:r>
              <a:rPr lang="he-IL" dirty="0"/>
              <a:t>- כדי להיכנס לדפי המידע יש לצאת ממצב הצגת שקופיות וללחוץ פעמיים על הסמל. </a:t>
            </a:r>
          </a:p>
        </p:txBody>
      </p:sp>
    </p:spTree>
    <p:extLst>
      <p:ext uri="{BB962C8B-B14F-4D97-AF65-F5344CB8AC3E}">
        <p14:creationId xmlns:p14="http://schemas.microsoft.com/office/powerpoint/2010/main" val="31707313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יונים">
  <a:themeElements>
    <a:clrScheme name="יונים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יונים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יונים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365</Words>
  <Application>Microsoft Office PowerPoint</Application>
  <PresentationFormat>‫הצגה על המסך (16:9)</PresentationFormat>
  <Paragraphs>368</Paragraphs>
  <Slides>11</Slides>
  <Notes>11</Notes>
  <HiddenSlides>0</HiddenSlides>
  <MMClips>0</MMClips>
  <ScaleCrop>false</ScaleCrop>
  <HeadingPairs>
    <vt:vector size="8" baseType="variant">
      <vt:variant>
        <vt:lpstr>גופנים בשימוש</vt:lpstr>
      </vt:variant>
      <vt:variant>
        <vt:i4>7</vt:i4>
      </vt:variant>
      <vt:variant>
        <vt:lpstr>ערכת נושא</vt:lpstr>
      </vt:variant>
      <vt:variant>
        <vt:i4>1</vt:i4>
      </vt:variant>
      <vt:variant>
        <vt:lpstr>שרתי OLE מוטבעים</vt:lpstr>
      </vt:variant>
      <vt:variant>
        <vt:i4>2</vt:i4>
      </vt:variant>
      <vt:variant>
        <vt:lpstr>כותרות שקופיות</vt:lpstr>
      </vt:variant>
      <vt:variant>
        <vt:i4>11</vt:i4>
      </vt:variant>
    </vt:vector>
  </HeadingPairs>
  <TitlesOfParts>
    <vt:vector size="21" baseType="lpstr">
      <vt:lpstr>Century Gothic</vt:lpstr>
      <vt:lpstr>Calibri</vt:lpstr>
      <vt:lpstr>Wingdings</vt:lpstr>
      <vt:lpstr>David</vt:lpstr>
      <vt:lpstr>Times New Roman</vt:lpstr>
      <vt:lpstr>Wingdings 3</vt:lpstr>
      <vt:lpstr>Arial</vt:lpstr>
      <vt:lpstr>יונים</vt:lpstr>
      <vt:lpstr>Worksheet</vt:lpstr>
      <vt:lpstr>Document</vt:lpstr>
      <vt:lpstr>טביעת רגל אקולוגית </vt:lpstr>
      <vt:lpstr>הנחיות</vt:lpstr>
      <vt:lpstr>מצגת של PowerPoint‏</vt:lpstr>
      <vt:lpstr>דייג יתר          חברי הקבוצה:____________________________________</vt:lpstr>
      <vt:lpstr>מחצבות   חברי הקבוצה:____________________________________</vt:lpstr>
      <vt:lpstr>בירוא יערות   חברי הקבוצה:________________________________</vt:lpstr>
      <vt:lpstr>חד פעמי   חברי הקבוצה:____________________________________</vt:lpstr>
      <vt:lpstr>תרבות הצריכה    חברי הקבוצה:________________________________</vt:lpstr>
      <vt:lpstr>תחבורה    חברי הקבוצה:____________________________________</vt:lpstr>
      <vt:lpstr>מקורות המידע למשימה:</vt:lpstr>
      <vt:lpstr>מקורות המידע למשימה: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טביעת רגל אקולוגית</dc:title>
  <dc:creator>חנה יחזקאל</dc:creator>
  <cp:lastModifiedBy>יפעת גרינברג</cp:lastModifiedBy>
  <cp:revision>13</cp:revision>
  <dcterms:created xsi:type="dcterms:W3CDTF">2020-07-27T17:11:27Z</dcterms:created>
  <dcterms:modified xsi:type="dcterms:W3CDTF">2021-04-08T11:00:02Z</dcterms:modified>
</cp:coreProperties>
</file>