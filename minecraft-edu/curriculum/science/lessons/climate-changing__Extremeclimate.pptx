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9" r:id="rId4"/>
    <p:sldId id="260" r:id="rId5"/>
    <p:sldId id="261" r:id="rId6"/>
    <p:sldId id="264" r:id="rId7"/>
    <p:sldId id="265" r:id="rId8"/>
    <p:sldId id="266" r:id="rId9"/>
    <p:sldId id="277" r:id="rId10"/>
    <p:sldId id="267" r:id="rId11"/>
    <p:sldId id="268" r:id="rId12"/>
    <p:sldId id="275" r:id="rId13"/>
    <p:sldId id="270" r:id="rId14"/>
    <p:sldId id="271" r:id="rId15"/>
    <p:sldId id="272" r:id="rId16"/>
    <p:sldId id="273" r:id="rId17"/>
    <p:sldId id="274" r:id="rId18"/>
    <p:sldId id="276" r:id="rId19"/>
  </p:sldIdLst>
  <p:sldSz cx="9144000" cy="5143500" type="screen16x9"/>
  <p:notesSz cx="6858000" cy="9144000"/>
  <p:embeddedFontLst>
    <p:embeddedFont>
      <p:font typeface="Lato" panose="020B0604020202020204" charset="0"/>
      <p:regular r:id="rId21"/>
    </p:embeddedFont>
    <p:embeddedFont>
      <p:font typeface="David" panose="020E0502060401010101" pitchFamily="34" charset="-79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366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6736882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Shape 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1287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Shape 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4073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Shape 7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6773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Shape 8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2659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Shape 1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0237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39955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Shape 14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3565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Shape 14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9040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Shape 15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99628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16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Shape 16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5248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he-IL" dirty="0" smtClean="0"/>
              <a:t>מצורפת </a:t>
            </a:r>
            <a:r>
              <a:rPr lang="he-IL" smtClean="0"/>
              <a:t>המצגת ללומדים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09678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Shape 17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0438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Shape 1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43023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Shape 1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5908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Shape 19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42051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Shape 2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5856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1" name="Shape 11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Clr>
                <a:schemeClr val="lt1"/>
              </a:buClr>
              <a:buFont typeface="Lato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buClr>
                <a:schemeClr val="lt1"/>
              </a:buClr>
              <a:buFont typeface="Lato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buClr>
                <a:schemeClr val="lt1"/>
              </a:buClr>
              <a:buFont typeface="Lato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buClr>
                <a:schemeClr val="lt1"/>
              </a:buClr>
              <a:buFont typeface="Lato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buClr>
                <a:schemeClr val="lt1"/>
              </a:buClr>
              <a:buFont typeface="Lato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buClr>
                <a:schemeClr val="lt1"/>
              </a:buClr>
              <a:buFont typeface="Lato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buClr>
                <a:schemeClr val="lt1"/>
              </a:buClr>
              <a:buFont typeface="Lato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buClr>
                <a:schemeClr val="lt1"/>
              </a:buClr>
              <a:buFont typeface="Lato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buClr>
                <a:schemeClr val="lt1"/>
              </a:buClr>
              <a:buFont typeface="Lato"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3096362" y="3266930"/>
            <a:ext cx="2951400" cy="701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x-none"/>
              <a:pPr lvl="0">
                <a:spcBef>
                  <a:spcPts val="0"/>
                </a:spcBef>
                <a:buNone/>
              </a:pPr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>
              <a:spcBef>
                <a:spcPts val="0"/>
              </a:spcBef>
              <a:buClr>
                <a:schemeClr val="lt1"/>
              </a:buClr>
              <a:buSzPct val="100000"/>
              <a:buFont typeface="Lato"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buClr>
                <a:schemeClr val="lt1"/>
              </a:buClr>
              <a:buSzPct val="100000"/>
              <a:buFont typeface="Lato"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buClr>
                <a:schemeClr val="lt1"/>
              </a:buClr>
              <a:buSzPct val="100000"/>
              <a:buFont typeface="Lato"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buClr>
                <a:schemeClr val="lt1"/>
              </a:buClr>
              <a:buSzPct val="100000"/>
              <a:buFont typeface="Lato"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buClr>
                <a:schemeClr val="lt1"/>
              </a:buClr>
              <a:buSzPct val="100000"/>
              <a:buFont typeface="Lato"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buClr>
                <a:schemeClr val="lt1"/>
              </a:buClr>
              <a:buSzPct val="100000"/>
              <a:buFont typeface="Lato"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buClr>
                <a:schemeClr val="lt1"/>
              </a:buClr>
              <a:buSzPct val="100000"/>
              <a:buFont typeface="Lato"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buClr>
                <a:schemeClr val="lt1"/>
              </a:buClr>
              <a:buSzPct val="100000"/>
              <a:buFont typeface="Lato"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buClr>
                <a:schemeClr val="lt1"/>
              </a:buClr>
              <a:buSzPct val="100000"/>
              <a:buFont typeface="Lato"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x-none">
                <a:solidFill>
                  <a:schemeClr val="lt1"/>
                </a:solidFill>
              </a:rPr>
              <a:pPr lvl="0">
                <a:spcBef>
                  <a:spcPts val="0"/>
                </a:spcBef>
                <a:buNone/>
              </a:pPr>
              <a:t>‹#›</a:t>
            </a:fld>
            <a:endParaRPr lang="x-none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x-none"/>
              <a:pPr lvl="0">
                <a:spcBef>
                  <a:spcPts val="0"/>
                </a:spcBef>
                <a:buNone/>
              </a:pPr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4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x-none"/>
              <a:pPr lvl="0">
                <a:spcBef>
                  <a:spcPts val="0"/>
                </a:spcBef>
                <a:buNone/>
              </a:pPr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x-none"/>
              <a:pPr lvl="0">
                <a:spcBef>
                  <a:spcPts val="0"/>
                </a:spcBef>
                <a:buNone/>
              </a:pPr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2400"/>
            </a:lvl1pPr>
            <a:lvl2pPr lvl="1">
              <a:spcBef>
                <a:spcPts val="0"/>
              </a:spcBef>
              <a:buSzPct val="100000"/>
              <a:defRPr sz="2400"/>
            </a:lvl2pPr>
            <a:lvl3pPr lvl="2">
              <a:spcBef>
                <a:spcPts val="0"/>
              </a:spcBef>
              <a:buSzPct val="100000"/>
              <a:defRPr sz="2400"/>
            </a:lvl3pPr>
            <a:lvl4pPr lvl="3">
              <a:spcBef>
                <a:spcPts val="0"/>
              </a:spcBef>
              <a:buSzPct val="100000"/>
              <a:defRPr sz="2400"/>
            </a:lvl4pPr>
            <a:lvl5pPr lvl="4">
              <a:spcBef>
                <a:spcPts val="0"/>
              </a:spcBef>
              <a:buSzPct val="100000"/>
              <a:defRPr sz="2400"/>
            </a:lvl5pPr>
            <a:lvl6pPr lvl="5">
              <a:spcBef>
                <a:spcPts val="0"/>
              </a:spcBef>
              <a:buSzPct val="100000"/>
              <a:defRPr sz="2400"/>
            </a:lvl6pPr>
            <a:lvl7pPr lvl="6">
              <a:spcBef>
                <a:spcPts val="0"/>
              </a:spcBef>
              <a:buSzPct val="100000"/>
              <a:defRPr sz="2400"/>
            </a:lvl7pPr>
            <a:lvl8pPr lvl="7">
              <a:spcBef>
                <a:spcPts val="0"/>
              </a:spcBef>
              <a:buSzPct val="100000"/>
              <a:defRPr sz="2400"/>
            </a:lvl8pPr>
            <a:lvl9pPr lvl="8">
              <a:spcBef>
                <a:spcPts val="0"/>
              </a:spcBef>
              <a:buSzPct val="100000"/>
              <a:defRPr sz="24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311700" y="1391377"/>
            <a:ext cx="2808000" cy="3179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1200"/>
            </a:lvl1pPr>
            <a:lvl2pPr lvl="1">
              <a:spcBef>
                <a:spcPts val="0"/>
              </a:spcBef>
              <a:buSzPct val="100000"/>
              <a:defRPr sz="1200"/>
            </a:lvl2pPr>
            <a:lvl3pPr lvl="2">
              <a:spcBef>
                <a:spcPts val="0"/>
              </a:spcBef>
              <a:buSzPct val="100000"/>
              <a:defRPr sz="1200"/>
            </a:lvl3pPr>
            <a:lvl4pPr lvl="3">
              <a:spcBef>
                <a:spcPts val="0"/>
              </a:spcBef>
              <a:buSzPct val="100000"/>
              <a:defRPr sz="1200"/>
            </a:lvl4pPr>
            <a:lvl5pPr lvl="4">
              <a:spcBef>
                <a:spcPts val="0"/>
              </a:spcBef>
              <a:buSzPct val="100000"/>
              <a:defRPr sz="1200"/>
            </a:lvl5pPr>
            <a:lvl6pPr lvl="5">
              <a:spcBef>
                <a:spcPts val="0"/>
              </a:spcBef>
              <a:buSzPct val="100000"/>
              <a:defRPr sz="1200"/>
            </a:lvl6pPr>
            <a:lvl7pPr lvl="6">
              <a:spcBef>
                <a:spcPts val="0"/>
              </a:spcBef>
              <a:buSzPct val="100000"/>
              <a:defRPr sz="1200"/>
            </a:lvl7pPr>
            <a:lvl8pPr lvl="7">
              <a:spcBef>
                <a:spcPts val="0"/>
              </a:spcBef>
              <a:buSzPct val="100000"/>
              <a:defRPr sz="1200"/>
            </a:lvl8pPr>
            <a:lvl9pPr lvl="8">
              <a:spcBef>
                <a:spcPts val="0"/>
              </a:spcBef>
              <a:buSzPct val="100000"/>
              <a:defRPr sz="12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x-none"/>
              <a:pPr lvl="0">
                <a:spcBef>
                  <a:spcPts val="0"/>
                </a:spcBef>
                <a:buNone/>
              </a:pPr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Clr>
                <a:schemeClr val="lt1"/>
              </a:buClr>
              <a:buSzPct val="100000"/>
              <a:buFont typeface="Lato"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buClr>
                <a:schemeClr val="lt1"/>
              </a:buClr>
              <a:buSzPct val="100000"/>
              <a:buFont typeface="Lato"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buClr>
                <a:schemeClr val="lt1"/>
              </a:buClr>
              <a:buSzPct val="100000"/>
              <a:buFont typeface="Lato"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buClr>
                <a:schemeClr val="lt1"/>
              </a:buClr>
              <a:buSzPct val="100000"/>
              <a:buFont typeface="Lato"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buClr>
                <a:schemeClr val="lt1"/>
              </a:buClr>
              <a:buSzPct val="100000"/>
              <a:buFont typeface="Lato"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buClr>
                <a:schemeClr val="lt1"/>
              </a:buClr>
              <a:buSzPct val="100000"/>
              <a:buFont typeface="Lato"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buClr>
                <a:schemeClr val="lt1"/>
              </a:buClr>
              <a:buSzPct val="100000"/>
              <a:buFont typeface="Lato"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buClr>
                <a:schemeClr val="lt1"/>
              </a:buClr>
              <a:buSzPct val="100000"/>
              <a:buFont typeface="Lato"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buClr>
                <a:schemeClr val="lt1"/>
              </a:buClr>
              <a:buSzPct val="100000"/>
              <a:buFont typeface="Lato"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x-none">
                <a:solidFill>
                  <a:schemeClr val="lt1"/>
                </a:solidFill>
              </a:rPr>
              <a:pPr lvl="0">
                <a:spcBef>
                  <a:spcPts val="0"/>
                </a:spcBef>
                <a:buNone/>
              </a:pPr>
              <a:t>‹#›</a:t>
            </a:fld>
            <a:endParaRPr lang="x-none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cxnSp>
        <p:nvCxnSpPr>
          <p:cNvPr id="40" name="Shape 4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defRPr sz="4200"/>
            </a:lvl1pPr>
            <a:lvl2pPr lvl="1" algn="ctr">
              <a:spcBef>
                <a:spcPts val="0"/>
              </a:spcBef>
              <a:buSzPct val="100000"/>
              <a:defRPr sz="4200"/>
            </a:lvl2pPr>
            <a:lvl3pPr lvl="2" algn="ctr">
              <a:spcBef>
                <a:spcPts val="0"/>
              </a:spcBef>
              <a:buSzPct val="100000"/>
              <a:defRPr sz="4200"/>
            </a:lvl3pPr>
            <a:lvl4pPr lvl="3" algn="ctr">
              <a:spcBef>
                <a:spcPts val="0"/>
              </a:spcBef>
              <a:buSzPct val="100000"/>
              <a:defRPr sz="4200"/>
            </a:lvl4pPr>
            <a:lvl5pPr lvl="4" algn="ctr">
              <a:spcBef>
                <a:spcPts val="0"/>
              </a:spcBef>
              <a:buSzPct val="100000"/>
              <a:defRPr sz="4200"/>
            </a:lvl5pPr>
            <a:lvl6pPr lvl="5" algn="ctr">
              <a:spcBef>
                <a:spcPts val="0"/>
              </a:spcBef>
              <a:buSzPct val="100000"/>
              <a:defRPr sz="4200"/>
            </a:lvl6pPr>
            <a:lvl7pPr lvl="6" algn="ctr">
              <a:spcBef>
                <a:spcPts val="0"/>
              </a:spcBef>
              <a:buSzPct val="100000"/>
              <a:defRPr sz="4200"/>
            </a:lvl7pPr>
            <a:lvl8pPr lvl="7" algn="ctr">
              <a:spcBef>
                <a:spcPts val="0"/>
              </a:spcBef>
              <a:buSzPct val="100000"/>
              <a:defRPr sz="4200"/>
            </a:lvl8pPr>
            <a:lvl9pPr lvl="8" algn="ctr">
              <a:spcBef>
                <a:spcPts val="0"/>
              </a:spcBef>
              <a:buSzPct val="100000"/>
              <a:defRPr sz="4200"/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subTitle" idx="1"/>
          </p:nvPr>
        </p:nvSpPr>
        <p:spPr>
          <a:xfrm>
            <a:off x="265500" y="2845200"/>
            <a:ext cx="4045200" cy="13455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100"/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buClr>
                <a:schemeClr val="lt1"/>
              </a:buClr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x-none">
                <a:solidFill>
                  <a:schemeClr val="lt1"/>
                </a:solidFill>
              </a:rPr>
              <a:pPr lvl="0">
                <a:spcBef>
                  <a:spcPts val="0"/>
                </a:spcBef>
                <a:buNone/>
              </a:pPr>
              <a:t>‹#›</a:t>
            </a:fld>
            <a:endParaRPr lang="x-none"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x-none"/>
              <a:pPr lvl="0">
                <a:spcBef>
                  <a:spcPts val="0"/>
                </a:spcBef>
                <a:buNone/>
              </a:pPr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>
              <a:spcBef>
                <a:spcPts val="0"/>
              </a:spcBef>
              <a:buSzPct val="100000"/>
              <a:buFont typeface="Lato"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buSzPct val="100000"/>
              <a:buFont typeface="Lato"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buSzPct val="100000"/>
              <a:buFont typeface="Lato"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buSzPct val="100000"/>
              <a:buFont typeface="Lato"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buSzPct val="100000"/>
              <a:buFont typeface="Lato"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buSzPct val="100000"/>
              <a:buFont typeface="Lato"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buSzPct val="100000"/>
              <a:buFont typeface="Lato"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buSzPct val="100000"/>
              <a:buFont typeface="Lato"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buSzPct val="100000"/>
              <a:buFont typeface="Lato"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x-none"/>
              <a:pPr lvl="0">
                <a:spcBef>
                  <a:spcPts val="0"/>
                </a:spcBef>
                <a:buNone/>
              </a:pPr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fld id="{00000000-1234-1234-1234-123412341234}" type="slidenum">
              <a:rPr lang="x-none"/>
              <a:pPr lvl="0">
                <a:spcBef>
                  <a:spcPts val="0"/>
                </a:spcBef>
                <a:buNone/>
              </a:pPr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ct val="100000"/>
              <a:buFont typeface="Lato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Lato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Lato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Lato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Lato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Lato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Lato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Lato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Font typeface="Lato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r">
              <a:spcBef>
                <a:spcPts val="0"/>
              </a:spcBef>
              <a:buNone/>
            </a:pPr>
            <a:fld id="{00000000-1234-1234-1234-123412341234}" type="slidenum">
              <a:rPr lang="x-none"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pPr lvl="0" algn="r">
                <a:spcBef>
                  <a:spcPts val="0"/>
                </a:spcBef>
                <a:buNone/>
              </a:pPr>
              <a:t>‹#›</a:t>
            </a:fld>
            <a:endParaRPr lang="x-none"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adlet.com/Limor5451/jmngsdz37pgc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7iP-QVg3PI&amp;t=361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youtube.com/watch?v=lngHHRLzxgE&amp;list=PLwt-xLvTRTrfM0PJFaLjyhF5pOLteCned&amp;index=6" TargetMode="External"/><Relationship Id="rId4" Type="http://schemas.openxmlformats.org/officeDocument/2006/relationships/hyperlink" Target="https://www.youtube.com/watch?v=qqEeaTFWlFc&amp;list=PLwt-xLvTRTrfM0PJFaLjyhF5pOLteCned&amp;index=8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ako.co.il/news-world/international-q4_2016/Article-de3cce42c38f751004.ht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natgeotv.com/il/shows/natgeo/before-the-flood/videos/before-the-flood-full-documentary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/>
          <p:nvPr/>
        </p:nvSpPr>
        <p:spPr>
          <a:xfrm>
            <a:off x="361525" y="2680575"/>
            <a:ext cx="3685500" cy="2006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 rtl="1">
              <a:spcBef>
                <a:spcPts val="0"/>
              </a:spcBef>
              <a:buNone/>
            </a:pPr>
            <a:r>
              <a:rPr lang="x-none" sz="48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אקלים קיצון</a:t>
            </a:r>
          </a:p>
        </p:txBody>
      </p:sp>
      <p:sp>
        <p:nvSpPr>
          <p:cNvPr id="4" name="AutoShape 2" descr="מציג את shutterstock_144222931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מציג את shutterstock_144222931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מלבן 5"/>
          <p:cNvSpPr/>
          <p:nvPr/>
        </p:nvSpPr>
        <p:spPr>
          <a:xfrm>
            <a:off x="2491747" y="312738"/>
            <a:ext cx="36423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1" cap="none" spc="0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David" panose="020E0502060401010101" pitchFamily="34" charset="-79"/>
                <a:cs typeface="David" panose="020E0502060401010101" pitchFamily="34" charset="-79"/>
              </a:rPr>
              <a:t>אקלים קיצון </a:t>
            </a:r>
            <a:endParaRPr lang="he-IL" sz="5400" b="1" cap="none" spc="0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46" y="2661027"/>
            <a:ext cx="1745007" cy="1383923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852" y="3287605"/>
            <a:ext cx="2087065" cy="1399070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9224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726" y="3287604"/>
            <a:ext cx="1959058" cy="1383925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9225" name="Picture 9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0" t="6277" r="2290" b="-1"/>
          <a:stretch/>
        </p:blipFill>
        <p:spPr bwMode="auto">
          <a:xfrm>
            <a:off x="6965878" y="3277455"/>
            <a:ext cx="1993187" cy="1394073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9226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525" y="962964"/>
            <a:ext cx="1960558" cy="1129151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9227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567784" y="1227072"/>
            <a:ext cx="2340781" cy="1453503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9229" name="Picture 1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5623" y="1349283"/>
            <a:ext cx="2654591" cy="1485663"/>
          </a:xfrm>
          <a:prstGeom prst="rect">
            <a:avLst/>
          </a:prstGeom>
          <a:ln>
            <a:headEnd/>
            <a:tailEnd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1">
              <a:spcBef>
                <a:spcPts val="0"/>
              </a:spcBef>
              <a:buNone/>
            </a:pPr>
            <a:r>
              <a:rPr lang="x-none" dirty="0">
                <a:latin typeface="David" panose="020E0502060401010101" pitchFamily="34" charset="-79"/>
                <a:cs typeface="David" panose="020E0502060401010101" pitchFamily="34" charset="-79"/>
              </a:rPr>
              <a:t>מטלות צפייה:</a:t>
            </a:r>
          </a:p>
        </p:txBody>
      </p:sp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833"/>
              <a:buFont typeface="Arial"/>
              <a:buNone/>
            </a:pPr>
            <a:r>
              <a:rPr lang="x-none" sz="2400" b="1" dirty="0" smtClean="0">
                <a:solidFill>
                  <a:srgbClr val="000000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התבוננו</a:t>
            </a:r>
            <a:r>
              <a:rPr lang="he-IL" sz="2400" b="1" dirty="0" smtClean="0">
                <a:solidFill>
                  <a:srgbClr val="000000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 בתמונות</a:t>
            </a:r>
            <a:r>
              <a:rPr lang="x-none" sz="2400" b="1" dirty="0" smtClean="0">
                <a:solidFill>
                  <a:srgbClr val="000000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 </a:t>
            </a:r>
            <a:r>
              <a:rPr lang="x-none" sz="2400" b="1" dirty="0">
                <a:solidFill>
                  <a:srgbClr val="000000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שלפניכם וענו על השאלות הבאות:</a:t>
            </a:r>
          </a:p>
          <a:p>
            <a:pPr lvl="0" algn="r" rtl="1">
              <a:spcAft>
                <a:spcPts val="0"/>
              </a:spcAft>
              <a:buClr>
                <a:srgbClr val="000000"/>
              </a:buClr>
              <a:buSzPct val="45833"/>
            </a:pPr>
            <a:r>
              <a:rPr lang="x-none" sz="2400" b="1" dirty="0">
                <a:solidFill>
                  <a:srgbClr val="000000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א. </a:t>
            </a:r>
            <a:r>
              <a:rPr lang="he-IL" sz="2400" b="1" dirty="0" smtClean="0">
                <a:solidFill>
                  <a:srgbClr val="000000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 </a:t>
            </a:r>
            <a:r>
              <a:rPr lang="x-none" sz="2400" b="1" dirty="0" smtClean="0">
                <a:solidFill>
                  <a:srgbClr val="000000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אלו תופעות אתם מזהים בתמונות</a:t>
            </a:r>
            <a:r>
              <a:rPr lang="he-IL" sz="2400" b="1" dirty="0" smtClean="0">
                <a:solidFill>
                  <a:srgbClr val="000000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? כת</a:t>
            </a:r>
            <a:r>
              <a:rPr lang="x-none" sz="2400" b="1" dirty="0" smtClean="0">
                <a:solidFill>
                  <a:srgbClr val="000000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בו </a:t>
            </a:r>
            <a:r>
              <a:rPr lang="x-none" sz="2400" b="1" dirty="0">
                <a:solidFill>
                  <a:srgbClr val="000000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במחברת או ב</a:t>
            </a:r>
            <a:r>
              <a:rPr lang="x-none" sz="2400" b="1" u="sng" dirty="0">
                <a:solidFill>
                  <a:schemeClr val="hlink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  <a:hlinkClick r:id="rId3"/>
              </a:rPr>
              <a:t>גיליון </a:t>
            </a:r>
            <a:r>
              <a:rPr lang="x-none" sz="2400" b="1" u="sng" dirty="0" smtClean="0">
                <a:solidFill>
                  <a:schemeClr val="hlink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  <a:hlinkClick r:id="rId3"/>
              </a:rPr>
              <a:t>השיתופי</a:t>
            </a:r>
            <a:endParaRPr lang="x-none" sz="2400" b="1" dirty="0">
              <a:solidFill>
                <a:srgbClr val="000000"/>
              </a:solidFill>
              <a:latin typeface="David" panose="020E0502060401010101" pitchFamily="34" charset="-79"/>
              <a:ea typeface="David"/>
              <a:cs typeface="David" panose="020E0502060401010101" pitchFamily="34" charset="-79"/>
              <a:sym typeface="David"/>
            </a:endParaRPr>
          </a:p>
          <a:p>
            <a:pPr lvl="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833"/>
              <a:buFont typeface="Arial"/>
              <a:buNone/>
            </a:pPr>
            <a:r>
              <a:rPr lang="x-none" sz="2400" b="1" dirty="0">
                <a:solidFill>
                  <a:srgbClr val="000000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ב. </a:t>
            </a:r>
            <a:r>
              <a:rPr lang="he-IL" sz="2400" b="1" dirty="0" smtClean="0">
                <a:solidFill>
                  <a:srgbClr val="000000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 </a:t>
            </a:r>
            <a:r>
              <a:rPr lang="x-none" sz="2400" b="1" dirty="0" smtClean="0">
                <a:solidFill>
                  <a:srgbClr val="000000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מה</a:t>
            </a:r>
            <a:r>
              <a:rPr lang="he-IL" sz="2400" b="1" dirty="0" smtClean="0">
                <a:solidFill>
                  <a:srgbClr val="000000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, </a:t>
            </a:r>
            <a:r>
              <a:rPr lang="x-none" sz="2400" b="1" dirty="0" smtClean="0">
                <a:solidFill>
                  <a:srgbClr val="000000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לדעתכם</a:t>
            </a:r>
            <a:r>
              <a:rPr lang="he-IL" sz="2400" b="1" dirty="0" smtClean="0">
                <a:solidFill>
                  <a:srgbClr val="000000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, </a:t>
            </a:r>
            <a:r>
              <a:rPr lang="x-none" sz="2400" b="1" dirty="0" smtClean="0">
                <a:solidFill>
                  <a:srgbClr val="000000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משותף </a:t>
            </a:r>
            <a:r>
              <a:rPr lang="x-none" sz="2400" b="1" dirty="0">
                <a:solidFill>
                  <a:srgbClr val="000000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לכל התופעות</a:t>
            </a:r>
            <a:r>
              <a:rPr lang="x-none" sz="2400" b="1" dirty="0" smtClean="0">
                <a:solidFill>
                  <a:srgbClr val="000000"/>
                </a:solidFill>
                <a:latin typeface="David" panose="020E0502060401010101" pitchFamily="34" charset="-79"/>
                <a:ea typeface="David"/>
                <a:cs typeface="David" panose="020E0502060401010101" pitchFamily="34" charset="-79"/>
                <a:sym typeface="David"/>
              </a:rPr>
              <a:t>?</a:t>
            </a:r>
            <a:endParaRPr lang="he-IL" sz="2400" b="1" dirty="0" smtClean="0">
              <a:solidFill>
                <a:srgbClr val="000000"/>
              </a:solidFill>
              <a:latin typeface="David" panose="020E0502060401010101" pitchFamily="34" charset="-79"/>
              <a:ea typeface="David"/>
              <a:cs typeface="David" panose="020E0502060401010101" pitchFamily="34" charset="-79"/>
              <a:sym typeface="David"/>
            </a:endParaRPr>
          </a:p>
          <a:p>
            <a:pPr lvl="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833"/>
              <a:buFont typeface="Arial"/>
              <a:buNone/>
            </a:pPr>
            <a:endParaRPr b="1" dirty="0">
              <a:solidFill>
                <a:srgbClr val="00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lvl="0" algn="r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endParaRPr sz="2400" dirty="0">
              <a:solidFill>
                <a:schemeClr val="dk1"/>
              </a:solidFill>
            </a:endParaRPr>
          </a:p>
          <a:p>
            <a:pPr lvl="0" algn="r" rtl="0">
              <a:spcBef>
                <a:spcPts val="0"/>
              </a:spcBef>
              <a:buNone/>
            </a:pPr>
            <a:endParaRPr dirty="0"/>
          </a:p>
        </p:txBody>
      </p:sp>
      <p:pic>
        <p:nvPicPr>
          <p:cNvPr id="67" name="Shape 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010700"/>
            <a:ext cx="1677175" cy="167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1">
              <a:spcBef>
                <a:spcPts val="0"/>
              </a:spcBef>
              <a:buNone/>
            </a:pPr>
            <a:endParaRPr sz="1000" dirty="0"/>
          </a:p>
          <a:p>
            <a:pPr lvl="0" rtl="0">
              <a:spcBef>
                <a:spcPts val="0"/>
              </a:spcBef>
              <a:buNone/>
            </a:pPr>
            <a:endParaRPr sz="1000" dirty="0"/>
          </a:p>
        </p:txBody>
      </p:sp>
      <p:sp>
        <p:nvSpPr>
          <p:cNvPr id="85" name="Shape 85"/>
          <p:cNvSpPr txBox="1"/>
          <p:nvPr/>
        </p:nvSpPr>
        <p:spPr>
          <a:xfrm>
            <a:off x="5703850" y="4714600"/>
            <a:ext cx="2611200" cy="2673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1">
              <a:spcBef>
                <a:spcPts val="0"/>
              </a:spcBef>
              <a:buNone/>
            </a:pPr>
            <a:endParaRPr lang="x-none" dirty="0"/>
          </a:p>
        </p:txBody>
      </p:sp>
      <p:sp>
        <p:nvSpPr>
          <p:cNvPr id="86" name="Shape 86"/>
          <p:cNvSpPr txBox="1"/>
          <p:nvPr/>
        </p:nvSpPr>
        <p:spPr>
          <a:xfrm>
            <a:off x="1809200" y="4705675"/>
            <a:ext cx="2139000" cy="3030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1">
              <a:spcBef>
                <a:spcPts val="0"/>
              </a:spcBef>
              <a:buNone/>
            </a:pPr>
            <a:endParaRPr lang="x-none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6833"/>
            <a:ext cx="8016240" cy="4577767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כותרת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       </a:t>
            </a:r>
            <a:endParaRPr lang="he-IL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" y="288283"/>
            <a:ext cx="8427720" cy="4664717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 txBox="1"/>
          <p:nvPr/>
        </p:nvSpPr>
        <p:spPr>
          <a:xfrm>
            <a:off x="6140550" y="552550"/>
            <a:ext cx="2031900" cy="784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 sz="10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61" y="198120"/>
            <a:ext cx="4183978" cy="470916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" name="תמונה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484" y="198119"/>
            <a:ext cx="4017195" cy="470916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 txBox="1"/>
          <p:nvPr/>
        </p:nvSpPr>
        <p:spPr>
          <a:xfrm>
            <a:off x="2999225" y="1264750"/>
            <a:ext cx="1422900" cy="781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1">
              <a:spcBef>
                <a:spcPts val="0"/>
              </a:spcBef>
              <a:buNone/>
            </a:pPr>
            <a:endParaRPr lang="x-none" dirty="0"/>
          </a:p>
        </p:txBody>
      </p:sp>
      <p:sp>
        <p:nvSpPr>
          <p:cNvPr id="2" name="AutoShape 2" descr="מציג את shutterstock_281248664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AutoShape 4" descr="מציג את shutterstock_281248664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160338"/>
            <a:ext cx="8348345" cy="4758944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מציג את shutterstock_296084747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מציג את shutterstock_296084747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7" descr="מציג את shutterstock_509797831.jp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312736"/>
            <a:ext cx="8485505" cy="4625023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מציג את shutterstock_167119931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381000"/>
            <a:ext cx="8058785" cy="446532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01" y="114785"/>
            <a:ext cx="4250026" cy="4835722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5" name="תמונה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210" y="114785"/>
            <a:ext cx="4274049" cy="4835722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2" name="תמונה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6714" y="3005714"/>
            <a:ext cx="3371380" cy="194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635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 txBox="1">
            <a:spLocks noGrp="1"/>
          </p:cNvSpPr>
          <p:nvPr>
            <p:ph type="title"/>
          </p:nvPr>
        </p:nvSpPr>
        <p:spPr>
          <a:xfrm>
            <a:off x="4024721" y="535328"/>
            <a:ext cx="2195326" cy="119084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1">
              <a:spcBef>
                <a:spcPts val="0"/>
              </a:spcBef>
              <a:buNone/>
            </a:pPr>
            <a:r>
              <a:rPr lang="x-none" sz="4800" dirty="0"/>
              <a:t>     </a:t>
            </a:r>
            <a:r>
              <a:rPr lang="x-none" sz="4800" b="1" dirty="0" smtClean="0">
                <a:latin typeface="David" panose="020E0502060401010101" pitchFamily="34" charset="-79"/>
                <a:cs typeface="David" panose="020E0502060401010101" pitchFamily="34" charset="-79"/>
              </a:rPr>
              <a:t>דיון  </a:t>
            </a:r>
            <a:r>
              <a:rPr lang="x-none" sz="4800" b="1" dirty="0" smtClean="0"/>
              <a:t> </a:t>
            </a:r>
            <a:endParaRPr lang="x-none" sz="4800" b="1" dirty="0"/>
          </a:p>
        </p:txBody>
      </p:sp>
      <p:sp>
        <p:nvSpPr>
          <p:cNvPr id="160" name="Shape 160"/>
          <p:cNvSpPr txBox="1">
            <a:spLocks noGrp="1"/>
          </p:cNvSpPr>
          <p:nvPr>
            <p:ph type="body" idx="1"/>
          </p:nvPr>
        </p:nvSpPr>
        <p:spPr>
          <a:xfrm>
            <a:off x="402375" y="1726175"/>
            <a:ext cx="8520600" cy="28812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22860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AutoNum type="arabicPeriod"/>
            </a:pP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אילו תופעות זיהתם בתמונות</a:t>
            </a:r>
            <a:r>
              <a:rPr lang="he-IL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?</a:t>
            </a: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 הצגת הגיליון השיתופי/ריכוז התופעות על הלוח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.</a:t>
            </a:r>
            <a:endParaRPr lang="x-none" sz="2400" b="1" dirty="0">
              <a:solidFill>
                <a:srgbClr val="000000"/>
              </a:solidFill>
              <a:latin typeface="David"/>
              <a:ea typeface="David"/>
              <a:cs typeface="David"/>
              <a:sym typeface="Arial"/>
            </a:endParaRPr>
          </a:p>
          <a:p>
            <a:pPr marL="457200" lvl="0" indent="-22860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AutoNum type="arabicPeriod"/>
            </a:pP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האם נחשפתם בעבר/שמעתם/ראיתם/הייתם עדים לתופעות כאל</a:t>
            </a:r>
            <a:r>
              <a:rPr lang="he-IL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ה?</a:t>
            </a: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 </a:t>
            </a:r>
            <a:r>
              <a:rPr lang="he-IL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א</a:t>
            </a: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ילו מהאירועים/מהתופעות יכולות להתרחש בישראל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?</a:t>
            </a:r>
            <a:endParaRPr lang="x-none" sz="2400" b="1" dirty="0">
              <a:solidFill>
                <a:srgbClr val="000000"/>
              </a:solidFill>
              <a:latin typeface="David"/>
              <a:ea typeface="David"/>
              <a:cs typeface="David"/>
              <a:sym typeface="Arial"/>
            </a:endParaRPr>
          </a:p>
          <a:p>
            <a:pPr marL="457200" lvl="0" indent="-22860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AutoNum type="arabicPeriod"/>
            </a:pP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כיצד נקרא בשם כולל לכל האירועים והתופעות הללו?</a:t>
            </a:r>
          </a:p>
          <a:p>
            <a:pPr lvl="0" algn="r" rtl="1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highlight>
                <a:srgbClr val="DBE5F1"/>
              </a:highlight>
              <a:latin typeface="Arial"/>
              <a:ea typeface="Arial"/>
              <a:cs typeface="Arial"/>
              <a:sym typeface="Arial"/>
            </a:endParaRPr>
          </a:p>
          <a:p>
            <a:pPr lvl="0" algn="r" rtl="1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highlight>
                <a:srgbClr val="DBE5F1"/>
              </a:highlight>
              <a:latin typeface="David"/>
              <a:ea typeface="David"/>
              <a:cs typeface="David"/>
              <a:sym typeface="Davi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165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1">
              <a:spcBef>
                <a:spcPts val="0"/>
              </a:spcBef>
              <a:buNone/>
            </a:pPr>
            <a:r>
              <a:rPr lang="he-IL" dirty="0" smtClean="0">
                <a:latin typeface="David" panose="020E0502060401010101" pitchFamily="34" charset="-79"/>
                <a:cs typeface="David" panose="020E0502060401010101" pitchFamily="34" charset="-79"/>
              </a:rPr>
              <a:t>הגדרה ל</a:t>
            </a:r>
            <a:r>
              <a:rPr lang="x-none" dirty="0" smtClean="0">
                <a:latin typeface="David" panose="020E0502060401010101" pitchFamily="34" charset="-79"/>
                <a:cs typeface="David" panose="020E0502060401010101" pitchFamily="34" charset="-79"/>
              </a:rPr>
              <a:t>אקלים קיצון</a:t>
            </a:r>
            <a:endParaRPr lang="x-none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66" name="Shape 16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מזג אוויר סוער הוא מזג אוויר המתרחש במידה חזקה מהרגיל.</a:t>
            </a:r>
          </a:p>
          <a:p>
            <a:pPr lvl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000000"/>
              </a:solidFill>
              <a:latin typeface="David"/>
              <a:ea typeface="David"/>
              <a:cs typeface="David"/>
              <a:sym typeface="David"/>
            </a:endParaRPr>
          </a:p>
          <a:p>
            <a:pPr marL="6350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מצב מזג האוויר הזה מוגדר על ידי השירות המטאורולוגי 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ככולל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:</a:t>
            </a:r>
          </a:p>
          <a:p>
            <a:pPr marL="6350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שיטפונות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 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הצפות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שרפות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סופות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רעידות אדמה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יובש קיצוני ועוד.</a:t>
            </a:r>
          </a:p>
          <a:p>
            <a:pPr lvl="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</a:endParaRPr>
          </a:p>
          <a:p>
            <a:pPr lvl="0" algn="r" rtl="1">
              <a:spcBef>
                <a:spcPts val="0"/>
              </a:spcBef>
              <a:buNone/>
            </a:pPr>
            <a:r>
              <a:rPr lang="x-none" u="sng" dirty="0">
                <a:solidFill>
                  <a:schemeClr val="hlin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3"/>
              </a:rPr>
              <a:t>שינוי אקלים גלובלי </a:t>
            </a:r>
            <a:r>
              <a:rPr lang="he-IL" u="sng" dirty="0" smtClean="0">
                <a:solidFill>
                  <a:schemeClr val="hlin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3"/>
              </a:rPr>
              <a:t>-</a:t>
            </a:r>
            <a:r>
              <a:rPr lang="x-none" u="sng" dirty="0" smtClean="0">
                <a:solidFill>
                  <a:schemeClr val="hlin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3"/>
              </a:rPr>
              <a:t> </a:t>
            </a:r>
            <a:r>
              <a:rPr lang="x-none" u="sng" dirty="0">
                <a:solidFill>
                  <a:schemeClr val="hlin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3"/>
              </a:rPr>
              <a:t>מכון דוידסון</a:t>
            </a:r>
            <a:r>
              <a:rPr lang="x-none" dirty="0">
                <a:solidFill>
                  <a:schemeClr val="dk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/>
            </a:r>
            <a:br>
              <a:rPr lang="x-none" dirty="0">
                <a:solidFill>
                  <a:schemeClr val="dk1"/>
                </a:solidFill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x-none" u="sng" dirty="0">
                <a:solidFill>
                  <a:schemeClr val="hlin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4"/>
              </a:rPr>
              <a:t>עשור של אסונות טבע </a:t>
            </a:r>
            <a:r>
              <a:rPr lang="x-none" u="sng" dirty="0" smtClean="0">
                <a:solidFill>
                  <a:schemeClr val="hlin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4"/>
              </a:rPr>
              <a:t>-</a:t>
            </a:r>
            <a:r>
              <a:rPr lang="he-IL" u="sng" dirty="0" smtClean="0">
                <a:solidFill>
                  <a:schemeClr val="hlin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4"/>
              </a:rPr>
              <a:t> </a:t>
            </a:r>
            <a:r>
              <a:rPr lang="x-none" u="sng" dirty="0" smtClean="0">
                <a:solidFill>
                  <a:schemeClr val="hlin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4"/>
              </a:rPr>
              <a:t>סרטון</a:t>
            </a:r>
            <a:r>
              <a:rPr lang="x-none" dirty="0">
                <a:latin typeface="David" panose="020E0502060401010101" pitchFamily="34" charset="-79"/>
                <a:cs typeface="David" panose="020E0502060401010101" pitchFamily="34" charset="-79"/>
              </a:rPr>
              <a:t/>
            </a:r>
            <a:br>
              <a:rPr lang="x-none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x-none" u="sng" dirty="0">
                <a:solidFill>
                  <a:schemeClr val="hlin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5"/>
              </a:rPr>
              <a:t>הרס קרחוני פטגוניה </a:t>
            </a:r>
            <a:r>
              <a:rPr lang="he-IL" u="sng" dirty="0" smtClean="0">
                <a:solidFill>
                  <a:schemeClr val="hlin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5"/>
              </a:rPr>
              <a:t>-</a:t>
            </a:r>
            <a:r>
              <a:rPr lang="x-none" u="sng" dirty="0" smtClean="0">
                <a:solidFill>
                  <a:schemeClr val="hlin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5"/>
              </a:rPr>
              <a:t> </a:t>
            </a:r>
            <a:r>
              <a:rPr lang="x-none" u="sng" dirty="0">
                <a:solidFill>
                  <a:schemeClr val="hlink"/>
                </a:solidFill>
                <a:latin typeface="David" panose="020E0502060401010101" pitchFamily="34" charset="-79"/>
                <a:cs typeface="David" panose="020E0502060401010101" pitchFamily="34" charset="-79"/>
                <a:hlinkClick r:id="rId5"/>
              </a:rPr>
              <a:t>יוטיוב</a:t>
            </a:r>
          </a:p>
          <a:p>
            <a:pPr lvl="0" rtl="1">
              <a:spcBef>
                <a:spcPts val="0"/>
              </a:spcBef>
              <a:buNone/>
            </a:pPr>
            <a:endParaRPr dirty="0"/>
          </a:p>
          <a:p>
            <a:pPr lvl="0" rtl="1">
              <a:spcBef>
                <a:spcPts val="0"/>
              </a:spcBef>
              <a:buNone/>
            </a:pPr>
            <a:endParaRPr dirty="0"/>
          </a:p>
          <a:p>
            <a:pPr lvl="0" rtl="1"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title"/>
          </p:nvPr>
        </p:nvSpPr>
        <p:spPr>
          <a:xfrm>
            <a:off x="858644" y="-88375"/>
            <a:ext cx="8285356" cy="707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1">
              <a:spcBef>
                <a:spcPts val="0"/>
              </a:spcBef>
              <a:buNone/>
            </a:pPr>
            <a:r>
              <a:rPr lang="x-none" dirty="0" smtClean="0">
                <a:latin typeface="David" panose="020E0502060401010101" pitchFamily="34" charset="-79"/>
                <a:cs typeface="David" panose="020E0502060401010101" pitchFamily="34" charset="-79"/>
              </a:rPr>
              <a:t>משימה </a:t>
            </a:r>
            <a:r>
              <a:rPr lang="x-none" dirty="0">
                <a:latin typeface="David" panose="020E0502060401010101" pitchFamily="34" charset="-79"/>
                <a:cs typeface="David" panose="020E0502060401010101" pitchFamily="34" charset="-79"/>
              </a:rPr>
              <a:t>קבוצתית</a:t>
            </a:r>
            <a:r>
              <a:rPr lang="x-none" dirty="0" smtClean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  <a:r>
              <a:rPr lang="he-IL" dirty="0" smtClean="0">
                <a:latin typeface="David" panose="020E0502060401010101" pitchFamily="34" charset="-79"/>
                <a:cs typeface="David" panose="020E0502060401010101" pitchFamily="34" charset="-79"/>
              </a:rPr>
              <a:t> חקירה על מצבי אקלים קיצון</a:t>
            </a:r>
            <a:endParaRPr lang="x-none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73" name="Shape 73"/>
          <p:cNvSpPr txBox="1">
            <a:spLocks noGrp="1"/>
          </p:cNvSpPr>
          <p:nvPr>
            <p:ph type="body" idx="1"/>
          </p:nvPr>
        </p:nvSpPr>
        <p:spPr>
          <a:xfrm>
            <a:off x="0" y="483518"/>
            <a:ext cx="8892480" cy="4289173"/>
          </a:xfrm>
          <a:prstGeom prst="rect">
            <a:avLst/>
          </a:prstGeom>
          <a:solidFill>
            <a:schemeClr val="bg1"/>
          </a:solidFill>
        </p:spPr>
        <p:txBody>
          <a:bodyPr lIns="91425" tIns="91425" rIns="91425" bIns="91425" anchor="t" anchorCtr="0">
            <a:noAutofit/>
          </a:bodyPr>
          <a:lstStyle/>
          <a:p>
            <a:pPr marL="457200" indent="-381000" algn="r" rtl="1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</a:pPr>
            <a:r>
              <a:rPr lang="he-IL" dirty="0" smtClean="0">
                <a:solidFill>
                  <a:schemeClr val="accent1"/>
                </a:solidFill>
                <a:sym typeface="Arial"/>
              </a:rPr>
              <a:t>-</a:t>
            </a:r>
            <a:r>
              <a:rPr lang="x-none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התחלקו לקבוצות ובחרו </a:t>
            </a: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את אחת ה</a:t>
            </a:r>
            <a:r>
              <a:rPr lang="x-none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תופע</a:t>
            </a:r>
            <a:r>
              <a:rPr lang="he-IL" sz="2000" b="1" dirty="0" err="1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ות</a:t>
            </a: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 של אקלים קיצון </a:t>
            </a:r>
            <a:r>
              <a:rPr lang="he-IL" sz="20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אליהם נחשפתם במצגת</a:t>
            </a: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. </a:t>
            </a:r>
            <a:endParaRPr lang="x-none" sz="2000" b="1" dirty="0">
              <a:solidFill>
                <a:srgbClr val="000000"/>
              </a:solidFill>
              <a:latin typeface="David"/>
              <a:ea typeface="David"/>
              <a:cs typeface="David"/>
              <a:sym typeface="Arial"/>
            </a:endParaRPr>
          </a:p>
          <a:p>
            <a:pPr marL="457200" indent="-381000" algn="r" rtl="1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</a:pP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- </a:t>
            </a:r>
            <a:r>
              <a:rPr lang="x-none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אספו </a:t>
            </a: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ועבדו את ה</a:t>
            </a:r>
            <a:r>
              <a:rPr lang="x-none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מידע </a:t>
            </a: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על התופעה </a:t>
            </a:r>
            <a:r>
              <a:rPr lang="x-none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מתוך מקורות מידע מגוונים</a:t>
            </a: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/מתוך קטעי מידע שתקבלו מהמורה.</a:t>
            </a:r>
            <a:r>
              <a:rPr lang="x-none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 </a:t>
            </a:r>
          </a:p>
          <a:p>
            <a:pPr marL="457200" indent="-381000" algn="r" rtl="1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</a:pP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- </a:t>
            </a:r>
            <a:r>
              <a:rPr lang="x-none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את המידע רכזו בשקופית המתאימה</a:t>
            </a: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 במצגת השיתופית/בטבלה שבדף העבודה</a:t>
            </a:r>
            <a:r>
              <a:rPr lang="x-none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.</a:t>
            </a:r>
          </a:p>
          <a:p>
            <a:pPr marL="457200" lvl="0" indent="-381000" algn="r" rtl="1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</a:pP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-</a:t>
            </a:r>
            <a:r>
              <a:rPr lang="x-none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כתבו את המידע במקום המתאים בשקופית</a:t>
            </a: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/בדף העבודה</a:t>
            </a:r>
            <a:r>
              <a:rPr lang="x-none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:</a:t>
            </a: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 </a:t>
            </a:r>
            <a:endParaRPr lang="x-none" sz="2000" b="1" dirty="0">
              <a:solidFill>
                <a:srgbClr val="000000"/>
              </a:solidFill>
              <a:latin typeface="David"/>
              <a:ea typeface="David"/>
              <a:cs typeface="David"/>
              <a:sym typeface="Arial"/>
            </a:endParaRPr>
          </a:p>
          <a:p>
            <a:pPr marL="457200" indent="-381000" algn="r" rtl="1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</a:pPr>
            <a:r>
              <a:rPr lang="he-IL" sz="2000" b="1" dirty="0" smtClean="0">
                <a:solidFill>
                  <a:srgbClr val="000000"/>
                </a:solidFill>
                <a:latin typeface="David"/>
                <a:ea typeface="David"/>
                <a:cs typeface="David"/>
              </a:rPr>
              <a:t>       א</a:t>
            </a: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</a:rPr>
              <a:t>. שם התופעה.     </a:t>
            </a:r>
            <a:r>
              <a:rPr lang="en-US" sz="2000" b="1" dirty="0">
                <a:solidFill>
                  <a:srgbClr val="000000"/>
                </a:solidFill>
                <a:latin typeface="David"/>
                <a:ea typeface="David"/>
                <a:cs typeface="David"/>
              </a:rPr>
              <a:t/>
            </a:r>
            <a:br>
              <a:rPr lang="en-US" sz="2000" b="1" dirty="0">
                <a:solidFill>
                  <a:srgbClr val="000000"/>
                </a:solidFill>
                <a:latin typeface="David"/>
                <a:ea typeface="David"/>
                <a:cs typeface="David"/>
              </a:rPr>
            </a:b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</a:rPr>
              <a:t>ב. הגורמים שגרמו לתופעה.                   			                                                                                      ג. מקום התרחשות התופעה.   					</a:t>
            </a:r>
            <a:endParaRPr lang="he-IL" sz="2000" b="1" dirty="0" smtClean="0">
              <a:solidFill>
                <a:srgbClr val="000000"/>
              </a:solidFill>
              <a:latin typeface="David"/>
              <a:ea typeface="David"/>
              <a:cs typeface="David"/>
            </a:endParaRPr>
          </a:p>
          <a:p>
            <a:pPr marL="457200" indent="-381000" algn="r" rtl="1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</a:pP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</a:rPr>
              <a:t> </a:t>
            </a:r>
            <a:r>
              <a:rPr lang="he-IL" sz="2000" b="1" dirty="0" smtClean="0">
                <a:solidFill>
                  <a:srgbClr val="000000"/>
                </a:solidFill>
                <a:latin typeface="David"/>
                <a:ea typeface="David"/>
                <a:cs typeface="David"/>
              </a:rPr>
              <a:t>      ד</a:t>
            </a: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</a:rPr>
              <a:t>. תארו את הפגיעה שנגרמת לסביבה בעקבות התופעה.			</a:t>
            </a:r>
            <a:r>
              <a:rPr lang="he-IL" sz="2000" b="1" dirty="0" smtClean="0">
                <a:solidFill>
                  <a:srgbClr val="000000"/>
                </a:solidFill>
                <a:latin typeface="David"/>
                <a:ea typeface="David"/>
                <a:cs typeface="David"/>
              </a:rPr>
              <a:t>     </a:t>
            </a: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</a:rPr>
              <a:t>ה. כיצד ניתן לצמצם את הפגיעה מהתופעה?  				</a:t>
            </a:r>
            <a:r>
              <a:rPr lang="en-US" sz="2000" b="1" dirty="0" smtClean="0">
                <a:solidFill>
                  <a:srgbClr val="000000"/>
                </a:solidFill>
                <a:latin typeface="David"/>
                <a:ea typeface="David"/>
                <a:cs typeface="David"/>
              </a:rPr>
              <a:t/>
            </a:r>
            <a:br>
              <a:rPr lang="en-US" sz="2000" b="1" dirty="0" smtClean="0">
                <a:solidFill>
                  <a:srgbClr val="000000"/>
                </a:solidFill>
                <a:latin typeface="David"/>
                <a:ea typeface="David"/>
                <a:cs typeface="David"/>
              </a:rPr>
            </a:br>
            <a:r>
              <a:rPr lang="he-IL" sz="2000" b="1" dirty="0" smtClean="0">
                <a:solidFill>
                  <a:srgbClr val="000000"/>
                </a:solidFill>
                <a:latin typeface="David"/>
                <a:ea typeface="David"/>
                <a:cs typeface="David"/>
              </a:rPr>
              <a:t> </a:t>
            </a: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</a:rPr>
              <a:t>ו. כתבו את מקורות המידע בהם השתמשתם (במידה ולא השתמשתם בכרטיסיות המידע).</a:t>
            </a:r>
            <a:endParaRPr lang="en-US" sz="2000" b="1" dirty="0">
              <a:solidFill>
                <a:srgbClr val="000000"/>
              </a:solidFill>
              <a:latin typeface="David"/>
              <a:ea typeface="David"/>
              <a:cs typeface="David"/>
            </a:endParaRPr>
          </a:p>
          <a:p>
            <a:pPr marL="457200" indent="-381000" algn="r" rtl="1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</a:pP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- </a:t>
            </a:r>
            <a:r>
              <a:rPr lang="x-none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בסיום </a:t>
            </a: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העבודה </a:t>
            </a:r>
            <a:r>
              <a:rPr lang="x-none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כל קבוצה תציג את ה</a:t>
            </a: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מידע</a:t>
            </a:r>
            <a:r>
              <a:rPr lang="x-none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 </a:t>
            </a: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שריכזה על התופעה בפני תלמידי הכיתה. </a:t>
            </a:r>
            <a:r>
              <a:rPr lang="he-IL" sz="20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Arial"/>
              </a:rPr>
              <a:t>                                         - </a:t>
            </a:r>
            <a:r>
              <a:rPr lang="he-IL" sz="2000" b="1" dirty="0">
                <a:solidFill>
                  <a:srgbClr val="000000"/>
                </a:solidFill>
                <a:latin typeface="David"/>
                <a:ea typeface="David"/>
                <a:cs typeface="David"/>
              </a:rPr>
              <a:t>השלימו מחבריכם מידע אודות מצבי אקלים קיצון שונים בטבלה שבדף העבודה.</a:t>
            </a:r>
            <a:endParaRPr lang="en-US" sz="2000" b="1" dirty="0">
              <a:solidFill>
                <a:srgbClr val="000000"/>
              </a:solidFill>
              <a:latin typeface="David"/>
              <a:ea typeface="David"/>
              <a:cs typeface="David"/>
            </a:endParaRPr>
          </a:p>
          <a:p>
            <a:pPr lvl="0" algn="r" rtl="1"/>
            <a:endParaRPr lang="x-none" dirty="0">
              <a:solidFill>
                <a:schemeClr val="accent1"/>
              </a:solidFill>
              <a:sym typeface="Arial"/>
            </a:endParaRPr>
          </a:p>
          <a:p>
            <a:pPr lvl="0" algn="r" rtl="1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r"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 txBox="1">
            <a:spLocks noGrp="1"/>
          </p:cNvSpPr>
          <p:nvPr>
            <p:ph type="title"/>
          </p:nvPr>
        </p:nvSpPr>
        <p:spPr>
          <a:xfrm>
            <a:off x="311700" y="350832"/>
            <a:ext cx="8520600" cy="5727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1">
              <a:spcBef>
                <a:spcPts val="0"/>
              </a:spcBef>
              <a:buNone/>
            </a:pPr>
            <a:r>
              <a:rPr lang="x-none" dirty="0">
                <a:latin typeface="David" panose="020E0502060401010101" pitchFamily="34" charset="-79"/>
                <a:cs typeface="David" panose="020E0502060401010101" pitchFamily="34" charset="-79"/>
              </a:rPr>
              <a:t>דיון בעקבות ההתנסות:</a:t>
            </a:r>
          </a:p>
        </p:txBody>
      </p:sp>
      <p:sp>
        <p:nvSpPr>
          <p:cNvPr id="179" name="Shape 179"/>
          <p:cNvSpPr txBox="1">
            <a:spLocks noGrp="1"/>
          </p:cNvSpPr>
          <p:nvPr>
            <p:ph type="body" idx="1"/>
          </p:nvPr>
        </p:nvSpPr>
        <p:spPr>
          <a:xfrm>
            <a:off x="542260" y="1269124"/>
            <a:ext cx="8290040" cy="1325219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8100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David"/>
              <a:buAutoNum type="arabicPeriod"/>
            </a:pP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התבוננו בטבלה שבדף הסיכום וכתבו</a:t>
            </a:r>
            <a:r>
              <a:rPr lang="he-IL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:</a:t>
            </a:r>
          </a:p>
          <a:p>
            <a:pPr marL="457200" lvl="0" indent="-381000" algn="r" rtl="1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</a:pP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r>
              <a:rPr lang="he-IL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    א. מה משותף לכל 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התופעות? </a:t>
            </a:r>
            <a:endParaRPr lang="he-IL" sz="2400" b="1" dirty="0">
              <a:solidFill>
                <a:srgbClr val="000000"/>
              </a:solidFill>
              <a:latin typeface="David"/>
              <a:ea typeface="David"/>
              <a:cs typeface="David"/>
              <a:sym typeface="David"/>
            </a:endParaRPr>
          </a:p>
          <a:p>
            <a:pPr marL="457200" lvl="0" indent="-381000" algn="r" rtl="1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</a:pPr>
            <a:r>
              <a:rPr lang="he-IL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     ב. מה שונה בין התופעות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?</a:t>
            </a:r>
            <a:endParaRPr lang="he-IL" sz="2400" dirty="0">
              <a:solidFill>
                <a:srgbClr val="000000"/>
              </a:solidFill>
              <a:latin typeface="David"/>
              <a:ea typeface="David"/>
              <a:cs typeface="David"/>
              <a:sym typeface="David"/>
            </a:endParaRPr>
          </a:p>
          <a:p>
            <a:pPr marL="457200" indent="-381000" algn="r" rtl="1">
              <a:spcAft>
                <a:spcPts val="0"/>
              </a:spcAft>
              <a:buClr>
                <a:srgbClr val="000000"/>
              </a:buClr>
            </a:pP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2.   סכמו, מה ניתן להסיק מהטבלה אודות:</a:t>
            </a:r>
            <a:endParaRPr lang="x-none" sz="2400" b="1" dirty="0" smtClean="0">
              <a:solidFill>
                <a:srgbClr val="000000"/>
              </a:solidFill>
              <a:latin typeface="David"/>
              <a:ea typeface="David"/>
              <a:cs typeface="David"/>
              <a:sym typeface="David"/>
            </a:endParaRPr>
          </a:p>
          <a:p>
            <a:pPr marL="457200" indent="-381000" algn="r" rtl="1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</a:pP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    א.   מקום ההתרחשות של התופעות.</a:t>
            </a:r>
          </a:p>
          <a:p>
            <a:pPr marL="457200" indent="-381000" algn="r" rtl="1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</a:pP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    </a:t>
            </a:r>
            <a:r>
              <a:rPr lang="he-IL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ב.   הגורמים לתופעות והפגיעה שנגרמת לסביבה בעקבות התופעות. </a:t>
            </a:r>
          </a:p>
          <a:p>
            <a:pPr marL="457200" indent="-381000" algn="r" rtl="1">
              <a:lnSpc>
                <a:spcPct val="100000"/>
              </a:lnSpc>
              <a:spcAft>
                <a:spcPts val="0"/>
              </a:spcAft>
              <a:buClr>
                <a:srgbClr val="000000"/>
              </a:buClr>
            </a:pPr>
            <a:r>
              <a:rPr lang="he-IL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    ג.   אלו תופעות, לדעתכם, האדם יכול 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למנוע/לצמצם </a:t>
            </a:r>
            <a:r>
              <a:rPr lang="he-IL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על ידי התנהגותו? כיצד?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 txBox="1">
            <a:spLocks noGrp="1"/>
          </p:cNvSpPr>
          <p:nvPr>
            <p:ph type="title"/>
          </p:nvPr>
        </p:nvSpPr>
        <p:spPr>
          <a:xfrm>
            <a:off x="2183949" y="166575"/>
            <a:ext cx="5192895" cy="6261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1">
              <a:spcBef>
                <a:spcPts val="0"/>
              </a:spcBef>
              <a:buNone/>
            </a:pPr>
            <a:r>
              <a:rPr lang="x-none" dirty="0">
                <a:latin typeface="David" panose="020E0502060401010101" pitchFamily="34" charset="-79"/>
                <a:cs typeface="David" panose="020E0502060401010101" pitchFamily="34" charset="-79"/>
              </a:rPr>
              <a:t>לפני המבול - לאונרדו דיקפריו</a:t>
            </a:r>
          </a:p>
        </p:txBody>
      </p:sp>
      <p:sp>
        <p:nvSpPr>
          <p:cNvPr id="185" name="Shape 185"/>
          <p:cNvSpPr txBox="1">
            <a:spLocks noGrp="1"/>
          </p:cNvSpPr>
          <p:nvPr>
            <p:ph type="body" idx="1"/>
          </p:nvPr>
        </p:nvSpPr>
        <p:spPr>
          <a:xfrm>
            <a:off x="861700" y="964575"/>
            <a:ext cx="7970700" cy="3764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צפו בסרטון שפורסם 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ב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אתר 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"מאקו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"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ח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דשות </a:t>
            </a: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ערוץ</a:t>
            </a:r>
            <a:r>
              <a:rPr lang="he-IL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2, </a:t>
            </a:r>
            <a:r>
              <a:rPr lang="he-IL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  <a:hlinkClick r:id="rId3"/>
              </a:rPr>
              <a:t>"לפני המבול"</a:t>
            </a:r>
            <a:r>
              <a:rPr lang="he-IL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של ליאונרדו דיקפריו</a:t>
            </a:r>
            <a:r>
              <a:rPr lang="he-IL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</a:t>
            </a: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המתאר  תופעות </a:t>
            </a:r>
            <a:r>
              <a:rPr lang="he-IL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ו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גורמים להיווצרותו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של אקלים קיצון,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 </a:t>
            </a: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ובצעו את המשימות הבאות:</a:t>
            </a:r>
          </a:p>
          <a:p>
            <a:pPr lvl="0" algn="r" rtl="1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rgbClr val="000000"/>
              </a:solidFill>
              <a:latin typeface="David"/>
              <a:ea typeface="David"/>
              <a:cs typeface="David"/>
              <a:sym typeface="David"/>
            </a:endParaRPr>
          </a:p>
          <a:p>
            <a:pPr lvl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א. ציינו את מצבי האקלים הקיצון המופעים בסרטון.</a:t>
            </a:r>
          </a:p>
          <a:p>
            <a:pPr lvl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ב. כתבו מהם הגורמים להיווצרות אקלים קיצון המתוארים בסרטון.</a:t>
            </a:r>
          </a:p>
          <a:p>
            <a:pPr lvl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ג. כתבו שלוש פעולות שאתם יכולים לעשות בכדי לצמצם את שינוי האקלים המשפיעים על 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הסביבה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.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endParaRPr lang="x-none" sz="2400" b="1" dirty="0">
              <a:solidFill>
                <a:srgbClr val="000000"/>
              </a:solidFill>
              <a:latin typeface="David"/>
              <a:ea typeface="David"/>
              <a:cs typeface="David"/>
              <a:sym typeface="David"/>
            </a:endParaRPr>
          </a:p>
          <a:p>
            <a:pPr lvl="0" algn="r" rtl="1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David"/>
              <a:ea typeface="David"/>
              <a:cs typeface="David"/>
              <a:sym typeface="David"/>
              <a:hlinkClick r:id="rId4"/>
            </a:endParaRPr>
          </a:p>
          <a:p>
            <a:pPr lvl="0" algn="r">
              <a:spcBef>
                <a:spcPts val="0"/>
              </a:spcBef>
              <a:buNone/>
            </a:pPr>
            <a:endParaRPr sz="2400" dirty="0">
              <a:latin typeface="David"/>
              <a:ea typeface="David"/>
              <a:cs typeface="David"/>
              <a:sym typeface="Davi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1">
              <a:spcBef>
                <a:spcPts val="0"/>
              </a:spcBef>
              <a:buNone/>
            </a:pPr>
            <a:r>
              <a:rPr lang="x-none" dirty="0" smtClean="0">
                <a:latin typeface="David" panose="020E0502060401010101" pitchFamily="34" charset="-79"/>
                <a:cs typeface="David" panose="020E0502060401010101" pitchFamily="34" charset="-79"/>
              </a:rPr>
              <a:t>משימה</a:t>
            </a:r>
            <a:r>
              <a:rPr lang="he-IL" dirty="0" smtClean="0">
                <a:latin typeface="David" panose="020E0502060401010101" pitchFamily="34" charset="-79"/>
                <a:cs typeface="David" panose="020E0502060401010101" pitchFamily="34" charset="-79"/>
              </a:rPr>
              <a:t> קבוצתית</a:t>
            </a:r>
            <a:endParaRPr lang="x-none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191" name="Shape 19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א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.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התחלקו לקבוצות.</a:t>
            </a:r>
          </a:p>
          <a:p>
            <a:pPr lvl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ב.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הציעו </a:t>
            </a: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דף הוראות "עשה ואל תעשה</a:t>
            </a:r>
            <a:r>
              <a:rPr lang="he-IL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" כ</a:t>
            </a: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די לצמצם את השפעת האדם על חלק ממצבי אקלים קיצון.</a:t>
            </a:r>
            <a:endParaRPr lang="he-IL" sz="2400" b="1" dirty="0">
              <a:solidFill>
                <a:srgbClr val="000000"/>
              </a:solidFill>
              <a:latin typeface="David"/>
              <a:ea typeface="David"/>
              <a:cs typeface="David"/>
              <a:sym typeface="David"/>
            </a:endParaRPr>
          </a:p>
          <a:p>
            <a:pPr lvl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ג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.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ה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עלו </a:t>
            </a: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רעיונות כיצד להפיץ/לפרסם את המידע הלאה לחבריכם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,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משפחתכם </a:t>
            </a: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ולקהילה</a:t>
            </a:r>
            <a:r>
              <a:rPr lang="he-IL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.</a:t>
            </a:r>
            <a:endParaRPr lang="x-none" sz="2400" b="1" dirty="0">
              <a:solidFill>
                <a:srgbClr val="000000"/>
              </a:solidFill>
              <a:latin typeface="David"/>
              <a:ea typeface="David"/>
              <a:cs typeface="David"/>
              <a:sym typeface="David"/>
            </a:endParaRPr>
          </a:p>
          <a:p>
            <a:pPr lvl="0" algn="r">
              <a:spcBef>
                <a:spcPts val="0"/>
              </a:spcBef>
              <a:buNone/>
            </a:pPr>
            <a:endParaRPr sz="2400" dirty="0">
              <a:latin typeface="David"/>
              <a:ea typeface="David"/>
              <a:cs typeface="David"/>
              <a:sym typeface="Davi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hape 196"/>
          <p:cNvSpPr txBox="1">
            <a:spLocks noGrp="1"/>
          </p:cNvSpPr>
          <p:nvPr>
            <p:ph type="title"/>
          </p:nvPr>
        </p:nvSpPr>
        <p:spPr>
          <a:xfrm>
            <a:off x="3056625" y="391350"/>
            <a:ext cx="3636300" cy="1071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1">
              <a:spcBef>
                <a:spcPts val="0"/>
              </a:spcBef>
              <a:buNone/>
            </a:pPr>
            <a:r>
              <a:rPr lang="x-none" dirty="0">
                <a:latin typeface="David" panose="020E0502060401010101" pitchFamily="34" charset="-79"/>
                <a:cs typeface="David" panose="020E0502060401010101" pitchFamily="34" charset="-79"/>
              </a:rPr>
              <a:t>נאמני אקלים</a:t>
            </a:r>
          </a:p>
          <a:p>
            <a:pPr lvl="0" algn="ctr" rtl="1">
              <a:spcBef>
                <a:spcPts val="0"/>
              </a:spcBef>
              <a:buNone/>
            </a:pPr>
            <a:r>
              <a:rPr lang="x-none" sz="2400" dirty="0">
                <a:latin typeface="David" panose="020E0502060401010101" pitchFamily="34" charset="-79"/>
                <a:cs typeface="David" panose="020E0502060401010101" pitchFamily="34" charset="-79"/>
              </a:rPr>
              <a:t>מטלת בית:</a:t>
            </a:r>
          </a:p>
        </p:txBody>
      </p:sp>
      <p:sp>
        <p:nvSpPr>
          <p:cNvPr id="197" name="Shape 197"/>
          <p:cNvSpPr txBox="1">
            <a:spLocks noGrp="1"/>
          </p:cNvSpPr>
          <p:nvPr>
            <p:ph type="body" idx="1"/>
          </p:nvPr>
        </p:nvSpPr>
        <p:spPr>
          <a:xfrm>
            <a:off x="311700" y="1727475"/>
            <a:ext cx="8520600" cy="28413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בחרו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ותארו בכתב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2-3 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r>
              <a:rPr lang="he-IL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מ</a:t>
            </a: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שימות שאתם ומשפחתכם מתחייבים לעשות כדי לצמצם את השפעת האדם על שינוי האקלים.</a:t>
            </a:r>
          </a:p>
          <a:p>
            <a:pPr lvl="0">
              <a:spcBef>
                <a:spcPts val="0"/>
              </a:spcBef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202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algn="ctr" rtl="1">
              <a:lnSpc>
                <a:spcPct val="115000"/>
              </a:lnSpc>
              <a:spcBef>
                <a:spcPts val="0"/>
              </a:spcBef>
              <a:buNone/>
            </a:pPr>
            <a:r>
              <a:rPr lang="x-none" sz="3000" dirty="0" smtClean="0">
                <a:latin typeface="David"/>
                <a:ea typeface="David"/>
                <a:cs typeface="David"/>
                <a:sym typeface="David"/>
              </a:rPr>
              <a:t>סיכום</a:t>
            </a:r>
            <a:r>
              <a:rPr lang="he-IL" sz="3000" dirty="0" smtClean="0">
                <a:latin typeface="David"/>
                <a:ea typeface="David"/>
                <a:cs typeface="David"/>
                <a:sym typeface="David"/>
              </a:rPr>
              <a:t>:</a:t>
            </a:r>
            <a:r>
              <a:rPr lang="x-none" sz="3000" dirty="0" smtClean="0">
                <a:latin typeface="David"/>
                <a:ea typeface="David"/>
                <a:cs typeface="David"/>
                <a:sym typeface="David"/>
              </a:rPr>
              <a:t> משימ</a:t>
            </a:r>
            <a:r>
              <a:rPr lang="he-IL" sz="3000" dirty="0" smtClean="0">
                <a:latin typeface="David"/>
                <a:ea typeface="David"/>
                <a:cs typeface="David"/>
                <a:sym typeface="David"/>
              </a:rPr>
              <a:t>ת הערכה</a:t>
            </a:r>
            <a:r>
              <a:rPr lang="x-none" sz="3000" dirty="0" smtClean="0">
                <a:latin typeface="David"/>
                <a:ea typeface="David"/>
                <a:cs typeface="David"/>
                <a:sym typeface="David"/>
              </a:rPr>
              <a:t> </a:t>
            </a:r>
            <a:r>
              <a:rPr lang="x-none" sz="3000" dirty="0">
                <a:latin typeface="David"/>
                <a:ea typeface="David"/>
                <a:cs typeface="David"/>
                <a:sym typeface="David"/>
              </a:rPr>
              <a:t>אישית</a:t>
            </a:r>
          </a:p>
        </p:txBody>
      </p:sp>
      <p:sp>
        <p:nvSpPr>
          <p:cNvPr id="203" name="Shape 20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457200" lvl="0" indent="-38100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בחרו תופעה אחת 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שהשפיע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ה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עליכם באופן 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מיוחד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 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וציינו </a:t>
            </a: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מדוע היא השפיעה עליכם.</a:t>
            </a:r>
          </a:p>
          <a:p>
            <a:pPr marL="457200" lvl="0" indent="-38100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מה עורר בכם עניין בעת הלמידה?</a:t>
            </a:r>
          </a:p>
          <a:p>
            <a:pPr marL="457200" lvl="0" indent="-38100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אילו קשיים חוויתם 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במהלך </a:t>
            </a: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הלמידה?</a:t>
            </a:r>
          </a:p>
          <a:p>
            <a:pPr marL="457200" lvl="0" indent="-38100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אלו פעולות תבצעו בעקבות הלמידה?</a:t>
            </a:r>
          </a:p>
          <a:p>
            <a:pPr marL="457200" lvl="0" indent="-38100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מה חשיבותן של פעולות אלו?</a:t>
            </a:r>
          </a:p>
          <a:p>
            <a:pPr marL="457200" lvl="0" indent="-38100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</a:pPr>
            <a:r>
              <a:rPr lang="x-none" sz="2400" b="1" dirty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סכמו מה למדתם </a:t>
            </a:r>
            <a:r>
              <a:rPr lang="x-none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ביחידה</a:t>
            </a:r>
            <a:r>
              <a:rPr lang="he-IL" sz="2400" b="1" dirty="0" smtClean="0">
                <a:solidFill>
                  <a:srgbClr val="000000"/>
                </a:solidFill>
                <a:latin typeface="David"/>
                <a:ea typeface="David"/>
                <a:cs typeface="David"/>
                <a:sym typeface="David"/>
              </a:rPr>
              <a:t>.</a:t>
            </a:r>
            <a:endParaRPr lang="x-none" sz="2400" b="1" dirty="0">
              <a:solidFill>
                <a:srgbClr val="000000"/>
              </a:solidFill>
              <a:latin typeface="David"/>
              <a:ea typeface="David"/>
              <a:cs typeface="David"/>
              <a:sym typeface="Davi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435043" y="2024941"/>
            <a:ext cx="2780821" cy="626100"/>
          </a:xfrm>
        </p:spPr>
        <p:txBody>
          <a:bodyPr/>
          <a:lstStyle/>
          <a:p>
            <a:r>
              <a:rPr lang="he-IL" dirty="0" smtClean="0">
                <a:latin typeface="David" panose="020E0502060401010101" pitchFamily="34" charset="-79"/>
                <a:cs typeface="David" panose="020E0502060401010101" pitchFamily="34" charset="-79"/>
              </a:rPr>
              <a:t>למידה  </a:t>
            </a:r>
            <a:r>
              <a:rPr lang="he-IL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פוריה</a:t>
            </a:r>
            <a:r>
              <a:rPr lang="he-IL" dirty="0" smtClean="0">
                <a:latin typeface="David" panose="020E0502060401010101" pitchFamily="34" charset="-79"/>
                <a:cs typeface="David" panose="020E0502060401010101" pitchFamily="34" charset="-79"/>
              </a:rPr>
              <a:t>!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34535483"/>
      </p:ext>
    </p:extLst>
  </p:cSld>
  <p:clrMapOvr>
    <a:masterClrMapping/>
  </p:clrMapOvr>
</p:sld>
</file>

<file path=ppt/theme/theme1.xml><?xml version="1.0" encoding="utf-8"?>
<a:theme xmlns:a="http://schemas.openxmlformats.org/drawingml/2006/main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469</Words>
  <Application>Microsoft Office PowerPoint</Application>
  <PresentationFormat>‫הצגה על המסך (16:9)</PresentationFormat>
  <Paragraphs>59</Paragraphs>
  <Slides>18</Slides>
  <Notes>16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18</vt:i4>
      </vt:variant>
    </vt:vector>
  </HeadingPairs>
  <TitlesOfParts>
    <vt:vector size="23" baseType="lpstr">
      <vt:lpstr>Lato</vt:lpstr>
      <vt:lpstr>Playfair Display</vt:lpstr>
      <vt:lpstr>Arial</vt:lpstr>
      <vt:lpstr>David</vt:lpstr>
      <vt:lpstr>coral</vt:lpstr>
      <vt:lpstr>מצגת של PowerPoint</vt:lpstr>
      <vt:lpstr>מטלות צפייה:</vt:lpstr>
      <vt:lpstr> </vt:lpstr>
      <vt:lpstr>       </vt:lpstr>
      <vt:lpstr>מצגת של PowerPoint</vt:lpstr>
      <vt:lpstr>מצגת של PowerPoint</vt:lpstr>
      <vt:lpstr>מצגת של PowerPoint</vt:lpstr>
      <vt:lpstr>מצגת של PowerPoint</vt:lpstr>
      <vt:lpstr>מצגת של PowerPoint</vt:lpstr>
      <vt:lpstr>     דיון   </vt:lpstr>
      <vt:lpstr>הגדרה לאקלים קיצון</vt:lpstr>
      <vt:lpstr>משימה קבוצתית: חקירה על מצבי אקלים קיצון</vt:lpstr>
      <vt:lpstr>דיון בעקבות ההתנסות:</vt:lpstr>
      <vt:lpstr>לפני המבול - לאונרדו דיקפריו</vt:lpstr>
      <vt:lpstr>משימה קבוצתית</vt:lpstr>
      <vt:lpstr>נאמני אקלים מטלת בית:</vt:lpstr>
      <vt:lpstr>סיכום: משימת הערכה אישית</vt:lpstr>
      <vt:lpstr>למידה  פוריה!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לימור חיימי</dc:creator>
  <cp:lastModifiedBy>לימור חיימי</cp:lastModifiedBy>
  <cp:revision>64</cp:revision>
  <dcterms:modified xsi:type="dcterms:W3CDTF">2017-04-03T09:04:01Z</dcterms:modified>
</cp:coreProperties>
</file>