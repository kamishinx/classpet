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autoCompressPictures="0">
  <p:sldMasterIdLst>
    <p:sldMasterId id="2147483732" r:id="rId1"/>
    <p:sldMasterId id="2147483744" r:id="rId2"/>
  </p:sldMasterIdLst>
  <p:sldIdLst>
    <p:sldId id="256" r:id="rId3"/>
    <p:sldId id="265" r:id="rId4"/>
    <p:sldId id="311" r:id="rId5"/>
    <p:sldId id="266" r:id="rId6"/>
    <p:sldId id="302" r:id="rId7"/>
    <p:sldId id="305" r:id="rId8"/>
    <p:sldId id="306" r:id="rId9"/>
    <p:sldId id="307" r:id="rId10"/>
    <p:sldId id="304" r:id="rId11"/>
    <p:sldId id="299" r:id="rId12"/>
    <p:sldId id="300" r:id="rId13"/>
    <p:sldId id="308" r:id="rId14"/>
    <p:sldId id="310" r:id="rId15"/>
    <p:sldId id="312"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OEUser" initials="M" lastIdx="3" clrIdx="0">
    <p:extLst>
      <p:ext uri="{19B8F6BF-5375-455C-9EA6-DF929625EA0E}">
        <p15:presenceInfo xmlns:p15="http://schemas.microsoft.com/office/powerpoint/2012/main" userId="MOE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F6EA6A9-FBAF-4B02-8A71-14B13F96A89E}" v="7" dt="2023-01-15T08:24:29.071"/>
  </p1510:revLst>
</p1510:revInfo>
</file>

<file path=ppt/tableStyles.xml><?xml version="1.0" encoding="utf-8"?>
<a:tblStyleLst xmlns:a="http://schemas.openxmlformats.org/drawingml/2006/main" def="{5C22544A-7EE6-4342-B048-85BDC9FD1C3A}">
  <a:tblStyle styleId="{5C22544A-7EE6-4342-B048-85BDC9FD1C3A}" styleName="סגנון ביניים 2 - הדגשה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5000" autoAdjust="0"/>
    <p:restoredTop sz="94660"/>
  </p:normalViewPr>
  <p:slideViewPr>
    <p:cSldViewPr snapToGrid="0">
      <p:cViewPr varScale="1">
        <p:scale>
          <a:sx n="83" d="100"/>
          <a:sy n="83" d="100"/>
        </p:scale>
        <p:origin x="686"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commentAuthors" Target="commentAuthor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he-IL"/>
              <a:t>לחץ כדי לערוך סגנון כותרת של תבנית בסיס</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endParaRPr lang="en-US" dirty="0"/>
          </a:p>
        </p:txBody>
      </p:sp>
      <p:sp>
        <p:nvSpPr>
          <p:cNvPr id="4" name="Date Placeholder 3"/>
          <p:cNvSpPr>
            <a:spLocks noGrp="1"/>
          </p:cNvSpPr>
          <p:nvPr>
            <p:ph type="dt" sz="half" idx="10"/>
          </p:nvPr>
        </p:nvSpPr>
        <p:spPr/>
        <p:txBody>
          <a:bodyPr/>
          <a:lstStyle/>
          <a:p>
            <a:fld id="{1160EA64-D806-43AC-9DF2-F8C432F32B4C}" type="datetimeFigureOut">
              <a:rPr lang="en-US" smtClean="0"/>
              <a:t>12/10/2024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15426146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Content Placeholder 2"/>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7" name="Date Placeholder 6"/>
          <p:cNvSpPr>
            <a:spLocks noGrp="1"/>
          </p:cNvSpPr>
          <p:nvPr>
            <p:ph type="dt" sz="half" idx="10"/>
          </p:nvPr>
        </p:nvSpPr>
        <p:spPr/>
        <p:txBody>
          <a:bodyPr/>
          <a:lstStyle/>
          <a:p>
            <a:fld id="{F070A7B3-6521-4DCA-87E5-044747A908C1}" type="datetimeFigureOut">
              <a:rPr lang="en-US" smtClean="0"/>
              <a:t>12/10/2024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29629377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Title 1"/>
          <p:cNvSpPr>
            <a:spLocks noGrp="1"/>
          </p:cNvSpPr>
          <p:nvPr>
            <p:ph type="title"/>
          </p:nvPr>
        </p:nvSpPr>
        <p:spPr>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1160EA64-D806-43AC-9DF2-F8C432F32B4C}" type="datetimeFigureOut">
              <a:rPr lang="en-US" smtClean="0"/>
              <a:t>12/10/2024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30757248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8" name="Date Placeholder 7"/>
          <p:cNvSpPr>
            <a:spLocks noGrp="1"/>
          </p:cNvSpPr>
          <p:nvPr>
            <p:ph type="dt" sz="half" idx="10"/>
          </p:nvPr>
        </p:nvSpPr>
        <p:spPr/>
        <p:txBody>
          <a:bodyPr/>
          <a:lstStyle/>
          <a:p>
            <a:fld id="{AB134690-1557-4C89-A502-4959FE7FAD70}" type="datetimeFigureOut">
              <a:rPr lang="en-US" smtClean="0"/>
              <a:t>12/10/2024</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2286190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Content Placeholder 3"/>
          <p:cNvSpPr>
            <a:spLocks noGrp="1"/>
          </p:cNvSpPr>
          <p:nvPr>
            <p:ph sz="half" idx="2"/>
          </p:nvPr>
        </p:nvSpPr>
        <p:spPr>
          <a:xfrm>
            <a:off x="1583436" y="3143250"/>
            <a:ext cx="4270248" cy="2596776"/>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7" name="Date Placeholder 6"/>
          <p:cNvSpPr>
            <a:spLocks noGrp="1"/>
          </p:cNvSpPr>
          <p:nvPr>
            <p:ph type="dt" sz="half" idx="10"/>
          </p:nvPr>
        </p:nvSpPr>
        <p:spPr/>
        <p:txBody>
          <a:bodyPr/>
          <a:lstStyle/>
          <a:p>
            <a:fld id="{4F7D4976-E339-4826-83B7-FBD03F55ECF8}" type="datetimeFigureOut">
              <a:rPr lang="en-US" smtClean="0"/>
              <a:t>12/10/2024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smtClean="0"/>
              <a:t>‹#›</a:t>
            </a:fld>
            <a:endParaRPr lang="en-US" dirty="0"/>
          </a:p>
        </p:txBody>
      </p:sp>
      <p:sp>
        <p:nvSpPr>
          <p:cNvPr id="10" name="Title 9"/>
          <p:cNvSpPr>
            <a:spLocks noGrp="1"/>
          </p:cNvSpPr>
          <p:nvPr>
            <p:ph type="title"/>
          </p:nvPr>
        </p:nvSpPr>
        <p:spPr/>
        <p:txBody>
          <a:bodyPr/>
          <a:lstStyle/>
          <a:p>
            <a:r>
              <a:rPr lang="he-IL"/>
              <a:t>לחץ כדי לערוך סגנון כותרת של תבנית בסיס</a:t>
            </a:r>
            <a:endParaRPr lang="en-US" dirty="0"/>
          </a:p>
        </p:txBody>
      </p:sp>
    </p:spTree>
    <p:extLst>
      <p:ext uri="{BB962C8B-B14F-4D97-AF65-F5344CB8AC3E}">
        <p14:creationId xmlns:p14="http://schemas.microsoft.com/office/powerpoint/2010/main" val="5036821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smtClean="0"/>
              <a:t>12/10/2024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288605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smtClean="0"/>
              <a:t>12/10/2024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28625911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6" name="Rectangle 25"/>
          <p:cNvSpPr/>
          <p:nvPr/>
        </p:nvSpPr>
        <p:spPr>
          <a:xfrm>
            <a:off x="6096000" y="0"/>
            <a:ext cx="6096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he-IL"/>
              <a:t>לחץ כדי לערוך סגנון כותרת של תבנית בסיס</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9" name="Date Placeholder 8"/>
          <p:cNvSpPr>
            <a:spLocks noGrp="1"/>
          </p:cNvSpPr>
          <p:nvPr>
            <p:ph type="dt" sz="half" idx="10"/>
          </p:nvPr>
        </p:nvSpPr>
        <p:spPr/>
        <p:txBody>
          <a:bodyPr/>
          <a:lstStyle/>
          <a:p>
            <a:fld id="{D1BE4249-C0D0-4B06-8692-E8BB871AF643}" type="datetimeFigureOut">
              <a:rPr lang="en-US" smtClean="0"/>
              <a:t>12/10/2024</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chemeClr val="tx1">
                    <a:alpha val="70000"/>
                  </a:scheme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26033846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he-IL"/>
              <a:t>לחץ כדי לערוך סגנון כותרת של תבנית בסיס</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85000"/>
            </a:schemeClr>
          </a:solidFill>
        </p:spPr>
        <p:txBody>
          <a:bodyPr anchor="t"/>
          <a:lstStyle>
            <a:lvl1pPr marL="0" indent="0">
              <a:buNone/>
              <a:defRPr sz="3200">
                <a:solidFill>
                  <a:schemeClr val="bg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he-IL"/>
              <a:t>לחץ על הסמל כדי להוסיף תמונה</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smtClean="0"/>
              <a:t>12/10/2024</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chemeClr val="tx1">
                    <a:alpha val="70000"/>
                  </a:scheme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8385184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smtClean="0"/>
              <a:t>12/10/2024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31882620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smtClean="0"/>
              <a:t>12/10/2024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28742804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63AFC04-D7C7-C156-6A77-E505DA477DAB}"/>
              </a:ext>
            </a:extLst>
          </p:cNvPr>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a:extLst>
              <a:ext uri="{FF2B5EF4-FFF2-40B4-BE49-F238E27FC236}">
                <a16:creationId xmlns:a16="http://schemas.microsoft.com/office/drawing/2014/main" id="{1124A5CF-9254-6B93-1BA9-1726A44DC1A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a:extLst>
              <a:ext uri="{FF2B5EF4-FFF2-40B4-BE49-F238E27FC236}">
                <a16:creationId xmlns:a16="http://schemas.microsoft.com/office/drawing/2014/main" id="{92ACB86F-AEEA-7BF6-7E59-A5213AAE4021}"/>
              </a:ext>
            </a:extLst>
          </p:cNvPr>
          <p:cNvSpPr>
            <a:spLocks noGrp="1"/>
          </p:cNvSpPr>
          <p:nvPr>
            <p:ph type="dt" sz="half" idx="10"/>
          </p:nvPr>
        </p:nvSpPr>
        <p:spPr/>
        <p:txBody>
          <a:bodyPr/>
          <a:lstStyle/>
          <a:p>
            <a:fld id="{6DD1B074-6B06-4D61-845D-99009AC29CA8}" type="datetimeFigureOut">
              <a:rPr lang="he-IL" smtClean="0"/>
              <a:t>ט'/כסלו/תשפ"ה</a:t>
            </a:fld>
            <a:endParaRPr lang="he-IL"/>
          </a:p>
        </p:txBody>
      </p:sp>
      <p:sp>
        <p:nvSpPr>
          <p:cNvPr id="5" name="מציין מיקום של כותרת תחתונה 4">
            <a:extLst>
              <a:ext uri="{FF2B5EF4-FFF2-40B4-BE49-F238E27FC236}">
                <a16:creationId xmlns:a16="http://schemas.microsoft.com/office/drawing/2014/main" id="{AE66A68D-5B4B-1F0A-DE56-55EA982C2C0A}"/>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C26C273F-589F-E558-CE20-25A9EBA19600}"/>
              </a:ext>
            </a:extLst>
          </p:cNvPr>
          <p:cNvSpPr>
            <a:spLocks noGrp="1"/>
          </p:cNvSpPr>
          <p:nvPr>
            <p:ph type="sldNum" sz="quarter" idx="12"/>
          </p:nvPr>
        </p:nvSpPr>
        <p:spPr/>
        <p:txBody>
          <a:bodyPr/>
          <a:lstStyle/>
          <a:p>
            <a:fld id="{0D012743-F66C-460B-B14C-6894E4845147}" type="slidenum">
              <a:rPr lang="he-IL" smtClean="0"/>
              <a:t>‹#›</a:t>
            </a:fld>
            <a:endParaRPr lang="he-IL"/>
          </a:p>
        </p:txBody>
      </p:sp>
    </p:spTree>
    <p:extLst>
      <p:ext uri="{BB962C8B-B14F-4D97-AF65-F5344CB8AC3E}">
        <p14:creationId xmlns:p14="http://schemas.microsoft.com/office/powerpoint/2010/main" val="36813456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F1C3E54-9970-CC0C-CE2E-AE921CA6A18D}"/>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B757B806-CF52-DED1-98AE-36451B2A5DC3}"/>
              </a:ext>
            </a:extLst>
          </p:cNvPr>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9F8F05C2-9E76-F489-B6EB-188CA5FF2390}"/>
              </a:ext>
            </a:extLst>
          </p:cNvPr>
          <p:cNvSpPr>
            <a:spLocks noGrp="1"/>
          </p:cNvSpPr>
          <p:nvPr>
            <p:ph type="dt" sz="half" idx="10"/>
          </p:nvPr>
        </p:nvSpPr>
        <p:spPr/>
        <p:txBody>
          <a:bodyPr/>
          <a:lstStyle/>
          <a:p>
            <a:fld id="{6DD1B074-6B06-4D61-845D-99009AC29CA8}" type="datetimeFigureOut">
              <a:rPr lang="he-IL" smtClean="0"/>
              <a:t>ט'/כסלו/תשפ"ה</a:t>
            </a:fld>
            <a:endParaRPr lang="he-IL"/>
          </a:p>
        </p:txBody>
      </p:sp>
      <p:sp>
        <p:nvSpPr>
          <p:cNvPr id="5" name="מציין מיקום של כותרת תחתונה 4">
            <a:extLst>
              <a:ext uri="{FF2B5EF4-FFF2-40B4-BE49-F238E27FC236}">
                <a16:creationId xmlns:a16="http://schemas.microsoft.com/office/drawing/2014/main" id="{3E653369-9175-0012-E911-D47E55F307EC}"/>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4410B612-8E8F-D0AD-6266-A619C74E3D1F}"/>
              </a:ext>
            </a:extLst>
          </p:cNvPr>
          <p:cNvSpPr>
            <a:spLocks noGrp="1"/>
          </p:cNvSpPr>
          <p:nvPr>
            <p:ph type="sldNum" sz="quarter" idx="12"/>
          </p:nvPr>
        </p:nvSpPr>
        <p:spPr/>
        <p:txBody>
          <a:bodyPr/>
          <a:lstStyle/>
          <a:p>
            <a:fld id="{0D012743-F66C-460B-B14C-6894E4845147}" type="slidenum">
              <a:rPr lang="he-IL" smtClean="0"/>
              <a:t>‹#›</a:t>
            </a:fld>
            <a:endParaRPr lang="he-IL"/>
          </a:p>
        </p:txBody>
      </p:sp>
    </p:spTree>
    <p:extLst>
      <p:ext uri="{BB962C8B-B14F-4D97-AF65-F5344CB8AC3E}">
        <p14:creationId xmlns:p14="http://schemas.microsoft.com/office/powerpoint/2010/main" val="17899295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B512927-2DBE-B557-18BA-00E591AA70BA}"/>
              </a:ext>
            </a:extLst>
          </p:cNvPr>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30274680-AF25-ECD0-676F-C2299C8401E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לחץ כדי לערוך סגנונות טקסט של תבנית בסיס</a:t>
            </a:r>
          </a:p>
        </p:txBody>
      </p:sp>
      <p:sp>
        <p:nvSpPr>
          <p:cNvPr id="4" name="מציין מיקום של תאריך 3">
            <a:extLst>
              <a:ext uri="{FF2B5EF4-FFF2-40B4-BE49-F238E27FC236}">
                <a16:creationId xmlns:a16="http://schemas.microsoft.com/office/drawing/2014/main" id="{580E2D50-7772-5F81-CDEF-EDA50BFC8729}"/>
              </a:ext>
            </a:extLst>
          </p:cNvPr>
          <p:cNvSpPr>
            <a:spLocks noGrp="1"/>
          </p:cNvSpPr>
          <p:nvPr>
            <p:ph type="dt" sz="half" idx="10"/>
          </p:nvPr>
        </p:nvSpPr>
        <p:spPr/>
        <p:txBody>
          <a:bodyPr/>
          <a:lstStyle/>
          <a:p>
            <a:fld id="{6DD1B074-6B06-4D61-845D-99009AC29CA8}" type="datetimeFigureOut">
              <a:rPr lang="he-IL" smtClean="0"/>
              <a:t>ט'/כסלו/תשפ"ה</a:t>
            </a:fld>
            <a:endParaRPr lang="he-IL"/>
          </a:p>
        </p:txBody>
      </p:sp>
      <p:sp>
        <p:nvSpPr>
          <p:cNvPr id="5" name="מציין מיקום של כותרת תחתונה 4">
            <a:extLst>
              <a:ext uri="{FF2B5EF4-FFF2-40B4-BE49-F238E27FC236}">
                <a16:creationId xmlns:a16="http://schemas.microsoft.com/office/drawing/2014/main" id="{8D925292-B23B-77C1-7734-1A511E1C4C37}"/>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F9DA7D4F-F03E-F3F4-585D-9D9D1B9AF3B0}"/>
              </a:ext>
            </a:extLst>
          </p:cNvPr>
          <p:cNvSpPr>
            <a:spLocks noGrp="1"/>
          </p:cNvSpPr>
          <p:nvPr>
            <p:ph type="sldNum" sz="quarter" idx="12"/>
          </p:nvPr>
        </p:nvSpPr>
        <p:spPr/>
        <p:txBody>
          <a:bodyPr/>
          <a:lstStyle/>
          <a:p>
            <a:fld id="{0D012743-F66C-460B-B14C-6894E4845147}" type="slidenum">
              <a:rPr lang="he-IL" smtClean="0"/>
              <a:t>‹#›</a:t>
            </a:fld>
            <a:endParaRPr lang="he-IL"/>
          </a:p>
        </p:txBody>
      </p:sp>
    </p:spTree>
    <p:extLst>
      <p:ext uri="{BB962C8B-B14F-4D97-AF65-F5344CB8AC3E}">
        <p14:creationId xmlns:p14="http://schemas.microsoft.com/office/powerpoint/2010/main" val="34423727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6F7D97E-2A93-2939-C055-078763AA5AC3}"/>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D6BB15C3-B1F9-5CEB-CE6D-058A338CEFF9}"/>
              </a:ext>
            </a:extLst>
          </p:cNvPr>
          <p:cNvSpPr>
            <a:spLocks noGrp="1"/>
          </p:cNvSpPr>
          <p:nvPr>
            <p:ph sz="half" idx="1"/>
          </p:nvPr>
        </p:nvSpPr>
        <p:spPr>
          <a:xfrm>
            <a:off x="838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תוכן 3">
            <a:extLst>
              <a:ext uri="{FF2B5EF4-FFF2-40B4-BE49-F238E27FC236}">
                <a16:creationId xmlns:a16="http://schemas.microsoft.com/office/drawing/2014/main" id="{A2B2384E-66C2-D547-1448-481B7D8304AA}"/>
              </a:ext>
            </a:extLst>
          </p:cNvPr>
          <p:cNvSpPr>
            <a:spLocks noGrp="1"/>
          </p:cNvSpPr>
          <p:nvPr>
            <p:ph sz="half" idx="2"/>
          </p:nvPr>
        </p:nvSpPr>
        <p:spPr>
          <a:xfrm>
            <a:off x="6172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של תאריך 4">
            <a:extLst>
              <a:ext uri="{FF2B5EF4-FFF2-40B4-BE49-F238E27FC236}">
                <a16:creationId xmlns:a16="http://schemas.microsoft.com/office/drawing/2014/main" id="{BB035256-7093-3A02-BE1D-67A74D81FC91}"/>
              </a:ext>
            </a:extLst>
          </p:cNvPr>
          <p:cNvSpPr>
            <a:spLocks noGrp="1"/>
          </p:cNvSpPr>
          <p:nvPr>
            <p:ph type="dt" sz="half" idx="10"/>
          </p:nvPr>
        </p:nvSpPr>
        <p:spPr/>
        <p:txBody>
          <a:bodyPr/>
          <a:lstStyle/>
          <a:p>
            <a:fld id="{6DD1B074-6B06-4D61-845D-99009AC29CA8}" type="datetimeFigureOut">
              <a:rPr lang="he-IL" smtClean="0"/>
              <a:t>ט'/כסלו/תשפ"ה</a:t>
            </a:fld>
            <a:endParaRPr lang="he-IL"/>
          </a:p>
        </p:txBody>
      </p:sp>
      <p:sp>
        <p:nvSpPr>
          <p:cNvPr id="6" name="מציין מיקום של כותרת תחתונה 5">
            <a:extLst>
              <a:ext uri="{FF2B5EF4-FFF2-40B4-BE49-F238E27FC236}">
                <a16:creationId xmlns:a16="http://schemas.microsoft.com/office/drawing/2014/main" id="{AF60E0E2-9FF3-E361-2555-8DA28A5BEEF6}"/>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980AA477-2637-F5E2-2F93-D760BCB987EC}"/>
              </a:ext>
            </a:extLst>
          </p:cNvPr>
          <p:cNvSpPr>
            <a:spLocks noGrp="1"/>
          </p:cNvSpPr>
          <p:nvPr>
            <p:ph type="sldNum" sz="quarter" idx="12"/>
          </p:nvPr>
        </p:nvSpPr>
        <p:spPr/>
        <p:txBody>
          <a:bodyPr/>
          <a:lstStyle/>
          <a:p>
            <a:fld id="{0D012743-F66C-460B-B14C-6894E4845147}" type="slidenum">
              <a:rPr lang="he-IL" smtClean="0"/>
              <a:t>‹#›</a:t>
            </a:fld>
            <a:endParaRPr lang="he-IL"/>
          </a:p>
        </p:txBody>
      </p:sp>
    </p:spTree>
    <p:extLst>
      <p:ext uri="{BB962C8B-B14F-4D97-AF65-F5344CB8AC3E}">
        <p14:creationId xmlns:p14="http://schemas.microsoft.com/office/powerpoint/2010/main" val="21313420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4BB74D7-DC25-46C7-3CC8-1C798CDDC85A}"/>
              </a:ext>
            </a:extLst>
          </p:cNvPr>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9BED6922-B030-B4B3-AF91-5605463C95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a:extLst>
              <a:ext uri="{FF2B5EF4-FFF2-40B4-BE49-F238E27FC236}">
                <a16:creationId xmlns:a16="http://schemas.microsoft.com/office/drawing/2014/main" id="{DC84AE35-77A2-3011-D689-9AE0CD23A839}"/>
              </a:ext>
            </a:extLst>
          </p:cNvPr>
          <p:cNvSpPr>
            <a:spLocks noGrp="1"/>
          </p:cNvSpPr>
          <p:nvPr>
            <p:ph sz="half" idx="2"/>
          </p:nvPr>
        </p:nvSpPr>
        <p:spPr>
          <a:xfrm>
            <a:off x="839788" y="2505075"/>
            <a:ext cx="5157787"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טקסט 4">
            <a:extLst>
              <a:ext uri="{FF2B5EF4-FFF2-40B4-BE49-F238E27FC236}">
                <a16:creationId xmlns:a16="http://schemas.microsoft.com/office/drawing/2014/main" id="{BA01211E-BB5F-1ADE-8F21-756721CA258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a:extLst>
              <a:ext uri="{FF2B5EF4-FFF2-40B4-BE49-F238E27FC236}">
                <a16:creationId xmlns:a16="http://schemas.microsoft.com/office/drawing/2014/main" id="{F8CE281F-9019-BB2E-D1EB-C52AB15CA96E}"/>
              </a:ext>
            </a:extLst>
          </p:cNvPr>
          <p:cNvSpPr>
            <a:spLocks noGrp="1"/>
          </p:cNvSpPr>
          <p:nvPr>
            <p:ph sz="quarter" idx="4"/>
          </p:nvPr>
        </p:nvSpPr>
        <p:spPr>
          <a:xfrm>
            <a:off x="6172200" y="2505075"/>
            <a:ext cx="5183188"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7" name="מציין מיקום של תאריך 6">
            <a:extLst>
              <a:ext uri="{FF2B5EF4-FFF2-40B4-BE49-F238E27FC236}">
                <a16:creationId xmlns:a16="http://schemas.microsoft.com/office/drawing/2014/main" id="{26109186-3621-88E3-FE3B-CFC6167F3FB6}"/>
              </a:ext>
            </a:extLst>
          </p:cNvPr>
          <p:cNvSpPr>
            <a:spLocks noGrp="1"/>
          </p:cNvSpPr>
          <p:nvPr>
            <p:ph type="dt" sz="half" idx="10"/>
          </p:nvPr>
        </p:nvSpPr>
        <p:spPr/>
        <p:txBody>
          <a:bodyPr/>
          <a:lstStyle/>
          <a:p>
            <a:fld id="{6DD1B074-6B06-4D61-845D-99009AC29CA8}" type="datetimeFigureOut">
              <a:rPr lang="he-IL" smtClean="0"/>
              <a:t>ט'/כסלו/תשפ"ה</a:t>
            </a:fld>
            <a:endParaRPr lang="he-IL"/>
          </a:p>
        </p:txBody>
      </p:sp>
      <p:sp>
        <p:nvSpPr>
          <p:cNvPr id="8" name="מציין מיקום של כותרת תחתונה 7">
            <a:extLst>
              <a:ext uri="{FF2B5EF4-FFF2-40B4-BE49-F238E27FC236}">
                <a16:creationId xmlns:a16="http://schemas.microsoft.com/office/drawing/2014/main" id="{A5FC891C-803A-6591-5596-1EBE0FBD6CE6}"/>
              </a:ext>
            </a:extLst>
          </p:cNvPr>
          <p:cNvSpPr>
            <a:spLocks noGrp="1"/>
          </p:cNvSpPr>
          <p:nvPr>
            <p:ph type="ftr" sz="quarter" idx="11"/>
          </p:nvPr>
        </p:nvSpPr>
        <p:spPr/>
        <p:txBody>
          <a:bodyPr/>
          <a:lstStyle/>
          <a:p>
            <a:endParaRPr lang="he-IL"/>
          </a:p>
        </p:txBody>
      </p:sp>
      <p:sp>
        <p:nvSpPr>
          <p:cNvPr id="9" name="מציין מיקום של מספר שקופית 8">
            <a:extLst>
              <a:ext uri="{FF2B5EF4-FFF2-40B4-BE49-F238E27FC236}">
                <a16:creationId xmlns:a16="http://schemas.microsoft.com/office/drawing/2014/main" id="{6A5971A7-759A-F769-F059-6E6DA5F75AE8}"/>
              </a:ext>
            </a:extLst>
          </p:cNvPr>
          <p:cNvSpPr>
            <a:spLocks noGrp="1"/>
          </p:cNvSpPr>
          <p:nvPr>
            <p:ph type="sldNum" sz="quarter" idx="12"/>
          </p:nvPr>
        </p:nvSpPr>
        <p:spPr/>
        <p:txBody>
          <a:bodyPr/>
          <a:lstStyle/>
          <a:p>
            <a:fld id="{0D012743-F66C-460B-B14C-6894E4845147}" type="slidenum">
              <a:rPr lang="he-IL" smtClean="0"/>
              <a:t>‹#›</a:t>
            </a:fld>
            <a:endParaRPr lang="he-IL"/>
          </a:p>
        </p:txBody>
      </p:sp>
    </p:spTree>
    <p:extLst>
      <p:ext uri="{BB962C8B-B14F-4D97-AF65-F5344CB8AC3E}">
        <p14:creationId xmlns:p14="http://schemas.microsoft.com/office/powerpoint/2010/main" val="10925829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6C48A35-81E2-A3F9-67E4-FF4F3DF3F1F9}"/>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a:extLst>
              <a:ext uri="{FF2B5EF4-FFF2-40B4-BE49-F238E27FC236}">
                <a16:creationId xmlns:a16="http://schemas.microsoft.com/office/drawing/2014/main" id="{05DFE4C6-8551-8A57-6060-5A54BFF87B91}"/>
              </a:ext>
            </a:extLst>
          </p:cNvPr>
          <p:cNvSpPr>
            <a:spLocks noGrp="1"/>
          </p:cNvSpPr>
          <p:nvPr>
            <p:ph type="dt" sz="half" idx="10"/>
          </p:nvPr>
        </p:nvSpPr>
        <p:spPr/>
        <p:txBody>
          <a:bodyPr/>
          <a:lstStyle/>
          <a:p>
            <a:fld id="{6DD1B074-6B06-4D61-845D-99009AC29CA8}" type="datetimeFigureOut">
              <a:rPr lang="he-IL" smtClean="0"/>
              <a:t>ט'/כסלו/תשפ"ה</a:t>
            </a:fld>
            <a:endParaRPr lang="he-IL"/>
          </a:p>
        </p:txBody>
      </p:sp>
      <p:sp>
        <p:nvSpPr>
          <p:cNvPr id="4" name="מציין מיקום של כותרת תחתונה 3">
            <a:extLst>
              <a:ext uri="{FF2B5EF4-FFF2-40B4-BE49-F238E27FC236}">
                <a16:creationId xmlns:a16="http://schemas.microsoft.com/office/drawing/2014/main" id="{2BAC6808-54FE-2B98-6B1A-DCF7B931C4FC}"/>
              </a:ext>
            </a:extLst>
          </p:cNvPr>
          <p:cNvSpPr>
            <a:spLocks noGrp="1"/>
          </p:cNvSpPr>
          <p:nvPr>
            <p:ph type="ftr" sz="quarter" idx="11"/>
          </p:nvPr>
        </p:nvSpPr>
        <p:spPr/>
        <p:txBody>
          <a:bodyPr/>
          <a:lstStyle/>
          <a:p>
            <a:endParaRPr lang="he-IL"/>
          </a:p>
        </p:txBody>
      </p:sp>
      <p:sp>
        <p:nvSpPr>
          <p:cNvPr id="5" name="מציין מיקום של מספר שקופית 4">
            <a:extLst>
              <a:ext uri="{FF2B5EF4-FFF2-40B4-BE49-F238E27FC236}">
                <a16:creationId xmlns:a16="http://schemas.microsoft.com/office/drawing/2014/main" id="{2DA318AC-F746-C5BB-9F69-D10AC2AA1C96}"/>
              </a:ext>
            </a:extLst>
          </p:cNvPr>
          <p:cNvSpPr>
            <a:spLocks noGrp="1"/>
          </p:cNvSpPr>
          <p:nvPr>
            <p:ph type="sldNum" sz="quarter" idx="12"/>
          </p:nvPr>
        </p:nvSpPr>
        <p:spPr/>
        <p:txBody>
          <a:bodyPr/>
          <a:lstStyle/>
          <a:p>
            <a:fld id="{0D012743-F66C-460B-B14C-6894E4845147}" type="slidenum">
              <a:rPr lang="he-IL" smtClean="0"/>
              <a:t>‹#›</a:t>
            </a:fld>
            <a:endParaRPr lang="he-IL"/>
          </a:p>
        </p:txBody>
      </p:sp>
    </p:spTree>
    <p:extLst>
      <p:ext uri="{BB962C8B-B14F-4D97-AF65-F5344CB8AC3E}">
        <p14:creationId xmlns:p14="http://schemas.microsoft.com/office/powerpoint/2010/main" val="41507928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a:extLst>
              <a:ext uri="{FF2B5EF4-FFF2-40B4-BE49-F238E27FC236}">
                <a16:creationId xmlns:a16="http://schemas.microsoft.com/office/drawing/2014/main" id="{5991BAE0-6FAE-39B6-4D64-1C4B3F93173A}"/>
              </a:ext>
            </a:extLst>
          </p:cNvPr>
          <p:cNvSpPr>
            <a:spLocks noGrp="1"/>
          </p:cNvSpPr>
          <p:nvPr>
            <p:ph type="dt" sz="half" idx="10"/>
          </p:nvPr>
        </p:nvSpPr>
        <p:spPr/>
        <p:txBody>
          <a:bodyPr/>
          <a:lstStyle/>
          <a:p>
            <a:fld id="{6DD1B074-6B06-4D61-845D-99009AC29CA8}" type="datetimeFigureOut">
              <a:rPr lang="he-IL" smtClean="0"/>
              <a:t>ט'/כסלו/תשפ"ה</a:t>
            </a:fld>
            <a:endParaRPr lang="he-IL"/>
          </a:p>
        </p:txBody>
      </p:sp>
      <p:sp>
        <p:nvSpPr>
          <p:cNvPr id="3" name="מציין מיקום של כותרת תחתונה 2">
            <a:extLst>
              <a:ext uri="{FF2B5EF4-FFF2-40B4-BE49-F238E27FC236}">
                <a16:creationId xmlns:a16="http://schemas.microsoft.com/office/drawing/2014/main" id="{AE548905-867C-D3B8-C05D-C8E12CADCE02}"/>
              </a:ext>
            </a:extLst>
          </p:cNvPr>
          <p:cNvSpPr>
            <a:spLocks noGrp="1"/>
          </p:cNvSpPr>
          <p:nvPr>
            <p:ph type="ftr" sz="quarter" idx="11"/>
          </p:nvPr>
        </p:nvSpPr>
        <p:spPr/>
        <p:txBody>
          <a:bodyPr/>
          <a:lstStyle/>
          <a:p>
            <a:endParaRPr lang="he-IL"/>
          </a:p>
        </p:txBody>
      </p:sp>
      <p:sp>
        <p:nvSpPr>
          <p:cNvPr id="4" name="מציין מיקום של מספר שקופית 3">
            <a:extLst>
              <a:ext uri="{FF2B5EF4-FFF2-40B4-BE49-F238E27FC236}">
                <a16:creationId xmlns:a16="http://schemas.microsoft.com/office/drawing/2014/main" id="{7E6803B4-BD49-542E-CAEA-F2DE71B31489}"/>
              </a:ext>
            </a:extLst>
          </p:cNvPr>
          <p:cNvSpPr>
            <a:spLocks noGrp="1"/>
          </p:cNvSpPr>
          <p:nvPr>
            <p:ph type="sldNum" sz="quarter" idx="12"/>
          </p:nvPr>
        </p:nvSpPr>
        <p:spPr/>
        <p:txBody>
          <a:bodyPr/>
          <a:lstStyle/>
          <a:p>
            <a:fld id="{0D012743-F66C-460B-B14C-6894E4845147}" type="slidenum">
              <a:rPr lang="he-IL" smtClean="0"/>
              <a:t>‹#›</a:t>
            </a:fld>
            <a:endParaRPr lang="he-IL"/>
          </a:p>
        </p:txBody>
      </p:sp>
    </p:spTree>
    <p:extLst>
      <p:ext uri="{BB962C8B-B14F-4D97-AF65-F5344CB8AC3E}">
        <p14:creationId xmlns:p14="http://schemas.microsoft.com/office/powerpoint/2010/main" val="9246383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1919053-DA8C-B08B-6298-BE32A9272465}"/>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72E18F23-B5FA-78B8-5FB7-56AFF06217E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טקסט 3">
            <a:extLst>
              <a:ext uri="{FF2B5EF4-FFF2-40B4-BE49-F238E27FC236}">
                <a16:creationId xmlns:a16="http://schemas.microsoft.com/office/drawing/2014/main" id="{E4114F8C-8B9A-51F4-C9A4-D44856A026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D676D77B-7A0A-AD2E-5B63-D02C23436720}"/>
              </a:ext>
            </a:extLst>
          </p:cNvPr>
          <p:cNvSpPr>
            <a:spLocks noGrp="1"/>
          </p:cNvSpPr>
          <p:nvPr>
            <p:ph type="dt" sz="half" idx="10"/>
          </p:nvPr>
        </p:nvSpPr>
        <p:spPr/>
        <p:txBody>
          <a:bodyPr/>
          <a:lstStyle/>
          <a:p>
            <a:fld id="{6DD1B074-6B06-4D61-845D-99009AC29CA8}" type="datetimeFigureOut">
              <a:rPr lang="he-IL" smtClean="0"/>
              <a:t>ט'/כסלו/תשפ"ה</a:t>
            </a:fld>
            <a:endParaRPr lang="he-IL"/>
          </a:p>
        </p:txBody>
      </p:sp>
      <p:sp>
        <p:nvSpPr>
          <p:cNvPr id="6" name="מציין מיקום של כותרת תחתונה 5">
            <a:extLst>
              <a:ext uri="{FF2B5EF4-FFF2-40B4-BE49-F238E27FC236}">
                <a16:creationId xmlns:a16="http://schemas.microsoft.com/office/drawing/2014/main" id="{81727BEF-867F-6B7D-3725-BA88F0CD96A8}"/>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FE1CAE60-93A5-4A4B-75DA-B1735F39D460}"/>
              </a:ext>
            </a:extLst>
          </p:cNvPr>
          <p:cNvSpPr>
            <a:spLocks noGrp="1"/>
          </p:cNvSpPr>
          <p:nvPr>
            <p:ph type="sldNum" sz="quarter" idx="12"/>
          </p:nvPr>
        </p:nvSpPr>
        <p:spPr/>
        <p:txBody>
          <a:bodyPr/>
          <a:lstStyle/>
          <a:p>
            <a:fld id="{0D012743-F66C-460B-B14C-6894E4845147}" type="slidenum">
              <a:rPr lang="he-IL" smtClean="0"/>
              <a:t>‹#›</a:t>
            </a:fld>
            <a:endParaRPr lang="he-IL"/>
          </a:p>
        </p:txBody>
      </p:sp>
    </p:spTree>
    <p:extLst>
      <p:ext uri="{BB962C8B-B14F-4D97-AF65-F5344CB8AC3E}">
        <p14:creationId xmlns:p14="http://schemas.microsoft.com/office/powerpoint/2010/main" val="38985391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E9EAFA8-40AE-D8DC-6597-580FD15855CB}"/>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a:extLst>
              <a:ext uri="{FF2B5EF4-FFF2-40B4-BE49-F238E27FC236}">
                <a16:creationId xmlns:a16="http://schemas.microsoft.com/office/drawing/2014/main" id="{7A8F7B6D-7D27-6D8F-2F51-097D3B0CC6D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a:extLst>
              <a:ext uri="{FF2B5EF4-FFF2-40B4-BE49-F238E27FC236}">
                <a16:creationId xmlns:a16="http://schemas.microsoft.com/office/drawing/2014/main" id="{C1F332F1-46B0-963F-96FC-522D3EB049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FC9293F7-48D7-EE4A-AA3D-D78D4C3B6C3C}"/>
              </a:ext>
            </a:extLst>
          </p:cNvPr>
          <p:cNvSpPr>
            <a:spLocks noGrp="1"/>
          </p:cNvSpPr>
          <p:nvPr>
            <p:ph type="dt" sz="half" idx="10"/>
          </p:nvPr>
        </p:nvSpPr>
        <p:spPr/>
        <p:txBody>
          <a:bodyPr/>
          <a:lstStyle/>
          <a:p>
            <a:fld id="{6DD1B074-6B06-4D61-845D-99009AC29CA8}" type="datetimeFigureOut">
              <a:rPr lang="he-IL" smtClean="0"/>
              <a:t>ט'/כסלו/תשפ"ה</a:t>
            </a:fld>
            <a:endParaRPr lang="he-IL"/>
          </a:p>
        </p:txBody>
      </p:sp>
      <p:sp>
        <p:nvSpPr>
          <p:cNvPr id="6" name="מציין מיקום של כותרת תחתונה 5">
            <a:extLst>
              <a:ext uri="{FF2B5EF4-FFF2-40B4-BE49-F238E27FC236}">
                <a16:creationId xmlns:a16="http://schemas.microsoft.com/office/drawing/2014/main" id="{B8A1E377-1438-BCBC-28A9-6ACCB83A193C}"/>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59B4ABC8-1BCF-46F2-B8A1-FF43850D0958}"/>
              </a:ext>
            </a:extLst>
          </p:cNvPr>
          <p:cNvSpPr>
            <a:spLocks noGrp="1"/>
          </p:cNvSpPr>
          <p:nvPr>
            <p:ph type="sldNum" sz="quarter" idx="12"/>
          </p:nvPr>
        </p:nvSpPr>
        <p:spPr/>
        <p:txBody>
          <a:bodyPr/>
          <a:lstStyle/>
          <a:p>
            <a:fld id="{0D012743-F66C-460B-B14C-6894E4845147}" type="slidenum">
              <a:rPr lang="he-IL" smtClean="0"/>
              <a:t>‹#›</a:t>
            </a:fld>
            <a:endParaRPr lang="he-IL"/>
          </a:p>
        </p:txBody>
      </p:sp>
    </p:spTree>
    <p:extLst>
      <p:ext uri="{BB962C8B-B14F-4D97-AF65-F5344CB8AC3E}">
        <p14:creationId xmlns:p14="http://schemas.microsoft.com/office/powerpoint/2010/main" val="4580221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A849916-AE6A-F373-F7FD-73A9602B5598}"/>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2A4C0DB3-D70B-20AB-E2D0-E53181AE301C}"/>
              </a:ext>
            </a:extLst>
          </p:cNvPr>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5857CBB7-3648-1950-6D5B-3A5C3ADA779F}"/>
              </a:ext>
            </a:extLst>
          </p:cNvPr>
          <p:cNvSpPr>
            <a:spLocks noGrp="1"/>
          </p:cNvSpPr>
          <p:nvPr>
            <p:ph type="dt" sz="half" idx="10"/>
          </p:nvPr>
        </p:nvSpPr>
        <p:spPr/>
        <p:txBody>
          <a:bodyPr/>
          <a:lstStyle/>
          <a:p>
            <a:fld id="{6DD1B074-6B06-4D61-845D-99009AC29CA8}" type="datetimeFigureOut">
              <a:rPr lang="he-IL" smtClean="0"/>
              <a:t>ט'/כסלו/תשפ"ה</a:t>
            </a:fld>
            <a:endParaRPr lang="he-IL"/>
          </a:p>
        </p:txBody>
      </p:sp>
      <p:sp>
        <p:nvSpPr>
          <p:cNvPr id="5" name="מציין מיקום של כותרת תחתונה 4">
            <a:extLst>
              <a:ext uri="{FF2B5EF4-FFF2-40B4-BE49-F238E27FC236}">
                <a16:creationId xmlns:a16="http://schemas.microsoft.com/office/drawing/2014/main" id="{72EA9E99-5419-32AF-BE75-02B86ADBD7CC}"/>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C4BA14B6-7E30-959E-2078-3C93BB587797}"/>
              </a:ext>
            </a:extLst>
          </p:cNvPr>
          <p:cNvSpPr>
            <a:spLocks noGrp="1"/>
          </p:cNvSpPr>
          <p:nvPr>
            <p:ph type="sldNum" sz="quarter" idx="12"/>
          </p:nvPr>
        </p:nvSpPr>
        <p:spPr/>
        <p:txBody>
          <a:bodyPr/>
          <a:lstStyle/>
          <a:p>
            <a:fld id="{0D012743-F66C-460B-B14C-6894E4845147}" type="slidenum">
              <a:rPr lang="he-IL" smtClean="0"/>
              <a:t>‹#›</a:t>
            </a:fld>
            <a:endParaRPr lang="he-IL"/>
          </a:p>
        </p:txBody>
      </p:sp>
    </p:spTree>
    <p:extLst>
      <p:ext uri="{BB962C8B-B14F-4D97-AF65-F5344CB8AC3E}">
        <p14:creationId xmlns:p14="http://schemas.microsoft.com/office/powerpoint/2010/main" val="187768800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a:extLst>
              <a:ext uri="{FF2B5EF4-FFF2-40B4-BE49-F238E27FC236}">
                <a16:creationId xmlns:a16="http://schemas.microsoft.com/office/drawing/2014/main" id="{3A7D26DE-A650-96AB-F3AE-EB1D855CA918}"/>
              </a:ext>
            </a:extLst>
          </p:cNvPr>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98871BA7-2E75-B565-19CD-3462691AF66A}"/>
              </a:ext>
            </a:extLst>
          </p:cNvPr>
          <p:cNvSpPr>
            <a:spLocks noGrp="1"/>
          </p:cNvSpPr>
          <p:nvPr>
            <p:ph type="body" orient="vert" idx="1"/>
          </p:nvPr>
        </p:nvSpPr>
        <p:spPr>
          <a:xfrm>
            <a:off x="838200" y="365125"/>
            <a:ext cx="7734300"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56E56469-5F52-39C7-7019-3D093A0E2124}"/>
              </a:ext>
            </a:extLst>
          </p:cNvPr>
          <p:cNvSpPr>
            <a:spLocks noGrp="1"/>
          </p:cNvSpPr>
          <p:nvPr>
            <p:ph type="dt" sz="half" idx="10"/>
          </p:nvPr>
        </p:nvSpPr>
        <p:spPr/>
        <p:txBody>
          <a:bodyPr/>
          <a:lstStyle/>
          <a:p>
            <a:fld id="{6DD1B074-6B06-4D61-845D-99009AC29CA8}" type="datetimeFigureOut">
              <a:rPr lang="he-IL" smtClean="0"/>
              <a:t>ט'/כסלו/תשפ"ה</a:t>
            </a:fld>
            <a:endParaRPr lang="he-IL"/>
          </a:p>
        </p:txBody>
      </p:sp>
      <p:sp>
        <p:nvSpPr>
          <p:cNvPr id="5" name="מציין מיקום של כותרת תחתונה 4">
            <a:extLst>
              <a:ext uri="{FF2B5EF4-FFF2-40B4-BE49-F238E27FC236}">
                <a16:creationId xmlns:a16="http://schemas.microsoft.com/office/drawing/2014/main" id="{B6C4BA92-D69D-3418-BA98-8E24ADFBB980}"/>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C9D603D3-CA27-1CB4-EBAD-991AADF92BFE}"/>
              </a:ext>
            </a:extLst>
          </p:cNvPr>
          <p:cNvSpPr>
            <a:spLocks noGrp="1"/>
          </p:cNvSpPr>
          <p:nvPr>
            <p:ph type="sldNum" sz="quarter" idx="12"/>
          </p:nvPr>
        </p:nvSpPr>
        <p:spPr/>
        <p:txBody>
          <a:bodyPr/>
          <a:lstStyle/>
          <a:p>
            <a:fld id="{0D012743-F66C-460B-B14C-6894E4845147}" type="slidenum">
              <a:rPr lang="he-IL" smtClean="0"/>
              <a:t>‹#›</a:t>
            </a:fld>
            <a:endParaRPr lang="he-IL"/>
          </a:p>
        </p:txBody>
      </p:sp>
    </p:spTree>
    <p:extLst>
      <p:ext uri="{BB962C8B-B14F-4D97-AF65-F5344CB8AC3E}">
        <p14:creationId xmlns:p14="http://schemas.microsoft.com/office/powerpoint/2010/main" val="10090897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31136" y="964692"/>
            <a:ext cx="7729728" cy="1188720"/>
          </a:xfrm>
          <a:prstGeom prst="rect">
            <a:avLst/>
          </a:prstGeom>
          <a:solidFill>
            <a:schemeClr val="bg1"/>
          </a:solidFill>
          <a:ln w="31750" cap="sq">
            <a:solidFill>
              <a:schemeClr val="tx1">
                <a:lumMod val="75000"/>
                <a:lumOff val="25000"/>
              </a:schemeClr>
            </a:solidFill>
            <a:miter lim="800000"/>
          </a:ln>
        </p:spPr>
        <p:txBody>
          <a:bodyPr vert="horz" lIns="182880" tIns="182880" rIns="182880" bIns="182880" rtlCol="0" anchor="ctr">
            <a:normAutofit/>
          </a:body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160EA64-D806-43AC-9DF2-F8C432F32B4C}" type="datetimeFigureOut">
              <a:rPr lang="en-US" smtClean="0"/>
              <a:t>12/10/2024</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r">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1246243120"/>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sldNum="0" hdr="0" ftr="0" dt="0"/>
  <p:txStyles>
    <p:titleStyle>
      <a:lvl1pPr algn="ctr" defTabSz="914400" rtl="1" eaLnBrk="1" latinLnBrk="0" hangingPunct="1">
        <a:lnSpc>
          <a:spcPct val="90000"/>
        </a:lnSpc>
        <a:spcBef>
          <a:spcPct val="0"/>
        </a:spcBef>
        <a:buNone/>
        <a:defRPr sz="2800" kern="1200" cap="all" spc="200" baseline="0">
          <a:solidFill>
            <a:schemeClr val="tx1">
              <a:lumMod val="85000"/>
              <a:lumOff val="15000"/>
            </a:schemeClr>
          </a:solidFill>
          <a:latin typeface="+mj-lt"/>
          <a:ea typeface="+mj-ea"/>
          <a:cs typeface="+mj-cs"/>
        </a:defRPr>
      </a:lvl1pPr>
    </p:titleStyle>
    <p:bodyStyle>
      <a:lvl1pPr marL="228600" indent="-228600" algn="r" defTabSz="914400" rtl="1"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r" defTabSz="914400" rtl="1"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r" defTabSz="914400" rtl="1"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r" defTabSz="914400" rtl="1"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r" defTabSz="914400" rtl="1"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r" defTabSz="914400" rtl="1"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r" defTabSz="914400" rtl="1"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r" defTabSz="914400" rtl="1"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r" defTabSz="914400" rtl="1"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a:extLst>
              <a:ext uri="{FF2B5EF4-FFF2-40B4-BE49-F238E27FC236}">
                <a16:creationId xmlns:a16="http://schemas.microsoft.com/office/drawing/2014/main" id="{0028D492-530B-61A9-AE86-0C15DCAC1646}"/>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14497876-4151-787E-4C7B-9AB9C2666261}"/>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534C1CD6-5003-B942-E342-2F4D97040831}"/>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6DD1B074-6B06-4D61-845D-99009AC29CA8}" type="datetimeFigureOut">
              <a:rPr lang="he-IL" smtClean="0"/>
              <a:t>ט'/כסלו/תשפ"ה</a:t>
            </a:fld>
            <a:endParaRPr lang="he-IL"/>
          </a:p>
        </p:txBody>
      </p:sp>
      <p:sp>
        <p:nvSpPr>
          <p:cNvPr id="5" name="מציין מיקום של כותרת תחתונה 4">
            <a:extLst>
              <a:ext uri="{FF2B5EF4-FFF2-40B4-BE49-F238E27FC236}">
                <a16:creationId xmlns:a16="http://schemas.microsoft.com/office/drawing/2014/main" id="{978E7349-5D65-893F-1819-4081777F634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מציין מיקום של מספר שקופית 5">
            <a:extLst>
              <a:ext uri="{FF2B5EF4-FFF2-40B4-BE49-F238E27FC236}">
                <a16:creationId xmlns:a16="http://schemas.microsoft.com/office/drawing/2014/main" id="{BC2AD211-997D-AA0E-D579-B10C7CD25FBF}"/>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0D012743-F66C-460B-B14C-6894E4845147}" type="slidenum">
              <a:rPr lang="he-IL" smtClean="0"/>
              <a:t>‹#›</a:t>
            </a:fld>
            <a:endParaRPr lang="he-IL"/>
          </a:p>
        </p:txBody>
      </p:sp>
    </p:spTree>
    <p:extLst>
      <p:ext uri="{BB962C8B-B14F-4D97-AF65-F5344CB8AC3E}">
        <p14:creationId xmlns:p14="http://schemas.microsoft.com/office/powerpoint/2010/main" val="310354387"/>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calcalist.co.il/local/articles/0,7340,L-3617634,00.html" TargetMode="External"/><Relationship Id="rId2" Type="http://schemas.openxmlformats.org/officeDocument/2006/relationships/image" Target="../media/image15.jpe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hyperlink" Target="https://timeout.co.il/%D7%94%D7%A6%D7%9C%D7%AA-%D7%9E%D7%96%D7%95%D7%9F/" TargetMode="External"/><Relationship Id="rId2" Type="http://schemas.openxmlformats.org/officeDocument/2006/relationships/image" Target="../media/image16.jpe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www.sustainability.org.il/home/forests-open-areas-news/tama-35-open-land-0413" TargetMode="Externa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hyperlink" Target="https://pop.education.gov.il/tchumey_daat/mada-tehnologia/yesodi/technology-science-pedagogy/assessment-tasks/" TargetMode="External"/><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C158F00-D3CB-6935-AB55-57A7FA0F1F1A}"/>
              </a:ext>
            </a:extLst>
          </p:cNvPr>
          <p:cNvSpPr>
            <a:spLocks noGrp="1"/>
          </p:cNvSpPr>
          <p:nvPr>
            <p:ph type="ctrTitle"/>
          </p:nvPr>
        </p:nvSpPr>
        <p:spPr>
          <a:xfrm>
            <a:off x="1738745" y="964584"/>
            <a:ext cx="8991600" cy="1645920"/>
          </a:xfrm>
        </p:spPr>
        <p:txBody>
          <a:bodyPr/>
          <a:lstStyle/>
          <a:p>
            <a:r>
              <a:rPr lang="he-IL" dirty="0"/>
              <a:t>תצלום ככלי להערכה חלופית</a:t>
            </a:r>
          </a:p>
        </p:txBody>
      </p:sp>
      <p:sp>
        <p:nvSpPr>
          <p:cNvPr id="3" name="כותרת משנה 2">
            <a:extLst>
              <a:ext uri="{FF2B5EF4-FFF2-40B4-BE49-F238E27FC236}">
                <a16:creationId xmlns:a16="http://schemas.microsoft.com/office/drawing/2014/main" id="{E35FF35F-C27D-BAB4-3FAB-8B393E3727D2}"/>
              </a:ext>
            </a:extLst>
          </p:cNvPr>
          <p:cNvSpPr>
            <a:spLocks noGrp="1"/>
          </p:cNvSpPr>
          <p:nvPr>
            <p:ph type="subTitle" idx="1"/>
          </p:nvPr>
        </p:nvSpPr>
        <p:spPr>
          <a:xfrm>
            <a:off x="1821873" y="2819064"/>
            <a:ext cx="9142341" cy="1219872"/>
          </a:xfrm>
        </p:spPr>
        <p:txBody>
          <a:bodyPr>
            <a:normAutofit/>
          </a:bodyPr>
          <a:lstStyle/>
          <a:p>
            <a:r>
              <a:rPr lang="he-IL" sz="3200" dirty="0"/>
              <a:t>מצגת מלווה משימת הערכה תצלום כוללת הסבר ודוגמאות לתלמיד</a:t>
            </a:r>
          </a:p>
          <a:p>
            <a:endParaRPr lang="he-IL" dirty="0"/>
          </a:p>
        </p:txBody>
      </p:sp>
      <p:pic>
        <p:nvPicPr>
          <p:cNvPr id="4" name="תמונה 3">
            <a:extLst>
              <a:ext uri="{FF2B5EF4-FFF2-40B4-BE49-F238E27FC236}">
                <a16:creationId xmlns:a16="http://schemas.microsoft.com/office/drawing/2014/main" id="{B0754015-3053-42E6-B342-333D2A0EE4C4}"/>
              </a:ext>
            </a:extLst>
          </p:cNvPr>
          <p:cNvPicPr>
            <a:picLocks noChangeAspect="1"/>
          </p:cNvPicPr>
          <p:nvPr/>
        </p:nvPicPr>
        <p:blipFill>
          <a:blip r:embed="rId2"/>
          <a:stretch>
            <a:fillRect/>
          </a:stretch>
        </p:blipFill>
        <p:spPr>
          <a:xfrm>
            <a:off x="827287" y="4038936"/>
            <a:ext cx="10537426" cy="2261156"/>
          </a:xfrm>
          <a:prstGeom prst="rect">
            <a:avLst/>
          </a:prstGeom>
        </p:spPr>
      </p:pic>
      <p:pic>
        <p:nvPicPr>
          <p:cNvPr id="5" name="תמונה 4">
            <a:extLst>
              <a:ext uri="{FF2B5EF4-FFF2-40B4-BE49-F238E27FC236}">
                <a16:creationId xmlns:a16="http://schemas.microsoft.com/office/drawing/2014/main" id="{111F726B-A52C-4A1C-9B8E-F96A63A0E8DD}"/>
              </a:ext>
            </a:extLst>
          </p:cNvPr>
          <p:cNvPicPr>
            <a:picLocks noChangeAspect="1"/>
          </p:cNvPicPr>
          <p:nvPr/>
        </p:nvPicPr>
        <p:blipFill>
          <a:blip r:embed="rId3"/>
          <a:stretch>
            <a:fillRect/>
          </a:stretch>
        </p:blipFill>
        <p:spPr>
          <a:xfrm>
            <a:off x="9223047" y="80810"/>
            <a:ext cx="2688569" cy="798645"/>
          </a:xfrm>
          <a:prstGeom prst="rect">
            <a:avLst/>
          </a:prstGeom>
        </p:spPr>
      </p:pic>
      <p:pic>
        <p:nvPicPr>
          <p:cNvPr id="6" name="תמונה 5">
            <a:extLst>
              <a:ext uri="{FF2B5EF4-FFF2-40B4-BE49-F238E27FC236}">
                <a16:creationId xmlns:a16="http://schemas.microsoft.com/office/drawing/2014/main" id="{2A6710AE-4079-4ED3-B140-E475E5E0E752}"/>
              </a:ext>
            </a:extLst>
          </p:cNvPr>
          <p:cNvPicPr>
            <a:picLocks noChangeAspect="1"/>
          </p:cNvPicPr>
          <p:nvPr/>
        </p:nvPicPr>
        <p:blipFill>
          <a:blip r:embed="rId4"/>
          <a:stretch>
            <a:fillRect/>
          </a:stretch>
        </p:blipFill>
        <p:spPr>
          <a:xfrm>
            <a:off x="181776" y="178132"/>
            <a:ext cx="1097375" cy="786452"/>
          </a:xfrm>
          <a:prstGeom prst="rect">
            <a:avLst/>
          </a:prstGeom>
        </p:spPr>
      </p:pic>
      <p:sp>
        <p:nvSpPr>
          <p:cNvPr id="7" name="תיבת טקסט 6">
            <a:extLst>
              <a:ext uri="{FF2B5EF4-FFF2-40B4-BE49-F238E27FC236}">
                <a16:creationId xmlns:a16="http://schemas.microsoft.com/office/drawing/2014/main" id="{C6373062-BAFB-4089-BA2A-196DD3C23FA9}"/>
              </a:ext>
            </a:extLst>
          </p:cNvPr>
          <p:cNvSpPr txBox="1"/>
          <p:nvPr/>
        </p:nvSpPr>
        <p:spPr>
          <a:xfrm>
            <a:off x="2798618" y="6407858"/>
            <a:ext cx="9458687" cy="369332"/>
          </a:xfrm>
          <a:prstGeom prst="rect">
            <a:avLst/>
          </a:prstGeom>
          <a:noFill/>
        </p:spPr>
        <p:txBody>
          <a:bodyPr wrap="square" rtlCol="1">
            <a:spAutoFit/>
          </a:bodyPr>
          <a:lstStyle/>
          <a:p>
            <a:r>
              <a:rPr lang="he-IL" dirty="0"/>
              <a:t>מפמ"ר מדע וטכנולוגיה: בילי פרידמן     פיתוח: גלית ניב, ד"ר רויטל </a:t>
            </a:r>
            <a:r>
              <a:rPr lang="he-IL" dirty="0" err="1"/>
              <a:t>וינשטוק</a:t>
            </a:r>
            <a:r>
              <a:rPr lang="he-IL" dirty="0"/>
              <a:t>– תשפ"ג</a:t>
            </a:r>
          </a:p>
        </p:txBody>
      </p:sp>
    </p:spTree>
    <p:extLst>
      <p:ext uri="{BB962C8B-B14F-4D97-AF65-F5344CB8AC3E}">
        <p14:creationId xmlns:p14="http://schemas.microsoft.com/office/powerpoint/2010/main" val="15873199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5EF11A8-5C94-4D2E-3DB2-1A3F12817477}"/>
              </a:ext>
            </a:extLst>
          </p:cNvPr>
          <p:cNvSpPr>
            <a:spLocks noGrp="1"/>
          </p:cNvSpPr>
          <p:nvPr>
            <p:ph type="title"/>
          </p:nvPr>
        </p:nvSpPr>
        <p:spPr/>
        <p:txBody>
          <a:bodyPr/>
          <a:lstStyle/>
          <a:p>
            <a:pPr algn="r"/>
            <a:r>
              <a:rPr lang="he-IL" dirty="0"/>
              <a:t>הנחיות למורים:</a:t>
            </a:r>
          </a:p>
        </p:txBody>
      </p:sp>
      <p:sp>
        <p:nvSpPr>
          <p:cNvPr id="3" name="מציין מיקום תוכן 2">
            <a:extLst>
              <a:ext uri="{FF2B5EF4-FFF2-40B4-BE49-F238E27FC236}">
                <a16:creationId xmlns:a16="http://schemas.microsoft.com/office/drawing/2014/main" id="{E07382B4-AF77-3206-4A0C-314504DA02EC}"/>
              </a:ext>
            </a:extLst>
          </p:cNvPr>
          <p:cNvSpPr>
            <a:spLocks noGrp="1"/>
          </p:cNvSpPr>
          <p:nvPr>
            <p:ph idx="1"/>
          </p:nvPr>
        </p:nvSpPr>
        <p:spPr>
          <a:xfrm>
            <a:off x="2231136" y="2638044"/>
            <a:ext cx="7729728" cy="3976116"/>
          </a:xfrm>
        </p:spPr>
        <p:txBody>
          <a:bodyPr>
            <a:normAutofit/>
          </a:bodyPr>
          <a:lstStyle/>
          <a:p>
            <a:r>
              <a:rPr lang="he-IL" sz="2400" dirty="0"/>
              <a:t>לפניכם מצגת המיועדת למורה ומותאמת גם להצגה בפני התלמידים.</a:t>
            </a:r>
          </a:p>
          <a:p>
            <a:r>
              <a:rPr lang="he-IL" sz="2400" dirty="0">
                <a:solidFill>
                  <a:schemeClr val="tx1"/>
                </a:solidFill>
              </a:rPr>
              <a:t>במצגת מוצג מארגן גרפי המסייע לכתיבת הסבר מדעי וכן דוגמאות לתצלומים והסבר מדעי נלווה להם. </a:t>
            </a:r>
            <a:endParaRPr lang="he-IL" sz="2400" strike="sngStrike" dirty="0">
              <a:solidFill>
                <a:schemeClr val="tx1"/>
              </a:solidFill>
            </a:endParaRPr>
          </a:p>
        </p:txBody>
      </p:sp>
    </p:spTree>
    <p:extLst>
      <p:ext uri="{BB962C8B-B14F-4D97-AF65-F5344CB8AC3E}">
        <p14:creationId xmlns:p14="http://schemas.microsoft.com/office/powerpoint/2010/main" val="19152417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a:extLst>
              <a:ext uri="{FF2B5EF4-FFF2-40B4-BE49-F238E27FC236}">
                <a16:creationId xmlns:a16="http://schemas.microsoft.com/office/drawing/2014/main" id="{45B62ADB-786F-89F6-1AD7-1E7FEFB122F7}"/>
              </a:ext>
            </a:extLst>
          </p:cNvPr>
          <p:cNvSpPr>
            <a:spLocks noGrp="1"/>
          </p:cNvSpPr>
          <p:nvPr>
            <p:ph idx="1"/>
          </p:nvPr>
        </p:nvSpPr>
        <p:spPr>
          <a:xfrm>
            <a:off x="674947" y="164727"/>
            <a:ext cx="11414760" cy="2929890"/>
          </a:xfrm>
        </p:spPr>
        <p:txBody>
          <a:bodyPr>
            <a:normAutofit fontScale="92500" lnSpcReduction="20000"/>
          </a:bodyPr>
          <a:lstStyle/>
          <a:p>
            <a:pPr marL="0" indent="0" algn="r" rtl="1">
              <a:lnSpc>
                <a:spcPct val="150000"/>
              </a:lnSpc>
              <a:spcBef>
                <a:spcPts val="300"/>
              </a:spcBef>
              <a:spcAft>
                <a:spcPts val="1200"/>
              </a:spcAft>
              <a:buNone/>
            </a:pPr>
            <a:r>
              <a:rPr lang="he-IL" sz="3000" dirty="0">
                <a:effectLst/>
                <a:latin typeface="Calibri" panose="020F0502020204030204" pitchFamily="34" charset="0"/>
                <a:ea typeface="Calibri" panose="020F0502020204030204" pitchFamily="34" charset="0"/>
                <a:cs typeface="Arial" panose="020B0604020202020204" pitchFamily="34" charset="0"/>
              </a:rPr>
              <a:t>התצלום ככלי הערכה חלופית- יתרונות</a:t>
            </a:r>
          </a:p>
          <a:p>
            <a:pPr marL="0" indent="0" algn="r" rtl="1">
              <a:lnSpc>
                <a:spcPct val="150000"/>
              </a:lnSpc>
              <a:spcBef>
                <a:spcPts val="300"/>
              </a:spcBef>
              <a:spcAft>
                <a:spcPts val="1200"/>
              </a:spcAft>
              <a:buNone/>
            </a:pPr>
            <a:r>
              <a:rPr lang="he-IL" sz="2400" dirty="0">
                <a:effectLst/>
                <a:latin typeface="Calibri" panose="020F0502020204030204" pitchFamily="34" charset="0"/>
                <a:ea typeface="Calibri" panose="020F0502020204030204" pitchFamily="34" charset="0"/>
                <a:cs typeface="Arial" panose="020B0604020202020204" pitchFamily="34" charset="0"/>
              </a:rPr>
              <a:t>למשימה שהתוצר שלה הוא תצלום המלווה בהסבר מדעי יש פוטנציאל רב בתהליכי ההוראה והערכה.</a:t>
            </a:r>
          </a:p>
          <a:p>
            <a:pPr marL="0" indent="0" algn="r" rtl="1">
              <a:lnSpc>
                <a:spcPct val="150000"/>
              </a:lnSpc>
              <a:spcBef>
                <a:spcPts val="300"/>
              </a:spcBef>
              <a:spcAft>
                <a:spcPts val="1200"/>
              </a:spcAft>
              <a:buNone/>
            </a:pPr>
            <a:r>
              <a:rPr lang="he-IL" sz="2400" dirty="0">
                <a:effectLst/>
                <a:latin typeface="Calibri" panose="020F0502020204030204" pitchFamily="34" charset="0"/>
                <a:ea typeface="Calibri" panose="020F0502020204030204" pitchFamily="34" charset="0"/>
                <a:cs typeface="Arial" panose="020B0604020202020204" pitchFamily="34" charset="0"/>
              </a:rPr>
              <a:t>הצילום מזמן למידה חוץ כיתתית רלוונטית ללומד, למידה חווייתית ויצירתית המעודדת מוטיבציה ללמידה, ומגבירה את הקשר בין התלמידות והתלמידים וסביבתם.</a:t>
            </a:r>
          </a:p>
          <a:p>
            <a:pPr marL="0" indent="0" algn="r" rtl="1">
              <a:lnSpc>
                <a:spcPct val="150000"/>
              </a:lnSpc>
              <a:spcBef>
                <a:spcPts val="300"/>
              </a:spcBef>
              <a:spcAft>
                <a:spcPts val="1200"/>
              </a:spcAft>
              <a:buNone/>
            </a:pPr>
            <a:r>
              <a:rPr lang="he-IL" dirty="0">
                <a:latin typeface="Calibri" panose="020F0502020204030204" pitchFamily="34" charset="0"/>
                <a:ea typeface="Calibri" panose="020F0502020204030204" pitchFamily="34" charset="0"/>
                <a:cs typeface="Arial" panose="020B0604020202020204" pitchFamily="34" charset="0"/>
              </a:rPr>
              <a:t>.</a:t>
            </a:r>
            <a:endParaRPr lang="en-US" sz="18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6" name="תמונה 5">
            <a:extLst>
              <a:ext uri="{FF2B5EF4-FFF2-40B4-BE49-F238E27FC236}">
                <a16:creationId xmlns:a16="http://schemas.microsoft.com/office/drawing/2014/main" id="{1C1045A2-4A82-4FE7-86C6-4E68C0E7A631}"/>
              </a:ext>
            </a:extLst>
          </p:cNvPr>
          <p:cNvPicPr>
            <a:picLocks noChangeAspect="1"/>
          </p:cNvPicPr>
          <p:nvPr/>
        </p:nvPicPr>
        <p:blipFill>
          <a:blip r:embed="rId2"/>
          <a:stretch>
            <a:fillRect/>
          </a:stretch>
        </p:blipFill>
        <p:spPr>
          <a:xfrm>
            <a:off x="-129308" y="2195784"/>
            <a:ext cx="4328535" cy="3420152"/>
          </a:xfrm>
          <a:prstGeom prst="rect">
            <a:avLst/>
          </a:prstGeom>
        </p:spPr>
      </p:pic>
      <p:pic>
        <p:nvPicPr>
          <p:cNvPr id="8" name="תמונה 7">
            <a:extLst>
              <a:ext uri="{FF2B5EF4-FFF2-40B4-BE49-F238E27FC236}">
                <a16:creationId xmlns:a16="http://schemas.microsoft.com/office/drawing/2014/main" id="{3D93C4CE-0C0A-4452-A24F-2E2B7AE3CEBB}"/>
              </a:ext>
            </a:extLst>
          </p:cNvPr>
          <p:cNvPicPr>
            <a:picLocks noChangeAspect="1"/>
          </p:cNvPicPr>
          <p:nvPr/>
        </p:nvPicPr>
        <p:blipFill>
          <a:blip r:embed="rId3"/>
          <a:stretch>
            <a:fillRect/>
          </a:stretch>
        </p:blipFill>
        <p:spPr>
          <a:xfrm>
            <a:off x="3324729" y="3506136"/>
            <a:ext cx="4328535" cy="3248566"/>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9" name="תמונה 8">
            <a:extLst>
              <a:ext uri="{FF2B5EF4-FFF2-40B4-BE49-F238E27FC236}">
                <a16:creationId xmlns:a16="http://schemas.microsoft.com/office/drawing/2014/main" id="{A7A2C4EA-77D9-42FF-B8A5-883199AEF2EE}"/>
              </a:ext>
            </a:extLst>
          </p:cNvPr>
          <p:cNvPicPr>
            <a:picLocks noChangeAspect="1"/>
          </p:cNvPicPr>
          <p:nvPr/>
        </p:nvPicPr>
        <p:blipFill>
          <a:blip r:embed="rId4"/>
          <a:stretch>
            <a:fillRect/>
          </a:stretch>
        </p:blipFill>
        <p:spPr>
          <a:xfrm>
            <a:off x="7205518" y="3506136"/>
            <a:ext cx="4986482" cy="3061146"/>
          </a:xfrm>
          <a:prstGeom prst="rect">
            <a:avLst/>
          </a:prstGeom>
          <a:ln>
            <a:noFill/>
          </a:ln>
          <a:effectLst>
            <a:softEdge rad="112500"/>
          </a:effectLst>
        </p:spPr>
      </p:pic>
      <p:sp>
        <p:nvSpPr>
          <p:cNvPr id="12" name="תיבת טקסט 11">
            <a:extLst>
              <a:ext uri="{FF2B5EF4-FFF2-40B4-BE49-F238E27FC236}">
                <a16:creationId xmlns:a16="http://schemas.microsoft.com/office/drawing/2014/main" id="{2C85AA92-F7FC-4850-BD46-7D22D1081A64}"/>
              </a:ext>
            </a:extLst>
          </p:cNvPr>
          <p:cNvSpPr txBox="1"/>
          <p:nvPr/>
        </p:nvSpPr>
        <p:spPr>
          <a:xfrm>
            <a:off x="8010810" y="6187227"/>
            <a:ext cx="6192982" cy="261610"/>
          </a:xfrm>
          <a:prstGeom prst="rect">
            <a:avLst/>
          </a:prstGeom>
          <a:noFill/>
        </p:spPr>
        <p:txBody>
          <a:bodyPr wrap="square">
            <a:spAutoFit/>
          </a:bodyPr>
          <a:lstStyle/>
          <a:p>
            <a:r>
              <a:rPr lang="he-IL" sz="1100" dirty="0">
                <a:solidFill>
                  <a:schemeClr val="bg1"/>
                </a:solidFill>
              </a:rPr>
              <a:t>יעל אוכל מעץ השיטה במצוק </a:t>
            </a:r>
            <a:r>
              <a:rPr lang="he-IL" sz="1100" dirty="0" err="1">
                <a:solidFill>
                  <a:schemeClr val="bg1"/>
                </a:solidFill>
              </a:rPr>
              <a:t>הצינים</a:t>
            </a:r>
            <a:r>
              <a:rPr lang="he-IL" sz="1100" dirty="0">
                <a:solidFill>
                  <a:schemeClr val="bg1"/>
                </a:solidFill>
              </a:rPr>
              <a:t> צילום טל </a:t>
            </a:r>
            <a:r>
              <a:rPr lang="he-IL" sz="1100" dirty="0" err="1">
                <a:solidFill>
                  <a:schemeClr val="bg1"/>
                </a:solidFill>
              </a:rPr>
              <a:t>חיוט</a:t>
            </a:r>
            <a:r>
              <a:rPr lang="he-IL" sz="1100" dirty="0">
                <a:solidFill>
                  <a:schemeClr val="bg1"/>
                </a:solidFill>
              </a:rPr>
              <a:t> רשות הטבע והגנים</a:t>
            </a:r>
          </a:p>
        </p:txBody>
      </p:sp>
    </p:spTree>
    <p:extLst>
      <p:ext uri="{BB962C8B-B14F-4D97-AF65-F5344CB8AC3E}">
        <p14:creationId xmlns:p14="http://schemas.microsoft.com/office/powerpoint/2010/main" val="31798992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מציין מיקום תוכן 2">
            <a:extLst>
              <a:ext uri="{FF2B5EF4-FFF2-40B4-BE49-F238E27FC236}">
                <a16:creationId xmlns:a16="http://schemas.microsoft.com/office/drawing/2014/main" id="{45B62ADB-786F-89F6-1AD7-1E7FEFB122F7}"/>
              </a:ext>
            </a:extLst>
          </p:cNvPr>
          <p:cNvSpPr>
            <a:spLocks noGrp="1"/>
          </p:cNvSpPr>
          <p:nvPr>
            <p:ph idx="1"/>
          </p:nvPr>
        </p:nvSpPr>
        <p:spPr>
          <a:xfrm>
            <a:off x="662152" y="195368"/>
            <a:ext cx="11263230" cy="4775335"/>
          </a:xfrm>
        </p:spPr>
        <p:txBody>
          <a:bodyPr>
            <a:normAutofit/>
          </a:bodyPr>
          <a:lstStyle/>
          <a:p>
            <a:pPr marL="0" indent="0">
              <a:spcBef>
                <a:spcPts val="300"/>
              </a:spcBef>
              <a:spcAft>
                <a:spcPts val="1200"/>
              </a:spcAft>
              <a:buNone/>
            </a:pPr>
            <a:r>
              <a:rPr lang="he-IL" sz="2800" dirty="0">
                <a:effectLst/>
                <a:latin typeface="Calibri" panose="020F0502020204030204" pitchFamily="34" charset="0"/>
                <a:ea typeface="Calibri" panose="020F0502020204030204" pitchFamily="34" charset="0"/>
                <a:cs typeface="Arial" panose="020B0604020202020204" pitchFamily="34" charset="0"/>
              </a:rPr>
              <a:t>התצלום ככלי הערכה חלופית- יתרונות- המשך</a:t>
            </a:r>
          </a:p>
          <a:p>
            <a:pPr marL="0" indent="0" rtl="1">
              <a:lnSpc>
                <a:spcPct val="150000"/>
              </a:lnSpc>
              <a:spcBef>
                <a:spcPts val="300"/>
              </a:spcBef>
              <a:spcAft>
                <a:spcPts val="1200"/>
              </a:spcAft>
              <a:buNone/>
            </a:pPr>
            <a:r>
              <a:rPr lang="he-IL" sz="2200" dirty="0">
                <a:effectLst/>
                <a:latin typeface="Calibri" panose="020F0502020204030204" pitchFamily="34" charset="0"/>
                <a:ea typeface="Calibri" panose="020F0502020204030204" pitchFamily="34" charset="0"/>
                <a:cs typeface="Arial" panose="020B0604020202020204" pitchFamily="34" charset="0"/>
              </a:rPr>
              <a:t>זוהי הזדמנות נפלאה לחדד את התבוננותם של התלמידות והתלמידים בסביבה שבה הם חיים, לעורר את סקרנותם לשאול שאלות על התופעה שהם מצלמים ולהתנסות בניסוח הסבר מדעי לתופעה.  </a:t>
            </a:r>
          </a:p>
          <a:p>
            <a:pPr marL="0" indent="0" rtl="1">
              <a:spcBef>
                <a:spcPts val="300"/>
              </a:spcBef>
              <a:spcAft>
                <a:spcPts val="1200"/>
              </a:spcAft>
              <a:buNone/>
            </a:pPr>
            <a:r>
              <a:rPr lang="he-IL" sz="2200" dirty="0">
                <a:latin typeface="Calibri" panose="020F0502020204030204" pitchFamily="34" charset="0"/>
                <a:ea typeface="Calibri" panose="020F0502020204030204" pitchFamily="34" charset="0"/>
                <a:cs typeface="Arial" panose="020B0604020202020204" pitchFamily="34" charset="0"/>
              </a:rPr>
              <a:t>התצלום וההסבר המדעי הנלווה יכולים לשמש ככלי להערכת הידע והמיומנויות של התלמידים.</a:t>
            </a:r>
            <a:endParaRPr lang="en-US" sz="22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4" name="תמונה 3" descr="תמונה שמכילה טבע, גבעה, עפר&#10;&#10;התיאור נוצר באופן אוטומטי">
            <a:extLst>
              <a:ext uri="{FF2B5EF4-FFF2-40B4-BE49-F238E27FC236}">
                <a16:creationId xmlns:a16="http://schemas.microsoft.com/office/drawing/2014/main" id="{4458DCFE-B732-3C8C-C7BB-34EDA96E2388}"/>
              </a:ext>
            </a:extLst>
          </p:cNvPr>
          <p:cNvPicPr>
            <a:picLocks noChangeAspect="1"/>
          </p:cNvPicPr>
          <p:nvPr/>
        </p:nvPicPr>
        <p:blipFill>
          <a:blip r:embed="rId2"/>
          <a:stretch>
            <a:fillRect/>
          </a:stretch>
        </p:blipFill>
        <p:spPr>
          <a:xfrm>
            <a:off x="662152" y="2750153"/>
            <a:ext cx="2924579" cy="3912479"/>
          </a:xfrm>
          <a:prstGeom prst="rect">
            <a:avLst/>
          </a:prstGeom>
          <a:ln>
            <a:noFill/>
          </a:ln>
          <a:effectLst>
            <a:softEdge rad="112500"/>
          </a:effectLst>
        </p:spPr>
      </p:pic>
      <p:pic>
        <p:nvPicPr>
          <p:cNvPr id="7" name="תמונה 6" descr="תמונה שמכילה שמים, חוץ, מעופף, כלי טיס&#10;&#10;התיאור נוצר באופן אוטומטי">
            <a:extLst>
              <a:ext uri="{FF2B5EF4-FFF2-40B4-BE49-F238E27FC236}">
                <a16:creationId xmlns:a16="http://schemas.microsoft.com/office/drawing/2014/main" id="{CB18475C-0E23-54C4-3CA7-FE723FFB1BE0}"/>
              </a:ext>
            </a:extLst>
          </p:cNvPr>
          <p:cNvPicPr>
            <a:picLocks noChangeAspect="1"/>
          </p:cNvPicPr>
          <p:nvPr/>
        </p:nvPicPr>
        <p:blipFill>
          <a:blip r:embed="rId3"/>
          <a:stretch>
            <a:fillRect/>
          </a:stretch>
        </p:blipFill>
        <p:spPr>
          <a:xfrm>
            <a:off x="3894799" y="3429000"/>
            <a:ext cx="3549593" cy="3221254"/>
          </a:xfrm>
          <a:prstGeom prst="rect">
            <a:avLst/>
          </a:prstGeom>
          <a:ln>
            <a:noFill/>
          </a:ln>
          <a:effectLst>
            <a:softEdge rad="112500"/>
          </a:effectLst>
        </p:spPr>
      </p:pic>
      <p:pic>
        <p:nvPicPr>
          <p:cNvPr id="11" name="תמונה 10" descr="תמונה שמכילה חוץ, קרקע&#10;&#10;התיאור נוצר באופן אוטומטי">
            <a:extLst>
              <a:ext uri="{FF2B5EF4-FFF2-40B4-BE49-F238E27FC236}">
                <a16:creationId xmlns:a16="http://schemas.microsoft.com/office/drawing/2014/main" id="{EF5CA4AF-9C56-71DC-0825-CCB11BA65430}"/>
              </a:ext>
            </a:extLst>
          </p:cNvPr>
          <p:cNvPicPr>
            <a:picLocks noChangeAspect="1"/>
          </p:cNvPicPr>
          <p:nvPr/>
        </p:nvPicPr>
        <p:blipFill>
          <a:blip r:embed="rId4"/>
          <a:stretch>
            <a:fillRect/>
          </a:stretch>
        </p:blipFill>
        <p:spPr>
          <a:xfrm>
            <a:off x="7627576" y="5039627"/>
            <a:ext cx="4334835" cy="1560540"/>
          </a:xfrm>
          <a:prstGeom prst="rect">
            <a:avLst/>
          </a:prstGeom>
          <a:ln>
            <a:noFill/>
          </a:ln>
          <a:effectLst>
            <a:softEdge rad="112500"/>
          </a:effectLst>
        </p:spPr>
      </p:pic>
      <p:sp>
        <p:nvSpPr>
          <p:cNvPr id="12" name="תיבת טקסט 11">
            <a:extLst>
              <a:ext uri="{FF2B5EF4-FFF2-40B4-BE49-F238E27FC236}">
                <a16:creationId xmlns:a16="http://schemas.microsoft.com/office/drawing/2014/main" id="{2C85AA92-F7FC-4850-BD46-7D22D1081A64}"/>
              </a:ext>
            </a:extLst>
          </p:cNvPr>
          <p:cNvSpPr txBox="1"/>
          <p:nvPr/>
        </p:nvSpPr>
        <p:spPr>
          <a:xfrm>
            <a:off x="8010810" y="6187227"/>
            <a:ext cx="6192982" cy="261610"/>
          </a:xfrm>
          <a:prstGeom prst="rect">
            <a:avLst/>
          </a:prstGeom>
          <a:noFill/>
        </p:spPr>
        <p:txBody>
          <a:bodyPr wrap="square">
            <a:spAutoFit/>
          </a:bodyPr>
          <a:lstStyle/>
          <a:p>
            <a:pPr>
              <a:spcAft>
                <a:spcPts val="600"/>
              </a:spcAft>
            </a:pPr>
            <a:r>
              <a:rPr lang="he-IL" sz="1100">
                <a:solidFill>
                  <a:schemeClr val="bg1"/>
                </a:solidFill>
              </a:rPr>
              <a:t>יעל אוכל מעץ השיטה במצוק הצינים צילום טל חיוט רשות הטבע והגנים</a:t>
            </a:r>
          </a:p>
        </p:txBody>
      </p:sp>
    </p:spTree>
    <p:extLst>
      <p:ext uri="{BB962C8B-B14F-4D97-AF65-F5344CB8AC3E}">
        <p14:creationId xmlns:p14="http://schemas.microsoft.com/office/powerpoint/2010/main" val="5291108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a:extLst>
              <a:ext uri="{FF2B5EF4-FFF2-40B4-BE49-F238E27FC236}">
                <a16:creationId xmlns:a16="http://schemas.microsoft.com/office/drawing/2014/main" id="{45B62ADB-786F-89F6-1AD7-1E7FEFB122F7}"/>
              </a:ext>
            </a:extLst>
          </p:cNvPr>
          <p:cNvSpPr>
            <a:spLocks noGrp="1"/>
          </p:cNvSpPr>
          <p:nvPr>
            <p:ph idx="1"/>
          </p:nvPr>
        </p:nvSpPr>
        <p:spPr>
          <a:xfrm>
            <a:off x="674947" y="164727"/>
            <a:ext cx="11414760" cy="2278348"/>
          </a:xfrm>
        </p:spPr>
        <p:txBody>
          <a:bodyPr>
            <a:normAutofit fontScale="92500" lnSpcReduction="20000"/>
          </a:bodyPr>
          <a:lstStyle/>
          <a:p>
            <a:pPr marL="0" indent="0" algn="ctr" rtl="1">
              <a:lnSpc>
                <a:spcPct val="150000"/>
              </a:lnSpc>
              <a:spcBef>
                <a:spcPts val="300"/>
              </a:spcBef>
              <a:spcAft>
                <a:spcPts val="1200"/>
              </a:spcAft>
              <a:buNone/>
            </a:pPr>
            <a:r>
              <a:rPr lang="he-IL" sz="2000" b="1" u="sng" dirty="0">
                <a:effectLst/>
                <a:latin typeface="Calibri" panose="020F0502020204030204" pitchFamily="34" charset="0"/>
                <a:ea typeface="Calibri" panose="020F0502020204030204" pitchFamily="34" charset="0"/>
                <a:cs typeface="Arial" panose="020B0604020202020204" pitchFamily="34" charset="0"/>
              </a:rPr>
              <a:t>כתיבת הסבר מדעי נלווה לתצלום</a:t>
            </a:r>
          </a:p>
          <a:p>
            <a:pPr marL="0" indent="0" algn="r" rtl="1">
              <a:lnSpc>
                <a:spcPct val="150000"/>
              </a:lnSpc>
              <a:spcBef>
                <a:spcPts val="300"/>
              </a:spcBef>
              <a:spcAft>
                <a:spcPts val="1200"/>
              </a:spcAft>
              <a:buNone/>
            </a:pPr>
            <a:r>
              <a:rPr lang="he-IL" sz="1800" b="1" dirty="0">
                <a:effectLst/>
                <a:ea typeface="Calibri" panose="020F0502020204030204" pitchFamily="34" charset="0"/>
                <a:cs typeface="Arial" panose="020B0604020202020204" pitchFamily="34" charset="0"/>
              </a:rPr>
              <a:t>               חלק מהותי מהמשימה, הינו כתיבה של הסבר מדעי .</a:t>
            </a:r>
          </a:p>
          <a:p>
            <a:pPr marL="0" indent="0" algn="r" rtl="1">
              <a:lnSpc>
                <a:spcPct val="150000"/>
              </a:lnSpc>
              <a:spcBef>
                <a:spcPts val="300"/>
              </a:spcBef>
              <a:spcAft>
                <a:spcPts val="1200"/>
              </a:spcAft>
              <a:buNone/>
            </a:pPr>
            <a:r>
              <a:rPr lang="he-IL" sz="1800" b="1" dirty="0">
                <a:effectLst/>
                <a:ea typeface="Calibri" panose="020F0502020204030204" pitchFamily="34" charset="0"/>
                <a:cs typeface="Arial" panose="020B0604020202020204" pitchFamily="34" charset="0"/>
              </a:rPr>
              <a:t>               </a:t>
            </a:r>
            <a:r>
              <a:rPr lang="he-IL" sz="1800" dirty="0">
                <a:effectLst/>
                <a:ea typeface="Calibri" panose="020F0502020204030204" pitchFamily="34" charset="0"/>
                <a:cs typeface="Arial" panose="020B0604020202020204" pitchFamily="34" charset="0"/>
              </a:rPr>
              <a:t>הסבר מדעי כולל </a:t>
            </a:r>
            <a:r>
              <a:rPr lang="he-IL" sz="1800" b="1" dirty="0">
                <a:effectLst/>
                <a:ea typeface="Calibri" panose="020F0502020204030204" pitchFamily="34" charset="0"/>
                <a:cs typeface="Arial" panose="020B0604020202020204" pitchFamily="34" charset="0"/>
              </a:rPr>
              <a:t>טענה, ראיות והנמקה</a:t>
            </a:r>
            <a:r>
              <a:rPr lang="he-IL" sz="1800" dirty="0">
                <a:effectLst/>
                <a:ea typeface="Calibri" panose="020F0502020204030204" pitchFamily="34" charset="0"/>
                <a:cs typeface="Arial" panose="020B0604020202020204" pitchFamily="34" charset="0"/>
              </a:rPr>
              <a:t>.</a:t>
            </a:r>
          </a:p>
          <a:p>
            <a:pPr marL="0" indent="0" algn="r" rtl="1">
              <a:lnSpc>
                <a:spcPct val="150000"/>
              </a:lnSpc>
              <a:spcAft>
                <a:spcPts val="800"/>
              </a:spcAft>
              <a:buNone/>
            </a:pPr>
            <a:r>
              <a:rPr lang="he-IL" sz="1800" dirty="0">
                <a:effectLst/>
                <a:latin typeface="Calibri" panose="020F0502020204030204" pitchFamily="34" charset="0"/>
                <a:ea typeface="Calibri" panose="020F0502020204030204" pitchFamily="34" charset="0"/>
                <a:cs typeface="Arial" panose="020B0604020202020204" pitchFamily="34" charset="0"/>
              </a:rPr>
              <a:t>               ניתן להציג את המבנה של ההסבר המדעי באמצעות מארגן חשיבה גרפי: </a:t>
            </a:r>
          </a:p>
          <a:p>
            <a:pPr marL="0" indent="0" algn="r" rtl="1">
              <a:lnSpc>
                <a:spcPct val="150000"/>
              </a:lnSpc>
              <a:spcAft>
                <a:spcPts val="800"/>
              </a:spcAft>
              <a:buNone/>
            </a:pP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0" indent="0" algn="r" rtl="1">
              <a:lnSpc>
                <a:spcPct val="150000"/>
              </a:lnSpc>
              <a:spcBef>
                <a:spcPts val="300"/>
              </a:spcBef>
              <a:spcAft>
                <a:spcPts val="1200"/>
              </a:spcAft>
              <a:buNone/>
            </a:pPr>
            <a:endParaRPr lang="en-US" sz="1800" dirty="0">
              <a:effectLst/>
              <a:latin typeface="Calibri" panose="020F0502020204030204" pitchFamily="34" charset="0"/>
              <a:ea typeface="Calibri" panose="020F0502020204030204" pitchFamily="34" charset="0"/>
              <a:cs typeface="Arial" panose="020B0604020202020204" pitchFamily="34" charset="0"/>
            </a:endParaRPr>
          </a:p>
        </p:txBody>
      </p:sp>
      <p:graphicFrame>
        <p:nvGraphicFramePr>
          <p:cNvPr id="5" name="טבלה 4">
            <a:extLst>
              <a:ext uri="{FF2B5EF4-FFF2-40B4-BE49-F238E27FC236}">
                <a16:creationId xmlns:a16="http://schemas.microsoft.com/office/drawing/2014/main" id="{D1035C3F-CD86-490C-9814-41E3F0EF74F6}"/>
              </a:ext>
            </a:extLst>
          </p:cNvPr>
          <p:cNvGraphicFramePr>
            <a:graphicFrameLocks noGrp="1"/>
          </p:cNvGraphicFramePr>
          <p:nvPr>
            <p:extLst>
              <p:ext uri="{D42A27DB-BD31-4B8C-83A1-F6EECF244321}">
                <p14:modId xmlns:p14="http://schemas.microsoft.com/office/powerpoint/2010/main" val="2846999600"/>
              </p:ext>
            </p:extLst>
          </p:nvPr>
        </p:nvGraphicFramePr>
        <p:xfrm>
          <a:off x="1644245" y="2374053"/>
          <a:ext cx="9295000" cy="4319220"/>
        </p:xfrm>
        <a:graphic>
          <a:graphicData uri="http://schemas.openxmlformats.org/drawingml/2006/table">
            <a:tbl>
              <a:tblPr rtl="1" firstRow="1" firstCol="1" bandRow="1"/>
              <a:tblGrid>
                <a:gridCol w="4607619">
                  <a:extLst>
                    <a:ext uri="{9D8B030D-6E8A-4147-A177-3AD203B41FA5}">
                      <a16:colId xmlns:a16="http://schemas.microsoft.com/office/drawing/2014/main" val="3700272896"/>
                    </a:ext>
                  </a:extLst>
                </a:gridCol>
                <a:gridCol w="4687381">
                  <a:extLst>
                    <a:ext uri="{9D8B030D-6E8A-4147-A177-3AD203B41FA5}">
                      <a16:colId xmlns:a16="http://schemas.microsoft.com/office/drawing/2014/main" val="3543489704"/>
                    </a:ext>
                  </a:extLst>
                </a:gridCol>
              </a:tblGrid>
              <a:tr h="309106">
                <a:tc gridSpan="2">
                  <a:txBody>
                    <a:bodyPr/>
                    <a:lstStyle/>
                    <a:p>
                      <a:pPr marL="457200" algn="ctr" rtl="1">
                        <a:lnSpc>
                          <a:spcPct val="150000"/>
                        </a:lnSpc>
                        <a:spcAft>
                          <a:spcPts val="800"/>
                        </a:spcAft>
                      </a:pPr>
                      <a:r>
                        <a:rPr lang="he-IL" sz="1100" b="1" dirty="0">
                          <a:effectLst/>
                          <a:latin typeface="Calibri" panose="020F0502020204030204" pitchFamily="34" charset="0"/>
                          <a:ea typeface="Calibri" panose="020F0502020204030204" pitchFamily="34" charset="0"/>
                          <a:cs typeface="Arial" panose="020B0604020202020204" pitchFamily="34" charset="0"/>
                        </a:rPr>
                        <a:t>הסבר מדעי</a:t>
                      </a:r>
                      <a:endParaRPr lang="en-US" sz="1000" dirty="0">
                        <a:effectLst/>
                        <a:latin typeface="Calibri" panose="020F0502020204030204" pitchFamily="34" charset="0"/>
                        <a:ea typeface="Calibri" panose="020F0502020204030204" pitchFamily="34" charset="0"/>
                        <a:cs typeface="Arial" panose="020B0604020202020204" pitchFamily="34" charset="0"/>
                      </a:endParaRPr>
                    </a:p>
                  </a:txBody>
                  <a:tcPr marL="64126" marR="6412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hMerge="1">
                  <a:txBody>
                    <a:bodyPr/>
                    <a:lstStyle/>
                    <a:p>
                      <a:pPr rtl="1"/>
                      <a:endParaRPr lang="he-IL"/>
                    </a:p>
                  </a:txBody>
                  <a:tcPr/>
                </a:tc>
                <a:extLst>
                  <a:ext uri="{0D108BD9-81ED-4DB2-BD59-A6C34878D82A}">
                    <a16:rowId xmlns:a16="http://schemas.microsoft.com/office/drawing/2014/main" val="3153662849"/>
                  </a:ext>
                </a:extLst>
              </a:tr>
              <a:tr h="2648581">
                <a:tc>
                  <a:txBody>
                    <a:bodyPr/>
                    <a:lstStyle/>
                    <a:p>
                      <a:pPr marL="457200" algn="ctr" rtl="1">
                        <a:lnSpc>
                          <a:spcPct val="150000"/>
                        </a:lnSpc>
                      </a:pPr>
                      <a:r>
                        <a:rPr lang="he-IL"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rPr>
                        <a:t>טענה (</a:t>
                      </a:r>
                      <a:r>
                        <a:rPr lang="en-US"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rPr>
                        <a:t>claim</a:t>
                      </a:r>
                      <a:r>
                        <a:rPr lang="he-IL"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rPr>
                        <a:t>) </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457200" algn="ctr" rtl="1">
                        <a:lnSpc>
                          <a:spcPct val="150000"/>
                        </a:lnSpc>
                      </a:pPr>
                      <a:r>
                        <a:rPr lang="he-IL" sz="1600" dirty="0">
                          <a:effectLst/>
                          <a:latin typeface="Calibri" panose="020F0502020204030204" pitchFamily="34" charset="0"/>
                          <a:ea typeface="Calibri" panose="020F0502020204030204" pitchFamily="34" charset="0"/>
                          <a:cs typeface="Arial" panose="020B0604020202020204" pitchFamily="34" charset="0"/>
                        </a:rPr>
                        <a:t>אמירה או קביעה המציעה הסבר לתופעה/אירוע/תהליך שמבקשים להסביר</a:t>
                      </a:r>
                      <a:r>
                        <a:rPr lang="en-US" sz="1600" dirty="0">
                          <a:effectLst/>
                          <a:latin typeface="Calibri" panose="020F0502020204030204" pitchFamily="34" charset="0"/>
                          <a:ea typeface="Calibri" panose="020F0502020204030204" pitchFamily="34" charset="0"/>
                          <a:cs typeface="Arial" panose="020B0604020202020204" pitchFamily="34" charset="0"/>
                        </a:rPr>
                        <a:t>.</a:t>
                      </a:r>
                    </a:p>
                    <a:p>
                      <a:pPr marL="457200" algn="ctr" rtl="1">
                        <a:lnSpc>
                          <a:spcPct val="150000"/>
                        </a:lnSpc>
                      </a:pPr>
                      <a:endParaRPr lang="he-IL" sz="1600" kern="1200" dirty="0">
                        <a:solidFill>
                          <a:schemeClr val="tx1"/>
                        </a:solidFill>
                        <a:effectLst/>
                        <a:latin typeface="Calibri" panose="020F0502020204030204" pitchFamily="34" charset="0"/>
                        <a:ea typeface="+mn-ea"/>
                        <a:cs typeface="Arial" panose="020B0604020202020204" pitchFamily="34" charset="0"/>
                      </a:endParaRPr>
                    </a:p>
                    <a:p>
                      <a:pPr marL="457200" algn="ctr" rtl="1">
                        <a:lnSpc>
                          <a:spcPct val="150000"/>
                        </a:lnSpc>
                      </a:pPr>
                      <a:r>
                        <a:rPr lang="he-IL" sz="1600" kern="1200" dirty="0">
                          <a:solidFill>
                            <a:schemeClr val="tx1"/>
                          </a:solidFill>
                          <a:effectLst/>
                          <a:latin typeface="Calibri" panose="020F0502020204030204" pitchFamily="34" charset="0"/>
                          <a:ea typeface="+mn-ea"/>
                          <a:cs typeface="Arial" panose="020B0604020202020204" pitchFamily="34" charset="0"/>
                        </a:rPr>
                        <a:t>כדי לקבל את הטענה, יש להוכיח ולהצדיק אותה בעזרת ראיות.</a:t>
                      </a:r>
                      <a:endParaRPr lang="en-US" sz="1600" kern="120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p>
                      <a:pPr marL="457200" algn="ctr" rtl="1">
                        <a:lnSpc>
                          <a:spcPct val="150000"/>
                        </a:lnSpc>
                      </a:pPr>
                      <a:r>
                        <a:rPr lang="he-IL" sz="2000" dirty="0">
                          <a:effectLst/>
                          <a:latin typeface="Calibri" panose="020F0502020204030204" pitchFamily="34" charset="0"/>
                          <a:ea typeface="Calibri" panose="020F0502020204030204" pitchFamily="34" charset="0"/>
                          <a:cs typeface="Arial" panose="020B0604020202020204" pitchFamily="34" charset="0"/>
                        </a:rPr>
                        <a:t> </a:t>
                      </a:r>
                      <a:endParaRPr lang="en-US" sz="1600" dirty="0">
                        <a:effectLst/>
                        <a:latin typeface="Calibri" panose="020F0502020204030204" pitchFamily="34" charset="0"/>
                        <a:ea typeface="Calibri" panose="020F0502020204030204" pitchFamily="34" charset="0"/>
                        <a:cs typeface="Arial" panose="020B0604020202020204" pitchFamily="34" charset="0"/>
                      </a:endParaRPr>
                    </a:p>
                  </a:txBody>
                  <a:tcPr marL="64126" marR="6412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ctr" rtl="1">
                        <a:lnSpc>
                          <a:spcPct val="150000"/>
                        </a:lnSpc>
                      </a:pPr>
                      <a:r>
                        <a:rPr lang="he-IL"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rPr>
                        <a:t>ראיה (</a:t>
                      </a:r>
                      <a:r>
                        <a:rPr lang="en-US"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rPr>
                        <a:t>data/evidence</a:t>
                      </a:r>
                      <a:r>
                        <a:rPr lang="he-IL"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rPr>
                        <a:t>) </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457200" algn="ctr" rtl="1">
                        <a:lnSpc>
                          <a:spcPct val="150000"/>
                        </a:lnSpc>
                      </a:pPr>
                      <a:r>
                        <a:rPr lang="he-IL" sz="1600" b="1" dirty="0">
                          <a:effectLst/>
                          <a:latin typeface="Calibri" panose="020F0502020204030204" pitchFamily="34" charset="0"/>
                          <a:ea typeface="Calibri" panose="020F0502020204030204" pitchFamily="34" charset="0"/>
                          <a:cs typeface="Arial" panose="020B0604020202020204" pitchFamily="34" charset="0"/>
                        </a:rPr>
                        <a:t>עובדות או נתונים </a:t>
                      </a:r>
                      <a:r>
                        <a:rPr lang="he-IL" sz="1600" dirty="0">
                          <a:effectLst/>
                          <a:latin typeface="Calibri" panose="020F0502020204030204" pitchFamily="34" charset="0"/>
                          <a:ea typeface="Calibri" panose="020F0502020204030204" pitchFamily="34" charset="0"/>
                          <a:cs typeface="Arial" panose="020B0604020202020204" pitchFamily="34" charset="0"/>
                        </a:rPr>
                        <a:t>נצפים/נמדדים אשר מתאימים כדי לתמוך בטענה לגבי הסבר התופעה או התהליך</a:t>
                      </a:r>
                      <a:r>
                        <a:rPr lang="en-US" sz="1600" dirty="0">
                          <a:effectLst/>
                          <a:latin typeface="Calibri" panose="020F0502020204030204" pitchFamily="34" charset="0"/>
                          <a:ea typeface="Calibri" panose="020F0502020204030204" pitchFamily="34" charset="0"/>
                          <a:cs typeface="Arial" panose="020B0604020202020204" pitchFamily="34" charset="0"/>
                        </a:rPr>
                        <a:t>.</a:t>
                      </a:r>
                    </a:p>
                    <a:p>
                      <a:pPr marL="457200" algn="ctr" rtl="1">
                        <a:lnSpc>
                          <a:spcPct val="150000"/>
                        </a:lnSpc>
                        <a:spcAft>
                          <a:spcPts val="800"/>
                        </a:spcAft>
                      </a:pPr>
                      <a:r>
                        <a:rPr lang="he-IL" sz="1600" b="1" dirty="0">
                          <a:effectLst/>
                          <a:latin typeface="Calibri" panose="020F0502020204030204" pitchFamily="34" charset="0"/>
                          <a:ea typeface="Calibri" panose="020F0502020204030204" pitchFamily="34" charset="0"/>
                          <a:cs typeface="Arial" panose="020B0604020202020204" pitchFamily="34" charset="0"/>
                        </a:rPr>
                        <a:t>ידע מדעי </a:t>
                      </a:r>
                      <a:r>
                        <a:rPr lang="he-IL" sz="1600" dirty="0">
                          <a:effectLst/>
                          <a:latin typeface="Calibri" panose="020F0502020204030204" pitchFamily="34" charset="0"/>
                          <a:ea typeface="Calibri" panose="020F0502020204030204" pitchFamily="34" charset="0"/>
                          <a:cs typeface="Arial" panose="020B0604020202020204" pitchFamily="34" charset="0"/>
                        </a:rPr>
                        <a:t>– תיאוריות, רעיונות, או עקרונות מדעיים אשר מתאימים להסביר את התופעה או התהליך ולתמוך בטענה שהוצגה</a:t>
                      </a:r>
                      <a:r>
                        <a:rPr lang="en-US" sz="1600" dirty="0">
                          <a:effectLst/>
                          <a:latin typeface="Calibri" panose="020F0502020204030204" pitchFamily="34" charset="0"/>
                          <a:ea typeface="Calibri" panose="020F0502020204030204" pitchFamily="34" charset="0"/>
                          <a:cs typeface="Arial" panose="020B0604020202020204" pitchFamily="34" charset="0"/>
                        </a:rPr>
                        <a:t>. </a:t>
                      </a:r>
                    </a:p>
                  </a:txBody>
                  <a:tcPr marL="64126" marR="6412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02813684"/>
                  </a:ext>
                </a:extLst>
              </a:tr>
              <a:tr h="1316126">
                <a:tc gridSpan="2">
                  <a:txBody>
                    <a:bodyPr/>
                    <a:lstStyle/>
                    <a:p>
                      <a:pPr marL="457200" algn="ctr" rtl="1">
                        <a:lnSpc>
                          <a:spcPct val="150000"/>
                        </a:lnSpc>
                      </a:pPr>
                      <a:r>
                        <a:rPr lang="he-IL"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rPr>
                        <a:t>הנמקה (</a:t>
                      </a:r>
                      <a:r>
                        <a:rPr lang="en-US"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rPr>
                        <a:t>reasoning</a:t>
                      </a:r>
                      <a:r>
                        <a:rPr lang="he-IL" sz="2000" b="1" dirty="0">
                          <a:solidFill>
                            <a:srgbClr val="FF0000"/>
                          </a:solidFill>
                          <a:effectLst/>
                          <a:latin typeface="Calibri" panose="020F0502020204030204" pitchFamily="34" charset="0"/>
                          <a:ea typeface="Calibri" panose="020F0502020204030204" pitchFamily="34" charset="0"/>
                          <a:cs typeface="Arial" panose="020B0604020202020204" pitchFamily="34" charset="0"/>
                        </a:rPr>
                        <a:t>) </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457200" algn="ctr" rtl="1">
                        <a:lnSpc>
                          <a:spcPct val="150000"/>
                        </a:lnSpc>
                      </a:pPr>
                      <a:r>
                        <a:rPr lang="he-IL" sz="1600" dirty="0">
                          <a:effectLst/>
                          <a:latin typeface="Calibri" panose="020F0502020204030204" pitchFamily="34" charset="0"/>
                          <a:ea typeface="Calibri" panose="020F0502020204030204" pitchFamily="34" charset="0"/>
                          <a:cs typeface="Arial" panose="020B0604020202020204" pitchFamily="34" charset="0"/>
                        </a:rPr>
                        <a:t>הצדקה – משפט שמבהיר מדוע/כיצד הראיות והידע המדעי תומכים בטענה. </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457200" algn="ctr" rtl="1">
                        <a:lnSpc>
                          <a:spcPct val="150000"/>
                        </a:lnSpc>
                        <a:spcAft>
                          <a:spcPts val="800"/>
                        </a:spcAft>
                      </a:pPr>
                      <a:r>
                        <a:rPr lang="he-IL" sz="1600" b="1" dirty="0">
                          <a:effectLst/>
                          <a:latin typeface="Calibri" panose="020F0502020204030204" pitchFamily="34" charset="0"/>
                          <a:ea typeface="Calibri" panose="020F0502020204030204" pitchFamily="34" charset="0"/>
                          <a:cs typeface="Arial" panose="020B0604020202020204" pitchFamily="34" charset="0"/>
                        </a:rPr>
                        <a:t>משפט זה מקשר</a:t>
                      </a:r>
                      <a:r>
                        <a:rPr lang="he-IL" sz="1600" dirty="0">
                          <a:effectLst/>
                          <a:latin typeface="Calibri" panose="020F0502020204030204" pitchFamily="34" charset="0"/>
                          <a:ea typeface="Calibri" panose="020F0502020204030204" pitchFamily="34" charset="0"/>
                          <a:cs typeface="Arial" panose="020B0604020202020204" pitchFamily="34" charset="0"/>
                        </a:rPr>
                        <a:t>, </a:t>
                      </a:r>
                      <a:r>
                        <a:rPr lang="he-IL" sz="1600" b="1" dirty="0">
                          <a:effectLst/>
                          <a:latin typeface="Calibri" panose="020F0502020204030204" pitchFamily="34" charset="0"/>
                          <a:ea typeface="Calibri" panose="020F0502020204030204" pitchFamily="34" charset="0"/>
                          <a:cs typeface="Arial" panose="020B0604020202020204" pitchFamily="34" charset="0"/>
                        </a:rPr>
                        <a:t>בין הראיות לטענה (הנימוקים) ובהקשר</a:t>
                      </a:r>
                      <a:r>
                        <a:rPr lang="he-IL" sz="2000" b="1" dirty="0">
                          <a:effectLst/>
                          <a:latin typeface="Calibri" panose="020F0502020204030204" pitchFamily="34" charset="0"/>
                          <a:ea typeface="Calibri" panose="020F0502020204030204" pitchFamily="34" charset="0"/>
                          <a:cs typeface="Arial" panose="020B0604020202020204" pitchFamily="34" charset="0"/>
                        </a:rPr>
                        <a:t> </a:t>
                      </a:r>
                      <a:r>
                        <a:rPr lang="he-IL" sz="1600" b="1" dirty="0">
                          <a:effectLst/>
                          <a:latin typeface="Calibri" panose="020F0502020204030204" pitchFamily="34" charset="0"/>
                          <a:ea typeface="Calibri" panose="020F0502020204030204" pitchFamily="34" charset="0"/>
                          <a:cs typeface="Arial" panose="020B0604020202020204" pitchFamily="34" charset="0"/>
                        </a:rPr>
                        <a:t>לתופעה או לתהליך שמנסים להסביר</a:t>
                      </a:r>
                      <a:r>
                        <a:rPr lang="en-US" sz="1600" b="1" dirty="0">
                          <a:effectLst/>
                          <a:latin typeface="Calibri" panose="020F0502020204030204" pitchFamily="34" charset="0"/>
                          <a:ea typeface="Calibri" panose="020F0502020204030204" pitchFamily="34" charset="0"/>
                          <a:cs typeface="Arial" panose="020B0604020202020204" pitchFamily="34" charset="0"/>
                        </a:rPr>
                        <a:t>.</a:t>
                      </a:r>
                      <a:endParaRPr lang="en-US" sz="1600" dirty="0">
                        <a:effectLst/>
                        <a:latin typeface="Calibri" panose="020F0502020204030204" pitchFamily="34" charset="0"/>
                        <a:ea typeface="Calibri" panose="020F0502020204030204" pitchFamily="34" charset="0"/>
                        <a:cs typeface="Arial" panose="020B0604020202020204" pitchFamily="34" charset="0"/>
                      </a:endParaRPr>
                    </a:p>
                  </a:txBody>
                  <a:tcPr marL="64126" marR="6412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rtl="1"/>
                      <a:endParaRPr lang="he-IL"/>
                    </a:p>
                  </a:txBody>
                  <a:tcPr/>
                </a:tc>
                <a:extLst>
                  <a:ext uri="{0D108BD9-81ED-4DB2-BD59-A6C34878D82A}">
                    <a16:rowId xmlns:a16="http://schemas.microsoft.com/office/drawing/2014/main" val="4163544978"/>
                  </a:ext>
                </a:extLst>
              </a:tr>
            </a:tbl>
          </a:graphicData>
        </a:graphic>
      </p:graphicFrame>
    </p:spTree>
    <p:extLst>
      <p:ext uri="{BB962C8B-B14F-4D97-AF65-F5344CB8AC3E}">
        <p14:creationId xmlns:p14="http://schemas.microsoft.com/office/powerpoint/2010/main" val="31393800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תמונה 3">
            <a:extLst>
              <a:ext uri="{FF2B5EF4-FFF2-40B4-BE49-F238E27FC236}">
                <a16:creationId xmlns:a16="http://schemas.microsoft.com/office/drawing/2014/main" id="{44EFDB2F-97E8-4D87-98A9-FD6A9CB4BDDB}"/>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8328" t="19806" r="27077" b="33311"/>
          <a:stretch/>
        </p:blipFill>
        <p:spPr bwMode="auto">
          <a:xfrm>
            <a:off x="79282" y="471055"/>
            <a:ext cx="12124964" cy="5847315"/>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a:extLst>
            <a:ext uri="{53640926-AAD7-44D8-BBD7-CCE9431645EC}">
              <a14:shadowObscured xmlns:a14="http://schemas.microsoft.com/office/drawing/2010/main"/>
            </a:ext>
          </a:extLst>
        </p:spPr>
      </p:pic>
      <p:pic>
        <p:nvPicPr>
          <p:cNvPr id="2" name="תמונה 1">
            <a:extLst>
              <a:ext uri="{FF2B5EF4-FFF2-40B4-BE49-F238E27FC236}">
                <a16:creationId xmlns:a16="http://schemas.microsoft.com/office/drawing/2014/main" id="{4EE7E431-E9C0-4B6D-A6E3-C3F262A330E9}"/>
              </a:ext>
            </a:extLst>
          </p:cNvPr>
          <p:cNvPicPr>
            <a:picLocks noChangeAspect="1"/>
          </p:cNvPicPr>
          <p:nvPr/>
        </p:nvPicPr>
        <p:blipFill>
          <a:blip r:embed="rId3"/>
          <a:stretch>
            <a:fillRect/>
          </a:stretch>
        </p:blipFill>
        <p:spPr>
          <a:xfrm>
            <a:off x="79282" y="6318370"/>
            <a:ext cx="4667901" cy="362001"/>
          </a:xfrm>
          <a:prstGeom prst="rect">
            <a:avLst/>
          </a:prstGeom>
        </p:spPr>
      </p:pic>
      <p:pic>
        <p:nvPicPr>
          <p:cNvPr id="5" name="תמונה 4">
            <a:extLst>
              <a:ext uri="{FF2B5EF4-FFF2-40B4-BE49-F238E27FC236}">
                <a16:creationId xmlns:a16="http://schemas.microsoft.com/office/drawing/2014/main" id="{48B13244-7C41-4F37-ACF4-2BCBF43A3E9C}"/>
              </a:ext>
            </a:extLst>
          </p:cNvPr>
          <p:cNvPicPr>
            <a:picLocks noChangeAspect="1"/>
          </p:cNvPicPr>
          <p:nvPr/>
        </p:nvPicPr>
        <p:blipFill>
          <a:blip r:embed="rId4"/>
          <a:stretch>
            <a:fillRect/>
          </a:stretch>
        </p:blipFill>
        <p:spPr>
          <a:xfrm>
            <a:off x="1127268" y="0"/>
            <a:ext cx="10878975" cy="546519"/>
          </a:xfrm>
          <a:prstGeom prst="rect">
            <a:avLst/>
          </a:prstGeom>
        </p:spPr>
      </p:pic>
    </p:spTree>
    <p:extLst>
      <p:ext uri="{BB962C8B-B14F-4D97-AF65-F5344CB8AC3E}">
        <p14:creationId xmlns:p14="http://schemas.microsoft.com/office/powerpoint/2010/main" val="18313765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טבלה 3">
            <a:extLst>
              <a:ext uri="{FF2B5EF4-FFF2-40B4-BE49-F238E27FC236}">
                <a16:creationId xmlns:a16="http://schemas.microsoft.com/office/drawing/2014/main" id="{A9C0EBC5-A97B-4B62-9FB2-7CE775829C98}"/>
              </a:ext>
            </a:extLst>
          </p:cNvPr>
          <p:cNvGraphicFramePr>
            <a:graphicFrameLocks noGrp="1"/>
          </p:cNvGraphicFramePr>
          <p:nvPr>
            <p:extLst>
              <p:ext uri="{D42A27DB-BD31-4B8C-83A1-F6EECF244321}">
                <p14:modId xmlns:p14="http://schemas.microsoft.com/office/powerpoint/2010/main" val="2411364727"/>
              </p:ext>
            </p:extLst>
          </p:nvPr>
        </p:nvGraphicFramePr>
        <p:xfrm>
          <a:off x="689296" y="40937"/>
          <a:ext cx="10813408" cy="4667615"/>
        </p:xfrm>
        <a:graphic>
          <a:graphicData uri="http://schemas.openxmlformats.org/drawingml/2006/table">
            <a:tbl>
              <a:tblPr rtl="1" firstRow="1" firstCol="1" bandRow="1"/>
              <a:tblGrid>
                <a:gridCol w="5199625">
                  <a:extLst>
                    <a:ext uri="{9D8B030D-6E8A-4147-A177-3AD203B41FA5}">
                      <a16:colId xmlns:a16="http://schemas.microsoft.com/office/drawing/2014/main" val="1553700193"/>
                    </a:ext>
                  </a:extLst>
                </a:gridCol>
                <a:gridCol w="5613783">
                  <a:extLst>
                    <a:ext uri="{9D8B030D-6E8A-4147-A177-3AD203B41FA5}">
                      <a16:colId xmlns:a16="http://schemas.microsoft.com/office/drawing/2014/main" val="589898251"/>
                    </a:ext>
                  </a:extLst>
                </a:gridCol>
              </a:tblGrid>
              <a:tr h="3286966">
                <a:tc>
                  <a:txBody>
                    <a:bodyPr/>
                    <a:lstStyle/>
                    <a:p>
                      <a:pPr algn="ctr" rtl="1">
                        <a:lnSpc>
                          <a:spcPct val="150000"/>
                        </a:lnSpc>
                        <a:spcAft>
                          <a:spcPts val="800"/>
                        </a:spcAft>
                      </a:pPr>
                      <a:r>
                        <a:rPr lang="he-IL" sz="2000" b="1" dirty="0">
                          <a:effectLst/>
                          <a:latin typeface="Calibri" panose="020F0502020204030204" pitchFamily="34" charset="0"/>
                          <a:ea typeface="Calibri" panose="020F0502020204030204" pitchFamily="34" charset="0"/>
                          <a:cs typeface="Arial" panose="020B0604020202020204" pitchFamily="34" charset="0"/>
                        </a:rPr>
                        <a:t>טענה</a:t>
                      </a:r>
                      <a:r>
                        <a:rPr lang="he-IL" sz="2000" dirty="0">
                          <a:effectLst/>
                          <a:latin typeface="Calibri" panose="020F0502020204030204" pitchFamily="34" charset="0"/>
                          <a:ea typeface="Calibri" panose="020F0502020204030204" pitchFamily="34" charset="0"/>
                          <a:cs typeface="Arial" panose="020B0604020202020204" pitchFamily="34" charset="0"/>
                        </a:rPr>
                        <a:t> (הדבר שאני רוצה להסביר באמצעות התצלום)</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algn="ctr" rtl="1">
                        <a:lnSpc>
                          <a:spcPct val="100000"/>
                        </a:lnSpc>
                        <a:spcAft>
                          <a:spcPts val="800"/>
                        </a:spcAft>
                      </a:pPr>
                      <a:r>
                        <a:rPr lang="en-US" sz="2000" dirty="0">
                          <a:effectLst/>
                          <a:latin typeface="Calibri" panose="020F0502020204030204" pitchFamily="34" charset="0"/>
                          <a:ea typeface="Calibri" panose="020F0502020204030204" pitchFamily="34" charset="0"/>
                          <a:cs typeface="Arial" panose="020B0604020202020204" pitchFamily="34" charset="0"/>
                        </a:rPr>
                        <a:t> </a:t>
                      </a:r>
                    </a:p>
                    <a:p>
                      <a:pPr algn="r" rtl="1">
                        <a:lnSpc>
                          <a:spcPct val="100000"/>
                        </a:lnSpc>
                        <a:spcAft>
                          <a:spcPts val="800"/>
                        </a:spcAft>
                      </a:pPr>
                      <a:r>
                        <a:rPr lang="he-IL" sz="2000" i="1" dirty="0">
                          <a:solidFill>
                            <a:srgbClr val="FF0000"/>
                          </a:solidFill>
                          <a:effectLst/>
                          <a:latin typeface="Calibri" panose="020F0502020204030204" pitchFamily="34" charset="0"/>
                          <a:ea typeface="Calibri" panose="020F0502020204030204" pitchFamily="34" charset="0"/>
                          <a:cs typeface="Arial" panose="020B0604020202020204" pitchFamily="34" charset="0"/>
                        </a:rPr>
                        <a:t>   הפצת זרעים מתרחשת בדרכים שונות. </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228600" algn="r" rtl="1">
                        <a:lnSpc>
                          <a:spcPct val="100000"/>
                        </a:lnSpc>
                      </a:pPr>
                      <a:r>
                        <a:rPr lang="he-IL" sz="2000" i="1" dirty="0">
                          <a:solidFill>
                            <a:srgbClr val="FF0000"/>
                          </a:solidFill>
                          <a:effectLst/>
                          <a:latin typeface="Calibri" panose="020F0502020204030204" pitchFamily="34" charset="0"/>
                          <a:ea typeface="Calibri" panose="020F0502020204030204" pitchFamily="34" charset="0"/>
                          <a:cs typeface="Arial" panose="020B0604020202020204" pitchFamily="34" charset="0"/>
                        </a:rPr>
                        <a:t>אחת מהן היא בעזרת בעלי חיים .</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457200" algn="r" rtl="1">
                        <a:lnSpc>
                          <a:spcPct val="150000"/>
                        </a:lnSpc>
                        <a:spcAft>
                          <a:spcPts val="800"/>
                        </a:spcAft>
                      </a:pPr>
                      <a:r>
                        <a:rPr lang="he-IL" sz="1200" dirty="0">
                          <a:effectLst/>
                          <a:latin typeface="Calibri" panose="020F0502020204030204" pitchFamily="34" charset="0"/>
                          <a:ea typeface="Calibri" panose="020F0502020204030204" pitchFamily="34" charset="0"/>
                          <a:cs typeface="Arial" panose="020B0604020202020204" pitchFamily="34" charset="0"/>
                        </a:rPr>
                        <a:t> </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57893" marR="5789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lnSpc>
                          <a:spcPct val="100000"/>
                        </a:lnSpc>
                        <a:spcAft>
                          <a:spcPts val="800"/>
                        </a:spcAft>
                      </a:pPr>
                      <a:r>
                        <a:rPr lang="he-IL" sz="2000" b="1" kern="1200" dirty="0">
                          <a:solidFill>
                            <a:schemeClr val="tx1"/>
                          </a:solidFill>
                          <a:effectLst/>
                          <a:latin typeface="Calibri" panose="020F0502020204030204" pitchFamily="34" charset="0"/>
                          <a:ea typeface="Calibri" panose="020F0502020204030204" pitchFamily="34" charset="0"/>
                          <a:cs typeface="Arial" panose="020B0604020202020204" pitchFamily="34" charset="0"/>
                        </a:rPr>
                        <a:t>ראיות </a:t>
                      </a:r>
                      <a:endParaRPr lang="en-US" sz="2000" b="1" kern="120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p>
                      <a:pPr algn="r" rtl="1">
                        <a:lnSpc>
                          <a:spcPct val="100000"/>
                        </a:lnSpc>
                        <a:spcAft>
                          <a:spcPts val="800"/>
                        </a:spcAft>
                      </a:pPr>
                      <a:r>
                        <a:rPr lang="he-IL" sz="1800" dirty="0">
                          <a:effectLst/>
                          <a:latin typeface="Calibri" panose="020F0502020204030204" pitchFamily="34" charset="0"/>
                          <a:ea typeface="Calibri" panose="020F0502020204030204" pitchFamily="34" charset="0"/>
                          <a:cs typeface="Arial" panose="020B0604020202020204" pitchFamily="34" charset="0"/>
                        </a:rPr>
                        <a:t>עובדות או נתונים מתוך התצלום התומכים בטענה: </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algn="r" rtl="1">
                        <a:lnSpc>
                          <a:spcPct val="100000"/>
                        </a:lnSpc>
                        <a:spcAft>
                          <a:spcPts val="600"/>
                        </a:spcAft>
                      </a:pPr>
                      <a:r>
                        <a:rPr lang="he-IL" sz="1800" i="1" dirty="0">
                          <a:solidFill>
                            <a:srgbClr val="FF0000"/>
                          </a:solidFill>
                          <a:effectLst/>
                          <a:latin typeface="Calibri" panose="020F0502020204030204" pitchFamily="34" charset="0"/>
                          <a:ea typeface="Calibri" panose="020F0502020204030204" pitchFamily="34" charset="0"/>
                          <a:cs typeface="Arial" panose="020B0604020202020204" pitchFamily="34" charset="0"/>
                        </a:rPr>
                        <a:t>ניתן לראות נמלים סוחבות זרעים לכיוון הקן שלהן. </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algn="r" rtl="1">
                        <a:lnSpc>
                          <a:spcPct val="100000"/>
                        </a:lnSpc>
                        <a:spcAft>
                          <a:spcPts val="600"/>
                        </a:spcAft>
                      </a:pPr>
                      <a:r>
                        <a:rPr lang="he-IL" sz="1800" i="1" dirty="0">
                          <a:solidFill>
                            <a:srgbClr val="FF0000"/>
                          </a:solidFill>
                          <a:effectLst/>
                          <a:latin typeface="Calibri" panose="020F0502020204030204" pitchFamily="34" charset="0"/>
                          <a:ea typeface="Calibri" panose="020F0502020204030204" pitchFamily="34" charset="0"/>
                          <a:cs typeface="Arial" panose="020B0604020202020204" pitchFamily="34" charset="0"/>
                        </a:rPr>
                        <a:t>במרחק מהקן מפוזרים בחצי עיגול זרעים וחלקי זרעים. </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algn="r" rtl="1">
                        <a:lnSpc>
                          <a:spcPct val="100000"/>
                        </a:lnSpc>
                        <a:spcAft>
                          <a:spcPts val="600"/>
                        </a:spcAft>
                      </a:pPr>
                      <a:r>
                        <a:rPr lang="he-IL" sz="1800" i="1" dirty="0">
                          <a:solidFill>
                            <a:srgbClr val="FF0000"/>
                          </a:solidFill>
                          <a:effectLst/>
                          <a:latin typeface="Calibri" panose="020F0502020204030204" pitchFamily="34" charset="0"/>
                          <a:ea typeface="Calibri" panose="020F0502020204030204" pitchFamily="34" charset="0"/>
                          <a:cs typeface="Arial" panose="020B0604020202020204" pitchFamily="34" charset="0"/>
                        </a:rPr>
                        <a:t>סביב הקן מפוזרים זרעים.  </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algn="r" rtl="1">
                        <a:lnSpc>
                          <a:spcPct val="100000"/>
                        </a:lnSpc>
                        <a:spcAft>
                          <a:spcPts val="800"/>
                        </a:spcAft>
                      </a:pPr>
                      <a:r>
                        <a:rPr lang="he-IL" sz="1800" dirty="0">
                          <a:effectLst/>
                          <a:latin typeface="Calibri" panose="020F0502020204030204" pitchFamily="34" charset="0"/>
                          <a:ea typeface="Calibri" panose="020F0502020204030204" pitchFamily="34" charset="0"/>
                          <a:cs typeface="Arial" panose="020B0604020202020204" pitchFamily="34" charset="0"/>
                        </a:rPr>
                        <a:t>ידע מדעי התומך בטענה:</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r" rtl="1">
                        <a:lnSpc>
                          <a:spcPct val="100000"/>
                        </a:lnSpc>
                        <a:buFont typeface="Wingdings" panose="05000000000000000000" pitchFamily="2" charset="2"/>
                        <a:buChar char=""/>
                      </a:pPr>
                      <a:r>
                        <a:rPr lang="he-IL" sz="1800" i="1" kern="1200" dirty="0">
                          <a:solidFill>
                            <a:srgbClr val="FF0000"/>
                          </a:solidFill>
                          <a:effectLst/>
                          <a:latin typeface="Calibri" panose="020F0502020204030204" pitchFamily="34" charset="0"/>
                          <a:ea typeface="Calibri" panose="020F0502020204030204" pitchFamily="34" charset="0"/>
                          <a:cs typeface="Arial" panose="020B0604020202020204" pitchFamily="34" charset="0"/>
                        </a:rPr>
                        <a:t>יש שלוש דרכים להפצת זרעים בעזרת בעלי חיים. אחת מהן היא במהלך אגירת זרעים.</a:t>
                      </a:r>
                      <a:endParaRPr lang="en-US" sz="1800" i="1" kern="1200" dirty="0">
                        <a:solidFill>
                          <a:srgbClr val="FF0000"/>
                        </a:solidFill>
                        <a:effectLst/>
                        <a:latin typeface="Calibri" panose="020F0502020204030204" pitchFamily="34" charset="0"/>
                        <a:ea typeface="Calibri" panose="020F0502020204030204" pitchFamily="34" charset="0"/>
                        <a:cs typeface="Arial" panose="020B0604020202020204" pitchFamily="34" charset="0"/>
                      </a:endParaRPr>
                    </a:p>
                    <a:p>
                      <a:pPr marL="342900" lvl="0" indent="-342900" algn="r" rtl="1">
                        <a:lnSpc>
                          <a:spcPct val="100000"/>
                        </a:lnSpc>
                        <a:spcAft>
                          <a:spcPts val="800"/>
                        </a:spcAft>
                        <a:buFont typeface="Wingdings" panose="05000000000000000000" pitchFamily="2" charset="2"/>
                        <a:buChar char=""/>
                      </a:pPr>
                      <a:r>
                        <a:rPr lang="he-IL" sz="1800" i="1" kern="1200" dirty="0">
                          <a:solidFill>
                            <a:srgbClr val="FF0000"/>
                          </a:solidFill>
                          <a:effectLst/>
                          <a:latin typeface="Calibri" panose="020F0502020204030204" pitchFamily="34" charset="0"/>
                          <a:ea typeface="Calibri" panose="020F0502020204030204" pitchFamily="34" charset="0"/>
                          <a:cs typeface="Arial" panose="020B0604020202020204" pitchFamily="34" charset="0"/>
                        </a:rPr>
                        <a:t>הנמלה אוגרת זרעים המשמשים</a:t>
                      </a:r>
                      <a:r>
                        <a:rPr lang="he-IL" sz="1800" i="1" kern="1200" baseline="0" dirty="0">
                          <a:solidFill>
                            <a:srgbClr val="FF0000"/>
                          </a:solidFill>
                          <a:effectLst/>
                          <a:latin typeface="Calibri" panose="020F0502020204030204" pitchFamily="34" charset="0"/>
                          <a:ea typeface="Calibri" panose="020F0502020204030204" pitchFamily="34" charset="0"/>
                          <a:cs typeface="Arial" panose="020B0604020202020204" pitchFamily="34" charset="0"/>
                        </a:rPr>
                        <a:t> כמקור מזון </a:t>
                      </a:r>
                      <a:r>
                        <a:rPr lang="he-IL" sz="1800" i="1" kern="1200" dirty="0">
                          <a:solidFill>
                            <a:srgbClr val="FF0000"/>
                          </a:solidFill>
                          <a:effectLst/>
                          <a:latin typeface="Calibri" panose="020F0502020204030204" pitchFamily="34" charset="0"/>
                          <a:ea typeface="Calibri" panose="020F0502020204030204" pitchFamily="34" charset="0"/>
                          <a:cs typeface="Arial" panose="020B0604020202020204" pitchFamily="34" charset="0"/>
                        </a:rPr>
                        <a:t> לקראת עונת החורף. </a:t>
                      </a:r>
                      <a:endParaRPr lang="en-US" sz="1800" i="1" kern="1200" dirty="0">
                        <a:solidFill>
                          <a:srgbClr val="FF0000"/>
                        </a:solidFill>
                        <a:effectLst/>
                        <a:latin typeface="Calibri" panose="020F0502020204030204" pitchFamily="34" charset="0"/>
                        <a:ea typeface="Calibri" panose="020F0502020204030204" pitchFamily="34" charset="0"/>
                        <a:cs typeface="Arial" panose="020B0604020202020204" pitchFamily="34" charset="0"/>
                      </a:endParaRPr>
                    </a:p>
                  </a:txBody>
                  <a:tcPr marL="57893" marR="5789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49262906"/>
                  </a:ext>
                </a:extLst>
              </a:tr>
              <a:tr h="1360535">
                <a:tc gridSpan="2">
                  <a:txBody>
                    <a:bodyPr/>
                    <a:lstStyle/>
                    <a:p>
                      <a:pPr algn="ctr" rtl="1">
                        <a:lnSpc>
                          <a:spcPct val="150000"/>
                        </a:lnSpc>
                        <a:spcAft>
                          <a:spcPts val="800"/>
                        </a:spcAft>
                      </a:pPr>
                      <a:r>
                        <a:rPr lang="he-IL" sz="1800" b="1" dirty="0">
                          <a:effectLst/>
                          <a:latin typeface="Calibri" panose="020F0502020204030204" pitchFamily="34" charset="0"/>
                          <a:ea typeface="Calibri" panose="020F0502020204030204" pitchFamily="34" charset="0"/>
                          <a:cs typeface="Arial" panose="020B0604020202020204" pitchFamily="34" charset="0"/>
                        </a:rPr>
                        <a:t>הנמקה</a:t>
                      </a:r>
                      <a:r>
                        <a:rPr lang="he-IL" sz="1800" dirty="0">
                          <a:effectLst/>
                          <a:latin typeface="Calibri" panose="020F0502020204030204" pitchFamily="34" charset="0"/>
                          <a:ea typeface="Calibri" panose="020F0502020204030204" pitchFamily="34" charset="0"/>
                          <a:cs typeface="Arial" panose="020B0604020202020204" pitchFamily="34" charset="0"/>
                        </a:rPr>
                        <a:t> (ביסוס הטענה בעזרת התצפית בתמונה והידע המדעי)</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algn="r" rtl="1">
                        <a:lnSpc>
                          <a:spcPct val="100000"/>
                        </a:lnSpc>
                        <a:spcAft>
                          <a:spcPts val="800"/>
                        </a:spcAft>
                      </a:pPr>
                      <a:r>
                        <a:rPr lang="he-IL" sz="1800" i="1" dirty="0">
                          <a:solidFill>
                            <a:srgbClr val="FF0000"/>
                          </a:solidFill>
                          <a:effectLst/>
                          <a:latin typeface="Calibri" panose="020F0502020204030204" pitchFamily="34" charset="0"/>
                          <a:ea typeface="Calibri" panose="020F0502020204030204" pitchFamily="34" charset="0"/>
                          <a:cs typeface="Arial" panose="020B0604020202020204" pitchFamily="34" charset="0"/>
                        </a:rPr>
                        <a:t>ישנם צמחים שהזרעים שלהם מופצים בעזרת בעלי חיים, כגון נמלים. </a:t>
                      </a:r>
                      <a:r>
                        <a:rPr lang="he-IL" sz="1800" i="1" dirty="0">
                          <a:solidFill>
                            <a:srgbClr val="FF0000"/>
                          </a:solidFill>
                          <a:effectLst/>
                          <a:latin typeface="Calibri" panose="020F0502020204030204" pitchFamily="34" charset="0"/>
                          <a:ea typeface="Calibri" panose="020F0502020204030204" pitchFamily="34" charset="0"/>
                          <a:cs typeface="+mn-cs"/>
                        </a:rPr>
                        <a:t>הנמלה אוגרת את הזרעים כמזון לעונת</a:t>
                      </a:r>
                      <a:r>
                        <a:rPr lang="he-IL" sz="1800" i="1" baseline="0" dirty="0">
                          <a:solidFill>
                            <a:srgbClr val="FF0000"/>
                          </a:solidFill>
                          <a:effectLst/>
                          <a:latin typeface="Calibri" panose="020F0502020204030204" pitchFamily="34" charset="0"/>
                          <a:ea typeface="Calibri" panose="020F0502020204030204" pitchFamily="34" charset="0"/>
                          <a:cs typeface="+mn-cs"/>
                        </a:rPr>
                        <a:t> החורף. הזרעים שלא נאכלו </a:t>
                      </a:r>
                      <a:r>
                        <a:rPr lang="he-IL" sz="1800" i="1" strike="noStrike" dirty="0">
                          <a:solidFill>
                            <a:srgbClr val="FF0000"/>
                          </a:solidFill>
                          <a:effectLst/>
                          <a:latin typeface="Calibri" panose="020F0502020204030204" pitchFamily="34" charset="0"/>
                          <a:ea typeface="Calibri" panose="020F0502020204030204" pitchFamily="34" charset="0"/>
                          <a:cs typeface="Arial" panose="020B0604020202020204" pitchFamily="34" charset="0"/>
                        </a:rPr>
                        <a:t>ינבטו בחורף הבא, רחוק מצמח האם.  </a:t>
                      </a:r>
                      <a:endParaRPr lang="en-US" sz="1800" strike="noStrike" dirty="0">
                        <a:solidFill>
                          <a:srgbClr val="FF0000"/>
                        </a:solidFill>
                        <a:effectLst/>
                        <a:latin typeface="Calibri" panose="020F0502020204030204" pitchFamily="34" charset="0"/>
                        <a:ea typeface="Calibri" panose="020F0502020204030204" pitchFamily="34" charset="0"/>
                        <a:cs typeface="Arial" panose="020B0604020202020204" pitchFamily="34" charset="0"/>
                      </a:endParaRPr>
                    </a:p>
                  </a:txBody>
                  <a:tcPr marL="57893" marR="5789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rtl="1"/>
                      <a:endParaRPr lang="he-IL"/>
                    </a:p>
                  </a:txBody>
                  <a:tcPr/>
                </a:tc>
                <a:extLst>
                  <a:ext uri="{0D108BD9-81ED-4DB2-BD59-A6C34878D82A}">
                    <a16:rowId xmlns:a16="http://schemas.microsoft.com/office/drawing/2014/main" val="1748236173"/>
                  </a:ext>
                </a:extLst>
              </a:tr>
            </a:tbl>
          </a:graphicData>
        </a:graphic>
      </p:graphicFrame>
      <p:graphicFrame>
        <p:nvGraphicFramePr>
          <p:cNvPr id="5" name="טבלה 4">
            <a:extLst>
              <a:ext uri="{FF2B5EF4-FFF2-40B4-BE49-F238E27FC236}">
                <a16:creationId xmlns:a16="http://schemas.microsoft.com/office/drawing/2014/main" id="{3082A4F2-CDD4-4675-B609-CAA311188E5D}"/>
              </a:ext>
            </a:extLst>
          </p:cNvPr>
          <p:cNvGraphicFramePr>
            <a:graphicFrameLocks noGrp="1"/>
          </p:cNvGraphicFramePr>
          <p:nvPr>
            <p:extLst>
              <p:ext uri="{D42A27DB-BD31-4B8C-83A1-F6EECF244321}">
                <p14:modId xmlns:p14="http://schemas.microsoft.com/office/powerpoint/2010/main" val="586023891"/>
              </p:ext>
            </p:extLst>
          </p:nvPr>
        </p:nvGraphicFramePr>
        <p:xfrm>
          <a:off x="227901" y="5002287"/>
          <a:ext cx="11736198" cy="1798928"/>
        </p:xfrm>
        <a:graphic>
          <a:graphicData uri="http://schemas.openxmlformats.org/drawingml/2006/table">
            <a:tbl>
              <a:tblPr>
                <a:tableStyleId>{5C22544A-7EE6-4342-B048-85BDC9FD1C3A}</a:tableStyleId>
              </a:tblPr>
              <a:tblGrid>
                <a:gridCol w="11736198">
                  <a:extLst>
                    <a:ext uri="{9D8B030D-6E8A-4147-A177-3AD203B41FA5}">
                      <a16:colId xmlns:a16="http://schemas.microsoft.com/office/drawing/2014/main" val="2659409359"/>
                    </a:ext>
                  </a:extLst>
                </a:gridCol>
              </a:tblGrid>
              <a:tr h="1798928">
                <a:tc>
                  <a:txBody>
                    <a:bodyPr/>
                    <a:lstStyle/>
                    <a:p>
                      <a:pPr algn="r" rtl="1">
                        <a:lnSpc>
                          <a:spcPct val="100000"/>
                        </a:lnSpc>
                        <a:spcAft>
                          <a:spcPts val="800"/>
                        </a:spcAft>
                      </a:pPr>
                      <a:r>
                        <a:rPr lang="he-IL" sz="1600" b="1" u="sng" dirty="0">
                          <a:effectLst/>
                        </a:rPr>
                        <a:t>הסבר מדעי אפשרי לתמונה: </a:t>
                      </a:r>
                      <a:r>
                        <a:rPr lang="he-IL" sz="1600" b="1" u="none" kern="1200" dirty="0">
                          <a:solidFill>
                            <a:schemeClr val="dk1"/>
                          </a:solidFill>
                          <a:effectLst/>
                          <a:latin typeface="+mn-lt"/>
                          <a:ea typeface="+mn-ea"/>
                          <a:cs typeface="+mn-cs"/>
                        </a:rPr>
                        <a:t>המבנה המוצע מבוסס על טענה ועל פסקה של הסבר מדעי המבוססת על הראיות: </a:t>
                      </a:r>
                      <a:r>
                        <a:rPr lang="he-IL" sz="1600" kern="1200" dirty="0">
                          <a:solidFill>
                            <a:schemeClr val="dk1"/>
                          </a:solidFill>
                          <a:effectLst/>
                          <a:latin typeface="+mn-lt"/>
                          <a:ea typeface="+mn-ea"/>
                          <a:cs typeface="+mn-cs"/>
                        </a:rPr>
                        <a:t>(נתונים שנאספו מהתמונה ומידע רלוונטי מתוך הסיכום של התלמידים). </a:t>
                      </a:r>
                      <a:endParaRPr lang="en-US" sz="1600" kern="1200" dirty="0">
                        <a:solidFill>
                          <a:schemeClr val="dk1"/>
                        </a:solidFill>
                        <a:effectLst/>
                        <a:latin typeface="+mn-lt"/>
                        <a:ea typeface="+mn-ea"/>
                        <a:cs typeface="+mn-cs"/>
                      </a:endParaRPr>
                    </a:p>
                    <a:p>
                      <a:pPr marL="228600" indent="-228600" algn="r" rtl="1">
                        <a:lnSpc>
                          <a:spcPct val="100000"/>
                        </a:lnSpc>
                      </a:pPr>
                      <a:r>
                        <a:rPr lang="he-IL" sz="1600" dirty="0">
                          <a:effectLst/>
                        </a:rPr>
                        <a:t>הפצת זרעים מתרחשת בדרכים שונות. אחת מהן בעזרת בעלי חיים </a:t>
                      </a:r>
                      <a:r>
                        <a:rPr lang="he-IL" sz="1600" b="1" dirty="0">
                          <a:effectLst/>
                        </a:rPr>
                        <a:t>(טענה).</a:t>
                      </a:r>
                      <a:endParaRPr lang="en-US" sz="1600" b="1" dirty="0">
                        <a:effectLst/>
                      </a:endParaRPr>
                    </a:p>
                    <a:p>
                      <a:pPr marL="228600" indent="-228600" algn="r" rtl="1">
                        <a:lnSpc>
                          <a:spcPct val="100000"/>
                        </a:lnSpc>
                      </a:pPr>
                      <a:r>
                        <a:rPr lang="he-IL" sz="1600" dirty="0">
                          <a:effectLst/>
                        </a:rPr>
                        <a:t>יש כמה דרכים להפצת זרעים בעזרת בעלי חיים. אחת מהן היא במהלך אגירת הזרעים על ידי נמלים.</a:t>
                      </a:r>
                      <a:endParaRPr lang="en-US" sz="1600" dirty="0">
                        <a:effectLst/>
                      </a:endParaRPr>
                    </a:p>
                    <a:p>
                      <a:pPr marL="0" indent="0" algn="r" rtl="1">
                        <a:lnSpc>
                          <a:spcPct val="100000"/>
                        </a:lnSpc>
                        <a:spcAft>
                          <a:spcPts val="800"/>
                        </a:spcAft>
                      </a:pPr>
                      <a:r>
                        <a:rPr lang="he-IL" sz="1600" dirty="0">
                          <a:effectLst/>
                        </a:rPr>
                        <a:t>בתמונה ניתן לראות את נמלת הקציר האוגרת זרעים לצורך אכילה במהלך עונת החורף. חלק מהזרעים נשמטים ומצטברים בסביבת הקן ובכך במהלך זה משמשת הנמלה כאמצעי להפצת זרעים. חלק מהזרעים עשויים לנבוט לאחר הגשם הבא </a:t>
                      </a:r>
                      <a:r>
                        <a:rPr lang="he-IL" sz="1600" b="1" dirty="0">
                          <a:effectLst/>
                        </a:rPr>
                        <a:t>(הסבר) </a:t>
                      </a:r>
                      <a:r>
                        <a:rPr lang="he-IL" sz="1400" dirty="0">
                          <a:effectLst/>
                        </a:rPr>
                        <a:t>. </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114300" marR="114300" marT="0" marB="0"/>
                </a:tc>
                <a:extLst>
                  <a:ext uri="{0D108BD9-81ED-4DB2-BD59-A6C34878D82A}">
                    <a16:rowId xmlns:a16="http://schemas.microsoft.com/office/drawing/2014/main" val="1472935700"/>
                  </a:ext>
                </a:extLst>
              </a:tr>
            </a:tbl>
          </a:graphicData>
        </a:graphic>
      </p:graphicFrame>
    </p:spTree>
    <p:extLst>
      <p:ext uri="{BB962C8B-B14F-4D97-AF65-F5344CB8AC3E}">
        <p14:creationId xmlns:p14="http://schemas.microsoft.com/office/powerpoint/2010/main" val="23422027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תמונה 3">
            <a:extLst>
              <a:ext uri="{FF2B5EF4-FFF2-40B4-BE49-F238E27FC236}">
                <a16:creationId xmlns:a16="http://schemas.microsoft.com/office/drawing/2014/main" id="{5823252D-3E22-4D30-8415-0EACBF3D8EB2}"/>
              </a:ext>
            </a:extLst>
          </p:cNvPr>
          <p:cNvPicPr>
            <a:picLocks noChangeAspect="1"/>
          </p:cNvPicPr>
          <p:nvPr/>
        </p:nvPicPr>
        <p:blipFill>
          <a:blip r:embed="rId2"/>
          <a:stretch>
            <a:fillRect/>
          </a:stretch>
        </p:blipFill>
        <p:spPr>
          <a:xfrm>
            <a:off x="2244954" y="509073"/>
            <a:ext cx="8497029" cy="6367106"/>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5" name="תמונה 4">
            <a:extLst>
              <a:ext uri="{FF2B5EF4-FFF2-40B4-BE49-F238E27FC236}">
                <a16:creationId xmlns:a16="http://schemas.microsoft.com/office/drawing/2014/main" id="{93A84114-E51B-4E90-9830-4EB945517684}"/>
              </a:ext>
            </a:extLst>
          </p:cNvPr>
          <p:cNvPicPr>
            <a:picLocks noChangeAspect="1"/>
          </p:cNvPicPr>
          <p:nvPr/>
        </p:nvPicPr>
        <p:blipFill>
          <a:blip r:embed="rId3"/>
          <a:stretch>
            <a:fillRect/>
          </a:stretch>
        </p:blipFill>
        <p:spPr>
          <a:xfrm>
            <a:off x="236483" y="5218386"/>
            <a:ext cx="2210902" cy="1130541"/>
          </a:xfrm>
          <a:prstGeom prst="rect">
            <a:avLst/>
          </a:prstGeom>
        </p:spPr>
      </p:pic>
      <p:sp>
        <p:nvSpPr>
          <p:cNvPr id="6" name="תיבת טקסט 5">
            <a:extLst>
              <a:ext uri="{FF2B5EF4-FFF2-40B4-BE49-F238E27FC236}">
                <a16:creationId xmlns:a16="http://schemas.microsoft.com/office/drawing/2014/main" id="{6DDC5200-7C84-42A4-84B6-F14408D79163}"/>
              </a:ext>
            </a:extLst>
          </p:cNvPr>
          <p:cNvSpPr txBox="1"/>
          <p:nvPr/>
        </p:nvSpPr>
        <p:spPr>
          <a:xfrm>
            <a:off x="7552708" y="0"/>
            <a:ext cx="7037453" cy="369332"/>
          </a:xfrm>
          <a:prstGeom prst="rect">
            <a:avLst/>
          </a:prstGeom>
          <a:noFill/>
        </p:spPr>
        <p:txBody>
          <a:bodyPr wrap="square" rtlCol="1">
            <a:spAutoFit/>
          </a:bodyPr>
          <a:lstStyle/>
          <a:p>
            <a:r>
              <a:rPr lang="he-IL" b="1" dirty="0"/>
              <a:t>דוגמא נוספת להסבר מדעי על פי המארגן הגרפי </a:t>
            </a:r>
          </a:p>
        </p:txBody>
      </p:sp>
    </p:spTree>
    <p:extLst>
      <p:ext uri="{BB962C8B-B14F-4D97-AF65-F5344CB8AC3E}">
        <p14:creationId xmlns:p14="http://schemas.microsoft.com/office/powerpoint/2010/main" val="21530868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טבלה 9">
            <a:extLst>
              <a:ext uri="{FF2B5EF4-FFF2-40B4-BE49-F238E27FC236}">
                <a16:creationId xmlns:a16="http://schemas.microsoft.com/office/drawing/2014/main" id="{F0C157EB-9856-4F0D-BFC3-84B01755FD9E}"/>
              </a:ext>
            </a:extLst>
          </p:cNvPr>
          <p:cNvGraphicFramePr>
            <a:graphicFrameLocks noGrp="1"/>
          </p:cNvGraphicFramePr>
          <p:nvPr>
            <p:extLst>
              <p:ext uri="{D42A27DB-BD31-4B8C-83A1-F6EECF244321}">
                <p14:modId xmlns:p14="http://schemas.microsoft.com/office/powerpoint/2010/main" val="512366470"/>
              </p:ext>
            </p:extLst>
          </p:nvPr>
        </p:nvGraphicFramePr>
        <p:xfrm>
          <a:off x="106680" y="91440"/>
          <a:ext cx="11978639" cy="4922520"/>
        </p:xfrm>
        <a:graphic>
          <a:graphicData uri="http://schemas.openxmlformats.org/drawingml/2006/table">
            <a:tbl>
              <a:tblPr rtl="1" firstRow="1" firstCol="1" bandRow="1"/>
              <a:tblGrid>
                <a:gridCol w="3308945">
                  <a:extLst>
                    <a:ext uri="{9D8B030D-6E8A-4147-A177-3AD203B41FA5}">
                      <a16:colId xmlns:a16="http://schemas.microsoft.com/office/drawing/2014/main" val="1553700193"/>
                    </a:ext>
                  </a:extLst>
                </a:gridCol>
                <a:gridCol w="8669694">
                  <a:extLst>
                    <a:ext uri="{9D8B030D-6E8A-4147-A177-3AD203B41FA5}">
                      <a16:colId xmlns:a16="http://schemas.microsoft.com/office/drawing/2014/main" val="589898251"/>
                    </a:ext>
                  </a:extLst>
                </a:gridCol>
              </a:tblGrid>
              <a:tr h="4297680">
                <a:tc>
                  <a:txBody>
                    <a:bodyPr/>
                    <a:lstStyle/>
                    <a:p>
                      <a:pPr algn="ctr" rtl="1">
                        <a:lnSpc>
                          <a:spcPct val="150000"/>
                        </a:lnSpc>
                        <a:spcAft>
                          <a:spcPts val="800"/>
                        </a:spcAft>
                      </a:pPr>
                      <a:r>
                        <a:rPr lang="he-IL" sz="1800" b="1" dirty="0">
                          <a:effectLst/>
                          <a:latin typeface="Calibri" panose="020F0502020204030204" pitchFamily="34" charset="0"/>
                          <a:ea typeface="Calibri" panose="020F0502020204030204" pitchFamily="34" charset="0"/>
                          <a:cs typeface="Arial" panose="020B0604020202020204" pitchFamily="34" charset="0"/>
                        </a:rPr>
                        <a:t>טענה</a:t>
                      </a:r>
                      <a:r>
                        <a:rPr lang="he-IL" sz="1800" dirty="0">
                          <a:effectLst/>
                          <a:latin typeface="Calibri" panose="020F0502020204030204" pitchFamily="34" charset="0"/>
                          <a:ea typeface="Calibri" panose="020F0502020204030204" pitchFamily="34" charset="0"/>
                          <a:cs typeface="Arial" panose="020B0604020202020204" pitchFamily="34" charset="0"/>
                        </a:rPr>
                        <a:t> (הדבר שאני רוצה להסביר באמצעות התצלום)</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algn="ctr" rtl="1">
                        <a:lnSpc>
                          <a:spcPct val="150000"/>
                        </a:lnSpc>
                        <a:spcAft>
                          <a:spcPts val="800"/>
                        </a:spcAft>
                      </a:pPr>
                      <a:r>
                        <a:rPr lang="en-US" sz="1800" dirty="0">
                          <a:effectLst/>
                          <a:latin typeface="Calibri" panose="020F0502020204030204" pitchFamily="34" charset="0"/>
                          <a:ea typeface="Calibri" panose="020F0502020204030204" pitchFamily="34" charset="0"/>
                          <a:cs typeface="Arial" panose="020B0604020202020204" pitchFamily="34" charset="0"/>
                        </a:rPr>
                        <a:t> </a:t>
                      </a:r>
                    </a:p>
                    <a:p>
                      <a:pPr algn="r" rtl="1">
                        <a:lnSpc>
                          <a:spcPct val="150000"/>
                        </a:lnSpc>
                        <a:spcAft>
                          <a:spcPts val="800"/>
                        </a:spcAft>
                      </a:pPr>
                      <a:r>
                        <a:rPr lang="he-IL" sz="1800" i="1" dirty="0">
                          <a:solidFill>
                            <a:srgbClr val="FF0000"/>
                          </a:solidFill>
                          <a:effectLst/>
                          <a:latin typeface="Calibri" panose="020F0502020204030204" pitchFamily="34" charset="0"/>
                          <a:ea typeface="Calibri" panose="020F0502020204030204" pitchFamily="34" charset="0"/>
                          <a:cs typeface="Arial" panose="020B0604020202020204" pitchFamily="34" charset="0"/>
                        </a:rPr>
                        <a:t>   אספסת הים מצליחה לשרוד בחוף הים למרות התנאים הקשים בסביבת בית הגידול שלה.</a:t>
                      </a:r>
                      <a:endParaRPr lang="en-US" sz="1800" dirty="0">
                        <a:solidFill>
                          <a:srgbClr val="FF0000"/>
                        </a:solidFill>
                        <a:effectLst/>
                        <a:latin typeface="Calibri" panose="020F0502020204030204" pitchFamily="34" charset="0"/>
                        <a:ea typeface="Calibri" panose="020F0502020204030204" pitchFamily="34" charset="0"/>
                        <a:cs typeface="Arial" panose="020B0604020202020204" pitchFamily="34" charset="0"/>
                      </a:endParaRPr>
                    </a:p>
                    <a:p>
                      <a:pPr marL="457200" algn="r" rtl="1">
                        <a:lnSpc>
                          <a:spcPct val="150000"/>
                        </a:lnSpc>
                        <a:spcAft>
                          <a:spcPts val="800"/>
                        </a:spcAft>
                      </a:pPr>
                      <a:r>
                        <a:rPr lang="he-IL" sz="1100" dirty="0">
                          <a:effectLst/>
                          <a:latin typeface="Calibri" panose="020F0502020204030204" pitchFamily="34" charset="0"/>
                          <a:ea typeface="Calibri" panose="020F0502020204030204" pitchFamily="34" charset="0"/>
                          <a:cs typeface="Arial" panose="020B0604020202020204" pitchFamily="34" charset="0"/>
                        </a:rPr>
                        <a:t> </a:t>
                      </a:r>
                      <a:endParaRPr lang="en-US" sz="1050" dirty="0">
                        <a:effectLst/>
                        <a:latin typeface="Calibri" panose="020F0502020204030204" pitchFamily="34" charset="0"/>
                        <a:ea typeface="Calibri" panose="020F0502020204030204" pitchFamily="34" charset="0"/>
                        <a:cs typeface="Arial" panose="020B0604020202020204" pitchFamily="34" charset="0"/>
                      </a:endParaRPr>
                    </a:p>
                  </a:txBody>
                  <a:tcPr marL="57893" marR="5789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lnSpc>
                          <a:spcPct val="150000"/>
                        </a:lnSpc>
                        <a:spcAft>
                          <a:spcPts val="800"/>
                        </a:spcAft>
                      </a:pPr>
                      <a:r>
                        <a:rPr lang="he-IL" sz="1800" b="1" dirty="0">
                          <a:effectLst/>
                          <a:latin typeface="Calibri" panose="020F0502020204030204" pitchFamily="34" charset="0"/>
                          <a:ea typeface="Calibri" panose="020F0502020204030204" pitchFamily="34" charset="0"/>
                          <a:cs typeface="Arial" panose="020B0604020202020204" pitchFamily="34" charset="0"/>
                        </a:rPr>
                        <a:t>ראיות</a:t>
                      </a:r>
                      <a:r>
                        <a:rPr lang="he-IL" sz="1800" b="1" i="1" dirty="0">
                          <a:effectLst/>
                          <a:latin typeface="Calibri" panose="020F0502020204030204" pitchFamily="34" charset="0"/>
                          <a:ea typeface="Calibri" panose="020F0502020204030204" pitchFamily="34" charset="0"/>
                          <a:cs typeface="Arial" panose="020B0604020202020204" pitchFamily="34" charset="0"/>
                        </a:rPr>
                        <a:t> </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algn="r" rtl="1">
                        <a:lnSpc>
                          <a:spcPct val="100000"/>
                        </a:lnSpc>
                        <a:spcAft>
                          <a:spcPts val="0"/>
                        </a:spcAft>
                      </a:pPr>
                      <a:r>
                        <a:rPr lang="he-IL" sz="1800" dirty="0">
                          <a:effectLst/>
                          <a:latin typeface="Calibri" panose="020F0502020204030204" pitchFamily="34" charset="0"/>
                          <a:ea typeface="Calibri" panose="020F0502020204030204" pitchFamily="34" charset="0"/>
                          <a:cs typeface="Arial" panose="020B0604020202020204" pitchFamily="34" charset="0"/>
                        </a:rPr>
                        <a:t>עובדות או נתונים מתוך התצלום התומכים בטענה: </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algn="r" rtl="1">
                        <a:lnSpc>
                          <a:spcPct val="100000"/>
                        </a:lnSpc>
                        <a:spcAft>
                          <a:spcPts val="0"/>
                        </a:spcAft>
                      </a:pPr>
                      <a:r>
                        <a:rPr lang="he-IL" sz="1800" i="1" u="none" kern="1200" dirty="0">
                          <a:solidFill>
                            <a:srgbClr val="FF0000"/>
                          </a:solidFill>
                          <a:effectLst/>
                          <a:latin typeface="Calibri" panose="020F0502020204030204" pitchFamily="34" charset="0"/>
                          <a:ea typeface="+mn-ea"/>
                          <a:cs typeface="Arial" panose="020B0604020202020204" pitchFamily="34" charset="0"/>
                        </a:rPr>
                        <a:t>העלים מכוסים בשכבת שערות כסופה</a:t>
                      </a:r>
                    </a:p>
                    <a:p>
                      <a:pPr algn="r" rtl="1">
                        <a:lnSpc>
                          <a:spcPct val="100000"/>
                        </a:lnSpc>
                        <a:spcAft>
                          <a:spcPts val="0"/>
                        </a:spcAft>
                      </a:pPr>
                      <a:r>
                        <a:rPr lang="he-IL" sz="1800" i="1" kern="1200" dirty="0">
                          <a:solidFill>
                            <a:srgbClr val="FF0000"/>
                          </a:solidFill>
                          <a:effectLst/>
                          <a:latin typeface="Calibri" panose="020F0502020204030204" pitchFamily="34" charset="0"/>
                          <a:ea typeface="Calibri" panose="020F0502020204030204" pitchFamily="34" charset="0"/>
                          <a:cs typeface="Arial" panose="020B0604020202020204" pitchFamily="34" charset="0"/>
                        </a:rPr>
                        <a:t>העלים </a:t>
                      </a:r>
                      <a:r>
                        <a:rPr lang="he-IL" sz="1800" i="1" dirty="0">
                          <a:solidFill>
                            <a:srgbClr val="FF0000"/>
                          </a:solidFill>
                          <a:effectLst/>
                          <a:latin typeface="Calibri" panose="020F0502020204030204" pitchFamily="34" charset="0"/>
                          <a:ea typeface="Calibri" panose="020F0502020204030204" pitchFamily="34" charset="0"/>
                          <a:cs typeface="Arial" panose="020B0604020202020204" pitchFamily="34" charset="0"/>
                        </a:rPr>
                        <a:t>בשרניים</a:t>
                      </a:r>
                      <a:endParaRPr lang="he-IL" sz="1600" i="1" dirty="0">
                        <a:solidFill>
                          <a:srgbClr val="FF0000"/>
                        </a:solidFill>
                        <a:effectLst/>
                        <a:latin typeface="Calibri" panose="020F0502020204030204" pitchFamily="34" charset="0"/>
                        <a:ea typeface="Calibri" panose="020F0502020204030204" pitchFamily="34" charset="0"/>
                        <a:cs typeface="Arial" panose="020B0604020202020204" pitchFamily="34" charset="0"/>
                      </a:endParaRPr>
                    </a:p>
                    <a:p>
                      <a:pPr algn="r" rtl="1">
                        <a:lnSpc>
                          <a:spcPct val="100000"/>
                        </a:lnSpc>
                        <a:spcAft>
                          <a:spcPts val="0"/>
                        </a:spcAft>
                      </a:pPr>
                      <a:r>
                        <a:rPr lang="he-IL" sz="1800" i="1" dirty="0">
                          <a:solidFill>
                            <a:srgbClr val="FF0000"/>
                          </a:solidFill>
                          <a:effectLst/>
                          <a:latin typeface="Calibri" panose="020F0502020204030204" pitchFamily="34" charset="0"/>
                          <a:ea typeface="Calibri" panose="020F0502020204030204" pitchFamily="34" charset="0"/>
                          <a:cs typeface="Arial" panose="020B0604020202020204" pitchFamily="34" charset="0"/>
                        </a:rPr>
                        <a:t>הצמח שרוע על החול</a:t>
                      </a:r>
                    </a:p>
                    <a:p>
                      <a:pPr algn="r" rtl="1">
                        <a:lnSpc>
                          <a:spcPct val="100000"/>
                        </a:lnSpc>
                        <a:spcAft>
                          <a:spcPts val="0"/>
                        </a:spcAft>
                      </a:pP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algn="r" rtl="1">
                        <a:lnSpc>
                          <a:spcPct val="100000"/>
                        </a:lnSpc>
                        <a:spcAft>
                          <a:spcPts val="800"/>
                        </a:spcAft>
                      </a:pPr>
                      <a:r>
                        <a:rPr lang="he-IL" sz="1800" dirty="0">
                          <a:effectLst/>
                          <a:latin typeface="Calibri" panose="020F0502020204030204" pitchFamily="34" charset="0"/>
                          <a:ea typeface="Calibri" panose="020F0502020204030204" pitchFamily="34" charset="0"/>
                          <a:cs typeface="Arial" panose="020B0604020202020204" pitchFamily="34" charset="0"/>
                        </a:rPr>
                        <a:t>ידע מדעי התומך בטענה:</a:t>
                      </a:r>
                    </a:p>
                    <a:p>
                      <a:pPr marL="171450" marR="0" lvl="0" indent="-171450" algn="r" defTabSz="914400" rtl="1" eaLnBrk="1" fontAlgn="auto" latinLnBrk="0" hangingPunct="1">
                        <a:lnSpc>
                          <a:spcPct val="100000"/>
                        </a:lnSpc>
                        <a:spcBef>
                          <a:spcPts val="0"/>
                        </a:spcBef>
                        <a:spcAft>
                          <a:spcPts val="800"/>
                        </a:spcAft>
                        <a:buClrTx/>
                        <a:buSzTx/>
                        <a:buFont typeface="Wingdings" panose="05000000000000000000" pitchFamily="2" charset="2"/>
                        <a:buChar char="ü"/>
                        <a:tabLst/>
                        <a:defRPr/>
                      </a:pPr>
                      <a:r>
                        <a:rPr lang="he-IL" sz="1600" i="1" kern="1200" dirty="0">
                          <a:solidFill>
                            <a:srgbClr val="FF0000"/>
                          </a:solidFill>
                          <a:effectLst/>
                          <a:latin typeface="Calibri" panose="020F0502020204030204" pitchFamily="34" charset="0"/>
                          <a:ea typeface="+mn-ea"/>
                          <a:cs typeface="Arial" panose="020B0604020202020204" pitchFamily="34" charset="0"/>
                        </a:rPr>
                        <a:t>  </a:t>
                      </a:r>
                      <a:r>
                        <a:rPr lang="he-IL" sz="1800" i="1" dirty="0">
                          <a:solidFill>
                            <a:srgbClr val="FF0000"/>
                          </a:solidFill>
                          <a:effectLst/>
                          <a:latin typeface="Calibri" panose="020F0502020204030204" pitchFamily="34" charset="0"/>
                          <a:ea typeface="Calibri" panose="020F0502020204030204" pitchFamily="34" charset="0"/>
                          <a:cs typeface="+mn-cs"/>
                        </a:rPr>
                        <a:t>בחוף הים מנשבות רוחות חזקות שמסיעות איתן חול ורסס ים (טיפות מים מלוחות).</a:t>
                      </a:r>
                    </a:p>
                    <a:p>
                      <a:pPr marL="171450" marR="0" lvl="0" indent="-171450" algn="r" defTabSz="914400" rtl="1" eaLnBrk="1" fontAlgn="auto" latinLnBrk="0" hangingPunct="1">
                        <a:lnSpc>
                          <a:spcPct val="100000"/>
                        </a:lnSpc>
                        <a:spcBef>
                          <a:spcPts val="0"/>
                        </a:spcBef>
                        <a:spcAft>
                          <a:spcPts val="800"/>
                        </a:spcAft>
                        <a:buClrTx/>
                        <a:buSzTx/>
                        <a:buFont typeface="Wingdings" panose="05000000000000000000" pitchFamily="2" charset="2"/>
                        <a:buChar char="ü"/>
                        <a:tabLst/>
                        <a:defRPr/>
                      </a:pPr>
                      <a:r>
                        <a:rPr lang="he-IL" sz="1800" i="1" dirty="0">
                          <a:solidFill>
                            <a:srgbClr val="FF0000"/>
                          </a:solidFill>
                          <a:effectLst/>
                          <a:latin typeface="Calibri" panose="020F0502020204030204" pitchFamily="34" charset="0"/>
                          <a:ea typeface="Calibri" panose="020F0502020204030204" pitchFamily="34" charset="0"/>
                          <a:cs typeface="+mn-cs"/>
                        </a:rPr>
                        <a:t>לצמח מערכת שורשים עמוקה המאפשרת לו להתמודד עם העובדה כי המים מחלחלים במהירות בחול.</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171450" indent="-171450" algn="r" rtl="1">
                        <a:lnSpc>
                          <a:spcPct val="100000"/>
                        </a:lnSpc>
                        <a:spcAft>
                          <a:spcPts val="800"/>
                        </a:spcAft>
                        <a:buFont typeface="Wingdings" panose="05000000000000000000" pitchFamily="2" charset="2"/>
                        <a:buChar char="ü"/>
                      </a:pPr>
                      <a:r>
                        <a:rPr lang="he-IL" sz="1800" i="1" kern="1200" dirty="0">
                          <a:solidFill>
                            <a:srgbClr val="FF0000"/>
                          </a:solidFill>
                          <a:effectLst/>
                          <a:latin typeface="Calibri" panose="020F0502020204030204" pitchFamily="34" charset="0"/>
                          <a:ea typeface="+mn-ea"/>
                          <a:cs typeface="Arial" panose="020B0604020202020204" pitchFamily="34" charset="0"/>
                        </a:rPr>
                        <a:t>שכבת השערות הכסופה מגינה על הצמח ומונעת מגע ישיר של הצמח עם הרסס המלוח מהים. </a:t>
                      </a:r>
                    </a:p>
                    <a:p>
                      <a:pPr marL="171450" indent="-171450" algn="r" rtl="1">
                        <a:lnSpc>
                          <a:spcPct val="100000"/>
                        </a:lnSpc>
                        <a:spcAft>
                          <a:spcPts val="800"/>
                        </a:spcAft>
                        <a:buFont typeface="Wingdings" panose="05000000000000000000" pitchFamily="2" charset="2"/>
                        <a:buChar char="ü"/>
                      </a:pPr>
                      <a:r>
                        <a:rPr lang="he-IL" sz="1800" i="1" kern="1200" dirty="0">
                          <a:solidFill>
                            <a:srgbClr val="FF0000"/>
                          </a:solidFill>
                          <a:effectLst/>
                          <a:latin typeface="Calibri" panose="020F0502020204030204" pitchFamily="34" charset="0"/>
                          <a:ea typeface="+mn-ea"/>
                          <a:cs typeface="Arial" panose="020B0604020202020204" pitchFamily="34" charset="0"/>
                        </a:rPr>
                        <a:t>בעלים הבשרניים כמות מים גדולה המוהלת</a:t>
                      </a:r>
                      <a:r>
                        <a:rPr lang="he-IL" sz="1800" i="1" kern="1200" baseline="0" dirty="0">
                          <a:solidFill>
                            <a:srgbClr val="FF0000"/>
                          </a:solidFill>
                          <a:effectLst/>
                          <a:latin typeface="Calibri" panose="020F0502020204030204" pitchFamily="34" charset="0"/>
                          <a:ea typeface="+mn-ea"/>
                          <a:cs typeface="Arial" panose="020B0604020202020204" pitchFamily="34" charset="0"/>
                        </a:rPr>
                        <a:t> את המלחים שחדרו אליהם, </a:t>
                      </a:r>
                      <a:r>
                        <a:rPr lang="he-IL" sz="1800" i="1" kern="1200" dirty="0">
                          <a:solidFill>
                            <a:srgbClr val="FF0000"/>
                          </a:solidFill>
                          <a:effectLst/>
                          <a:latin typeface="Calibri" panose="020F0502020204030204" pitchFamily="34" charset="0"/>
                          <a:ea typeface="+mn-ea"/>
                          <a:cs typeface="Arial" panose="020B0604020202020204" pitchFamily="34" charset="0"/>
                        </a:rPr>
                        <a:t>ובכך מאפשרים לצמח להתמודד עם המלחים שבמים שזמינים להם..</a:t>
                      </a:r>
                    </a:p>
                  </a:txBody>
                  <a:tcPr marL="57893" marR="5789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49262906"/>
                  </a:ext>
                </a:extLst>
              </a:tr>
              <a:tr h="624840">
                <a:tc gridSpan="2">
                  <a:txBody>
                    <a:bodyPr/>
                    <a:lstStyle/>
                    <a:p>
                      <a:pPr algn="ctr" rtl="1">
                        <a:lnSpc>
                          <a:spcPct val="100000"/>
                        </a:lnSpc>
                        <a:spcAft>
                          <a:spcPts val="800"/>
                        </a:spcAft>
                      </a:pPr>
                      <a:r>
                        <a:rPr lang="he-IL" sz="1600" b="1" dirty="0">
                          <a:effectLst/>
                          <a:latin typeface="Calibri" panose="020F0502020204030204" pitchFamily="34" charset="0"/>
                          <a:ea typeface="Calibri" panose="020F0502020204030204" pitchFamily="34" charset="0"/>
                          <a:cs typeface="Arial" panose="020B0604020202020204" pitchFamily="34" charset="0"/>
                        </a:rPr>
                        <a:t>הנמקה</a:t>
                      </a:r>
                      <a:r>
                        <a:rPr lang="he-IL" sz="1600" dirty="0">
                          <a:effectLst/>
                          <a:latin typeface="Calibri" panose="020F0502020204030204" pitchFamily="34" charset="0"/>
                          <a:ea typeface="Calibri" panose="020F0502020204030204" pitchFamily="34" charset="0"/>
                          <a:cs typeface="Arial" panose="020B0604020202020204" pitchFamily="34" charset="0"/>
                        </a:rPr>
                        <a:t> (ביסוס הטענה בעזרת התצפית בתמונה והידע המדעי)</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algn="r" rtl="1">
                        <a:lnSpc>
                          <a:spcPct val="100000"/>
                        </a:lnSpc>
                        <a:spcAft>
                          <a:spcPts val="800"/>
                        </a:spcAft>
                      </a:pPr>
                      <a:r>
                        <a:rPr lang="he-IL" sz="1600" i="1" dirty="0">
                          <a:solidFill>
                            <a:srgbClr val="FF0000"/>
                          </a:solidFill>
                          <a:effectLst/>
                          <a:latin typeface="Calibri" panose="020F0502020204030204" pitchFamily="34" charset="0"/>
                          <a:ea typeface="Calibri" panose="020F0502020204030204" pitchFamily="34" charset="0"/>
                          <a:cs typeface="Arial" panose="020B0604020202020204" pitchFamily="34" charset="0"/>
                        </a:rPr>
                        <a:t>צמח אספסת הים מצליח לשרוד בחוף הים למרות התנאים הקשים בזכות ההתאמות של מבנה הצמח לסביבת חוף הים. </a:t>
                      </a:r>
                      <a:endParaRPr lang="en-US" sz="1600" dirty="0">
                        <a:effectLst/>
                        <a:latin typeface="Calibri" panose="020F0502020204030204" pitchFamily="34" charset="0"/>
                        <a:ea typeface="Calibri" panose="020F0502020204030204" pitchFamily="34" charset="0"/>
                        <a:cs typeface="Arial" panose="020B0604020202020204" pitchFamily="34" charset="0"/>
                      </a:endParaRPr>
                    </a:p>
                  </a:txBody>
                  <a:tcPr marL="57893" marR="5789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rtl="1"/>
                      <a:endParaRPr lang="he-IL"/>
                    </a:p>
                  </a:txBody>
                  <a:tcPr/>
                </a:tc>
                <a:extLst>
                  <a:ext uri="{0D108BD9-81ED-4DB2-BD59-A6C34878D82A}">
                    <a16:rowId xmlns:a16="http://schemas.microsoft.com/office/drawing/2014/main" val="1748236173"/>
                  </a:ext>
                </a:extLst>
              </a:tr>
            </a:tbl>
          </a:graphicData>
        </a:graphic>
      </p:graphicFrame>
      <p:graphicFrame>
        <p:nvGraphicFramePr>
          <p:cNvPr id="11" name="טבלה 10">
            <a:extLst>
              <a:ext uri="{FF2B5EF4-FFF2-40B4-BE49-F238E27FC236}">
                <a16:creationId xmlns:a16="http://schemas.microsoft.com/office/drawing/2014/main" id="{43553ABB-352E-4CC5-8636-3DD8F81E6BAE}"/>
              </a:ext>
            </a:extLst>
          </p:cNvPr>
          <p:cNvGraphicFramePr>
            <a:graphicFrameLocks noGrp="1"/>
          </p:cNvGraphicFramePr>
          <p:nvPr>
            <p:extLst>
              <p:ext uri="{D42A27DB-BD31-4B8C-83A1-F6EECF244321}">
                <p14:modId xmlns:p14="http://schemas.microsoft.com/office/powerpoint/2010/main" val="5845724"/>
              </p:ext>
            </p:extLst>
          </p:nvPr>
        </p:nvGraphicFramePr>
        <p:xfrm>
          <a:off x="106680" y="5253095"/>
          <a:ext cx="11812537" cy="1564640"/>
        </p:xfrm>
        <a:graphic>
          <a:graphicData uri="http://schemas.openxmlformats.org/drawingml/2006/table">
            <a:tbl>
              <a:tblPr>
                <a:tableStyleId>{5C22544A-7EE6-4342-B048-85BDC9FD1C3A}</a:tableStyleId>
              </a:tblPr>
              <a:tblGrid>
                <a:gridCol w="11812537">
                  <a:extLst>
                    <a:ext uri="{9D8B030D-6E8A-4147-A177-3AD203B41FA5}">
                      <a16:colId xmlns:a16="http://schemas.microsoft.com/office/drawing/2014/main" val="2659409359"/>
                    </a:ext>
                  </a:extLst>
                </a:gridCol>
              </a:tblGrid>
              <a:tr h="1364282">
                <a:tc>
                  <a:txBody>
                    <a:bodyPr/>
                    <a:lstStyle/>
                    <a:p>
                      <a:pPr algn="r" rtl="1">
                        <a:lnSpc>
                          <a:spcPct val="100000"/>
                        </a:lnSpc>
                        <a:spcAft>
                          <a:spcPts val="800"/>
                        </a:spcAft>
                      </a:pPr>
                      <a:r>
                        <a:rPr lang="he-IL" sz="1600" b="1" u="sng" dirty="0">
                          <a:effectLst/>
                        </a:rPr>
                        <a:t>הסבר מדעי אפשרי לתמונה</a:t>
                      </a:r>
                      <a:r>
                        <a:rPr lang="he-IL" sz="1600" b="1" dirty="0">
                          <a:effectLst/>
                        </a:rPr>
                        <a:t>: </a:t>
                      </a:r>
                      <a:r>
                        <a:rPr lang="he-IL" sz="1600" kern="1200" dirty="0">
                          <a:solidFill>
                            <a:schemeClr val="dk1"/>
                          </a:solidFill>
                          <a:effectLst/>
                          <a:latin typeface="+mn-lt"/>
                          <a:ea typeface="+mn-ea"/>
                          <a:cs typeface="+mn-cs"/>
                        </a:rPr>
                        <a:t>המבנה המוצע מבוסס על טענה ועל פסקה של הסבר מדעי המבוססת על הראיות (נתונים שנאספו מהתמונה ומידע רלוונטי מתוך הסיכום של התלמידים). </a:t>
                      </a:r>
                      <a:endParaRPr lang="en-US" sz="1600" kern="1200" dirty="0">
                        <a:solidFill>
                          <a:schemeClr val="dk1"/>
                        </a:solidFill>
                        <a:effectLst/>
                        <a:latin typeface="+mn-lt"/>
                        <a:ea typeface="+mn-ea"/>
                        <a:cs typeface="+mn-cs"/>
                      </a:endParaRPr>
                    </a:p>
                    <a:p>
                      <a:pPr marL="0" marR="0" lvl="0" indent="0" algn="r" defTabSz="914400" rtl="1" eaLnBrk="1" fontAlgn="auto" latinLnBrk="0" hangingPunct="1">
                        <a:lnSpc>
                          <a:spcPct val="100000"/>
                        </a:lnSpc>
                        <a:spcBef>
                          <a:spcPts val="0"/>
                        </a:spcBef>
                        <a:spcAft>
                          <a:spcPts val="0"/>
                        </a:spcAft>
                        <a:buClrTx/>
                        <a:buSzTx/>
                        <a:buFontTx/>
                        <a:buNone/>
                        <a:tabLst/>
                        <a:defRPr/>
                      </a:pPr>
                      <a:r>
                        <a:rPr lang="he-IL" sz="1600" dirty="0">
                          <a:effectLst/>
                        </a:rPr>
                        <a:t>לצמחים החיים בסביבת חוף הים קיימות התאמות במבנה הצמח המאפשרות לצמח לחיות בתנאים של רוחות חזקות, רסס מלוח </a:t>
                      </a:r>
                      <a:r>
                        <a:rPr lang="he-IL" sz="1600" dirty="0">
                          <a:solidFill>
                            <a:schemeClr val="tx1"/>
                          </a:solidFill>
                          <a:effectLst/>
                        </a:rPr>
                        <a:t>וזמינות</a:t>
                      </a:r>
                      <a:r>
                        <a:rPr lang="he-IL" sz="1600" baseline="0" dirty="0">
                          <a:solidFill>
                            <a:schemeClr val="tx1"/>
                          </a:solidFill>
                          <a:effectLst/>
                        </a:rPr>
                        <a:t> מים מעטה.</a:t>
                      </a:r>
                      <a:r>
                        <a:rPr lang="he-IL" sz="1600" dirty="0">
                          <a:effectLst/>
                        </a:rPr>
                        <a:t>. </a:t>
                      </a:r>
                      <a:r>
                        <a:rPr lang="he-IL" sz="1600" b="1" dirty="0">
                          <a:effectLst/>
                        </a:rPr>
                        <a:t>(טענה).</a:t>
                      </a:r>
                      <a:endParaRPr lang="en-US" sz="1600" b="1" dirty="0">
                        <a:effectLst/>
                      </a:endParaRPr>
                    </a:p>
                    <a:p>
                      <a:pPr marL="0" indent="0" algn="r" rtl="1">
                        <a:lnSpc>
                          <a:spcPct val="100000"/>
                        </a:lnSpc>
                        <a:spcAft>
                          <a:spcPts val="800"/>
                        </a:spcAft>
                      </a:pPr>
                      <a:r>
                        <a:rPr lang="he-IL" sz="1600" dirty="0">
                          <a:effectLst/>
                        </a:rPr>
                        <a:t>בתמונה ניתן לראות את הצמח אספסת הים שיש לו התאמות במבנה כגון, עלים שעירים ובשרניים המגנים על הצמח מפני הרסס המלוח וכן הצמח שרוע על החול, דבר המאפשר לו להתמודד עם הרוחות החזקות </a:t>
                      </a:r>
                      <a:r>
                        <a:rPr lang="he-IL" sz="1600" b="1" dirty="0">
                          <a:effectLst/>
                        </a:rPr>
                        <a:t>(הסבר) </a:t>
                      </a:r>
                      <a:r>
                        <a:rPr lang="he-IL" sz="1400" dirty="0">
                          <a:effectLst/>
                        </a:rPr>
                        <a:t>. </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114300" marR="114300" marT="0" marB="0"/>
                </a:tc>
                <a:extLst>
                  <a:ext uri="{0D108BD9-81ED-4DB2-BD59-A6C34878D82A}">
                    <a16:rowId xmlns:a16="http://schemas.microsoft.com/office/drawing/2014/main" val="1472935700"/>
                  </a:ext>
                </a:extLst>
              </a:tr>
            </a:tbl>
          </a:graphicData>
        </a:graphic>
      </p:graphicFrame>
    </p:spTree>
    <p:extLst>
      <p:ext uri="{BB962C8B-B14F-4D97-AF65-F5344CB8AC3E}">
        <p14:creationId xmlns:p14="http://schemas.microsoft.com/office/powerpoint/2010/main" val="15983650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383484" y="104862"/>
            <a:ext cx="10515600" cy="996942"/>
          </a:xfrm>
        </p:spPr>
        <p:txBody>
          <a:bodyPr>
            <a:normAutofit/>
          </a:bodyPr>
          <a:lstStyle/>
          <a:p>
            <a:r>
              <a:rPr lang="he-IL" sz="2400" b="1" dirty="0">
                <a:cs typeface="+mn-cs"/>
              </a:rPr>
              <a:t>דוגמא נוספת</a:t>
            </a:r>
            <a:r>
              <a:rPr lang="he-IL" sz="2400" dirty="0">
                <a:cs typeface="+mn-cs"/>
              </a:rPr>
              <a:t>:  שימוש באנרגית השמש תורם להפחתה של התחממות כדור הארץ. </a:t>
            </a:r>
            <a:br>
              <a:rPr lang="he-IL" sz="2400" dirty="0">
                <a:cs typeface="+mn-cs"/>
              </a:rPr>
            </a:br>
            <a:endParaRPr lang="he-IL" sz="2400" dirty="0">
              <a:cs typeface="+mn-cs"/>
            </a:endParaRPr>
          </a:p>
        </p:txBody>
      </p:sp>
      <p:pic>
        <p:nvPicPr>
          <p:cNvPr id="1026" name="Picture 2" descr="קיבוץ נאות סמדר חיבר לרשת החשמל הארצית שדה סולארי חדש | כלכליסט"/>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415710" y="857100"/>
            <a:ext cx="5755999" cy="377030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 name="TextBox 2"/>
          <p:cNvSpPr txBox="1"/>
          <p:nvPr/>
        </p:nvSpPr>
        <p:spPr>
          <a:xfrm>
            <a:off x="238411" y="3429000"/>
            <a:ext cx="3131962" cy="954107"/>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מקור: עיתון </a:t>
            </a:r>
            <a:r>
              <a:rPr kumimoji="0" lang="he-IL" sz="1400" b="0" i="0" u="none" strike="noStrike" kern="1200" cap="none" spc="0" normalizeH="0" baseline="0" noProof="0" dirty="0" err="1">
                <a:ln>
                  <a:noFill/>
                </a:ln>
                <a:solidFill>
                  <a:prstClr val="black"/>
                </a:solidFill>
                <a:effectLst/>
                <a:uLnTx/>
                <a:uFillTx/>
                <a:latin typeface="Calibri" panose="020F0502020204030204"/>
                <a:ea typeface="+mn-ea"/>
                <a:cs typeface="Arial" panose="020B0604020202020204" pitchFamily="34" charset="0"/>
              </a:rPr>
              <a:t>כלכליסט</a:t>
            </a:r>
            <a:r>
              <a:rPr kumimoji="0" lang="he-IL" sz="14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22.11.13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a:t>
            </a:r>
            <a:r>
              <a:rPr kumimoji="0" lang="he-IL" sz="14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hlinkClick r:id="rId3"/>
              </a:rPr>
              <a:t>קישור לכתבה</a:t>
            </a:r>
            <a:endParaRPr kumimoji="0" lang="he-IL" sz="14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r>
              <a:rPr lang="he-IL" sz="1400" dirty="0">
                <a:cs typeface="+mn-cs"/>
              </a:rPr>
              <a:t>שדה סולרי בשדות מושב מבטחים (חבל אשכול)</a:t>
            </a:r>
            <a:endParaRPr kumimoji="0" lang="he-IL" sz="14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graphicFrame>
        <p:nvGraphicFramePr>
          <p:cNvPr id="6" name="טבלה 5">
            <a:extLst>
              <a:ext uri="{FF2B5EF4-FFF2-40B4-BE49-F238E27FC236}">
                <a16:creationId xmlns:a16="http://schemas.microsoft.com/office/drawing/2014/main" id="{FD3C539A-95CD-492C-B1E0-2C237C2E95A4}"/>
              </a:ext>
            </a:extLst>
          </p:cNvPr>
          <p:cNvGraphicFramePr>
            <a:graphicFrameLocks noGrp="1"/>
          </p:cNvGraphicFramePr>
          <p:nvPr>
            <p:extLst>
              <p:ext uri="{D42A27DB-BD31-4B8C-83A1-F6EECF244321}">
                <p14:modId xmlns:p14="http://schemas.microsoft.com/office/powerpoint/2010/main" val="1142904527"/>
              </p:ext>
            </p:extLst>
          </p:nvPr>
        </p:nvGraphicFramePr>
        <p:xfrm>
          <a:off x="238412" y="4800940"/>
          <a:ext cx="11757846" cy="1952198"/>
        </p:xfrm>
        <a:graphic>
          <a:graphicData uri="http://schemas.openxmlformats.org/drawingml/2006/table">
            <a:tbl>
              <a:tblPr>
                <a:tableStyleId>{5C22544A-7EE6-4342-B048-85BDC9FD1C3A}</a:tableStyleId>
              </a:tblPr>
              <a:tblGrid>
                <a:gridCol w="11757846">
                  <a:extLst>
                    <a:ext uri="{9D8B030D-6E8A-4147-A177-3AD203B41FA5}">
                      <a16:colId xmlns:a16="http://schemas.microsoft.com/office/drawing/2014/main" val="2659409359"/>
                    </a:ext>
                  </a:extLst>
                </a:gridCol>
              </a:tblGrid>
              <a:tr h="1952198">
                <a:tc>
                  <a:txBody>
                    <a:bodyPr/>
                    <a:lstStyle/>
                    <a:p>
                      <a:pPr algn="r" rtl="1">
                        <a:lnSpc>
                          <a:spcPct val="150000"/>
                        </a:lnSpc>
                        <a:spcAft>
                          <a:spcPts val="800"/>
                        </a:spcAft>
                      </a:pPr>
                      <a:r>
                        <a:rPr lang="he-IL" sz="1600" b="1" dirty="0">
                          <a:effectLst/>
                        </a:rPr>
                        <a:t>הסבר מדעי אפשרי לתמונה</a:t>
                      </a:r>
                      <a:r>
                        <a:rPr lang="he-IL" sz="1600" dirty="0">
                          <a:effectLst/>
                        </a:rPr>
                        <a:t>: אחת הדרכים להתמודדות עם שינוי האקלים היא בתהליך ייצור אנרגיה חשמלית </a:t>
                      </a:r>
                      <a:r>
                        <a:rPr lang="he-IL" sz="1600" b="1" dirty="0">
                          <a:effectLst/>
                        </a:rPr>
                        <a:t>(טענה).</a:t>
                      </a:r>
                      <a:endParaRPr lang="en-US" sz="1600" b="1" dirty="0">
                        <a:effectLst/>
                      </a:endParaRPr>
                    </a:p>
                    <a:p>
                      <a:pPr marL="228600" algn="r" rtl="1">
                        <a:lnSpc>
                          <a:spcPct val="150000"/>
                        </a:lnSpc>
                        <a:spcAft>
                          <a:spcPts val="800"/>
                        </a:spcAft>
                      </a:pPr>
                      <a:r>
                        <a:rPr kumimoji="0" lang="he-IL" sz="1600" b="0" i="0" u="none" strike="noStrike" kern="1200" cap="none" spc="0" normalizeH="0" baseline="0" dirty="0">
                          <a:ln>
                            <a:noFill/>
                          </a:ln>
                          <a:solidFill>
                            <a:prstClr val="black"/>
                          </a:solidFill>
                          <a:effectLst/>
                          <a:uLnTx/>
                          <a:uFillTx/>
                          <a:latin typeface="+mn-lt"/>
                          <a:ea typeface="+mn-ea"/>
                          <a:cs typeface="+mn-cs"/>
                        </a:rPr>
                        <a:t>פאנלים סולאריים (תאים </a:t>
                      </a:r>
                      <a:r>
                        <a:rPr kumimoji="0" lang="he-IL" sz="1600" b="0" i="0" u="none" strike="noStrike" kern="1200" cap="none" spc="0" normalizeH="0" baseline="0" dirty="0" err="1">
                          <a:ln>
                            <a:noFill/>
                          </a:ln>
                          <a:solidFill>
                            <a:prstClr val="black"/>
                          </a:solidFill>
                          <a:effectLst/>
                          <a:uLnTx/>
                          <a:uFillTx/>
                          <a:latin typeface="+mn-lt"/>
                          <a:ea typeface="+mn-ea"/>
                          <a:cs typeface="+mn-cs"/>
                        </a:rPr>
                        <a:t>פוטו־וולטאיים</a:t>
                      </a:r>
                      <a:r>
                        <a:rPr kumimoji="0" lang="he-IL" sz="1600" b="0" i="0" u="none" strike="noStrike" kern="1200" cap="none" spc="0" normalizeH="0" baseline="0" dirty="0">
                          <a:ln>
                            <a:noFill/>
                          </a:ln>
                          <a:solidFill>
                            <a:prstClr val="black"/>
                          </a:solidFill>
                          <a:effectLst/>
                          <a:uLnTx/>
                          <a:uFillTx/>
                          <a:latin typeface="+mn-lt"/>
                          <a:ea typeface="+mn-ea"/>
                          <a:cs typeface="+mn-cs"/>
                        </a:rPr>
                        <a:t>) הם מבנים שטוחים בהם מומרת אנרגיית השמש לאנרגיה חשמלית</a:t>
                      </a:r>
                      <a:r>
                        <a:rPr kumimoji="0" lang="he-IL" sz="1600" b="0" i="0" u="none" strike="noStrike" kern="1200" cap="none" spc="0" normalizeH="0" baseline="0" noProof="0" dirty="0">
                          <a:ln>
                            <a:noFill/>
                          </a:ln>
                          <a:solidFill>
                            <a:prstClr val="black"/>
                          </a:solidFill>
                          <a:effectLst/>
                          <a:uLnTx/>
                          <a:uFillTx/>
                          <a:latin typeface="+mn-lt"/>
                          <a:ea typeface="+mn-ea"/>
                          <a:cs typeface="+mn-cs"/>
                        </a:rPr>
                        <a:t>. הפאנלים בעלי שטח פנים גדול וממוקמים אל מול השמש כפי שניתן לראות בתצלום, על פי הצל שהם מטילים על הקרקע. תהליך יצור האנרגיה בדרך זו מצמצם את השימוש בדלק מאובנים כמו פחם, שבעת שריפתו נפלט גז פחמן דו חמצני הידוע כגז חממה, הגורם לעליית הטמפרטורה בכדור הארץ. בשנים האחרונות ממוקמים פאנלים סולאריים במקומות רבים בארץ, דבר התורם להפחתת גזי החממה </a:t>
                      </a:r>
                      <a:r>
                        <a:rPr lang="he-IL" sz="1600" b="1" dirty="0">
                          <a:effectLst/>
                        </a:rPr>
                        <a:t>(הסבר) </a:t>
                      </a:r>
                      <a:r>
                        <a:rPr lang="he-IL" sz="1400" dirty="0">
                          <a:effectLst/>
                        </a:rPr>
                        <a:t>. </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114300" marR="114300" marT="0" marB="0"/>
                </a:tc>
                <a:extLst>
                  <a:ext uri="{0D108BD9-81ED-4DB2-BD59-A6C34878D82A}">
                    <a16:rowId xmlns:a16="http://schemas.microsoft.com/office/drawing/2014/main" val="1472935700"/>
                  </a:ext>
                </a:extLst>
              </a:tr>
            </a:tbl>
          </a:graphicData>
        </a:graphic>
      </p:graphicFrame>
    </p:spTree>
    <p:extLst>
      <p:ext uri="{BB962C8B-B14F-4D97-AF65-F5344CB8AC3E}">
        <p14:creationId xmlns:p14="http://schemas.microsoft.com/office/powerpoint/2010/main" val="14617052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איסוף אוכל משוק הכרמל (צילום: רון אבנרי)"/>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758265" y="791924"/>
            <a:ext cx="7200186" cy="404852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 name="TextBox 2"/>
          <p:cNvSpPr txBox="1"/>
          <p:nvPr/>
        </p:nvSpPr>
        <p:spPr>
          <a:xfrm>
            <a:off x="1115736" y="2914498"/>
            <a:ext cx="2397556" cy="738664"/>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צילום: רון אבנרי,</a:t>
            </a:r>
            <a:b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he-IL" sz="14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מקור: מגזין </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TIMEOUT</a:t>
            </a:r>
            <a:r>
              <a:rPr kumimoji="0" lang="he-IL" sz="14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10/8/17</a:t>
            </a:r>
            <a:endParaRPr kumimoji="0" lang="he-IL" sz="14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hlinkClick r:id="rId3"/>
              </a:rPr>
              <a:t>קישור לכתבה</a:t>
            </a:r>
            <a:r>
              <a:rPr kumimoji="0" lang="he-IL" sz="14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מאת נועם כהן</a:t>
            </a:r>
          </a:p>
        </p:txBody>
      </p:sp>
      <p:sp>
        <p:nvSpPr>
          <p:cNvPr id="6" name="כותרת 1">
            <a:extLst>
              <a:ext uri="{FF2B5EF4-FFF2-40B4-BE49-F238E27FC236}">
                <a16:creationId xmlns:a16="http://schemas.microsoft.com/office/drawing/2014/main" id="{5B130E80-45DF-4526-965B-BEEF87600D5A}"/>
              </a:ext>
            </a:extLst>
          </p:cNvPr>
          <p:cNvSpPr txBox="1">
            <a:spLocks/>
          </p:cNvSpPr>
          <p:nvPr/>
        </p:nvSpPr>
        <p:spPr>
          <a:xfrm>
            <a:off x="1252758" y="0"/>
            <a:ext cx="10515600" cy="996942"/>
          </a:xfrm>
          <a:prstGeom prst="rect">
            <a:avLst/>
          </a:prstGeom>
        </p:spPr>
        <p:txBody>
          <a:bodyPr vert="horz" lIns="91440" tIns="45720" rIns="91440" bIns="45720" rtlCol="1" anchor="ctr">
            <a:normAutofit/>
          </a:bodyPr>
          <a:lstStyle>
            <a:lvl1pPr algn="r" defTabSz="914400" rtl="1" eaLnBrk="1" latinLnBrk="0" hangingPunct="1">
              <a:lnSpc>
                <a:spcPct val="90000"/>
              </a:lnSpc>
              <a:spcBef>
                <a:spcPct val="0"/>
              </a:spcBef>
              <a:buNone/>
              <a:defRPr sz="4400" kern="1200">
                <a:solidFill>
                  <a:schemeClr val="tx1"/>
                </a:solidFill>
                <a:latin typeface="+mj-lt"/>
                <a:ea typeface="+mj-ea"/>
                <a:cs typeface="+mj-cs"/>
              </a:defRPr>
            </a:lvl1pPr>
          </a:lstStyle>
          <a:p>
            <a:r>
              <a:rPr lang="he-IL" sz="2400" b="1" dirty="0">
                <a:cs typeface="+mn-cs"/>
              </a:rPr>
              <a:t>דוגמא נוספת: </a:t>
            </a:r>
            <a:r>
              <a:rPr lang="he-IL" sz="2400" dirty="0">
                <a:cs typeface="+mn-cs"/>
              </a:rPr>
              <a:t>אובדן מזון והקשר לשינוי האקלים</a:t>
            </a:r>
          </a:p>
        </p:txBody>
      </p:sp>
      <p:graphicFrame>
        <p:nvGraphicFramePr>
          <p:cNvPr id="9" name="טבלה 8">
            <a:extLst>
              <a:ext uri="{FF2B5EF4-FFF2-40B4-BE49-F238E27FC236}">
                <a16:creationId xmlns:a16="http://schemas.microsoft.com/office/drawing/2014/main" id="{AD2DAC17-0049-401D-9763-2BD75E4FCB83}"/>
              </a:ext>
            </a:extLst>
          </p:cNvPr>
          <p:cNvGraphicFramePr>
            <a:graphicFrameLocks noGrp="1"/>
          </p:cNvGraphicFramePr>
          <p:nvPr>
            <p:extLst>
              <p:ext uri="{D42A27DB-BD31-4B8C-83A1-F6EECF244321}">
                <p14:modId xmlns:p14="http://schemas.microsoft.com/office/powerpoint/2010/main" val="3629004419"/>
              </p:ext>
            </p:extLst>
          </p:nvPr>
        </p:nvGraphicFramePr>
        <p:xfrm>
          <a:off x="503339" y="5055324"/>
          <a:ext cx="11459362" cy="1632586"/>
        </p:xfrm>
        <a:graphic>
          <a:graphicData uri="http://schemas.openxmlformats.org/drawingml/2006/table">
            <a:tbl>
              <a:tblPr>
                <a:tableStyleId>{5C22544A-7EE6-4342-B048-85BDC9FD1C3A}</a:tableStyleId>
              </a:tblPr>
              <a:tblGrid>
                <a:gridCol w="11459362">
                  <a:extLst>
                    <a:ext uri="{9D8B030D-6E8A-4147-A177-3AD203B41FA5}">
                      <a16:colId xmlns:a16="http://schemas.microsoft.com/office/drawing/2014/main" val="2659409359"/>
                    </a:ext>
                  </a:extLst>
                </a:gridCol>
              </a:tblGrid>
              <a:tr h="1632586">
                <a:tc>
                  <a:txBody>
                    <a:bodyPr/>
                    <a:lstStyle/>
                    <a:p>
                      <a:pPr algn="r" rtl="1">
                        <a:lnSpc>
                          <a:spcPct val="150000"/>
                        </a:lnSpc>
                        <a:spcAft>
                          <a:spcPts val="800"/>
                        </a:spcAft>
                      </a:pPr>
                      <a:r>
                        <a:rPr lang="he-IL" sz="1600" b="1" dirty="0">
                          <a:effectLst/>
                        </a:rPr>
                        <a:t>הסבר מדעי אפשרי לתמונה</a:t>
                      </a:r>
                      <a:r>
                        <a:rPr lang="he-IL" sz="1600" dirty="0">
                          <a:effectLst/>
                        </a:rPr>
                        <a:t>: אחת הסיבות לעליית הטמפרטורה בכדור הארץ היא עלייה בכמות הפסולת האורגנית בעקבות אובדן מזון </a:t>
                      </a:r>
                      <a:r>
                        <a:rPr lang="he-IL" sz="1600" b="1" dirty="0">
                          <a:effectLst/>
                        </a:rPr>
                        <a:t>(טענה).</a:t>
                      </a:r>
                      <a:endParaRPr lang="en-US" sz="1600" b="1" dirty="0">
                        <a:effectLst/>
                      </a:endParaRPr>
                    </a:p>
                    <a:p>
                      <a:pPr marL="228600" algn="r" rtl="1">
                        <a:lnSpc>
                          <a:spcPct val="150000"/>
                        </a:lnSpc>
                        <a:spcAft>
                          <a:spcPts val="800"/>
                        </a:spcAft>
                      </a:pPr>
                      <a:r>
                        <a:rPr kumimoji="0" lang="he-IL" sz="1600" b="0" i="0" u="none" strike="noStrike" kern="1200" cap="none" spc="0" normalizeH="0" baseline="0" noProof="0" dirty="0">
                          <a:ln>
                            <a:noFill/>
                          </a:ln>
                          <a:solidFill>
                            <a:prstClr val="black"/>
                          </a:solidFill>
                          <a:effectLst/>
                          <a:uLnTx/>
                          <a:uFillTx/>
                          <a:latin typeface="+mn-lt"/>
                          <a:ea typeface="+mn-ea"/>
                          <a:cs typeface="+mn-cs"/>
                        </a:rPr>
                        <a:t>בשווקים ובמקומות שונים לממכר מזון נזרקת כמות גדולה של ירקות ופירות הראויים למאכל והופכים לפסולת אורגנית שמיועדת להטמנה. פסולת אורגנית מפורקת ע"י חיידקים שפולטים גזי חממה כמו פחמן דו חמצני וגז מתאן. גזים אלה גורמים לכליאת חום באטמוספירה של כדור הארץ ולתופעה המכונה אפקט החממה וכתוצאה מכך לתופעות של שינוי האקלים. </a:t>
                      </a:r>
                      <a:r>
                        <a:rPr lang="he-IL" sz="1600" b="1" dirty="0">
                          <a:effectLst/>
                        </a:rPr>
                        <a:t>(הסבר) </a:t>
                      </a:r>
                      <a:r>
                        <a:rPr lang="he-IL" sz="1400" dirty="0">
                          <a:effectLst/>
                        </a:rPr>
                        <a:t>. </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114300" marR="114300" marT="0" marB="0"/>
                </a:tc>
                <a:extLst>
                  <a:ext uri="{0D108BD9-81ED-4DB2-BD59-A6C34878D82A}">
                    <a16:rowId xmlns:a16="http://schemas.microsoft.com/office/drawing/2014/main" val="1472935700"/>
                  </a:ext>
                </a:extLst>
              </a:tr>
            </a:tbl>
          </a:graphicData>
        </a:graphic>
      </p:graphicFrame>
    </p:spTree>
    <p:extLst>
      <p:ext uri="{BB962C8B-B14F-4D97-AF65-F5344CB8AC3E}">
        <p14:creationId xmlns:p14="http://schemas.microsoft.com/office/powerpoint/2010/main" val="6931021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כותרת 1">
            <a:extLst>
              <a:ext uri="{FF2B5EF4-FFF2-40B4-BE49-F238E27FC236}">
                <a16:creationId xmlns:a16="http://schemas.microsoft.com/office/drawing/2014/main" id="{5B130E80-45DF-4526-965B-BEEF87600D5A}"/>
              </a:ext>
            </a:extLst>
          </p:cNvPr>
          <p:cNvSpPr txBox="1">
            <a:spLocks/>
          </p:cNvSpPr>
          <p:nvPr/>
        </p:nvSpPr>
        <p:spPr>
          <a:xfrm>
            <a:off x="1277925" y="-45688"/>
            <a:ext cx="10515600" cy="574646"/>
          </a:xfrm>
          <a:prstGeom prst="rect">
            <a:avLst/>
          </a:prstGeom>
        </p:spPr>
        <p:txBody>
          <a:bodyPr vert="horz" lIns="91440" tIns="45720" rIns="91440" bIns="45720" rtlCol="1" anchor="ctr">
            <a:normAutofit/>
          </a:bodyPr>
          <a:lstStyle>
            <a:lvl1pPr algn="r" defTabSz="914400" rtl="1" eaLnBrk="1" latinLnBrk="0" hangingPunct="1">
              <a:lnSpc>
                <a:spcPct val="90000"/>
              </a:lnSpc>
              <a:spcBef>
                <a:spcPct val="0"/>
              </a:spcBef>
              <a:buNone/>
              <a:defRPr sz="4400" kern="1200">
                <a:solidFill>
                  <a:schemeClr val="tx1"/>
                </a:solidFill>
                <a:latin typeface="+mj-lt"/>
                <a:ea typeface="+mj-ea"/>
                <a:cs typeface="+mj-cs"/>
              </a:defRPr>
            </a:lvl1pPr>
          </a:lstStyle>
          <a:p>
            <a:r>
              <a:rPr lang="he-IL" sz="2400" b="1" dirty="0">
                <a:cs typeface="+mn-cs"/>
              </a:rPr>
              <a:t>דוגמא נוספת: </a:t>
            </a:r>
            <a:r>
              <a:rPr lang="he-IL" sz="2400" dirty="0">
                <a:cs typeface="+mn-cs"/>
              </a:rPr>
              <a:t>המחיר של שימור מול פיתוח</a:t>
            </a:r>
          </a:p>
        </p:txBody>
      </p:sp>
      <p:graphicFrame>
        <p:nvGraphicFramePr>
          <p:cNvPr id="9" name="טבלה 8">
            <a:extLst>
              <a:ext uri="{FF2B5EF4-FFF2-40B4-BE49-F238E27FC236}">
                <a16:creationId xmlns:a16="http://schemas.microsoft.com/office/drawing/2014/main" id="{AD2DAC17-0049-401D-9763-2BD75E4FCB83}"/>
              </a:ext>
            </a:extLst>
          </p:cNvPr>
          <p:cNvGraphicFramePr>
            <a:graphicFrameLocks noGrp="1"/>
          </p:cNvGraphicFramePr>
          <p:nvPr>
            <p:extLst>
              <p:ext uri="{D42A27DB-BD31-4B8C-83A1-F6EECF244321}">
                <p14:modId xmlns:p14="http://schemas.microsoft.com/office/powerpoint/2010/main" val="2026712351"/>
              </p:ext>
            </p:extLst>
          </p:nvPr>
        </p:nvGraphicFramePr>
        <p:xfrm>
          <a:off x="81093" y="4566920"/>
          <a:ext cx="12029813" cy="2291080"/>
        </p:xfrm>
        <a:graphic>
          <a:graphicData uri="http://schemas.openxmlformats.org/drawingml/2006/table">
            <a:tbl>
              <a:tblPr>
                <a:tableStyleId>{5C22544A-7EE6-4342-B048-85BDC9FD1C3A}</a:tableStyleId>
              </a:tblPr>
              <a:tblGrid>
                <a:gridCol w="12029813">
                  <a:extLst>
                    <a:ext uri="{9D8B030D-6E8A-4147-A177-3AD203B41FA5}">
                      <a16:colId xmlns:a16="http://schemas.microsoft.com/office/drawing/2014/main" val="2659409359"/>
                    </a:ext>
                  </a:extLst>
                </a:gridCol>
              </a:tblGrid>
              <a:tr h="1644496">
                <a:tc>
                  <a:txBody>
                    <a:bodyPr/>
                    <a:lstStyle/>
                    <a:p>
                      <a:pPr algn="r" rtl="1">
                        <a:lnSpc>
                          <a:spcPct val="150000"/>
                        </a:lnSpc>
                        <a:spcAft>
                          <a:spcPts val="800"/>
                        </a:spcAft>
                      </a:pPr>
                      <a:r>
                        <a:rPr lang="he-IL" sz="1600" b="1" dirty="0">
                          <a:effectLst/>
                        </a:rPr>
                        <a:t>הסבר מדעי אפשרי לתמונה</a:t>
                      </a:r>
                      <a:r>
                        <a:rPr lang="he-IL" sz="1600" dirty="0">
                          <a:effectLst/>
                        </a:rPr>
                        <a:t>: </a:t>
                      </a:r>
                      <a:r>
                        <a:rPr kumimoji="0" lang="he-IL" sz="1600" b="0" i="0" u="none" strike="noStrike" kern="1200" cap="none" spc="0" normalizeH="0" baseline="0" dirty="0">
                          <a:ln>
                            <a:noFill/>
                          </a:ln>
                          <a:solidFill>
                            <a:prstClr val="black"/>
                          </a:solidFill>
                          <a:effectLst/>
                          <a:uLnTx/>
                          <a:uFillTx/>
                          <a:latin typeface="+mn-lt"/>
                          <a:ea typeface="+mn-ea"/>
                          <a:cs typeface="+mn-cs"/>
                        </a:rPr>
                        <a:t>מדינת ישראל כיום היא אחת המדינות הצפופות ביותר בעולם המערבי ומאופיינת בירידה דרמטית בכמות השטחים הפתוחים </a:t>
                      </a:r>
                      <a:r>
                        <a:rPr lang="he-IL" sz="1600" b="1" dirty="0">
                          <a:effectLst/>
                        </a:rPr>
                        <a:t>(טענה).</a:t>
                      </a:r>
                      <a:endParaRPr kumimoji="0" lang="he-IL" sz="1600" b="1" i="0" u="none" strike="noStrike" kern="1200" cap="none" spc="0" normalizeH="0" baseline="0" dirty="0">
                        <a:ln>
                          <a:noFill/>
                        </a:ln>
                        <a:solidFill>
                          <a:schemeClr val="dk1"/>
                        </a:solidFill>
                        <a:effectLst/>
                        <a:uLnTx/>
                        <a:uFillTx/>
                        <a:latin typeface="+mn-lt"/>
                        <a:ea typeface="+mn-ea"/>
                        <a:cs typeface="+mn-cs"/>
                      </a:endParaRPr>
                    </a:p>
                    <a:p>
                      <a:pPr algn="r" rtl="1">
                        <a:lnSpc>
                          <a:spcPct val="150000"/>
                        </a:lnSpc>
                        <a:spcAft>
                          <a:spcPts val="800"/>
                        </a:spcAft>
                      </a:pPr>
                      <a:r>
                        <a:rPr kumimoji="0" lang="he-IL" sz="1600" b="0" i="0" u="none" strike="noStrike" kern="1200" cap="none" spc="0" normalizeH="0" baseline="0" dirty="0">
                          <a:ln>
                            <a:noFill/>
                          </a:ln>
                          <a:solidFill>
                            <a:prstClr val="black"/>
                          </a:solidFill>
                          <a:effectLst/>
                          <a:uLnTx/>
                          <a:uFillTx/>
                          <a:latin typeface="+mn-lt"/>
                          <a:ea typeface="+mn-ea"/>
                          <a:cs typeface="+mn-cs"/>
                        </a:rPr>
                        <a:t>בתצלום ניתן לראות שטח פתוח המשמש בית גידול לצמחים (עירית גדולה וכלנית) ובעלי חיים (חולד) שהולך ומצטמצם בעקבות בנייה. השטחים</a:t>
                      </a:r>
                      <a:r>
                        <a:rPr lang="he-IL" sz="1600" b="0" i="0" kern="1200" dirty="0">
                          <a:solidFill>
                            <a:schemeClr val="dk1"/>
                          </a:solidFill>
                          <a:effectLst/>
                          <a:latin typeface="+mn-lt"/>
                          <a:ea typeface="+mn-ea"/>
                          <a:cs typeface="+mn-cs"/>
                        </a:rPr>
                        <a:t> הפתוחים בישראל חיוניים מפני שהם מספקים שירותים אקולוגיים, כמו קליטת מי נגר </a:t>
                      </a:r>
                      <a:r>
                        <a:rPr lang="he-IL" sz="1600" b="0" i="0" kern="1200" dirty="0" err="1">
                          <a:solidFill>
                            <a:schemeClr val="dk1"/>
                          </a:solidFill>
                          <a:effectLst/>
                          <a:latin typeface="+mn-lt"/>
                          <a:ea typeface="+mn-ea"/>
                          <a:cs typeface="+mn-cs"/>
                        </a:rPr>
                        <a:t>לאקוויפרים</a:t>
                      </a:r>
                      <a:r>
                        <a:rPr lang="he-IL" sz="1600" b="0" i="0" kern="1200" dirty="0">
                          <a:solidFill>
                            <a:schemeClr val="dk1"/>
                          </a:solidFill>
                          <a:effectLst/>
                          <a:latin typeface="+mn-lt"/>
                          <a:ea typeface="+mn-ea"/>
                          <a:cs typeface="+mn-cs"/>
                        </a:rPr>
                        <a:t>, הקטנת סכנת שיטפונות, קליטת פחמן דו חמצני ופליטת חמצן. הם </a:t>
                      </a:r>
                      <a:r>
                        <a:rPr lang="he-IL" sz="1600" b="0" i="0" kern="1200" dirty="0">
                          <a:solidFill>
                            <a:schemeClr val="tx1"/>
                          </a:solidFill>
                          <a:effectLst/>
                          <a:latin typeface="+mn-lt"/>
                          <a:ea typeface="+mn-ea"/>
                          <a:cs typeface="+mn-cs"/>
                        </a:rPr>
                        <a:t>מקור</a:t>
                      </a:r>
                      <a:r>
                        <a:rPr lang="he-IL" sz="1600" b="0" i="0" kern="1200" dirty="0">
                          <a:solidFill>
                            <a:schemeClr val="dk1"/>
                          </a:solidFill>
                          <a:effectLst/>
                          <a:latin typeface="+mn-lt"/>
                          <a:ea typeface="+mn-ea"/>
                          <a:cs typeface="+mn-cs"/>
                        </a:rPr>
                        <a:t> לשרותי האבקה לחקלאות, קליטת זיהום אויר ועוד. בנוסף, השטחים הפתוחים מהווים מרחבי נופש לאדם.  ועל כן חשוב לשמור על איזון בין פיתוח לשימור השטחים הפתוחים</a:t>
                      </a:r>
                      <a:r>
                        <a:rPr lang="he-IL" sz="1800" b="0" i="0" kern="1200" dirty="0">
                          <a:solidFill>
                            <a:schemeClr val="dk1"/>
                          </a:solidFill>
                          <a:effectLst/>
                          <a:latin typeface="+mn-lt"/>
                          <a:ea typeface="+mn-ea"/>
                          <a:cs typeface="+mn-cs"/>
                        </a:rPr>
                        <a:t>. </a:t>
                      </a:r>
                      <a:r>
                        <a:rPr lang="he-IL" sz="1600" b="1" dirty="0">
                          <a:effectLst/>
                        </a:rPr>
                        <a:t>(הסבר) </a:t>
                      </a:r>
                      <a:r>
                        <a:rPr lang="he-IL" sz="1400" dirty="0">
                          <a:effectLst/>
                        </a:rPr>
                        <a:t>. </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114300" marR="114300" marT="0" marB="0"/>
                </a:tc>
                <a:extLst>
                  <a:ext uri="{0D108BD9-81ED-4DB2-BD59-A6C34878D82A}">
                    <a16:rowId xmlns:a16="http://schemas.microsoft.com/office/drawing/2014/main" val="1472935700"/>
                  </a:ext>
                </a:extLst>
              </a:tr>
            </a:tbl>
          </a:graphicData>
        </a:graphic>
      </p:graphicFrame>
      <p:sp>
        <p:nvSpPr>
          <p:cNvPr id="10" name="TextBox 4">
            <a:extLst>
              <a:ext uri="{FF2B5EF4-FFF2-40B4-BE49-F238E27FC236}">
                <a16:creationId xmlns:a16="http://schemas.microsoft.com/office/drawing/2014/main" id="{99430822-A78A-4BCC-91C9-ACD64E4A89BC}"/>
              </a:ext>
            </a:extLst>
          </p:cNvPr>
          <p:cNvSpPr txBox="1"/>
          <p:nvPr/>
        </p:nvSpPr>
        <p:spPr>
          <a:xfrm>
            <a:off x="1214110" y="3145149"/>
            <a:ext cx="2820994" cy="738664"/>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sz="1400" b="0" i="0" dirty="0">
                <a:solidFill>
                  <a:srgbClr val="666666"/>
                </a:solidFill>
                <a:effectLst/>
                <a:latin typeface="Arial" panose="020B0604020202020204" pitchFamily="34" charset="0"/>
              </a:rPr>
              <a:t>צילום: אלון רוטשילד, החברה להגנת הטבע</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400" u="none" strike="noStrike" kern="1200" cap="none" spc="0" normalizeH="0" baseline="0" noProof="0" dirty="0">
                <a:ln>
                  <a:noFill/>
                </a:ln>
                <a:solidFill>
                  <a:srgbClr val="666666"/>
                </a:solidFill>
                <a:uLnTx/>
                <a:uFillTx/>
                <a:latin typeface="Arial" panose="020B0604020202020204" pitchFamily="34" charset="0"/>
                <a:ea typeface="+mn-ea"/>
                <a:cs typeface="Arial" panose="020B0604020202020204" pitchFamily="34" charset="0"/>
                <a:hlinkClick r:id="rId2"/>
              </a:rPr>
              <a:t>מקור</a:t>
            </a:r>
            <a:endParaRPr kumimoji="0" lang="he-IL" sz="14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pic>
        <p:nvPicPr>
          <p:cNvPr id="2" name="תמונה 1">
            <a:extLst>
              <a:ext uri="{FF2B5EF4-FFF2-40B4-BE49-F238E27FC236}">
                <a16:creationId xmlns:a16="http://schemas.microsoft.com/office/drawing/2014/main" id="{4F776BC3-B83B-4EC3-90F4-4410E9FD95DB}"/>
              </a:ext>
            </a:extLst>
          </p:cNvPr>
          <p:cNvPicPr>
            <a:picLocks noChangeAspect="1"/>
          </p:cNvPicPr>
          <p:nvPr/>
        </p:nvPicPr>
        <p:blipFill>
          <a:blip r:embed="rId3"/>
          <a:stretch>
            <a:fillRect/>
          </a:stretch>
        </p:blipFill>
        <p:spPr>
          <a:xfrm>
            <a:off x="4261607" y="426709"/>
            <a:ext cx="6367243" cy="417068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8128263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7">
            <a:extLst>
              <a:ext uri="{FF2B5EF4-FFF2-40B4-BE49-F238E27FC236}">
                <a16:creationId xmlns:a16="http://schemas.microsoft.com/office/drawing/2014/main" id="{8B3A2D1A-45FC-4F95-B150-1C13EF2F6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9">
            <a:extLst>
              <a:ext uri="{FF2B5EF4-FFF2-40B4-BE49-F238E27FC236}">
                <a16:creationId xmlns:a16="http://schemas.microsoft.com/office/drawing/2014/main" id="{F3768FD5-DD7A-43C7-8DEA-1F5DB3CB5B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תמונה 1">
            <a:extLst>
              <a:ext uri="{FF2B5EF4-FFF2-40B4-BE49-F238E27FC236}">
                <a16:creationId xmlns:a16="http://schemas.microsoft.com/office/drawing/2014/main" id="{41921D6A-CDA6-1AA1-F5F6-C50EA1E96DF5}"/>
              </a:ext>
            </a:extLst>
          </p:cNvPr>
          <p:cNvPicPr>
            <a:picLocks noChangeAspect="1"/>
          </p:cNvPicPr>
          <p:nvPr/>
        </p:nvPicPr>
        <p:blipFill rotWithShape="1">
          <a:blip r:embed="rId2"/>
          <a:srcRect l="16890" r="1" b="1"/>
          <a:stretch/>
        </p:blipFill>
        <p:spPr>
          <a:xfrm>
            <a:off x="2" y="10"/>
            <a:ext cx="12191999" cy="2285990"/>
          </a:xfrm>
          <a:custGeom>
            <a:avLst/>
            <a:gdLst/>
            <a:ahLst/>
            <a:cxnLst/>
            <a:rect l="l" t="t" r="r" b="b"/>
            <a:pathLst>
              <a:path w="12191999" h="3428999">
                <a:moveTo>
                  <a:pt x="0" y="0"/>
                </a:moveTo>
                <a:lnTo>
                  <a:pt x="12191999" y="0"/>
                </a:lnTo>
                <a:lnTo>
                  <a:pt x="12191999" y="920893"/>
                </a:lnTo>
                <a:lnTo>
                  <a:pt x="12191999" y="1514929"/>
                </a:lnTo>
                <a:lnTo>
                  <a:pt x="12191999" y="3130902"/>
                </a:lnTo>
                <a:lnTo>
                  <a:pt x="12188051" y="3131476"/>
                </a:lnTo>
                <a:cubicBezTo>
                  <a:pt x="12153000" y="3135813"/>
                  <a:pt x="12133655" y="3136025"/>
                  <a:pt x="12112012" y="3138906"/>
                </a:cubicBezTo>
                <a:cubicBezTo>
                  <a:pt x="12076970" y="3145595"/>
                  <a:pt x="12039899" y="3160769"/>
                  <a:pt x="12018752" y="3165642"/>
                </a:cubicBezTo>
                <a:lnTo>
                  <a:pt x="11985122" y="3168147"/>
                </a:lnTo>
                <a:lnTo>
                  <a:pt x="11986344" y="3172878"/>
                </a:lnTo>
                <a:lnTo>
                  <a:pt x="11973852" y="3173226"/>
                </a:lnTo>
                <a:lnTo>
                  <a:pt x="11945968" y="3173341"/>
                </a:lnTo>
                <a:cubicBezTo>
                  <a:pt x="11928568" y="3174057"/>
                  <a:pt x="11880184" y="3172923"/>
                  <a:pt x="11862470" y="3174654"/>
                </a:cubicBezTo>
                <a:cubicBezTo>
                  <a:pt x="11857360" y="3179700"/>
                  <a:pt x="11849473" y="3182451"/>
                  <a:pt x="11839688" y="3183726"/>
                </a:cubicBezTo>
                <a:lnTo>
                  <a:pt x="11818138" y="3183868"/>
                </a:lnTo>
                <a:lnTo>
                  <a:pt x="11693161" y="3196027"/>
                </a:lnTo>
                <a:lnTo>
                  <a:pt x="11675978" y="3196936"/>
                </a:lnTo>
                <a:lnTo>
                  <a:pt x="11666672" y="3201013"/>
                </a:lnTo>
                <a:cubicBezTo>
                  <a:pt x="11659568" y="3201827"/>
                  <a:pt x="11639160" y="3201301"/>
                  <a:pt x="11633348" y="3201823"/>
                </a:cubicBezTo>
                <a:lnTo>
                  <a:pt x="11631806" y="3204144"/>
                </a:lnTo>
                <a:cubicBezTo>
                  <a:pt x="11613292" y="3207852"/>
                  <a:pt x="11543654" y="3220200"/>
                  <a:pt x="11522270" y="3224070"/>
                </a:cubicBezTo>
                <a:cubicBezTo>
                  <a:pt x="11517998" y="3220503"/>
                  <a:pt x="11508432" y="3226137"/>
                  <a:pt x="11503503" y="3227361"/>
                </a:cubicBezTo>
                <a:cubicBezTo>
                  <a:pt x="11502740" y="3224959"/>
                  <a:pt x="11490808" y="3224226"/>
                  <a:pt x="11487288" y="3226364"/>
                </a:cubicBezTo>
                <a:cubicBezTo>
                  <a:pt x="11403406" y="3238085"/>
                  <a:pt x="11445394" y="3213864"/>
                  <a:pt x="11397514" y="3229209"/>
                </a:cubicBezTo>
                <a:cubicBezTo>
                  <a:pt x="11389044" y="3230225"/>
                  <a:pt x="11382180" y="3229256"/>
                  <a:pt x="11376160" y="3227461"/>
                </a:cubicBezTo>
                <a:lnTo>
                  <a:pt x="11367180" y="3223774"/>
                </a:lnTo>
                <a:lnTo>
                  <a:pt x="11332420" y="3230742"/>
                </a:lnTo>
                <a:cubicBezTo>
                  <a:pt x="11315298" y="3233171"/>
                  <a:pt x="11297277" y="3234781"/>
                  <a:pt x="11278786" y="3235517"/>
                </a:cubicBezTo>
                <a:cubicBezTo>
                  <a:pt x="11274637" y="3230607"/>
                  <a:pt x="11260123" y="3237582"/>
                  <a:pt x="11253295" y="3238964"/>
                </a:cubicBezTo>
                <a:cubicBezTo>
                  <a:pt x="11253224" y="3235757"/>
                  <a:pt x="11238096" y="3234220"/>
                  <a:pt x="11232727" y="3236871"/>
                </a:cubicBezTo>
                <a:cubicBezTo>
                  <a:pt x="11119903" y="3248332"/>
                  <a:pt x="11183388" y="3218382"/>
                  <a:pt x="11115682" y="3236341"/>
                </a:cubicBezTo>
                <a:cubicBezTo>
                  <a:pt x="11104356" y="3237278"/>
                  <a:pt x="11095858" y="3235671"/>
                  <a:pt x="11088768" y="3233017"/>
                </a:cubicBezTo>
                <a:lnTo>
                  <a:pt x="11076012" y="3226390"/>
                </a:lnTo>
                <a:lnTo>
                  <a:pt x="11066016" y="3228753"/>
                </a:lnTo>
                <a:cubicBezTo>
                  <a:pt x="11028292" y="3228939"/>
                  <a:pt x="11017169" y="3222147"/>
                  <a:pt x="10995221" y="3228989"/>
                </a:cubicBezTo>
                <a:cubicBezTo>
                  <a:pt x="10962786" y="3214768"/>
                  <a:pt x="10973708" y="3227571"/>
                  <a:pt x="10949038" y="3229747"/>
                </a:cubicBezTo>
                <a:cubicBezTo>
                  <a:pt x="10929576" y="3232582"/>
                  <a:pt x="10965306" y="3238039"/>
                  <a:pt x="10946231" y="3238844"/>
                </a:cubicBezTo>
                <a:cubicBezTo>
                  <a:pt x="10925596" y="3235173"/>
                  <a:pt x="10926566" y="3246575"/>
                  <a:pt x="10905107" y="3242085"/>
                </a:cubicBezTo>
                <a:cubicBezTo>
                  <a:pt x="10910320" y="3233495"/>
                  <a:pt x="10862761" y="3243750"/>
                  <a:pt x="10861282" y="3236246"/>
                </a:cubicBezTo>
                <a:cubicBezTo>
                  <a:pt x="10843055" y="3246977"/>
                  <a:pt x="10833897" y="3233757"/>
                  <a:pt x="10809627" y="3237064"/>
                </a:cubicBezTo>
                <a:cubicBezTo>
                  <a:pt x="10798198" y="3241124"/>
                  <a:pt x="10789952" y="3241821"/>
                  <a:pt x="10778718" y="3237455"/>
                </a:cubicBezTo>
                <a:cubicBezTo>
                  <a:pt x="10726069" y="3257219"/>
                  <a:pt x="10746866" y="3238339"/>
                  <a:pt x="10697595" y="3245939"/>
                </a:cubicBezTo>
                <a:cubicBezTo>
                  <a:pt x="10655146" y="3253933"/>
                  <a:pt x="10607026" y="3259119"/>
                  <a:pt x="10565970" y="3278201"/>
                </a:cubicBezTo>
                <a:cubicBezTo>
                  <a:pt x="10558434" y="3283608"/>
                  <a:pt x="10539930" y="3285654"/>
                  <a:pt x="10524645" y="3282773"/>
                </a:cubicBezTo>
                <a:cubicBezTo>
                  <a:pt x="10522018" y="3282276"/>
                  <a:pt x="10519582" y="3281649"/>
                  <a:pt x="10517421" y="3280913"/>
                </a:cubicBezTo>
                <a:cubicBezTo>
                  <a:pt x="10481928" y="3283832"/>
                  <a:pt x="10352108" y="3296870"/>
                  <a:pt x="10311683" y="3300288"/>
                </a:cubicBezTo>
                <a:cubicBezTo>
                  <a:pt x="10308410" y="3293342"/>
                  <a:pt x="10287968" y="3305875"/>
                  <a:pt x="10274873" y="3301423"/>
                </a:cubicBezTo>
                <a:cubicBezTo>
                  <a:pt x="10265494" y="3297516"/>
                  <a:pt x="10257104" y="3300407"/>
                  <a:pt x="10247307" y="3300714"/>
                </a:cubicBezTo>
                <a:cubicBezTo>
                  <a:pt x="10234401" y="3297643"/>
                  <a:pt x="10192308" y="3303190"/>
                  <a:pt x="10181334" y="3307168"/>
                </a:cubicBezTo>
                <a:cubicBezTo>
                  <a:pt x="10155109" y="3320992"/>
                  <a:pt x="10095518" y="3310726"/>
                  <a:pt x="10073729" y="3321318"/>
                </a:cubicBezTo>
                <a:cubicBezTo>
                  <a:pt x="10065823" y="3322872"/>
                  <a:pt x="10058087" y="3323501"/>
                  <a:pt x="10050495" y="3323554"/>
                </a:cubicBezTo>
                <a:lnTo>
                  <a:pt x="10029247" y="3322387"/>
                </a:lnTo>
                <a:lnTo>
                  <a:pt x="10023206" y="3319426"/>
                </a:lnTo>
                <a:lnTo>
                  <a:pt x="10010221" y="3320159"/>
                </a:lnTo>
                <a:lnTo>
                  <a:pt x="10006500" y="3319709"/>
                </a:lnTo>
                <a:cubicBezTo>
                  <a:pt x="9999392" y="3318836"/>
                  <a:pt x="9992376" y="3318075"/>
                  <a:pt x="9985433" y="3317775"/>
                </a:cubicBezTo>
                <a:cubicBezTo>
                  <a:pt x="9994564" y="3332623"/>
                  <a:pt x="9927872" y="3317665"/>
                  <a:pt x="9947096" y="3329673"/>
                </a:cubicBezTo>
                <a:cubicBezTo>
                  <a:pt x="9910530" y="3330603"/>
                  <a:pt x="9938422" y="3341787"/>
                  <a:pt x="9894468" y="3331125"/>
                </a:cubicBezTo>
                <a:cubicBezTo>
                  <a:pt x="9837697" y="3343266"/>
                  <a:pt x="9748207" y="3338748"/>
                  <a:pt x="9703741" y="3357170"/>
                </a:cubicBezTo>
                <a:cubicBezTo>
                  <a:pt x="9709264" y="3350136"/>
                  <a:pt x="9685337" y="3344679"/>
                  <a:pt x="9668763" y="3348169"/>
                </a:cubicBezTo>
                <a:cubicBezTo>
                  <a:pt x="9688139" y="3320571"/>
                  <a:pt x="9603232" y="3373038"/>
                  <a:pt x="9588644" y="3354205"/>
                </a:cubicBezTo>
                <a:cubicBezTo>
                  <a:pt x="9587925" y="3371689"/>
                  <a:pt x="9513642" y="3401336"/>
                  <a:pt x="9478680" y="3386990"/>
                </a:cubicBezTo>
                <a:cubicBezTo>
                  <a:pt x="9425416" y="3390492"/>
                  <a:pt x="9387699" y="3404944"/>
                  <a:pt x="9331856" y="3399166"/>
                </a:cubicBezTo>
                <a:cubicBezTo>
                  <a:pt x="9330123" y="3401505"/>
                  <a:pt x="9327283" y="3403463"/>
                  <a:pt x="9323679" y="3405145"/>
                </a:cubicBezTo>
                <a:lnTo>
                  <a:pt x="9311620" y="3409223"/>
                </a:lnTo>
                <a:lnTo>
                  <a:pt x="9309289" y="3408926"/>
                </a:lnTo>
                <a:cubicBezTo>
                  <a:pt x="9300131" y="3408873"/>
                  <a:pt x="9295442" y="3409859"/>
                  <a:pt x="9292731" y="3411301"/>
                </a:cubicBezTo>
                <a:lnTo>
                  <a:pt x="9290814" y="3413412"/>
                </a:lnTo>
                <a:lnTo>
                  <a:pt x="9279990" y="3415541"/>
                </a:lnTo>
                <a:lnTo>
                  <a:pt x="9260104" y="3421077"/>
                </a:lnTo>
                <a:lnTo>
                  <a:pt x="9255034" y="3420853"/>
                </a:lnTo>
                <a:lnTo>
                  <a:pt x="9222941" y="3427242"/>
                </a:lnTo>
                <a:lnTo>
                  <a:pt x="9221858" y="3426731"/>
                </a:lnTo>
                <a:cubicBezTo>
                  <a:pt x="9218700" y="3425733"/>
                  <a:pt x="9214983" y="3425271"/>
                  <a:pt x="9210014" y="3425917"/>
                </a:cubicBezTo>
                <a:cubicBezTo>
                  <a:pt x="9208256" y="3416158"/>
                  <a:pt x="9203342" y="3422957"/>
                  <a:pt x="9188839" y="3425728"/>
                </a:cubicBezTo>
                <a:cubicBezTo>
                  <a:pt x="9182870" y="3411188"/>
                  <a:pt x="9147335" y="3424352"/>
                  <a:pt x="9132080" y="3417886"/>
                </a:cubicBezTo>
                <a:cubicBezTo>
                  <a:pt x="9121557" y="3420249"/>
                  <a:pt x="9110321" y="3422482"/>
                  <a:pt x="9098549" y="3424480"/>
                </a:cubicBezTo>
                <a:lnTo>
                  <a:pt x="9003970" y="3425484"/>
                </a:lnTo>
                <a:lnTo>
                  <a:pt x="8904921" y="3413774"/>
                </a:lnTo>
                <a:cubicBezTo>
                  <a:pt x="8868284" y="3413519"/>
                  <a:pt x="8836559" y="3409171"/>
                  <a:pt x="8805551" y="3412237"/>
                </a:cubicBezTo>
                <a:cubicBezTo>
                  <a:pt x="8792955" y="3408854"/>
                  <a:pt x="8781083" y="3407488"/>
                  <a:pt x="8769572" y="3412551"/>
                </a:cubicBezTo>
                <a:cubicBezTo>
                  <a:pt x="8735382" y="3410862"/>
                  <a:pt x="8727105" y="3403632"/>
                  <a:pt x="8705440" y="3409271"/>
                </a:cubicBezTo>
                <a:cubicBezTo>
                  <a:pt x="8686231" y="3397576"/>
                  <a:pt x="8685094" y="3402040"/>
                  <a:pt x="8676067" y="3405389"/>
                </a:cubicBezTo>
                <a:lnTo>
                  <a:pt x="8674779" y="3405628"/>
                </a:lnTo>
                <a:lnTo>
                  <a:pt x="8672154" y="3403956"/>
                </a:lnTo>
                <a:lnTo>
                  <a:pt x="8666720" y="3403182"/>
                </a:lnTo>
                <a:lnTo>
                  <a:pt x="8651886" y="3403680"/>
                </a:lnTo>
                <a:lnTo>
                  <a:pt x="8646307" y="3404298"/>
                </a:lnTo>
                <a:cubicBezTo>
                  <a:pt x="8642465" y="3404565"/>
                  <a:pt x="8639912" y="3404534"/>
                  <a:pt x="8638145" y="3404287"/>
                </a:cubicBezTo>
                <a:lnTo>
                  <a:pt x="8637941" y="3404149"/>
                </a:lnTo>
                <a:lnTo>
                  <a:pt x="8630296" y="3404406"/>
                </a:lnTo>
                <a:cubicBezTo>
                  <a:pt x="8617394" y="3405155"/>
                  <a:pt x="8604838" y="3406180"/>
                  <a:pt x="8592887" y="3407398"/>
                </a:cubicBezTo>
                <a:cubicBezTo>
                  <a:pt x="8582781" y="3399722"/>
                  <a:pt x="8538622" y="3408789"/>
                  <a:pt x="8543455" y="3394319"/>
                </a:cubicBezTo>
                <a:cubicBezTo>
                  <a:pt x="8527334" y="3395534"/>
                  <a:pt x="8517583" y="3401542"/>
                  <a:pt x="8523012" y="3392051"/>
                </a:cubicBezTo>
                <a:cubicBezTo>
                  <a:pt x="8517705" y="3392178"/>
                  <a:pt x="8514435" y="3391372"/>
                  <a:pt x="8512093" y="3390108"/>
                </a:cubicBezTo>
                <a:lnTo>
                  <a:pt x="8511416" y="3389513"/>
                </a:lnTo>
                <a:lnTo>
                  <a:pt x="8475551" y="3392450"/>
                </a:lnTo>
                <a:lnTo>
                  <a:pt x="8470789" y="3391736"/>
                </a:lnTo>
                <a:lnTo>
                  <a:pt x="8447414" y="3395064"/>
                </a:lnTo>
                <a:lnTo>
                  <a:pt x="8435335" y="3396028"/>
                </a:lnTo>
                <a:lnTo>
                  <a:pt x="8431923" y="3397855"/>
                </a:lnTo>
                <a:cubicBezTo>
                  <a:pt x="8428239" y="3398965"/>
                  <a:pt x="8422959" y="3399444"/>
                  <a:pt x="8414099" y="3398491"/>
                </a:cubicBezTo>
                <a:lnTo>
                  <a:pt x="8412049" y="3397978"/>
                </a:lnTo>
                <a:lnTo>
                  <a:pt x="8397349" y="3400683"/>
                </a:lnTo>
                <a:cubicBezTo>
                  <a:pt x="8392615" y="3401933"/>
                  <a:pt x="8388424" y="3403524"/>
                  <a:pt x="8385030" y="3405585"/>
                </a:cubicBezTo>
                <a:cubicBezTo>
                  <a:pt x="8334977" y="3394568"/>
                  <a:pt x="8287750" y="3404648"/>
                  <a:pt x="8233422" y="3402742"/>
                </a:cubicBezTo>
                <a:cubicBezTo>
                  <a:pt x="8209936" y="3385601"/>
                  <a:pt x="8116056" y="3406588"/>
                  <a:pt x="8102569" y="3423208"/>
                </a:cubicBezTo>
                <a:cubicBezTo>
                  <a:pt x="8102264" y="3408645"/>
                  <a:pt x="8034186" y="3428475"/>
                  <a:pt x="8016625" y="3428989"/>
                </a:cubicBezTo>
                <a:cubicBezTo>
                  <a:pt x="8010771" y="3429161"/>
                  <a:pt x="8010530" y="3427186"/>
                  <a:pt x="8020284" y="3421076"/>
                </a:cubicBezTo>
                <a:cubicBezTo>
                  <a:pt x="8001623" y="3422777"/>
                  <a:pt x="7982361" y="3415208"/>
                  <a:pt x="7992871" y="3409037"/>
                </a:cubicBezTo>
                <a:cubicBezTo>
                  <a:pt x="7936181" y="3422244"/>
                  <a:pt x="7852511" y="3409112"/>
                  <a:pt x="7788452" y="3415110"/>
                </a:cubicBezTo>
                <a:cubicBezTo>
                  <a:pt x="7753529" y="3400598"/>
                  <a:pt x="7772461" y="3414025"/>
                  <a:pt x="7736237" y="3411311"/>
                </a:cubicBezTo>
                <a:cubicBezTo>
                  <a:pt x="7746145" y="3424670"/>
                  <a:pt x="7692261" y="3403816"/>
                  <a:pt x="7690279" y="3418893"/>
                </a:cubicBezTo>
                <a:cubicBezTo>
                  <a:pt x="7683750" y="3417921"/>
                  <a:pt x="7677487" y="3416505"/>
                  <a:pt x="7671219" y="3414970"/>
                </a:cubicBezTo>
                <a:lnTo>
                  <a:pt x="7667928" y="3414173"/>
                </a:lnTo>
                <a:lnTo>
                  <a:pt x="7654774" y="3413595"/>
                </a:lnTo>
                <a:lnTo>
                  <a:pt x="7651067" y="3410171"/>
                </a:lnTo>
                <a:lnTo>
                  <a:pt x="7631267" y="3406963"/>
                </a:lnTo>
                <a:cubicBezTo>
                  <a:pt x="7623851" y="3406267"/>
                  <a:pt x="7615871" y="3406106"/>
                  <a:pt x="7607053" y="3406809"/>
                </a:cubicBezTo>
                <a:cubicBezTo>
                  <a:pt x="7585359" y="3412784"/>
                  <a:pt x="7551579" y="3405461"/>
                  <a:pt x="7521027" y="3405904"/>
                </a:cubicBezTo>
                <a:lnTo>
                  <a:pt x="7506997" y="3407754"/>
                </a:lnTo>
                <a:lnTo>
                  <a:pt x="7461204" y="3404669"/>
                </a:lnTo>
                <a:cubicBezTo>
                  <a:pt x="7448169" y="3404071"/>
                  <a:pt x="7434640" y="3403756"/>
                  <a:pt x="7420396" y="3403975"/>
                </a:cubicBezTo>
                <a:lnTo>
                  <a:pt x="7393955" y="3405447"/>
                </a:lnTo>
                <a:lnTo>
                  <a:pt x="7387024" y="3404227"/>
                </a:lnTo>
                <a:cubicBezTo>
                  <a:pt x="7374952" y="3404363"/>
                  <a:pt x="7358975" y="3408656"/>
                  <a:pt x="7360398" y="3403441"/>
                </a:cubicBezTo>
                <a:lnTo>
                  <a:pt x="7346837" y="3405249"/>
                </a:lnTo>
                <a:lnTo>
                  <a:pt x="7333451" y="3401087"/>
                </a:lnTo>
                <a:cubicBezTo>
                  <a:pt x="7331985" y="3400120"/>
                  <a:pt x="7330882" y="3399091"/>
                  <a:pt x="7330179" y="3398037"/>
                </a:cubicBezTo>
                <a:lnTo>
                  <a:pt x="7311232" y="3399406"/>
                </a:lnTo>
                <a:lnTo>
                  <a:pt x="7295699" y="3396426"/>
                </a:lnTo>
                <a:lnTo>
                  <a:pt x="7282158" y="3398374"/>
                </a:lnTo>
                <a:lnTo>
                  <a:pt x="7276538" y="3397935"/>
                </a:lnTo>
                <a:lnTo>
                  <a:pt x="7262569" y="3396460"/>
                </a:lnTo>
                <a:cubicBezTo>
                  <a:pt x="7255407" y="3395426"/>
                  <a:pt x="7247392" y="3394180"/>
                  <a:pt x="7238468" y="3393183"/>
                </a:cubicBezTo>
                <a:lnTo>
                  <a:pt x="7230949" y="3392727"/>
                </a:lnTo>
                <a:lnTo>
                  <a:pt x="7214580" y="3387715"/>
                </a:lnTo>
                <a:cubicBezTo>
                  <a:pt x="7202670" y="3383926"/>
                  <a:pt x="7193296" y="3381373"/>
                  <a:pt x="7182893" y="3383429"/>
                </a:cubicBezTo>
                <a:cubicBezTo>
                  <a:pt x="7165160" y="3378534"/>
                  <a:pt x="7152772" y="3364815"/>
                  <a:pt x="7127104" y="3368475"/>
                </a:cubicBezTo>
                <a:cubicBezTo>
                  <a:pt x="7134894" y="3362260"/>
                  <a:pt x="7098599" y="3367723"/>
                  <a:pt x="7094311" y="3361339"/>
                </a:cubicBezTo>
                <a:cubicBezTo>
                  <a:pt x="7092331" y="3356198"/>
                  <a:pt x="7080860" y="3356657"/>
                  <a:pt x="7072124" y="3354762"/>
                </a:cubicBezTo>
                <a:cubicBezTo>
                  <a:pt x="7065898" y="3349511"/>
                  <a:pt x="7021942" y="3344717"/>
                  <a:pt x="7006638" y="3345473"/>
                </a:cubicBezTo>
                <a:cubicBezTo>
                  <a:pt x="6963504" y="3350697"/>
                  <a:pt x="6928807" y="3329559"/>
                  <a:pt x="6894320" y="3333192"/>
                </a:cubicBezTo>
                <a:cubicBezTo>
                  <a:pt x="6885290" y="3332697"/>
                  <a:pt x="6877803" y="3331507"/>
                  <a:pt x="6871318" y="3329892"/>
                </a:cubicBezTo>
                <a:lnTo>
                  <a:pt x="6855157" y="3324330"/>
                </a:lnTo>
                <a:cubicBezTo>
                  <a:pt x="6854956" y="3323109"/>
                  <a:pt x="6854755" y="3321887"/>
                  <a:pt x="6854555" y="3320665"/>
                </a:cubicBezTo>
                <a:lnTo>
                  <a:pt x="6842483" y="3318413"/>
                </a:lnTo>
                <a:lnTo>
                  <a:pt x="6840027" y="3317245"/>
                </a:lnTo>
                <a:cubicBezTo>
                  <a:pt x="6835354" y="3315001"/>
                  <a:pt x="6830588" y="3312868"/>
                  <a:pt x="6825185" y="3311114"/>
                </a:cubicBezTo>
                <a:cubicBezTo>
                  <a:pt x="6810331" y="3324866"/>
                  <a:pt x="6776772" y="3298463"/>
                  <a:pt x="6774755" y="3312168"/>
                </a:cubicBezTo>
                <a:cubicBezTo>
                  <a:pt x="6742477" y="3304924"/>
                  <a:pt x="6749024" y="3319870"/>
                  <a:pt x="6728129" y="3301832"/>
                </a:cubicBezTo>
                <a:cubicBezTo>
                  <a:pt x="6661764" y="3299056"/>
                  <a:pt x="6593104" y="3275946"/>
                  <a:pt x="6527587" y="3280829"/>
                </a:cubicBezTo>
                <a:cubicBezTo>
                  <a:pt x="6542935" y="3276465"/>
                  <a:pt x="6531033" y="3266920"/>
                  <a:pt x="6511742" y="3266067"/>
                </a:cubicBezTo>
                <a:cubicBezTo>
                  <a:pt x="6570025" y="3248440"/>
                  <a:pt x="6418649" y="3271458"/>
                  <a:pt x="6434953" y="3253360"/>
                </a:cubicBezTo>
                <a:cubicBezTo>
                  <a:pt x="6407781" y="3267048"/>
                  <a:pt x="6300040" y="3274313"/>
                  <a:pt x="6292331" y="3255322"/>
                </a:cubicBezTo>
                <a:cubicBezTo>
                  <a:pt x="6242057" y="3246469"/>
                  <a:pt x="6188266" y="3249680"/>
                  <a:pt x="6149913" y="3232917"/>
                </a:cubicBezTo>
                <a:cubicBezTo>
                  <a:pt x="6144898" y="3234391"/>
                  <a:pt x="6139526" y="3235322"/>
                  <a:pt x="6133930" y="3235867"/>
                </a:cubicBezTo>
                <a:lnTo>
                  <a:pt x="6117554" y="3236464"/>
                </a:lnTo>
                <a:lnTo>
                  <a:pt x="6116039" y="3235720"/>
                </a:lnTo>
                <a:cubicBezTo>
                  <a:pt x="6108393" y="3233681"/>
                  <a:pt x="6102936" y="3233437"/>
                  <a:pt x="6098459" y="3233988"/>
                </a:cubicBezTo>
                <a:lnTo>
                  <a:pt x="6093630" y="3235240"/>
                </a:lnTo>
                <a:lnTo>
                  <a:pt x="6081261" y="3234563"/>
                </a:lnTo>
                <a:lnTo>
                  <a:pt x="6056067" y="3234608"/>
                </a:lnTo>
                <a:lnTo>
                  <a:pt x="6052129" y="3233324"/>
                </a:lnTo>
                <a:lnTo>
                  <a:pt x="6015338" y="3231378"/>
                </a:lnTo>
                <a:cubicBezTo>
                  <a:pt x="6015291" y="3231165"/>
                  <a:pt x="6015245" y="3230951"/>
                  <a:pt x="6015198" y="3230737"/>
                </a:cubicBezTo>
                <a:cubicBezTo>
                  <a:pt x="6014048" y="3229257"/>
                  <a:pt x="6011617" y="3228081"/>
                  <a:pt x="6006436" y="3227508"/>
                </a:cubicBezTo>
                <a:cubicBezTo>
                  <a:pt x="6019781" y="3219395"/>
                  <a:pt x="6005305" y="3223709"/>
                  <a:pt x="5988851" y="3222735"/>
                </a:cubicBezTo>
                <a:cubicBezTo>
                  <a:pt x="6005907" y="3209918"/>
                  <a:pt x="5955918" y="3212588"/>
                  <a:pt x="5952863" y="3204137"/>
                </a:cubicBezTo>
                <a:cubicBezTo>
                  <a:pt x="5940395" y="3203711"/>
                  <a:pt x="5927517" y="3203028"/>
                  <a:pt x="5914548" y="3202041"/>
                </a:cubicBezTo>
                <a:lnTo>
                  <a:pt x="5907020" y="3201283"/>
                </a:lnTo>
                <a:cubicBezTo>
                  <a:pt x="5906995" y="3201231"/>
                  <a:pt x="5906969" y="3201180"/>
                  <a:pt x="5906944" y="3201129"/>
                </a:cubicBezTo>
                <a:cubicBezTo>
                  <a:pt x="5905471" y="3200668"/>
                  <a:pt x="5903056" y="3200308"/>
                  <a:pt x="5899155" y="3200053"/>
                </a:cubicBezTo>
                <a:lnTo>
                  <a:pt x="5893294" y="3199901"/>
                </a:lnTo>
                <a:lnTo>
                  <a:pt x="5878691" y="3198431"/>
                </a:lnTo>
                <a:lnTo>
                  <a:pt x="5874165" y="3197003"/>
                </a:lnTo>
                <a:lnTo>
                  <a:pt x="5873092" y="3195108"/>
                </a:lnTo>
                <a:lnTo>
                  <a:pt x="5871658" y="3195162"/>
                </a:lnTo>
                <a:cubicBezTo>
                  <a:pt x="5860152" y="3197097"/>
                  <a:pt x="5855231" y="3201097"/>
                  <a:pt x="5846928" y="3187725"/>
                </a:cubicBezTo>
                <a:cubicBezTo>
                  <a:pt x="5821379" y="3190142"/>
                  <a:pt x="5819686" y="3182343"/>
                  <a:pt x="5788468" y="3176316"/>
                </a:cubicBezTo>
                <a:cubicBezTo>
                  <a:pt x="5773119" y="3179521"/>
                  <a:pt x="5762947" y="3176704"/>
                  <a:pt x="5753823" y="3171919"/>
                </a:cubicBezTo>
                <a:cubicBezTo>
                  <a:pt x="5721557" y="3170726"/>
                  <a:pt x="5694983" y="3162549"/>
                  <a:pt x="5660194" y="3157536"/>
                </a:cubicBezTo>
                <a:cubicBezTo>
                  <a:pt x="5619608" y="3159495"/>
                  <a:pt x="5604384" y="3146636"/>
                  <a:pt x="5567188" y="3141325"/>
                </a:cubicBezTo>
                <a:cubicBezTo>
                  <a:pt x="5530345" y="3148235"/>
                  <a:pt x="5543868" y="3129416"/>
                  <a:pt x="5526178" y="3123274"/>
                </a:cubicBezTo>
                <a:lnTo>
                  <a:pt x="5520866" y="3122322"/>
                </a:lnTo>
                <a:lnTo>
                  <a:pt x="5506009" y="3122332"/>
                </a:lnTo>
                <a:lnTo>
                  <a:pt x="5500363" y="3122766"/>
                </a:lnTo>
                <a:cubicBezTo>
                  <a:pt x="5496497" y="3122905"/>
                  <a:pt x="5493953" y="3122792"/>
                  <a:pt x="5492228" y="3122486"/>
                </a:cubicBezTo>
                <a:lnTo>
                  <a:pt x="5492044" y="3122342"/>
                </a:lnTo>
                <a:lnTo>
                  <a:pt x="5484386" y="3122347"/>
                </a:lnTo>
                <a:cubicBezTo>
                  <a:pt x="5471420" y="3122670"/>
                  <a:pt x="5458764" y="3123280"/>
                  <a:pt x="5446679" y="3124105"/>
                </a:cubicBezTo>
                <a:cubicBezTo>
                  <a:pt x="5437659" y="3116107"/>
                  <a:pt x="5392392" y="3123709"/>
                  <a:pt x="5399188" y="3109418"/>
                </a:cubicBezTo>
                <a:cubicBezTo>
                  <a:pt x="5382948" y="3110102"/>
                  <a:pt x="5372407" y="3115781"/>
                  <a:pt x="5379117" y="3106482"/>
                </a:cubicBezTo>
                <a:cubicBezTo>
                  <a:pt x="5373809" y="3106435"/>
                  <a:pt x="5370660" y="3105521"/>
                  <a:pt x="5368499" y="3104181"/>
                </a:cubicBezTo>
                <a:lnTo>
                  <a:pt x="5367902" y="3103566"/>
                </a:lnTo>
                <a:lnTo>
                  <a:pt x="5331747" y="3105319"/>
                </a:lnTo>
                <a:lnTo>
                  <a:pt x="5327095" y="3104450"/>
                </a:lnTo>
                <a:lnTo>
                  <a:pt x="5303337" y="3107003"/>
                </a:lnTo>
                <a:lnTo>
                  <a:pt x="5291164" y="3107570"/>
                </a:lnTo>
                <a:lnTo>
                  <a:pt x="5287515" y="3109282"/>
                </a:lnTo>
                <a:cubicBezTo>
                  <a:pt x="5283689" y="3110269"/>
                  <a:pt x="5278356" y="3110573"/>
                  <a:pt x="5269654" y="3109330"/>
                </a:cubicBezTo>
                <a:lnTo>
                  <a:pt x="5267681" y="3108752"/>
                </a:lnTo>
                <a:lnTo>
                  <a:pt x="5252655" y="3110969"/>
                </a:lnTo>
                <a:cubicBezTo>
                  <a:pt x="5247766" y="3112062"/>
                  <a:pt x="5243369" y="3113511"/>
                  <a:pt x="5239703" y="3115460"/>
                </a:cubicBezTo>
                <a:cubicBezTo>
                  <a:pt x="5191311" y="3102811"/>
                  <a:pt x="5142849" y="3111324"/>
                  <a:pt x="5088947" y="3107634"/>
                </a:cubicBezTo>
                <a:cubicBezTo>
                  <a:pt x="5027989" y="3108214"/>
                  <a:pt x="4985627" y="3110432"/>
                  <a:pt x="4945514" y="3110162"/>
                </a:cubicBezTo>
                <a:cubicBezTo>
                  <a:pt x="4926678" y="3111245"/>
                  <a:pt x="4789238" y="3111826"/>
                  <a:pt x="4800559" y="3106010"/>
                </a:cubicBezTo>
                <a:cubicBezTo>
                  <a:pt x="4742239" y="3117333"/>
                  <a:pt x="4708324" y="3101468"/>
                  <a:pt x="4643642" y="3105351"/>
                </a:cubicBezTo>
                <a:cubicBezTo>
                  <a:pt x="4610808" y="3089712"/>
                  <a:pt x="4627845" y="3103743"/>
                  <a:pt x="4592107" y="3099840"/>
                </a:cubicBezTo>
                <a:cubicBezTo>
                  <a:pt x="4600157" y="3113506"/>
                  <a:pt x="4549287" y="3090911"/>
                  <a:pt x="4545249" y="3105899"/>
                </a:cubicBezTo>
                <a:cubicBezTo>
                  <a:pt x="4538872" y="3104716"/>
                  <a:pt x="4532825" y="3103094"/>
                  <a:pt x="4526782" y="3101355"/>
                </a:cubicBezTo>
                <a:lnTo>
                  <a:pt x="4523614" y="3100453"/>
                </a:lnTo>
                <a:lnTo>
                  <a:pt x="4510579" y="3099442"/>
                </a:lnTo>
                <a:lnTo>
                  <a:pt x="4507348" y="3095901"/>
                </a:lnTo>
                <a:lnTo>
                  <a:pt x="4348949" y="3090220"/>
                </a:lnTo>
                <a:cubicBezTo>
                  <a:pt x="4335046" y="3092487"/>
                  <a:pt x="4290056" y="3092155"/>
                  <a:pt x="4280362" y="3087618"/>
                </a:cubicBezTo>
                <a:cubicBezTo>
                  <a:pt x="4270739" y="3086627"/>
                  <a:pt x="4260237" y="3088220"/>
                  <a:pt x="4254634" y="3083366"/>
                </a:cubicBezTo>
                <a:cubicBezTo>
                  <a:pt x="4233731" y="3080512"/>
                  <a:pt x="4185859" y="3073948"/>
                  <a:pt x="4154942" y="3070490"/>
                </a:cubicBezTo>
                <a:cubicBezTo>
                  <a:pt x="4138280" y="3076599"/>
                  <a:pt x="4112117" y="3064194"/>
                  <a:pt x="4069131" y="3062612"/>
                </a:cubicBezTo>
                <a:cubicBezTo>
                  <a:pt x="4050897" y="3069679"/>
                  <a:pt x="4040160" y="3061449"/>
                  <a:pt x="4005249" y="3070810"/>
                </a:cubicBezTo>
                <a:cubicBezTo>
                  <a:pt x="4003818" y="3069842"/>
                  <a:pt x="4002032" y="3068943"/>
                  <a:pt x="3999945" y="3068139"/>
                </a:cubicBezTo>
                <a:cubicBezTo>
                  <a:pt x="3987818" y="3063468"/>
                  <a:pt x="3968381" y="3062958"/>
                  <a:pt x="3956529" y="3067000"/>
                </a:cubicBezTo>
                <a:cubicBezTo>
                  <a:pt x="3900898" y="3079382"/>
                  <a:pt x="3850463" y="3077929"/>
                  <a:pt x="3803031" y="3079823"/>
                </a:cubicBezTo>
                <a:cubicBezTo>
                  <a:pt x="3749421" y="3080464"/>
                  <a:pt x="3785521" y="3065630"/>
                  <a:pt x="3718229" y="3077134"/>
                </a:cubicBezTo>
                <a:cubicBezTo>
                  <a:pt x="3711244" y="3071611"/>
                  <a:pt x="3702770" y="3071184"/>
                  <a:pt x="3688357" y="3073468"/>
                </a:cubicBezTo>
                <a:cubicBezTo>
                  <a:pt x="3662326" y="3073378"/>
                  <a:pt x="3664937" y="3059899"/>
                  <a:pt x="3638298" y="3067494"/>
                </a:cubicBezTo>
                <a:cubicBezTo>
                  <a:pt x="3643333" y="3060328"/>
                  <a:pt x="3589079" y="3063658"/>
                  <a:pt x="3601443" y="3056355"/>
                </a:cubicBezTo>
                <a:cubicBezTo>
                  <a:pt x="3584797" y="3049384"/>
                  <a:pt x="3575923" y="3060108"/>
                  <a:pt x="3559361" y="3054005"/>
                </a:cubicBezTo>
                <a:cubicBezTo>
                  <a:pt x="3540444" y="3052269"/>
                  <a:pt x="3569896" y="3061996"/>
                  <a:pt x="3548859" y="3062094"/>
                </a:cubicBezTo>
                <a:cubicBezTo>
                  <a:pt x="3523419" y="3060901"/>
                  <a:pt x="3522848" y="3074222"/>
                  <a:pt x="3504082" y="3056779"/>
                </a:cubicBezTo>
                <a:lnTo>
                  <a:pt x="3436234" y="3047769"/>
                </a:lnTo>
                <a:cubicBezTo>
                  <a:pt x="3420764" y="3051629"/>
                  <a:pt x="3408644" y="3049227"/>
                  <a:pt x="3396914" y="3044803"/>
                </a:cubicBezTo>
                <a:cubicBezTo>
                  <a:pt x="3361398" y="3044955"/>
                  <a:pt x="3329425" y="3037856"/>
                  <a:pt x="3289720" y="3034278"/>
                </a:cubicBezTo>
                <a:cubicBezTo>
                  <a:pt x="3246348" y="3037943"/>
                  <a:pt x="3224942" y="3025667"/>
                  <a:pt x="3182509" y="3021890"/>
                </a:cubicBezTo>
                <a:cubicBezTo>
                  <a:pt x="3139731" y="3031583"/>
                  <a:pt x="3155749" y="3004773"/>
                  <a:pt x="3119879" y="3004134"/>
                </a:cubicBezTo>
                <a:cubicBezTo>
                  <a:pt x="3060941" y="3012153"/>
                  <a:pt x="3121880" y="2995117"/>
                  <a:pt x="3031656" y="2995077"/>
                </a:cubicBezTo>
                <a:cubicBezTo>
                  <a:pt x="3026453" y="2996603"/>
                  <a:pt x="3015685" y="2994367"/>
                  <a:pt x="3017018" y="2992034"/>
                </a:cubicBezTo>
                <a:cubicBezTo>
                  <a:pt x="2997245" y="2992118"/>
                  <a:pt x="2941342" y="2976346"/>
                  <a:pt x="2913012" y="2978042"/>
                </a:cubicBezTo>
                <a:cubicBezTo>
                  <a:pt x="2858481" y="2969139"/>
                  <a:pt x="2831094" y="2979433"/>
                  <a:pt x="2791382" y="2975899"/>
                </a:cubicBezTo>
                <a:cubicBezTo>
                  <a:pt x="2745836" y="2966063"/>
                  <a:pt x="2719288" y="2957529"/>
                  <a:pt x="2639738" y="2936567"/>
                </a:cubicBezTo>
                <a:lnTo>
                  <a:pt x="2369741" y="2876435"/>
                </a:lnTo>
                <a:cubicBezTo>
                  <a:pt x="2269614" y="2832081"/>
                  <a:pt x="2140023" y="2856176"/>
                  <a:pt x="2078755" y="2852909"/>
                </a:cubicBezTo>
                <a:cubicBezTo>
                  <a:pt x="2053362" y="2866100"/>
                  <a:pt x="2032778" y="2851474"/>
                  <a:pt x="2002128" y="2856835"/>
                </a:cubicBezTo>
                <a:cubicBezTo>
                  <a:pt x="1933939" y="2859736"/>
                  <a:pt x="1866254" y="2874726"/>
                  <a:pt x="1777746" y="2864566"/>
                </a:cubicBezTo>
                <a:cubicBezTo>
                  <a:pt x="1737851" y="2905864"/>
                  <a:pt x="1634115" y="2880970"/>
                  <a:pt x="1549425" y="2904556"/>
                </a:cubicBezTo>
                <a:cubicBezTo>
                  <a:pt x="1500265" y="2909373"/>
                  <a:pt x="1423030" y="2888862"/>
                  <a:pt x="1405992" y="2911144"/>
                </a:cubicBezTo>
                <a:cubicBezTo>
                  <a:pt x="1383494" y="2897507"/>
                  <a:pt x="1362438" y="2919536"/>
                  <a:pt x="1337848" y="2921491"/>
                </a:cubicBezTo>
                <a:cubicBezTo>
                  <a:pt x="1318218" y="2912820"/>
                  <a:pt x="1308478" y="2920319"/>
                  <a:pt x="1290645" y="2921985"/>
                </a:cubicBezTo>
                <a:cubicBezTo>
                  <a:pt x="1282569" y="2916637"/>
                  <a:pt x="1267476" y="2916916"/>
                  <a:pt x="1262341" y="2923190"/>
                </a:cubicBezTo>
                <a:cubicBezTo>
                  <a:pt x="1269627" y="2937654"/>
                  <a:pt x="1217209" y="2930439"/>
                  <a:pt x="1213314" y="2940415"/>
                </a:cubicBezTo>
                <a:cubicBezTo>
                  <a:pt x="1182890" y="2942495"/>
                  <a:pt x="1050782" y="2929830"/>
                  <a:pt x="1028405" y="2945799"/>
                </a:cubicBezTo>
                <a:cubicBezTo>
                  <a:pt x="966896" y="2953381"/>
                  <a:pt x="877997" y="2927977"/>
                  <a:pt x="851857" y="2928423"/>
                </a:cubicBezTo>
                <a:cubicBezTo>
                  <a:pt x="825919" y="2899251"/>
                  <a:pt x="699677" y="2976135"/>
                  <a:pt x="588681" y="2977769"/>
                </a:cubicBezTo>
                <a:cubicBezTo>
                  <a:pt x="573724" y="2974953"/>
                  <a:pt x="565729" y="2974991"/>
                  <a:pt x="561717" y="2981641"/>
                </a:cubicBezTo>
                <a:cubicBezTo>
                  <a:pt x="532860" y="2985482"/>
                  <a:pt x="475932" y="2991762"/>
                  <a:pt x="415541" y="3000819"/>
                </a:cubicBezTo>
                <a:cubicBezTo>
                  <a:pt x="370154" y="3008289"/>
                  <a:pt x="146634" y="3001788"/>
                  <a:pt x="86183" y="3009699"/>
                </a:cubicBezTo>
                <a:lnTo>
                  <a:pt x="0" y="3044978"/>
                </a:lnTo>
                <a:close/>
              </a:path>
            </a:pathLst>
          </a:custGeom>
        </p:spPr>
      </p:pic>
      <p:sp>
        <p:nvSpPr>
          <p:cNvPr id="3" name="מציין מיקום תוכן 2">
            <a:extLst>
              <a:ext uri="{FF2B5EF4-FFF2-40B4-BE49-F238E27FC236}">
                <a16:creationId xmlns:a16="http://schemas.microsoft.com/office/drawing/2014/main" id="{E07382B4-AF77-3206-4A0C-314504DA02EC}"/>
              </a:ext>
            </a:extLst>
          </p:cNvPr>
          <p:cNvSpPr>
            <a:spLocks noGrp="1"/>
          </p:cNvSpPr>
          <p:nvPr>
            <p:ph idx="1"/>
          </p:nvPr>
        </p:nvSpPr>
        <p:spPr>
          <a:xfrm>
            <a:off x="487680" y="3094375"/>
            <a:ext cx="10911840" cy="2398713"/>
          </a:xfrm>
        </p:spPr>
        <p:txBody>
          <a:bodyPr anchor="ctr">
            <a:normAutofit/>
          </a:bodyPr>
          <a:lstStyle/>
          <a:p>
            <a:pPr marL="0" indent="0">
              <a:lnSpc>
                <a:spcPct val="150000"/>
              </a:lnSpc>
              <a:buNone/>
            </a:pPr>
            <a:r>
              <a:rPr lang="he-IL" sz="2400" dirty="0"/>
              <a:t>צילום של תופעות מדעיות כפי שהוצגו במצגת וכתיבת הסבר מדעי נלווה יכולים לשמש ככלי להוראה למידה והערכה של נושא נלמד.</a:t>
            </a:r>
          </a:p>
          <a:p>
            <a:pPr marL="0" indent="0">
              <a:lnSpc>
                <a:spcPct val="150000"/>
              </a:lnSpc>
              <a:buNone/>
            </a:pPr>
            <a:r>
              <a:rPr lang="he-IL" sz="2400" dirty="0">
                <a:hlinkClick r:id="rId3"/>
              </a:rPr>
              <a:t>במשימת ההערכה תצלום ככלי להערכה חלופית </a:t>
            </a:r>
            <a:r>
              <a:rPr lang="he-IL" sz="2400" dirty="0"/>
              <a:t>ניתן להכיר כלי הערכה שלם הכולל הסברים מפורטים ודפי עבודה לתלמיד</a:t>
            </a:r>
            <a:r>
              <a:rPr lang="he-IL" sz="2000" dirty="0"/>
              <a:t>. </a:t>
            </a:r>
          </a:p>
        </p:txBody>
      </p:sp>
    </p:spTree>
    <p:extLst>
      <p:ext uri="{BB962C8B-B14F-4D97-AF65-F5344CB8AC3E}">
        <p14:creationId xmlns:p14="http://schemas.microsoft.com/office/powerpoint/2010/main" val="40391034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תמונה 4">
            <a:extLst>
              <a:ext uri="{FF2B5EF4-FFF2-40B4-BE49-F238E27FC236}">
                <a16:creationId xmlns:a16="http://schemas.microsoft.com/office/drawing/2014/main" id="{5448DAF7-25A2-DE29-7889-A6D19D31FB57}"/>
              </a:ext>
            </a:extLst>
          </p:cNvPr>
          <p:cNvPicPr>
            <a:picLocks noChangeAspect="1"/>
          </p:cNvPicPr>
          <p:nvPr/>
        </p:nvPicPr>
        <p:blipFill>
          <a:blip r:embed="rId2"/>
          <a:stretch>
            <a:fillRect/>
          </a:stretch>
        </p:blipFill>
        <p:spPr>
          <a:xfrm>
            <a:off x="1597076" y="2589086"/>
            <a:ext cx="4903816" cy="2755478"/>
          </a:xfrm>
          <a:prstGeom prst="rect">
            <a:avLst/>
          </a:prstGeom>
          <a:solidFill>
            <a:srgbClr val="FFFFFF">
              <a:shade val="85000"/>
            </a:srgbClr>
          </a:solidFill>
          <a:scene3d>
            <a:camera prst="orthographicFront"/>
            <a:lightRig rig="twoPt" dir="t">
              <a:rot lat="0" lon="0" rev="7800000"/>
            </a:lightRig>
          </a:scene3d>
          <a:sp3d contourW="6350">
            <a:bevelT w="50800" h="16510"/>
            <a:contourClr>
              <a:srgbClr val="C0C0C0"/>
            </a:contourClr>
          </a:sp3d>
        </p:spPr>
      </p:pic>
      <p:sp>
        <p:nvSpPr>
          <p:cNvPr id="22" name="Freeform: Shape 9">
            <a:extLst>
              <a:ext uri="{FF2B5EF4-FFF2-40B4-BE49-F238E27FC236}">
                <a16:creationId xmlns:a16="http://schemas.microsoft.com/office/drawing/2014/main" id="{C607803A-4E99-444E-94F7-8785CDDF58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flipV="1">
            <a:off x="780154" y="1884045"/>
            <a:ext cx="3275668" cy="2853308"/>
          </a:xfrm>
          <a:custGeom>
            <a:avLst/>
            <a:gdLst>
              <a:gd name="connsiteX0" fmla="*/ 3275668 w 3275668"/>
              <a:gd name="connsiteY0" fmla="*/ 2853308 h 2853308"/>
              <a:gd name="connsiteX1" fmla="*/ 655 w 3275668"/>
              <a:gd name="connsiteY1" fmla="*/ 2853308 h 2853308"/>
              <a:gd name="connsiteX2" fmla="*/ 0 w 3275668"/>
              <a:gd name="connsiteY2" fmla="*/ 2467565 h 2853308"/>
              <a:gd name="connsiteX3" fmla="*/ 2869894 w 3275668"/>
              <a:gd name="connsiteY3" fmla="*/ 2468888 h 2853308"/>
              <a:gd name="connsiteX4" fmla="*/ 2869894 w 3275668"/>
              <a:gd name="connsiteY4" fmla="*/ 0 h 2853308"/>
              <a:gd name="connsiteX5" fmla="*/ 3275668 w 3275668"/>
              <a:gd name="connsiteY5" fmla="*/ 0 h 2853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75668" h="2853308">
                <a:moveTo>
                  <a:pt x="3275668" y="2853308"/>
                </a:moveTo>
                <a:lnTo>
                  <a:pt x="655" y="2853308"/>
                </a:lnTo>
                <a:cubicBezTo>
                  <a:pt x="-655" y="2720171"/>
                  <a:pt x="1310" y="2600702"/>
                  <a:pt x="0" y="2467565"/>
                </a:cubicBezTo>
                <a:lnTo>
                  <a:pt x="2869894" y="2468888"/>
                </a:lnTo>
                <a:lnTo>
                  <a:pt x="2869894" y="0"/>
                </a:lnTo>
                <a:lnTo>
                  <a:pt x="3275668" y="0"/>
                </a:lnTo>
                <a:close/>
              </a:path>
            </a:pathLst>
          </a:custGeom>
          <a:solidFill>
            <a:srgbClr val="4C4C4C"/>
          </a:solidFill>
          <a:ln w="0">
            <a:noFill/>
            <a:prstDash val="solid"/>
            <a:round/>
            <a:headEnd/>
            <a:tailEnd/>
          </a:ln>
        </p:spPr>
        <p:txBody>
          <a:bodyPr/>
          <a:lstStyle/>
          <a:p>
            <a:endParaRPr lang="he-IL"/>
          </a:p>
        </p:txBody>
      </p:sp>
      <p:sp>
        <p:nvSpPr>
          <p:cNvPr id="23" name="Freeform: Shape 11">
            <a:extLst>
              <a:ext uri="{FF2B5EF4-FFF2-40B4-BE49-F238E27FC236}">
                <a16:creationId xmlns:a16="http://schemas.microsoft.com/office/drawing/2014/main" id="{2989BE6A-C309-418E-8ADD-1616A98057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55822" y="3222529"/>
            <a:ext cx="3242952" cy="2828156"/>
          </a:xfrm>
          <a:custGeom>
            <a:avLst/>
            <a:gdLst>
              <a:gd name="connsiteX0" fmla="*/ 2837178 w 3242952"/>
              <a:gd name="connsiteY0" fmla="*/ 0 h 2828156"/>
              <a:gd name="connsiteX1" fmla="*/ 3242952 w 3242952"/>
              <a:gd name="connsiteY1" fmla="*/ 0 h 2828156"/>
              <a:gd name="connsiteX2" fmla="*/ 3242952 w 3242952"/>
              <a:gd name="connsiteY2" fmla="*/ 2828156 h 2828156"/>
              <a:gd name="connsiteX3" fmla="*/ 0 w 3242952"/>
              <a:gd name="connsiteY3" fmla="*/ 2828156 h 2828156"/>
              <a:gd name="connsiteX4" fmla="*/ 0 w 3242952"/>
              <a:gd name="connsiteY4" fmla="*/ 2442859 h 2828156"/>
              <a:gd name="connsiteX5" fmla="*/ 2837178 w 3242952"/>
              <a:gd name="connsiteY5" fmla="*/ 2443295 h 2828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42952" h="2828156">
                <a:moveTo>
                  <a:pt x="2837178" y="0"/>
                </a:moveTo>
                <a:lnTo>
                  <a:pt x="3242952" y="0"/>
                </a:lnTo>
                <a:lnTo>
                  <a:pt x="3242952" y="2828156"/>
                </a:lnTo>
                <a:lnTo>
                  <a:pt x="0" y="2828156"/>
                </a:lnTo>
                <a:lnTo>
                  <a:pt x="0" y="2442859"/>
                </a:lnTo>
                <a:lnTo>
                  <a:pt x="2837178" y="2443295"/>
                </a:lnTo>
                <a:close/>
              </a:path>
            </a:pathLst>
          </a:custGeom>
          <a:solidFill>
            <a:srgbClr val="4C4C4C"/>
          </a:solidFill>
          <a:ln w="0">
            <a:noFill/>
            <a:prstDash val="solid"/>
            <a:round/>
            <a:headEnd/>
            <a:tailEnd/>
          </a:ln>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מציין מיקום תוכן 2">
            <a:extLst>
              <a:ext uri="{FF2B5EF4-FFF2-40B4-BE49-F238E27FC236}">
                <a16:creationId xmlns:a16="http://schemas.microsoft.com/office/drawing/2014/main" id="{22CA9946-2E95-5103-8A2B-D03CB3B6DD36}"/>
              </a:ext>
            </a:extLst>
          </p:cNvPr>
          <p:cNvSpPr>
            <a:spLocks noGrp="1"/>
          </p:cNvSpPr>
          <p:nvPr>
            <p:ph idx="1"/>
          </p:nvPr>
        </p:nvSpPr>
        <p:spPr>
          <a:xfrm>
            <a:off x="7781373" y="2279151"/>
            <a:ext cx="3627063" cy="3387145"/>
          </a:xfrm>
        </p:spPr>
        <p:txBody>
          <a:bodyPr anchor="ctr">
            <a:normAutofit/>
          </a:bodyPr>
          <a:lstStyle/>
          <a:p>
            <a:pPr marL="0" indent="0">
              <a:buNone/>
            </a:pPr>
            <a:r>
              <a:rPr lang="he-IL" sz="2400"/>
              <a:t>"מי שיש לו עיניים פקוחות,</a:t>
            </a:r>
            <a:br>
              <a:rPr lang="he-IL" sz="2400"/>
            </a:br>
            <a:r>
              <a:rPr lang="he-IL" sz="2400"/>
              <a:t>רואה יום יום, מאה דברים נפלאים לפחות" </a:t>
            </a:r>
          </a:p>
          <a:p>
            <a:pPr marL="0" indent="0">
              <a:buNone/>
            </a:pPr>
            <a:r>
              <a:rPr lang="he-IL" sz="2400"/>
              <a:t>לאה גולדברג </a:t>
            </a:r>
          </a:p>
        </p:txBody>
      </p:sp>
      <p:sp>
        <p:nvSpPr>
          <p:cNvPr id="4" name="מלבן 3">
            <a:extLst>
              <a:ext uri="{FF2B5EF4-FFF2-40B4-BE49-F238E27FC236}">
                <a16:creationId xmlns:a16="http://schemas.microsoft.com/office/drawing/2014/main" id="{E80E2883-3EBD-6E69-7C1F-49F9B1D5477D}"/>
              </a:ext>
            </a:extLst>
          </p:cNvPr>
          <p:cNvSpPr/>
          <p:nvPr/>
        </p:nvSpPr>
        <p:spPr>
          <a:xfrm>
            <a:off x="1597076" y="5680273"/>
            <a:ext cx="2360390" cy="369332"/>
          </a:xfrm>
          <a:prstGeom prst="rect">
            <a:avLst/>
          </a:prstGeom>
        </p:spPr>
        <p:txBody>
          <a:bodyPr wrap="square">
            <a:spAutoFit/>
          </a:bodyPr>
          <a:lstStyle/>
          <a:p>
            <a:pPr algn="r" rtl="1">
              <a:spcAft>
                <a:spcPts val="600"/>
              </a:spcAft>
            </a:pPr>
            <a:r>
              <a:rPr lang="he-IL" b="1" dirty="0"/>
              <a:t>צילום: הדס כץ שדה חן</a:t>
            </a:r>
          </a:p>
        </p:txBody>
      </p:sp>
    </p:spTree>
    <p:extLst>
      <p:ext uri="{BB962C8B-B14F-4D97-AF65-F5344CB8AC3E}">
        <p14:creationId xmlns:p14="http://schemas.microsoft.com/office/powerpoint/2010/main" val="3598439047"/>
      </p:ext>
    </p:extLst>
  </p:cSld>
  <p:clrMapOvr>
    <a:masterClrMapping/>
  </p:clrMapOvr>
</p:sld>
</file>

<file path=ppt/theme/theme1.xml><?xml version="1.0" encoding="utf-8"?>
<a:theme xmlns:a="http://schemas.openxmlformats.org/drawingml/2006/main" name="חבילה">
  <a:themeElements>
    <a:clrScheme name="חבילה">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חבילה">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חבילה">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71C241A9-A460-4AD1-916F-25308628A5BC}"/>
    </a:ext>
  </a:ext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חבילה</Template>
  <TotalTime>4328</TotalTime>
  <Words>1239</Words>
  <Application>Microsoft Office PowerPoint</Application>
  <PresentationFormat>מסך רחב</PresentationFormat>
  <Paragraphs>92</Paragraphs>
  <Slides>14</Slides>
  <Notes>0</Notes>
  <HiddenSlides>0</HiddenSlides>
  <MMClips>0</MMClips>
  <ScaleCrop>false</ScaleCrop>
  <HeadingPairs>
    <vt:vector size="6" baseType="variant">
      <vt:variant>
        <vt:lpstr>גופנים בשימוש</vt:lpstr>
      </vt:variant>
      <vt:variant>
        <vt:i4>5</vt:i4>
      </vt:variant>
      <vt:variant>
        <vt:lpstr>ערכת נושא</vt:lpstr>
      </vt:variant>
      <vt:variant>
        <vt:i4>2</vt:i4>
      </vt:variant>
      <vt:variant>
        <vt:lpstr>כותרות שקופיות</vt:lpstr>
      </vt:variant>
      <vt:variant>
        <vt:i4>14</vt:i4>
      </vt:variant>
    </vt:vector>
  </HeadingPairs>
  <TitlesOfParts>
    <vt:vector size="21" baseType="lpstr">
      <vt:lpstr>Arial</vt:lpstr>
      <vt:lpstr>Calibri</vt:lpstr>
      <vt:lpstr>Calibri Light</vt:lpstr>
      <vt:lpstr>Gill Sans MT</vt:lpstr>
      <vt:lpstr>Wingdings</vt:lpstr>
      <vt:lpstr>חבילה</vt:lpstr>
      <vt:lpstr>ערכת נושא Office</vt:lpstr>
      <vt:lpstr>תצלום ככלי להערכה חלופית</vt:lpstr>
      <vt:lpstr>הנחיות למורים:</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דוגמא נוספת:  שימוש באנרגית השמש תורם להפחתה של התחממות כדור הארץ.  </vt:lpstr>
      <vt:lpstr>מצגת של PowerPoint‏</vt:lpstr>
      <vt:lpstr>מצגת של PowerPoint‏</vt:lpstr>
      <vt:lpstr>מצגת של PowerPoint‏</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מודלים מדעיים</dc:title>
  <dc:creator>Revital Winestok</dc:creator>
  <cp:lastModifiedBy>גלית ניב</cp:lastModifiedBy>
  <cp:revision>29</cp:revision>
  <dcterms:created xsi:type="dcterms:W3CDTF">2022-10-30T07:21:59Z</dcterms:created>
  <dcterms:modified xsi:type="dcterms:W3CDTF">2024-12-10T18:00:44Z</dcterms:modified>
</cp:coreProperties>
</file>