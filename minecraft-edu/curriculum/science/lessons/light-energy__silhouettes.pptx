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53" r:id="rId1"/>
  </p:sldMasterIdLst>
  <p:notesMasterIdLst>
    <p:notesMasterId r:id="rId22"/>
  </p:notesMasterIdLst>
  <p:sldIdLst>
    <p:sldId id="284" r:id="rId2"/>
    <p:sldId id="295" r:id="rId3"/>
    <p:sldId id="297" r:id="rId4"/>
    <p:sldId id="259" r:id="rId5"/>
    <p:sldId id="289" r:id="rId6"/>
    <p:sldId id="290" r:id="rId7"/>
    <p:sldId id="291" r:id="rId8"/>
    <p:sldId id="293" r:id="rId9"/>
    <p:sldId id="294" r:id="rId10"/>
    <p:sldId id="298" r:id="rId11"/>
    <p:sldId id="301" r:id="rId12"/>
    <p:sldId id="275" r:id="rId13"/>
    <p:sldId id="304" r:id="rId14"/>
    <p:sldId id="307" r:id="rId15"/>
    <p:sldId id="306" r:id="rId16"/>
    <p:sldId id="305" r:id="rId17"/>
    <p:sldId id="303" r:id="rId18"/>
    <p:sldId id="302" r:id="rId19"/>
    <p:sldId id="299" r:id="rId20"/>
    <p:sldId id="300" r:id="rId21"/>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gal Zehavy" initials="SZ" lastIdx="2" clrIdx="0">
    <p:extLst>
      <p:ext uri="{19B8F6BF-5375-455C-9EA6-DF929625EA0E}">
        <p15:presenceInfo xmlns:p15="http://schemas.microsoft.com/office/powerpoint/2012/main" userId="Sigal Zehavy" providerId="None"/>
      </p:ext>
    </p:extLst>
  </p:cmAuthor>
  <p:cmAuthor id="2" name="MOEUser" initials="M" lastIdx="6" clrIdx="1">
    <p:extLst>
      <p:ext uri="{19B8F6BF-5375-455C-9EA6-DF929625EA0E}">
        <p15:presenceInfo xmlns:p15="http://schemas.microsoft.com/office/powerpoint/2012/main" userId="MOEUser" providerId="None"/>
      </p:ext>
    </p:extLst>
  </p:cmAuthor>
  <p:cmAuthor id="3" name="חשבון Microsoft" initials="חM" lastIdx="1" clrIdx="2">
    <p:extLst>
      <p:ext uri="{19B8F6BF-5375-455C-9EA6-DF929625EA0E}">
        <p15:presenceInfo xmlns:p15="http://schemas.microsoft.com/office/powerpoint/2012/main" userId="693a490d0f0c9ba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75979" autoAdjust="0"/>
  </p:normalViewPr>
  <p:slideViewPr>
    <p:cSldViewPr>
      <p:cViewPr varScale="1">
        <p:scale>
          <a:sx n="56" d="100"/>
          <a:sy n="56" d="100"/>
        </p:scale>
        <p:origin x="1080"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749DF428-CCD2-423E-86C7-90416817C59E}" type="datetimeFigureOut">
              <a:rPr lang="he-IL" smtClean="0"/>
              <a:t>ט'/חשון/תשפ"ד</a:t>
            </a:fld>
            <a:endParaRPr lang="he-I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e-IL"/>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49DF238F-658F-4F0F-9FDB-957ADEA91FCC}" type="slidenum">
              <a:rPr lang="he-IL" smtClean="0"/>
              <a:t>‹#›</a:t>
            </a:fld>
            <a:endParaRPr lang="he-IL"/>
          </a:p>
        </p:txBody>
      </p:sp>
    </p:spTree>
    <p:extLst>
      <p:ext uri="{BB962C8B-B14F-4D97-AF65-F5344CB8AC3E}">
        <p14:creationId xmlns:p14="http://schemas.microsoft.com/office/powerpoint/2010/main" val="90972629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a:t>
            </a:fld>
            <a:endParaRPr lang="he-IL"/>
          </a:p>
        </p:txBody>
      </p:sp>
    </p:spTree>
    <p:extLst>
      <p:ext uri="{BB962C8B-B14F-4D97-AF65-F5344CB8AC3E}">
        <p14:creationId xmlns:p14="http://schemas.microsoft.com/office/powerpoint/2010/main" val="191519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158750" indent="0" algn="r" rtl="1" fontAlgn="base">
              <a:buNone/>
            </a:pPr>
            <a:r>
              <a:rPr lang="he-IL" sz="1200" dirty="0" smtClean="0">
                <a:solidFill>
                  <a:schemeClr val="tx1"/>
                </a:solidFill>
              </a:rPr>
              <a:t>לרשום</a:t>
            </a:r>
            <a:r>
              <a:rPr lang="he-IL" sz="1200" baseline="0" dirty="0" smtClean="0">
                <a:solidFill>
                  <a:schemeClr val="tx1"/>
                </a:solidFill>
              </a:rPr>
              <a:t> </a:t>
            </a:r>
            <a:r>
              <a:rPr lang="he-IL" sz="1200" baseline="0" dirty="0" err="1" smtClean="0">
                <a:solidFill>
                  <a:schemeClr val="tx1"/>
                </a:solidFill>
              </a:rPr>
              <a:t>בצט</a:t>
            </a:r>
            <a:endParaRPr lang="he-IL" sz="1200" baseline="0" dirty="0" smtClean="0">
              <a:solidFill>
                <a:schemeClr val="tx1"/>
              </a:solidFill>
            </a:endParaRPr>
          </a:p>
          <a:p>
            <a:pPr marL="158750" indent="0" algn="r" rtl="1" fontAlgn="base">
              <a:buNone/>
            </a:pPr>
            <a:r>
              <a:rPr lang="he-IL" sz="1200" baseline="0" dirty="0" smtClean="0">
                <a:solidFill>
                  <a:schemeClr val="tx1"/>
                </a:solidFill>
              </a:rPr>
              <a:t>בכל התמונות נוצר צל</a:t>
            </a:r>
          </a:p>
          <a:p>
            <a:pPr marL="158750" indent="0" algn="r" rtl="1" fontAlgn="base">
              <a:buNone/>
            </a:pPr>
            <a:r>
              <a:rPr lang="he-IL" sz="1200" dirty="0" smtClean="0">
                <a:solidFill>
                  <a:schemeClr val="tx1"/>
                </a:solidFill>
              </a:rPr>
              <a:t>שאלה</a:t>
            </a:r>
            <a:r>
              <a:rPr lang="he-IL" sz="1200" baseline="0" dirty="0" smtClean="0">
                <a:solidFill>
                  <a:schemeClr val="tx1"/>
                </a:solidFill>
              </a:rPr>
              <a:t> נוספת: האם כל הגופים יוצרים צל? איך נוצר צל?</a:t>
            </a:r>
          </a:p>
          <a:p>
            <a:pPr marL="158750" indent="0" algn="r" rtl="1" fontAlgn="base">
              <a:buNone/>
            </a:pPr>
            <a:r>
              <a:rPr lang="he-IL" sz="1200" dirty="0" smtClean="0">
                <a:solidFill>
                  <a:schemeClr val="tx1"/>
                </a:solidFill>
              </a:rPr>
              <a:t>כולם</a:t>
            </a:r>
            <a:r>
              <a:rPr lang="he-IL" sz="1200" baseline="0" dirty="0" smtClean="0">
                <a:solidFill>
                  <a:schemeClr val="tx1"/>
                </a:solidFill>
              </a:rPr>
              <a:t> גופים אטומים.</a:t>
            </a:r>
          </a:p>
          <a:p>
            <a:pPr marL="158750" indent="0" algn="r" rtl="1" fontAlgn="base">
              <a:buNone/>
            </a:pPr>
            <a:r>
              <a:rPr lang="he-IL" sz="1200" baseline="0" dirty="0" smtClean="0">
                <a:solidFill>
                  <a:schemeClr val="tx1"/>
                </a:solidFill>
              </a:rPr>
              <a:t>האם הירח או כדור הארץ יכולים להטיל צל?</a:t>
            </a:r>
          </a:p>
          <a:p>
            <a:pPr marL="158750" indent="0" algn="r" rtl="1" fontAlgn="base">
              <a:buNone/>
            </a:pPr>
            <a:r>
              <a:rPr lang="he-IL" sz="1200" baseline="0" dirty="0" smtClean="0">
                <a:solidFill>
                  <a:schemeClr val="tx1"/>
                </a:solidFill>
              </a:rPr>
              <a:t>למורה :בליקוי חמה- הירח גוף אטום מטיל צל על השמש ואיננו יכולים לראות אותה.. </a:t>
            </a:r>
          </a:p>
          <a:p>
            <a:pPr rtl="1"/>
            <a:r>
              <a:rPr lang="he-IL" sz="1200" b="0" i="0" kern="1200" dirty="0" smtClean="0">
                <a:solidFill>
                  <a:schemeClr val="tx1"/>
                </a:solidFill>
                <a:effectLst/>
                <a:latin typeface="+mn-lt"/>
                <a:ea typeface="+mn-ea"/>
                <a:cs typeface="+mn-cs"/>
              </a:rPr>
              <a:t> אתר- סוכנות</a:t>
            </a:r>
            <a:r>
              <a:rPr lang="he-IL" sz="1200" b="0" i="0" kern="1200" baseline="0" dirty="0" smtClean="0">
                <a:solidFill>
                  <a:schemeClr val="tx1"/>
                </a:solidFill>
                <a:effectLst/>
                <a:latin typeface="+mn-lt"/>
                <a:ea typeface="+mn-ea"/>
                <a:cs typeface="+mn-cs"/>
              </a:rPr>
              <a:t> החלל : </a:t>
            </a:r>
            <a:r>
              <a:rPr lang="he-IL" sz="1200" b="0" i="0" kern="1200" dirty="0" smtClean="0">
                <a:solidFill>
                  <a:schemeClr val="tx1"/>
                </a:solidFill>
                <a:effectLst/>
                <a:latin typeface="+mn-lt"/>
                <a:ea typeface="+mn-ea"/>
                <a:cs typeface="+mn-cs"/>
              </a:rPr>
              <a:t>ליקוי חמה מתרחש כ</a:t>
            </a:r>
            <a:r>
              <a:rPr lang="he-IL" sz="1200" b="0" i="0" u="none" kern="1200" dirty="0" smtClean="0">
                <a:solidFill>
                  <a:schemeClr val="tx1"/>
                </a:solidFill>
                <a:effectLst/>
                <a:latin typeface="+mn-lt"/>
                <a:ea typeface="+mn-ea"/>
                <a:cs typeface="+mn-cs"/>
              </a:rPr>
              <a:t>אשר הירח נמצא בדיוק בין כדור הארץ והשמש-</a:t>
            </a:r>
            <a:r>
              <a:rPr lang="he-IL" sz="1200" b="0" i="0" kern="1200" dirty="0" smtClean="0">
                <a:solidFill>
                  <a:schemeClr val="tx1"/>
                </a:solidFill>
                <a:effectLst/>
                <a:latin typeface="+mn-lt"/>
                <a:ea typeface="+mn-ea"/>
                <a:cs typeface="+mn-cs"/>
              </a:rPr>
              <a:t> הוא מסתיר את השמש ויוצר את המראה הייחודי של הליקוי שבו השמש "נאכלת" על ידי צל הירח עד שהיא הופכת לעיגול אפל – חור אפל בשמיים מעלינו.</a:t>
            </a:r>
            <a:r>
              <a:rPr lang="he-IL" sz="1200" b="0" i="0" kern="1200" baseline="0" dirty="0" smtClean="0">
                <a:solidFill>
                  <a:schemeClr val="tx1"/>
                </a:solidFill>
                <a:effectLst/>
                <a:latin typeface="+mn-lt"/>
                <a:ea typeface="+mn-ea"/>
                <a:cs typeface="+mn-cs"/>
              </a:rPr>
              <a:t> </a:t>
            </a:r>
            <a:r>
              <a:rPr lang="he-IL" sz="1200" b="0" i="0" kern="1200" dirty="0" smtClean="0">
                <a:solidFill>
                  <a:schemeClr val="tx1"/>
                </a:solidFill>
                <a:effectLst/>
                <a:latin typeface="+mn-lt"/>
                <a:ea typeface="+mn-ea"/>
                <a:cs typeface="+mn-cs"/>
              </a:rPr>
              <a:t>את הליקוי ניתן לראות מהחלק של כדור הארץ שעליו חולף צל הירח המסתיר את השמש.</a:t>
            </a:r>
          </a:p>
          <a:p>
            <a:pPr marL="158750" indent="0" algn="r" rtl="1" fontAlgn="base">
              <a:buNone/>
            </a:pPr>
            <a:endParaRPr lang="he-IL" sz="1200" dirty="0" smtClean="0">
              <a:solidFill>
                <a:schemeClr val="tx1"/>
              </a:solidFill>
            </a:endParaRPr>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2</a:t>
            </a:fld>
            <a:endParaRPr lang="he-IL"/>
          </a:p>
        </p:txBody>
      </p:sp>
    </p:spTree>
    <p:extLst>
      <p:ext uri="{BB962C8B-B14F-4D97-AF65-F5344CB8AC3E}">
        <p14:creationId xmlns:p14="http://schemas.microsoft.com/office/powerpoint/2010/main" val="4190277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3</a:t>
            </a:fld>
            <a:endParaRPr lang="he-IL"/>
          </a:p>
        </p:txBody>
      </p:sp>
    </p:spTree>
    <p:extLst>
      <p:ext uri="{BB962C8B-B14F-4D97-AF65-F5344CB8AC3E}">
        <p14:creationId xmlns:p14="http://schemas.microsoft.com/office/powerpoint/2010/main" val="2572466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1143000" y="685800"/>
            <a:ext cx="4572000" cy="3429000"/>
          </a:xfrm>
        </p:spPr>
      </p:sp>
      <p:sp>
        <p:nvSpPr>
          <p:cNvPr id="3" name="מציין מיקום של הערות 2"/>
          <p:cNvSpPr>
            <a:spLocks noGrp="1"/>
          </p:cNvSpPr>
          <p:nvPr>
            <p:ph type="body" idx="1"/>
          </p:nvPr>
        </p:nvSpPr>
        <p:spPr/>
        <p:txBody>
          <a:bodyPr/>
          <a:lstStyle/>
          <a:p>
            <a:pPr marL="158750" marR="0" lvl="0" indent="0" algn="r" defTabSz="914400" rtl="1" eaLnBrk="1" fontAlgn="auto" latinLnBrk="0" hangingPunct="1">
              <a:lnSpc>
                <a:spcPct val="100000"/>
              </a:lnSpc>
              <a:spcBef>
                <a:spcPts val="0"/>
              </a:spcBef>
              <a:spcAft>
                <a:spcPts val="0"/>
              </a:spcAft>
              <a:buClr>
                <a:srgbClr val="000000"/>
              </a:buClr>
              <a:buSzPts val="1100"/>
              <a:buFont typeface="Arial"/>
              <a:buNone/>
              <a:tabLst/>
              <a:defRPr/>
            </a:pPr>
            <a:endParaRPr lang="he-IL" dirty="0" smtClean="0"/>
          </a:p>
        </p:txBody>
      </p:sp>
      <p:sp>
        <p:nvSpPr>
          <p:cNvPr id="4" name="מציין מיקום של מספר שקופית 3"/>
          <p:cNvSpPr>
            <a:spLocks noGrp="1"/>
          </p:cNvSpPr>
          <p:nvPr>
            <p:ph type="sldNum" sz="quarter" idx="10"/>
          </p:nvPr>
        </p:nvSpPr>
        <p:spPr/>
        <p:txBody>
          <a:bodyPr/>
          <a:lstStyle/>
          <a:p>
            <a:fld id="{03F965BA-DA3B-EB42-8F73-FDBE27A0A657}" type="slidenum">
              <a:rPr lang="x-none" smtClean="0"/>
              <a:t>4</a:t>
            </a:fld>
            <a:endParaRPr lang="x-none"/>
          </a:p>
        </p:txBody>
      </p:sp>
    </p:spTree>
    <p:extLst>
      <p:ext uri="{BB962C8B-B14F-4D97-AF65-F5344CB8AC3E}">
        <p14:creationId xmlns:p14="http://schemas.microsoft.com/office/powerpoint/2010/main" val="3293002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6</a:t>
            </a:fld>
            <a:endParaRPr lang="he-IL"/>
          </a:p>
        </p:txBody>
      </p:sp>
    </p:spTree>
    <p:extLst>
      <p:ext uri="{BB962C8B-B14F-4D97-AF65-F5344CB8AC3E}">
        <p14:creationId xmlns:p14="http://schemas.microsoft.com/office/powerpoint/2010/main" val="397128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7</a:t>
            </a:fld>
            <a:endParaRPr lang="he-IL"/>
          </a:p>
        </p:txBody>
      </p:sp>
    </p:spTree>
    <p:extLst>
      <p:ext uri="{BB962C8B-B14F-4D97-AF65-F5344CB8AC3E}">
        <p14:creationId xmlns:p14="http://schemas.microsoft.com/office/powerpoint/2010/main" val="930198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8</a:t>
            </a:fld>
            <a:endParaRPr lang="he-IL"/>
          </a:p>
        </p:txBody>
      </p:sp>
    </p:spTree>
    <p:extLst>
      <p:ext uri="{BB962C8B-B14F-4D97-AF65-F5344CB8AC3E}">
        <p14:creationId xmlns:p14="http://schemas.microsoft.com/office/powerpoint/2010/main" val="185036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9</a:t>
            </a:fld>
            <a:endParaRPr lang="he-IL"/>
          </a:p>
        </p:txBody>
      </p:sp>
    </p:spTree>
    <p:extLst>
      <p:ext uri="{BB962C8B-B14F-4D97-AF65-F5344CB8AC3E}">
        <p14:creationId xmlns:p14="http://schemas.microsoft.com/office/powerpoint/2010/main" val="760190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smtClean="0">
                <a:ln>
                  <a:noFill/>
                </a:ln>
                <a:solidFill>
                  <a:prstClr val="black"/>
                </a:solidFill>
                <a:effectLst/>
                <a:uLnTx/>
                <a:uFillTx/>
                <a:latin typeface="+mn-lt"/>
                <a:cs typeface="+mn-cs"/>
              </a:rPr>
              <a:t>לתעד את הנתונים ויש לנו חקר קצר..</a:t>
            </a:r>
          </a:p>
          <a:p>
            <a:pPr marL="158750" indent="0" algn="r" rtl="1" fontAlgn="base">
              <a:buNone/>
            </a:pPr>
            <a:endParaRPr lang="he-IL" sz="2800" baseline="0" dirty="0" smtClean="0">
              <a:solidFill>
                <a:schemeClr val="tx1"/>
              </a:solidFill>
            </a:endParaRPr>
          </a:p>
          <a:p>
            <a:pPr marL="158750" indent="0" algn="r" rtl="1" fontAlgn="base">
              <a:buNone/>
            </a:pPr>
            <a:r>
              <a:rPr lang="he-IL" sz="2800" baseline="0" dirty="0" smtClean="0">
                <a:solidFill>
                  <a:schemeClr val="tx1"/>
                </a:solidFill>
              </a:rPr>
              <a:t>למורה:  מומלץ להכין דף תכנון ניסוי .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10</a:t>
            </a:fld>
            <a:endParaRPr lang="he-IL"/>
          </a:p>
        </p:txBody>
      </p:sp>
    </p:spTree>
    <p:extLst>
      <p:ext uri="{BB962C8B-B14F-4D97-AF65-F5344CB8AC3E}">
        <p14:creationId xmlns:p14="http://schemas.microsoft.com/office/powerpoint/2010/main" val="1059018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lvl="0" indent="0" algn="r" rtl="1">
              <a:lnSpc>
                <a:spcPct val="115000"/>
              </a:lnSpc>
              <a:spcBef>
                <a:spcPts val="1200"/>
              </a:spcBef>
              <a:spcAft>
                <a:spcPts val="0"/>
              </a:spcAft>
              <a:buNone/>
            </a:pPr>
            <a:endParaRPr lang="en-US" sz="2800" dirty="0" smtClean="0"/>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srgbClr val="424242"/>
                </a:solidFill>
                <a:effectLst/>
                <a:uLnTx/>
                <a:uFillTx/>
                <a:latin typeface="+mn-lt"/>
                <a:cs typeface="+mn-cs"/>
              </a:rPr>
              <a:t>היטלי צל של: שעון שמש, תחנות אוטובוס, סככות בים, גגונים בחצרות בבית , בגינות השכונה ובביס </a:t>
            </a:r>
            <a:r>
              <a:rPr kumimoji="0" lang="he-IL" sz="2800" b="1" i="0" u="none" strike="noStrike" kern="1200" cap="none" spc="0" normalizeH="0" baseline="0" noProof="0" dirty="0" err="1" smtClean="0">
                <a:ln>
                  <a:noFill/>
                </a:ln>
                <a:solidFill>
                  <a:srgbClr val="424242"/>
                </a:solidFill>
                <a:effectLst/>
                <a:uLnTx/>
                <a:uFillTx/>
                <a:latin typeface="+mn-lt"/>
                <a:cs typeface="+mn-cs"/>
              </a:rPr>
              <a:t>וכו</a:t>
            </a:r>
            <a:r>
              <a:rPr kumimoji="0" lang="he-IL" sz="2800" b="1" i="0" u="none" strike="noStrike" kern="1200" cap="none" spc="0" normalizeH="0" baseline="0" noProof="0" dirty="0" smtClean="0">
                <a:ln>
                  <a:noFill/>
                </a:ln>
                <a:solidFill>
                  <a:srgbClr val="424242"/>
                </a:solidFill>
                <a:effectLst/>
                <a:uLnTx/>
                <a:uFillTx/>
                <a:latin typeface="+mn-lt"/>
                <a:cs typeface="+mn-cs"/>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11</a:t>
            </a:fld>
            <a:endParaRPr lang="he-IL"/>
          </a:p>
        </p:txBody>
      </p:sp>
    </p:spTree>
    <p:extLst>
      <p:ext uri="{BB962C8B-B14F-4D97-AF65-F5344CB8AC3E}">
        <p14:creationId xmlns:p14="http://schemas.microsoft.com/office/powerpoint/2010/main" val="2912924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1143000" y="685800"/>
            <a:ext cx="4572000" cy="3429000"/>
          </a:xfrm>
        </p:spPr>
      </p:sp>
      <p:sp>
        <p:nvSpPr>
          <p:cNvPr id="3" name="מציין מיקום של הערות 2"/>
          <p:cNvSpPr>
            <a:spLocks noGrp="1"/>
          </p:cNvSpPr>
          <p:nvPr>
            <p:ph type="body" idx="1"/>
          </p:nvPr>
        </p:nvSpPr>
        <p:spPr/>
        <p:txBody>
          <a:bodyPr/>
          <a:lstStyle/>
          <a:p>
            <a:pPr marL="158750" indent="0" algn="r" rtl="1" fontAlgn="base">
              <a:buNone/>
            </a:pPr>
            <a:endParaRPr lang="he-IL" sz="1200" dirty="0" smtClean="0">
              <a:solidFill>
                <a:schemeClr val="tx1"/>
              </a:solidFill>
            </a:endParaRPr>
          </a:p>
        </p:txBody>
      </p:sp>
      <p:sp>
        <p:nvSpPr>
          <p:cNvPr id="4" name="מציין מיקום של מספר שקופית 3"/>
          <p:cNvSpPr>
            <a:spLocks noGrp="1"/>
          </p:cNvSpPr>
          <p:nvPr>
            <p:ph type="sldNum" sz="quarter" idx="10"/>
          </p:nvPr>
        </p:nvSpPr>
        <p:spPr/>
        <p:txBody>
          <a:bodyPr/>
          <a:lstStyle/>
          <a:p>
            <a:fld id="{03F965BA-DA3B-EB42-8F73-FDBE27A0A657}" type="slidenum">
              <a:rPr lang="x-none" smtClean="0">
                <a:solidFill>
                  <a:prstClr val="black"/>
                </a:solidFill>
              </a:rPr>
              <a:pPr/>
              <a:t>12</a:t>
            </a:fld>
            <a:endParaRPr lang="x-none">
              <a:solidFill>
                <a:prstClr val="black"/>
              </a:solidFill>
            </a:endParaRPr>
          </a:p>
        </p:txBody>
      </p:sp>
    </p:spTree>
    <p:extLst>
      <p:ext uri="{BB962C8B-B14F-4D97-AF65-F5344CB8AC3E}">
        <p14:creationId xmlns:p14="http://schemas.microsoft.com/office/powerpoint/2010/main" val="1374464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solidFill>
                  <a:prstClr val="black"/>
                </a:solidFill>
              </a:rPr>
              <a:pPr/>
              <a:t>13</a:t>
            </a:fld>
            <a:endParaRPr lang="he-IL">
              <a:solidFill>
                <a:prstClr val="black"/>
              </a:solidFill>
            </a:endParaRPr>
          </a:p>
        </p:txBody>
      </p:sp>
    </p:spTree>
    <p:extLst>
      <p:ext uri="{BB962C8B-B14F-4D97-AF65-F5344CB8AC3E}">
        <p14:creationId xmlns:p14="http://schemas.microsoft.com/office/powerpoint/2010/main" val="1476038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solidFill>
                  <a:prstClr val="black"/>
                </a:solidFill>
              </a:rPr>
              <a:pPr/>
              <a:t>14</a:t>
            </a:fld>
            <a:endParaRPr lang="he-IL">
              <a:solidFill>
                <a:prstClr val="black"/>
              </a:solidFill>
            </a:endParaRPr>
          </a:p>
        </p:txBody>
      </p:sp>
    </p:spTree>
    <p:extLst>
      <p:ext uri="{BB962C8B-B14F-4D97-AF65-F5344CB8AC3E}">
        <p14:creationId xmlns:p14="http://schemas.microsoft.com/office/powerpoint/2010/main" val="947545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solidFill>
                  <a:prstClr val="black"/>
                </a:solidFill>
              </a:rPr>
              <a:pPr/>
              <a:t>15</a:t>
            </a:fld>
            <a:endParaRPr lang="he-IL">
              <a:solidFill>
                <a:prstClr val="black"/>
              </a:solidFill>
            </a:endParaRPr>
          </a:p>
        </p:txBody>
      </p:sp>
    </p:spTree>
    <p:extLst>
      <p:ext uri="{BB962C8B-B14F-4D97-AF65-F5344CB8AC3E}">
        <p14:creationId xmlns:p14="http://schemas.microsoft.com/office/powerpoint/2010/main" val="3840121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solidFill>
                  <a:prstClr val="black"/>
                </a:solidFill>
              </a:rPr>
              <a:pPr/>
              <a:t>16</a:t>
            </a:fld>
            <a:endParaRPr lang="he-IL">
              <a:solidFill>
                <a:prstClr val="black"/>
              </a:solidFill>
            </a:endParaRPr>
          </a:p>
        </p:txBody>
      </p:sp>
    </p:spTree>
    <p:extLst>
      <p:ext uri="{BB962C8B-B14F-4D97-AF65-F5344CB8AC3E}">
        <p14:creationId xmlns:p14="http://schemas.microsoft.com/office/powerpoint/2010/main" val="1788345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17</a:t>
            </a:fld>
            <a:endParaRPr lang="he-IL"/>
          </a:p>
        </p:txBody>
      </p:sp>
    </p:spTree>
    <p:extLst>
      <p:ext uri="{BB962C8B-B14F-4D97-AF65-F5344CB8AC3E}">
        <p14:creationId xmlns:p14="http://schemas.microsoft.com/office/powerpoint/2010/main" val="2979275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smtClean="0">
                <a:ln>
                  <a:noFill/>
                </a:ln>
                <a:solidFill>
                  <a:prstClr val="black"/>
                </a:solidFill>
                <a:effectLst/>
                <a:uLnTx/>
                <a:uFillTx/>
                <a:latin typeface="+mn-lt"/>
                <a:cs typeface="+mn-cs"/>
              </a:rPr>
              <a:t>לתעד את הנתונים ויש לנו חקר קצר..</a:t>
            </a:r>
          </a:p>
          <a:p>
            <a:pPr marL="158750" indent="0" algn="r" rtl="1" fontAlgn="base">
              <a:buNone/>
            </a:pPr>
            <a:endParaRPr lang="he-IL" sz="2800" baseline="0" dirty="0" smtClean="0">
              <a:solidFill>
                <a:schemeClr val="tx1"/>
              </a:solidFill>
            </a:endParaRPr>
          </a:p>
          <a:p>
            <a:pPr marL="158750" indent="0" algn="r" rtl="1" fontAlgn="base">
              <a:buNone/>
            </a:pPr>
            <a:r>
              <a:rPr lang="he-IL" sz="2800" baseline="0" dirty="0" smtClean="0">
                <a:solidFill>
                  <a:schemeClr val="tx1"/>
                </a:solidFill>
              </a:rPr>
              <a:t>למורה:  מומלץ להכין דף תכנון ניסוי .  יש לדבר על בידוד משתנים- לשנות רק גורם אחד, את המרחק של מקור האור מהגוף על מנת לראות שזה התנאי שהשפיע על תוצאות הניסוי ועל גודל הצל.</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18</a:t>
            </a:fld>
            <a:endParaRPr lang="he-IL"/>
          </a:p>
        </p:txBody>
      </p:sp>
    </p:spTree>
    <p:extLst>
      <p:ext uri="{BB962C8B-B14F-4D97-AF65-F5344CB8AC3E}">
        <p14:creationId xmlns:p14="http://schemas.microsoft.com/office/powerpoint/2010/main" val="2669365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158750" indent="0" algn="r" rtl="1" fontAlgn="base">
              <a:buNone/>
            </a:pPr>
            <a:endParaRPr lang="he-IL" sz="2800" baseline="0" dirty="0" smtClean="0">
              <a:solidFill>
                <a:schemeClr val="tx1"/>
              </a:solidFill>
            </a:endParaRPr>
          </a:p>
          <a:p>
            <a:pPr marL="158750" indent="0" algn="r" rtl="1" fontAlgn="base">
              <a:buNone/>
            </a:pPr>
            <a:r>
              <a:rPr lang="he-IL" sz="2800" baseline="0" dirty="0" smtClean="0">
                <a:solidFill>
                  <a:schemeClr val="tx1"/>
                </a:solidFill>
              </a:rPr>
              <a:t>למורה:  מומלץ להכין דף תכנון ניסוי .  לאחר הסקת המסקנות לדון בהסבר המדעי</a:t>
            </a:r>
          </a:p>
          <a:p>
            <a:r>
              <a:rPr lang="he-IL" sz="1200" b="1" i="0" kern="1200" dirty="0" smtClean="0">
                <a:solidFill>
                  <a:schemeClr val="tx1"/>
                </a:solidFill>
                <a:effectLst/>
                <a:latin typeface="+mn-lt"/>
                <a:ea typeface="+mn-ea"/>
                <a:cs typeface="+mn-cs"/>
              </a:rPr>
              <a:t>המסקנה של הניסוי </a:t>
            </a:r>
            <a:r>
              <a:rPr lang="he-IL" sz="1200" b="0" i="0" kern="1200" dirty="0" smtClean="0">
                <a:solidFill>
                  <a:schemeClr val="tx1"/>
                </a:solidFill>
                <a:effectLst/>
                <a:latin typeface="+mn-lt"/>
                <a:ea typeface="+mn-ea"/>
                <a:cs typeface="+mn-cs"/>
              </a:rPr>
              <a:t> ככל שהמרחק בין מקור האור לבין הצללית גדול יותר, גודל הצללית קטן ‏(וההפך)‏. </a:t>
            </a:r>
          </a:p>
          <a:p>
            <a:r>
              <a:rPr lang="he-IL" sz="1200" b="1" i="0" kern="1200" dirty="0" smtClean="0">
                <a:solidFill>
                  <a:schemeClr val="tx1"/>
                </a:solidFill>
                <a:effectLst/>
                <a:latin typeface="+mn-lt"/>
                <a:ea typeface="+mn-ea"/>
                <a:cs typeface="+mn-cs"/>
              </a:rPr>
              <a:t>ההסבר המדעי:</a:t>
            </a:r>
            <a:r>
              <a:rPr lang="he-IL" sz="1200" b="0" i="0" kern="1200" dirty="0" smtClean="0">
                <a:solidFill>
                  <a:schemeClr val="tx1"/>
                </a:solidFill>
                <a:effectLst/>
                <a:latin typeface="+mn-lt"/>
                <a:ea typeface="+mn-ea"/>
                <a:cs typeface="+mn-cs"/>
              </a:rPr>
              <a:t> ככל שהגוף האטום קרוב יותר למקור האור, הצללית שלו תהיה גדולה יותר כי הוא חוסם יותר קרני אור. ככל שהגוף האטום רחוק יותר ממקור האור, הצללית שלו תהיה קטנה יותר כי הוא חוסם פחות קרני אור</a:t>
            </a:r>
          </a:p>
          <a:p>
            <a:pPr marL="158750" indent="0" algn="r" rtl="1" fontAlgn="base">
              <a:buNone/>
            </a:pPr>
            <a:endParaRPr lang="he-IL" sz="2800" baseline="0" dirty="0" smtClean="0">
              <a:solidFill>
                <a:schemeClr val="tx1"/>
              </a:solidFill>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19</a:t>
            </a:fld>
            <a:endParaRPr lang="he-IL"/>
          </a:p>
        </p:txBody>
      </p:sp>
    </p:spTree>
    <p:extLst>
      <p:ext uri="{BB962C8B-B14F-4D97-AF65-F5344CB8AC3E}">
        <p14:creationId xmlns:p14="http://schemas.microsoft.com/office/powerpoint/2010/main" val="4279705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800" b="0" i="0" u="none" strike="noStrike" kern="1200" cap="none" spc="0" normalizeH="0" baseline="0" noProof="0" dirty="0" smtClean="0">
              <a:ln>
                <a:noFill/>
              </a:ln>
              <a:solidFill>
                <a:prstClr val="black"/>
              </a:solidFill>
              <a:effectLst/>
              <a:uLnTx/>
              <a:uFillTx/>
              <a:latin typeface="+mn-lt"/>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49DF238F-658F-4F0F-9FDB-957ADEA91FCC}" type="slidenum">
              <a:rPr lang="he-IL" smtClean="0"/>
              <a:t>20</a:t>
            </a:fld>
            <a:endParaRPr lang="he-IL"/>
          </a:p>
        </p:txBody>
      </p:sp>
    </p:spTree>
    <p:extLst>
      <p:ext uri="{BB962C8B-B14F-4D97-AF65-F5344CB8AC3E}">
        <p14:creationId xmlns:p14="http://schemas.microsoft.com/office/powerpoint/2010/main" val="3636397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he-IL" smtClean="0"/>
              <a:t>לחץ כדי לערוך סגנון כותרת של תבנית בסיס</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4440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96693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15665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41465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Content Placeholder 3"/>
          <p:cNvSpPr>
            <a:spLocks noGrp="1"/>
          </p:cNvSpPr>
          <p:nvPr>
            <p:ph sz="half" idx="2"/>
          </p:nvPr>
        </p:nvSpPr>
        <p:spPr>
          <a:xfrm>
            <a:off x="629842" y="2505075"/>
            <a:ext cx="3868340" cy="368458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Content Placeholder 5"/>
          <p:cNvSpPr>
            <a:spLocks noGrp="1"/>
          </p:cNvSpPr>
          <p:nvPr>
            <p:ph sz="quarter" idx="4"/>
          </p:nvPr>
        </p:nvSpPr>
        <p:spPr>
          <a:xfrm>
            <a:off x="4629150" y="2505075"/>
            <a:ext cx="3887391" cy="368458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2201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66799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47626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0410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he-IL" smtClean="0"/>
              <a:t>לחץ כדי לערוך סגנון כותרת של תבנית בסיס</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68320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06812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19403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מה להביא לשיעור?">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D53EEE-2C1E-B542-8225-9153493AC840}"/>
              </a:ext>
            </a:extLst>
          </p:cNvPr>
          <p:cNvSpPr>
            <a:spLocks noGrp="1"/>
          </p:cNvSpPr>
          <p:nvPr>
            <p:ph type="title" hasCustomPrompt="1"/>
          </p:nvPr>
        </p:nvSpPr>
        <p:spPr>
          <a:xfrm>
            <a:off x="629841" y="365129"/>
            <a:ext cx="7886700" cy="1325563"/>
          </a:xfrm>
        </p:spPr>
        <p:txBody>
          <a:bodyPr/>
          <a:lstStyle>
            <a:lvl1pPr>
              <a:defRPr>
                <a:latin typeface="Calibri" panose="020F0502020204030204" pitchFamily="34" charset="0"/>
                <a:cs typeface="Calibri" panose="020F0502020204030204" pitchFamily="34" charset="0"/>
              </a:defRPr>
            </a:lvl1pPr>
          </a:lstStyle>
          <a:p>
            <a:r>
              <a:rPr lang="he-IL" dirty="0"/>
              <a:t>מה להביא לשיעור?</a:t>
            </a:r>
            <a:endParaRPr lang="x-none" dirty="0"/>
          </a:p>
        </p:txBody>
      </p:sp>
      <p:sp>
        <p:nvSpPr>
          <p:cNvPr id="4" name="Content Placeholder 3">
            <a:extLst>
              <a:ext uri="{FF2B5EF4-FFF2-40B4-BE49-F238E27FC236}">
                <a16:creationId xmlns:a16="http://schemas.microsoft.com/office/drawing/2014/main" xmlns="" id="{7A3C51F2-91FC-CF4D-8D50-E0D4C4B121D6}"/>
              </a:ext>
            </a:extLst>
          </p:cNvPr>
          <p:cNvSpPr>
            <a:spLocks noGrp="1"/>
          </p:cNvSpPr>
          <p:nvPr>
            <p:ph sz="half" idx="2" hasCustomPrompt="1"/>
          </p:nvPr>
        </p:nvSpPr>
        <p:spPr>
          <a:xfrm>
            <a:off x="629842" y="1741679"/>
            <a:ext cx="3868340" cy="3684588"/>
          </a:xfrm>
        </p:spPr>
        <p:txBody>
          <a:bodyPr>
            <a:normAutofit/>
          </a:bodyPr>
          <a:lstStyle>
            <a:lvl1pPr>
              <a:buClr>
                <a:schemeClr val="accent2"/>
              </a:buClr>
              <a:defRPr sz="2600">
                <a:latin typeface="Calibri" panose="020F0502020204030204" pitchFamily="34" charset="0"/>
                <a:cs typeface="Calibri" panose="020F0502020204030204" pitchFamily="34" charset="0"/>
              </a:defRPr>
            </a:lvl1pPr>
          </a:lstStyle>
          <a:p>
            <a:pPr lvl="0"/>
            <a:r>
              <a:rPr lang="he-IL" dirty="0"/>
              <a:t>טקסט עם בולט</a:t>
            </a:r>
          </a:p>
        </p:txBody>
      </p:sp>
      <p:sp>
        <p:nvSpPr>
          <p:cNvPr id="6" name="Content Placeholder 5">
            <a:extLst>
              <a:ext uri="{FF2B5EF4-FFF2-40B4-BE49-F238E27FC236}">
                <a16:creationId xmlns:a16="http://schemas.microsoft.com/office/drawing/2014/main" xmlns="" id="{59B1B37A-1CA3-A240-A716-DD9A47540CB3}"/>
              </a:ext>
            </a:extLst>
          </p:cNvPr>
          <p:cNvSpPr>
            <a:spLocks noGrp="1"/>
          </p:cNvSpPr>
          <p:nvPr>
            <p:ph sz="quarter" idx="4" hasCustomPrompt="1"/>
          </p:nvPr>
        </p:nvSpPr>
        <p:spPr>
          <a:xfrm>
            <a:off x="4629152" y="1741679"/>
            <a:ext cx="3887391" cy="3684588"/>
          </a:xfrm>
        </p:spPr>
        <p:txBody>
          <a:bodyPr>
            <a:normAutofit/>
          </a:bodyPr>
          <a:lstStyle>
            <a:lvl1pPr>
              <a:buClr>
                <a:schemeClr val="accent2"/>
              </a:buClr>
              <a:defRPr sz="2600">
                <a:latin typeface="Calibri" panose="020F0502020204030204" pitchFamily="34" charset="0"/>
                <a:cs typeface="Calibri" panose="020F0502020204030204" pitchFamily="34" charset="0"/>
              </a:defRPr>
            </a:lvl1pPr>
          </a:lstStyle>
          <a:p>
            <a:pPr lvl="0"/>
            <a:r>
              <a:rPr lang="he-IL" dirty="0"/>
              <a:t>טקסט עם בולט</a:t>
            </a:r>
          </a:p>
        </p:txBody>
      </p:sp>
      <p:grpSp>
        <p:nvGrpSpPr>
          <p:cNvPr id="10" name="Group 9">
            <a:extLst>
              <a:ext uri="{FF2B5EF4-FFF2-40B4-BE49-F238E27FC236}">
                <a16:creationId xmlns:a16="http://schemas.microsoft.com/office/drawing/2014/main" xmlns="" id="{7430CA40-3AE6-8C40-B628-3B8B63BD0A0E}"/>
              </a:ext>
            </a:extLst>
          </p:cNvPr>
          <p:cNvGrpSpPr/>
          <p:nvPr userDrawn="1"/>
        </p:nvGrpSpPr>
        <p:grpSpPr>
          <a:xfrm>
            <a:off x="676969" y="181572"/>
            <a:ext cx="8266616" cy="506326"/>
            <a:chOff x="865046" y="356936"/>
            <a:chExt cx="11022154" cy="506326"/>
          </a:xfrm>
        </p:grpSpPr>
        <p:cxnSp>
          <p:nvCxnSpPr>
            <p:cNvPr id="11" name="Straight Connector 10">
              <a:extLst>
                <a:ext uri="{FF2B5EF4-FFF2-40B4-BE49-F238E27FC236}">
                  <a16:creationId xmlns:a16="http://schemas.microsoft.com/office/drawing/2014/main" xmlns="" id="{DB534642-3CB6-A445-AA80-E1A2A04DB331}"/>
                </a:ext>
              </a:extLst>
            </p:cNvPr>
            <p:cNvCxnSpPr>
              <a:cxnSpLocks/>
            </p:cNvCxnSpPr>
            <p:nvPr userDrawn="1"/>
          </p:nvCxnSpPr>
          <p:spPr>
            <a:xfrm>
              <a:off x="865046" y="573247"/>
              <a:ext cx="10244790" cy="38497"/>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xmlns="" id="{27F0647F-5897-294F-87FC-777F34105B01}"/>
                </a:ext>
              </a:extLst>
            </p:cNvPr>
            <p:cNvSpPr/>
            <p:nvPr userDrawn="1"/>
          </p:nvSpPr>
          <p:spPr>
            <a:xfrm rot="16200000">
              <a:off x="11380874" y="356936"/>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grpSp>
      <p:sp>
        <p:nvSpPr>
          <p:cNvPr id="14" name="Rectangle 13">
            <a:extLst>
              <a:ext uri="{FF2B5EF4-FFF2-40B4-BE49-F238E27FC236}">
                <a16:creationId xmlns:a16="http://schemas.microsoft.com/office/drawing/2014/main" xmlns="" id="{BBCB72AB-9511-E340-859E-BC49A5D471A5}"/>
              </a:ext>
            </a:extLst>
          </p:cNvPr>
          <p:cNvSpPr/>
          <p:nvPr userDrawn="1"/>
        </p:nvSpPr>
        <p:spPr>
          <a:xfrm rot="10800000">
            <a:off x="8864326" y="314134"/>
            <a:ext cx="158516" cy="2113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spTree>
    <p:extLst>
      <p:ext uri="{BB962C8B-B14F-4D97-AF65-F5344CB8AC3E}">
        <p14:creationId xmlns:p14="http://schemas.microsoft.com/office/powerpoint/2010/main" val="2497951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כותרת ראשית">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xmlns="" id="{A8E8959C-707A-374D-A37D-F0431F277F95}"/>
              </a:ext>
            </a:extLst>
          </p:cNvPr>
          <p:cNvPicPr>
            <a:picLocks noChangeAspect="1"/>
          </p:cNvPicPr>
          <p:nvPr userDrawn="1"/>
        </p:nvPicPr>
        <p:blipFill>
          <a:blip r:embed="rId2">
            <a:alphaModFix amt="54000"/>
          </a:blip>
          <a:stretch>
            <a:fillRect/>
          </a:stretch>
        </p:blipFill>
        <p:spPr>
          <a:xfrm>
            <a:off x="-5515925" y="2026642"/>
            <a:ext cx="3784257" cy="5028913"/>
          </a:xfrm>
          <a:prstGeom prst="rect">
            <a:avLst/>
          </a:prstGeom>
        </p:spPr>
      </p:pic>
      <p:pic>
        <p:nvPicPr>
          <p:cNvPr id="10" name="Picture 9">
            <a:extLst>
              <a:ext uri="{FF2B5EF4-FFF2-40B4-BE49-F238E27FC236}">
                <a16:creationId xmlns:a16="http://schemas.microsoft.com/office/drawing/2014/main" xmlns="" id="{18B22E21-BB18-2544-AECC-B480F0F96A4E}"/>
              </a:ext>
            </a:extLst>
          </p:cNvPr>
          <p:cNvPicPr>
            <a:picLocks noChangeAspect="1"/>
          </p:cNvPicPr>
          <p:nvPr userDrawn="1"/>
        </p:nvPicPr>
        <p:blipFill>
          <a:blip r:embed="rId2">
            <a:alphaModFix amt="54000"/>
          </a:blip>
          <a:stretch>
            <a:fillRect/>
          </a:stretch>
        </p:blipFill>
        <p:spPr>
          <a:xfrm>
            <a:off x="9710438" y="-3969273"/>
            <a:ext cx="3784257" cy="5028913"/>
          </a:xfrm>
          <a:prstGeom prst="rect">
            <a:avLst/>
          </a:prstGeom>
        </p:spPr>
      </p:pic>
      <p:pic>
        <p:nvPicPr>
          <p:cNvPr id="22" name="Picture 21">
            <a:extLst>
              <a:ext uri="{FF2B5EF4-FFF2-40B4-BE49-F238E27FC236}">
                <a16:creationId xmlns:a16="http://schemas.microsoft.com/office/drawing/2014/main" xmlns="" id="{3E25FC14-1447-894C-9B3F-3393E4457875}"/>
              </a:ext>
            </a:extLst>
          </p:cNvPr>
          <p:cNvPicPr>
            <a:picLocks noChangeAspect="1"/>
          </p:cNvPicPr>
          <p:nvPr userDrawn="1"/>
        </p:nvPicPr>
        <p:blipFill>
          <a:blip r:embed="rId3"/>
          <a:stretch>
            <a:fillRect/>
          </a:stretch>
        </p:blipFill>
        <p:spPr>
          <a:xfrm>
            <a:off x="0" y="-12700"/>
            <a:ext cx="9144000" cy="6858000"/>
          </a:xfrm>
          <a:prstGeom prst="rect">
            <a:avLst/>
          </a:prstGeom>
        </p:spPr>
      </p:pic>
      <p:sp>
        <p:nvSpPr>
          <p:cNvPr id="23" name="Rectangle 22">
            <a:extLst>
              <a:ext uri="{FF2B5EF4-FFF2-40B4-BE49-F238E27FC236}">
                <a16:creationId xmlns:a16="http://schemas.microsoft.com/office/drawing/2014/main" xmlns="" id="{CB555B5A-6A6C-3E4C-ADAE-778B7D2D0359}"/>
              </a:ext>
            </a:extLst>
          </p:cNvPr>
          <p:cNvSpPr/>
          <p:nvPr userDrawn="1"/>
        </p:nvSpPr>
        <p:spPr>
          <a:xfrm>
            <a:off x="1567920" y="2902421"/>
            <a:ext cx="6477617" cy="12179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sp>
        <p:nvSpPr>
          <p:cNvPr id="24" name="Rectangle 23">
            <a:extLst>
              <a:ext uri="{FF2B5EF4-FFF2-40B4-BE49-F238E27FC236}">
                <a16:creationId xmlns:a16="http://schemas.microsoft.com/office/drawing/2014/main" xmlns="" id="{6C9C108D-DF17-D94D-B478-B1D39585A5A5}"/>
              </a:ext>
            </a:extLst>
          </p:cNvPr>
          <p:cNvSpPr/>
          <p:nvPr userDrawn="1"/>
        </p:nvSpPr>
        <p:spPr>
          <a:xfrm>
            <a:off x="3823854" y="1831503"/>
            <a:ext cx="4413400" cy="10709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cxnSp>
        <p:nvCxnSpPr>
          <p:cNvPr id="26" name="Straight Connector 25">
            <a:extLst>
              <a:ext uri="{FF2B5EF4-FFF2-40B4-BE49-F238E27FC236}">
                <a16:creationId xmlns:a16="http://schemas.microsoft.com/office/drawing/2014/main" xmlns="" id="{483E9F71-40EC-904A-998B-27EBBD81B7D8}"/>
              </a:ext>
            </a:extLst>
          </p:cNvPr>
          <p:cNvCxnSpPr>
            <a:cxnSpLocks/>
          </p:cNvCxnSpPr>
          <p:nvPr userDrawn="1"/>
        </p:nvCxnSpPr>
        <p:spPr>
          <a:xfrm>
            <a:off x="5367132" y="1639956"/>
            <a:ext cx="300410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xmlns="" id="{D1DA4F9E-AC5E-4E44-B0D3-AD506CC1F2FB}"/>
              </a:ext>
            </a:extLst>
          </p:cNvPr>
          <p:cNvSpPr/>
          <p:nvPr userDrawn="1"/>
        </p:nvSpPr>
        <p:spPr>
          <a:xfrm rot="16200000">
            <a:off x="8134307" y="2109540"/>
            <a:ext cx="205896" cy="1544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cxnSp>
        <p:nvCxnSpPr>
          <p:cNvPr id="28" name="Straight Connector 27">
            <a:extLst>
              <a:ext uri="{FF2B5EF4-FFF2-40B4-BE49-F238E27FC236}">
                <a16:creationId xmlns:a16="http://schemas.microsoft.com/office/drawing/2014/main" xmlns="" id="{F4CCDBE2-FBDE-6C46-8010-3BEB4D38025B}"/>
              </a:ext>
            </a:extLst>
          </p:cNvPr>
          <p:cNvCxnSpPr>
            <a:cxnSpLocks/>
          </p:cNvCxnSpPr>
          <p:nvPr userDrawn="1"/>
        </p:nvCxnSpPr>
        <p:spPr>
          <a:xfrm>
            <a:off x="1567900" y="4989650"/>
            <a:ext cx="379923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9" name="Text Placeholder 8">
            <a:extLst>
              <a:ext uri="{FF2B5EF4-FFF2-40B4-BE49-F238E27FC236}">
                <a16:creationId xmlns:a16="http://schemas.microsoft.com/office/drawing/2014/main" xmlns="" id="{81A4514E-A493-F241-AC14-15585885E094}"/>
              </a:ext>
            </a:extLst>
          </p:cNvPr>
          <p:cNvSpPr>
            <a:spLocks noGrp="1"/>
          </p:cNvSpPr>
          <p:nvPr>
            <p:ph type="body" sz="quarter" idx="12" hasCustomPrompt="1"/>
          </p:nvPr>
        </p:nvSpPr>
        <p:spPr>
          <a:xfrm>
            <a:off x="1923901" y="3025258"/>
            <a:ext cx="5862638" cy="1067468"/>
          </a:xfrm>
        </p:spPr>
        <p:txBody>
          <a:bodyPr>
            <a:normAutofit/>
          </a:bodyPr>
          <a:lstStyle>
            <a:lvl1pPr marL="0" indent="0">
              <a:buNone/>
              <a:defRPr sz="6000">
                <a:solidFill>
                  <a:schemeClr val="bg1"/>
                </a:solidFill>
                <a:latin typeface="Calibri" panose="020F0502020204030204" pitchFamily="34" charset="0"/>
                <a:cs typeface="Calibri" panose="020F0502020204030204" pitchFamily="34" charset="0"/>
              </a:defRPr>
            </a:lvl1pPr>
          </a:lstStyle>
          <a:p>
            <a:pPr lvl="0"/>
            <a:r>
              <a:rPr lang="he-IL" dirty="0"/>
              <a:t>שיעור חשבון לכיתה א</a:t>
            </a:r>
            <a:endParaRPr lang="x-none" dirty="0"/>
          </a:p>
        </p:txBody>
      </p:sp>
      <p:grpSp>
        <p:nvGrpSpPr>
          <p:cNvPr id="30" name="Group 29">
            <a:extLst>
              <a:ext uri="{FF2B5EF4-FFF2-40B4-BE49-F238E27FC236}">
                <a16:creationId xmlns:a16="http://schemas.microsoft.com/office/drawing/2014/main" xmlns="" id="{3722B399-0C27-314C-A9E5-A4C6E23B0F40}"/>
              </a:ext>
            </a:extLst>
          </p:cNvPr>
          <p:cNvGrpSpPr/>
          <p:nvPr userDrawn="1"/>
        </p:nvGrpSpPr>
        <p:grpSpPr>
          <a:xfrm>
            <a:off x="-83128" y="110839"/>
            <a:ext cx="1147573" cy="1525930"/>
            <a:chOff x="8374611" y="4283110"/>
            <a:chExt cx="2300578" cy="2294314"/>
          </a:xfrm>
        </p:grpSpPr>
        <p:pic>
          <p:nvPicPr>
            <p:cNvPr id="31" name="Picture 30">
              <a:extLst>
                <a:ext uri="{FF2B5EF4-FFF2-40B4-BE49-F238E27FC236}">
                  <a16:creationId xmlns:a16="http://schemas.microsoft.com/office/drawing/2014/main" xmlns="" id="{357199CA-CF9F-2040-A14F-9134F717DAC7}"/>
                </a:ext>
              </a:extLst>
            </p:cNvPr>
            <p:cNvPicPr>
              <a:picLocks noChangeAspect="1"/>
            </p:cNvPicPr>
            <p:nvPr/>
          </p:nvPicPr>
          <p:blipFill rotWithShape="1">
            <a:blip r:embed="rId4"/>
            <a:srcRect l="62938"/>
            <a:stretch/>
          </p:blipFill>
          <p:spPr>
            <a:xfrm>
              <a:off x="8873684" y="4283110"/>
              <a:ext cx="1227785" cy="1519621"/>
            </a:xfrm>
            <a:prstGeom prst="rect">
              <a:avLst/>
            </a:prstGeom>
          </p:spPr>
        </p:pic>
        <p:sp>
          <p:nvSpPr>
            <p:cNvPr id="32" name="Rectangle 31">
              <a:extLst>
                <a:ext uri="{FF2B5EF4-FFF2-40B4-BE49-F238E27FC236}">
                  <a16:creationId xmlns:a16="http://schemas.microsoft.com/office/drawing/2014/main" xmlns="" id="{65A931FB-F43D-E449-8EC5-C53927BF0CA6}"/>
                </a:ext>
              </a:extLst>
            </p:cNvPr>
            <p:cNvSpPr/>
            <p:nvPr/>
          </p:nvSpPr>
          <p:spPr>
            <a:xfrm>
              <a:off x="8374611" y="5883287"/>
              <a:ext cx="2300578" cy="694137"/>
            </a:xfrm>
            <a:prstGeom prst="rect">
              <a:avLst/>
            </a:prstGeom>
          </p:spPr>
          <p:txBody>
            <a:bodyPr wrap="square">
              <a:spAutoFit/>
            </a:bodyPr>
            <a:lstStyle/>
            <a:p>
              <a:pPr algn="ctr" rtl="0"/>
              <a:r>
                <a:rPr lang="x-none" sz="1200" dirty="0">
                  <a:solidFill>
                    <a:srgbClr val="FFFFFF"/>
                  </a:solidFill>
                  <a:latin typeface="Arial" panose="020B0604020202020204" pitchFamily="34" charset="0"/>
                  <a:cs typeface="Arial" panose="020B0604020202020204" pitchFamily="34" charset="0"/>
                </a:rPr>
                <a:t>מדינת ישראל</a:t>
              </a:r>
            </a:p>
            <a:p>
              <a:pPr algn="ctr" rtl="0"/>
              <a:r>
                <a:rPr lang="x-none" sz="1200" dirty="0">
                  <a:solidFill>
                    <a:srgbClr val="FFFFFF"/>
                  </a:solidFill>
                  <a:latin typeface="Arial" panose="020B0604020202020204" pitchFamily="34" charset="0"/>
                  <a:cs typeface="Arial" panose="020B0604020202020204" pitchFamily="34" charset="0"/>
                </a:rPr>
                <a:t>משרד החינוך</a:t>
              </a:r>
            </a:p>
          </p:txBody>
        </p:sp>
      </p:grpSp>
      <p:pic>
        <p:nvPicPr>
          <p:cNvPr id="33" name="Picture 32">
            <a:extLst>
              <a:ext uri="{FF2B5EF4-FFF2-40B4-BE49-F238E27FC236}">
                <a16:creationId xmlns:a16="http://schemas.microsoft.com/office/drawing/2014/main" xmlns="" id="{9A49B985-D8AE-614D-A6BB-C36081062387}"/>
              </a:ext>
            </a:extLst>
          </p:cNvPr>
          <p:cNvPicPr>
            <a:picLocks noChangeAspect="1"/>
          </p:cNvPicPr>
          <p:nvPr userDrawn="1"/>
        </p:nvPicPr>
        <p:blipFill>
          <a:blip r:embed="rId5"/>
          <a:stretch>
            <a:fillRect/>
          </a:stretch>
        </p:blipFill>
        <p:spPr>
          <a:xfrm>
            <a:off x="2499140" y="886356"/>
            <a:ext cx="6862634" cy="2791691"/>
          </a:xfrm>
          <a:prstGeom prst="rect">
            <a:avLst/>
          </a:prstGeom>
        </p:spPr>
      </p:pic>
      <p:sp>
        <p:nvSpPr>
          <p:cNvPr id="34" name="Text Placeholder 3">
            <a:extLst>
              <a:ext uri="{FF2B5EF4-FFF2-40B4-BE49-F238E27FC236}">
                <a16:creationId xmlns:a16="http://schemas.microsoft.com/office/drawing/2014/main" xmlns="" id="{881B4E06-64FF-B845-9777-320E6F126B10}"/>
              </a:ext>
            </a:extLst>
          </p:cNvPr>
          <p:cNvSpPr>
            <a:spLocks noGrp="1"/>
          </p:cNvSpPr>
          <p:nvPr>
            <p:ph type="body" sz="quarter" idx="13" hasCustomPrompt="1"/>
          </p:nvPr>
        </p:nvSpPr>
        <p:spPr>
          <a:xfrm>
            <a:off x="1523126" y="4419906"/>
            <a:ext cx="4808451" cy="649357"/>
          </a:xfrm>
        </p:spPr>
        <p:txBody>
          <a:bodyPr>
            <a:normAutofit/>
          </a:bodyPr>
          <a:lstStyle>
            <a:lvl1pPr marL="0" indent="0" algn="l" rtl="1">
              <a:buNone/>
              <a:defRPr lang="x-none" sz="3200" b="0" i="0" kern="1200" dirty="0">
                <a:solidFill>
                  <a:schemeClr val="bg1"/>
                </a:solidFill>
                <a:latin typeface="Calibri" panose="020F0502020204030204" pitchFamily="34" charset="0"/>
                <a:ea typeface="+mn-ea"/>
                <a:cs typeface="Calibri" panose="020F0502020204030204" pitchFamily="34" charset="0"/>
              </a:defRPr>
            </a:lvl1pPr>
          </a:lstStyle>
          <a:p>
            <a:pPr marL="0" lvl="0" indent="0" algn="l" defTabSz="914400" rtl="1" eaLnBrk="1" latinLnBrk="0" hangingPunct="1">
              <a:lnSpc>
                <a:spcPct val="90000"/>
              </a:lnSpc>
              <a:spcBef>
                <a:spcPts val="1000"/>
              </a:spcBef>
              <a:buFont typeface="Arial" panose="020B0604020202020204" pitchFamily="34" charset="0"/>
              <a:buNone/>
            </a:pPr>
            <a:r>
              <a:rPr lang="he-IL" dirty="0"/>
              <a:t>נושא השיעור: הרחבת שברים</a:t>
            </a:r>
            <a:endParaRPr lang="x-none" dirty="0"/>
          </a:p>
        </p:txBody>
      </p:sp>
      <p:sp>
        <p:nvSpPr>
          <p:cNvPr id="35" name="Text Placeholder 4">
            <a:extLst>
              <a:ext uri="{FF2B5EF4-FFF2-40B4-BE49-F238E27FC236}">
                <a16:creationId xmlns:a16="http://schemas.microsoft.com/office/drawing/2014/main" xmlns="" id="{BA5F5BE6-034E-F841-A2F4-1C5B1EEE6E15}"/>
              </a:ext>
            </a:extLst>
          </p:cNvPr>
          <p:cNvSpPr>
            <a:spLocks noGrp="1"/>
          </p:cNvSpPr>
          <p:nvPr>
            <p:ph type="body" sz="quarter" idx="14" hasCustomPrompt="1"/>
          </p:nvPr>
        </p:nvSpPr>
        <p:spPr>
          <a:xfrm>
            <a:off x="312670" y="6148698"/>
            <a:ext cx="3824288" cy="560533"/>
          </a:xfrm>
        </p:spPr>
        <p:txBody>
          <a:bodyPr/>
          <a:lstStyle>
            <a:lvl1pPr marL="0" indent="0" algn="l">
              <a:buNone/>
              <a:defRPr>
                <a:solidFill>
                  <a:schemeClr val="bg1"/>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he-IL" dirty="0"/>
              <a:t>עם המורה: דנית כהן</a:t>
            </a:r>
            <a:endParaRPr lang="en-US" dirty="0"/>
          </a:p>
        </p:txBody>
      </p:sp>
    </p:spTree>
    <p:extLst>
      <p:ext uri="{BB962C8B-B14F-4D97-AF65-F5344CB8AC3E}">
        <p14:creationId xmlns:p14="http://schemas.microsoft.com/office/powerpoint/2010/main" val="4051040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השיעור הבא יתחיל">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xmlns="" id="{62E4A538-4F3E-F64C-9A27-B17595D3ECF2}"/>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0" name="Oval 19">
            <a:extLst>
              <a:ext uri="{FF2B5EF4-FFF2-40B4-BE49-F238E27FC236}">
                <a16:creationId xmlns:a16="http://schemas.microsoft.com/office/drawing/2014/main" xmlns="" id="{27172820-2592-F844-962E-B7622499629C}"/>
              </a:ext>
            </a:extLst>
          </p:cNvPr>
          <p:cNvSpPr/>
          <p:nvPr userDrawn="1"/>
        </p:nvSpPr>
        <p:spPr>
          <a:xfrm>
            <a:off x="2503250" y="646709"/>
            <a:ext cx="4104977" cy="54733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FFFFFF"/>
              </a:solidFill>
            </a:endParaRPr>
          </a:p>
        </p:txBody>
      </p:sp>
      <p:sp>
        <p:nvSpPr>
          <p:cNvPr id="21" name="Rectangle 20">
            <a:extLst>
              <a:ext uri="{FF2B5EF4-FFF2-40B4-BE49-F238E27FC236}">
                <a16:creationId xmlns:a16="http://schemas.microsoft.com/office/drawing/2014/main" xmlns="" id="{87C06441-95B9-0742-ADAD-6775071AAF2F}"/>
              </a:ext>
            </a:extLst>
          </p:cNvPr>
          <p:cNvSpPr/>
          <p:nvPr userDrawn="1"/>
        </p:nvSpPr>
        <p:spPr>
          <a:xfrm>
            <a:off x="2215494" y="3446401"/>
            <a:ext cx="4713089" cy="12398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nvGrpSpPr>
          <p:cNvPr id="22" name="Group 21">
            <a:extLst>
              <a:ext uri="{FF2B5EF4-FFF2-40B4-BE49-F238E27FC236}">
                <a16:creationId xmlns:a16="http://schemas.microsoft.com/office/drawing/2014/main" xmlns="" id="{0926655C-3CE5-C044-BE72-10DD68A23C96}"/>
              </a:ext>
            </a:extLst>
          </p:cNvPr>
          <p:cNvGrpSpPr/>
          <p:nvPr userDrawn="1"/>
        </p:nvGrpSpPr>
        <p:grpSpPr>
          <a:xfrm>
            <a:off x="6965731" y="5672000"/>
            <a:ext cx="2934932" cy="506326"/>
            <a:chOff x="358720" y="285496"/>
            <a:chExt cx="3913243" cy="506326"/>
          </a:xfrm>
        </p:grpSpPr>
        <p:cxnSp>
          <p:nvCxnSpPr>
            <p:cNvPr id="23" name="Straight Connector 22">
              <a:extLst>
                <a:ext uri="{FF2B5EF4-FFF2-40B4-BE49-F238E27FC236}">
                  <a16:creationId xmlns:a16="http://schemas.microsoft.com/office/drawing/2014/main" xmlns="" id="{FB632D79-E751-0D4D-B6CD-4B8B1AD073DF}"/>
                </a:ext>
              </a:extLst>
            </p:cNvPr>
            <p:cNvCxnSpPr>
              <a:cxnSpLocks/>
            </p:cNvCxnSpPr>
            <p:nvPr userDrawn="1"/>
          </p:nvCxnSpPr>
          <p:spPr>
            <a:xfrm>
              <a:off x="865046" y="532257"/>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xmlns="" id="{E763B464-1237-A348-9193-961771EAE3CA}"/>
                </a:ext>
              </a:extLst>
            </p:cNvPr>
            <p:cNvSpPr/>
            <p:nvPr userDrawn="1"/>
          </p:nvSpPr>
          <p:spPr>
            <a:xfrm rot="16200000">
              <a:off x="358720" y="285496"/>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FFFFFF"/>
                </a:solidFill>
              </a:endParaRPr>
            </a:p>
          </p:txBody>
        </p:sp>
        <p:sp>
          <p:nvSpPr>
            <p:cNvPr id="38" name="Rectangle 37">
              <a:extLst>
                <a:ext uri="{FF2B5EF4-FFF2-40B4-BE49-F238E27FC236}">
                  <a16:creationId xmlns:a16="http://schemas.microsoft.com/office/drawing/2014/main" xmlns="" id="{0DC01593-63DE-304C-8644-C1E7B54F6003}"/>
                </a:ext>
              </a:extLst>
            </p:cNvPr>
            <p:cNvSpPr/>
            <p:nvPr userDrawn="1"/>
          </p:nvSpPr>
          <p:spPr>
            <a:xfrm>
              <a:off x="781297" y="454909"/>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grpSp>
      <p:sp>
        <p:nvSpPr>
          <p:cNvPr id="39" name="Text Placeholder 3">
            <a:extLst>
              <a:ext uri="{FF2B5EF4-FFF2-40B4-BE49-F238E27FC236}">
                <a16:creationId xmlns:a16="http://schemas.microsoft.com/office/drawing/2014/main" xmlns="" id="{F8511632-504F-D34E-99DD-590976B81E4B}"/>
              </a:ext>
            </a:extLst>
          </p:cNvPr>
          <p:cNvSpPr>
            <a:spLocks noGrp="1"/>
          </p:cNvSpPr>
          <p:nvPr>
            <p:ph type="body" sz="quarter" idx="11" hasCustomPrompt="1"/>
          </p:nvPr>
        </p:nvSpPr>
        <p:spPr>
          <a:xfrm>
            <a:off x="2864756" y="1776139"/>
            <a:ext cx="3414489" cy="2202291"/>
          </a:xfrm>
          <a:prstGeom prst="rect">
            <a:avLst/>
          </a:prstGeom>
        </p:spPr>
        <p:txBody>
          <a:bodyPr>
            <a:normAutofit/>
          </a:bodyPr>
          <a:lstStyle>
            <a:lvl1pPr marL="0" indent="0" algn="ctr">
              <a:lnSpc>
                <a:spcPts val="5000"/>
              </a:lnSpc>
              <a:buNone/>
              <a:defRPr sz="6000">
                <a:solidFill>
                  <a:schemeClr val="bg1"/>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he-IL" dirty="0"/>
              <a:t>השיעור הבא</a:t>
            </a:r>
          </a:p>
          <a:p>
            <a:pPr lvl="0"/>
            <a:r>
              <a:rPr lang="he-IL" dirty="0"/>
              <a:t>יתחיל</a:t>
            </a:r>
          </a:p>
        </p:txBody>
      </p:sp>
      <p:cxnSp>
        <p:nvCxnSpPr>
          <p:cNvPr id="40" name="Straight Connector 39">
            <a:extLst>
              <a:ext uri="{FF2B5EF4-FFF2-40B4-BE49-F238E27FC236}">
                <a16:creationId xmlns:a16="http://schemas.microsoft.com/office/drawing/2014/main" xmlns="" id="{38D758A6-ADAA-3C4B-BE73-77E62B36AA06}"/>
              </a:ext>
            </a:extLst>
          </p:cNvPr>
          <p:cNvCxnSpPr>
            <a:cxnSpLocks/>
          </p:cNvCxnSpPr>
          <p:nvPr userDrawn="1"/>
        </p:nvCxnSpPr>
        <p:spPr>
          <a:xfrm>
            <a:off x="1782857" y="6178326"/>
            <a:ext cx="103941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xmlns="" id="{E21BCB78-6EA9-EA49-A148-510318E93A2D}"/>
              </a:ext>
            </a:extLst>
          </p:cNvPr>
          <p:cNvGrpSpPr/>
          <p:nvPr userDrawn="1"/>
        </p:nvGrpSpPr>
        <p:grpSpPr>
          <a:xfrm rot="10800000">
            <a:off x="8611682" y="140248"/>
            <a:ext cx="452027" cy="577326"/>
            <a:chOff x="781297" y="5586292"/>
            <a:chExt cx="602703" cy="577326"/>
          </a:xfrm>
        </p:grpSpPr>
        <p:sp>
          <p:nvSpPr>
            <p:cNvPr id="42" name="Rectangle 41">
              <a:extLst>
                <a:ext uri="{FF2B5EF4-FFF2-40B4-BE49-F238E27FC236}">
                  <a16:creationId xmlns:a16="http://schemas.microsoft.com/office/drawing/2014/main" xmlns="" id="{535DAE40-5EC9-C549-9045-80058A5F7020}"/>
                </a:ext>
              </a:extLst>
            </p:cNvPr>
            <p:cNvSpPr/>
            <p:nvPr userDrawn="1"/>
          </p:nvSpPr>
          <p:spPr>
            <a:xfrm rot="16200000">
              <a:off x="781297" y="5657292"/>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FFFFFF"/>
                </a:solidFill>
              </a:endParaRPr>
            </a:p>
          </p:txBody>
        </p:sp>
        <p:sp>
          <p:nvSpPr>
            <p:cNvPr id="43" name="Rectangle 42">
              <a:extLst>
                <a:ext uri="{FF2B5EF4-FFF2-40B4-BE49-F238E27FC236}">
                  <a16:creationId xmlns:a16="http://schemas.microsoft.com/office/drawing/2014/main" xmlns="" id="{D506E076-5D5A-C74C-B372-7A4154F417C5}"/>
                </a:ext>
              </a:extLst>
            </p:cNvPr>
            <p:cNvSpPr/>
            <p:nvPr userDrawn="1"/>
          </p:nvSpPr>
          <p:spPr>
            <a:xfrm>
              <a:off x="1216502" y="5586292"/>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grpSp>
      <p:cxnSp>
        <p:nvCxnSpPr>
          <p:cNvPr id="44" name="Straight Connector 43">
            <a:extLst>
              <a:ext uri="{FF2B5EF4-FFF2-40B4-BE49-F238E27FC236}">
                <a16:creationId xmlns:a16="http://schemas.microsoft.com/office/drawing/2014/main" xmlns="" id="{A245E28D-F02E-8440-8D16-26A1C54AA2EE}"/>
              </a:ext>
            </a:extLst>
          </p:cNvPr>
          <p:cNvCxnSpPr>
            <a:cxnSpLocks/>
          </p:cNvCxnSpPr>
          <p:nvPr userDrawn="1"/>
        </p:nvCxnSpPr>
        <p:spPr>
          <a:xfrm>
            <a:off x="-509046" y="6456415"/>
            <a:ext cx="25915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5" name="Text Placeholder 20">
            <a:extLst>
              <a:ext uri="{FF2B5EF4-FFF2-40B4-BE49-F238E27FC236}">
                <a16:creationId xmlns:a16="http://schemas.microsoft.com/office/drawing/2014/main" xmlns="" id="{F8425CF9-C181-8048-9710-1776C265DFA5}"/>
              </a:ext>
            </a:extLst>
          </p:cNvPr>
          <p:cNvSpPr>
            <a:spLocks noGrp="1"/>
          </p:cNvSpPr>
          <p:nvPr>
            <p:ph type="body" sz="quarter" idx="12" hasCustomPrompt="1"/>
          </p:nvPr>
        </p:nvSpPr>
        <p:spPr>
          <a:xfrm>
            <a:off x="2823606" y="3704678"/>
            <a:ext cx="3496865" cy="819517"/>
          </a:xfrm>
          <a:prstGeom prst="rect">
            <a:avLst/>
          </a:prstGeom>
        </p:spPr>
        <p:txBody>
          <a:bodyPr anchor="b">
            <a:noAutofit/>
          </a:bodyPr>
          <a:lstStyle>
            <a:lvl1pPr marL="0" indent="0" algn="ctr">
              <a:buNone/>
              <a:defRPr sz="5400">
                <a:solidFill>
                  <a:schemeClr val="bg1"/>
                </a:solidFill>
                <a:latin typeface="Calibri" panose="020F0502020204030204" pitchFamily="34" charset="0"/>
                <a:cs typeface="Calibri" panose="020F0502020204030204" pitchFamily="34" charset="0"/>
              </a:defRPr>
            </a:lvl1pPr>
          </a:lstStyle>
          <a:p>
            <a:pPr lvl="0"/>
            <a:r>
              <a:rPr lang="he-IL" dirty="0"/>
              <a:t>בשעה 09:00</a:t>
            </a:r>
            <a:endParaRPr lang="x-none" dirty="0"/>
          </a:p>
        </p:txBody>
      </p:sp>
      <p:grpSp>
        <p:nvGrpSpPr>
          <p:cNvPr id="46" name="Group 45">
            <a:extLst>
              <a:ext uri="{FF2B5EF4-FFF2-40B4-BE49-F238E27FC236}">
                <a16:creationId xmlns:a16="http://schemas.microsoft.com/office/drawing/2014/main" xmlns="" id="{C11C2775-6CE2-CB46-B1F6-A1DA25636EF9}"/>
              </a:ext>
            </a:extLst>
          </p:cNvPr>
          <p:cNvGrpSpPr/>
          <p:nvPr userDrawn="1"/>
        </p:nvGrpSpPr>
        <p:grpSpPr>
          <a:xfrm>
            <a:off x="-83128" y="110839"/>
            <a:ext cx="1147573" cy="1525930"/>
            <a:chOff x="8374611" y="4283110"/>
            <a:chExt cx="2300578" cy="2294314"/>
          </a:xfrm>
        </p:grpSpPr>
        <p:pic>
          <p:nvPicPr>
            <p:cNvPr id="47" name="Picture 46">
              <a:extLst>
                <a:ext uri="{FF2B5EF4-FFF2-40B4-BE49-F238E27FC236}">
                  <a16:creationId xmlns:a16="http://schemas.microsoft.com/office/drawing/2014/main" xmlns="" id="{999DAA0B-945E-B649-96B6-F1B28A931896}"/>
                </a:ext>
              </a:extLst>
            </p:cNvPr>
            <p:cNvPicPr>
              <a:picLocks noChangeAspect="1"/>
            </p:cNvPicPr>
            <p:nvPr/>
          </p:nvPicPr>
          <p:blipFill rotWithShape="1">
            <a:blip r:embed="rId3"/>
            <a:srcRect l="62938"/>
            <a:stretch/>
          </p:blipFill>
          <p:spPr>
            <a:xfrm>
              <a:off x="8873684" y="4283110"/>
              <a:ext cx="1227785" cy="1519621"/>
            </a:xfrm>
            <a:prstGeom prst="rect">
              <a:avLst/>
            </a:prstGeom>
          </p:spPr>
        </p:pic>
        <p:sp>
          <p:nvSpPr>
            <p:cNvPr id="48" name="Rectangle 47">
              <a:extLst>
                <a:ext uri="{FF2B5EF4-FFF2-40B4-BE49-F238E27FC236}">
                  <a16:creationId xmlns:a16="http://schemas.microsoft.com/office/drawing/2014/main" xmlns="" id="{97C9FCFD-707E-4746-B11A-AD11D0F6597A}"/>
                </a:ext>
              </a:extLst>
            </p:cNvPr>
            <p:cNvSpPr/>
            <p:nvPr/>
          </p:nvSpPr>
          <p:spPr>
            <a:xfrm>
              <a:off x="8374611" y="5883287"/>
              <a:ext cx="2300578" cy="694137"/>
            </a:xfrm>
            <a:prstGeom prst="rect">
              <a:avLst/>
            </a:prstGeom>
          </p:spPr>
          <p:txBody>
            <a:bodyPr wrap="square">
              <a:spAutoFit/>
            </a:bodyPr>
            <a:lstStyle/>
            <a:p>
              <a:pPr algn="ctr" rtl="0"/>
              <a:r>
                <a:rPr lang="x-none" sz="1200" dirty="0">
                  <a:solidFill>
                    <a:srgbClr val="FFFFFF"/>
                  </a:solidFill>
                  <a:latin typeface="Arial" panose="020B0604020202020204" pitchFamily="34" charset="0"/>
                  <a:cs typeface="Arial" panose="020B0604020202020204" pitchFamily="34" charset="0"/>
                </a:rPr>
                <a:t>מדינת ישראל</a:t>
              </a:r>
            </a:p>
            <a:p>
              <a:pPr algn="ctr" rtl="0"/>
              <a:r>
                <a:rPr lang="x-none" sz="1200" dirty="0">
                  <a:solidFill>
                    <a:srgbClr val="FFFFFF"/>
                  </a:solidFill>
                  <a:latin typeface="Arial" panose="020B0604020202020204" pitchFamily="34" charset="0"/>
                  <a:cs typeface="Arial" panose="020B0604020202020204" pitchFamily="34" charset="0"/>
                </a:rPr>
                <a:t>משרד החינוך</a:t>
              </a:r>
            </a:p>
          </p:txBody>
        </p:sp>
      </p:grpSp>
    </p:spTree>
    <p:extLst>
      <p:ext uri="{BB962C8B-B14F-4D97-AF65-F5344CB8AC3E}">
        <p14:creationId xmlns:p14="http://schemas.microsoft.com/office/powerpoint/2010/main" val="543318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הקניית ידע">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xmlns="" id="{F3D0ADF1-D847-284D-AE47-771521E2B24A}"/>
              </a:ext>
            </a:extLst>
          </p:cNvPr>
          <p:cNvPicPr>
            <a:picLocks noChangeAspect="1"/>
          </p:cNvPicPr>
          <p:nvPr userDrawn="1"/>
        </p:nvPicPr>
        <p:blipFill rotWithShape="1">
          <a:blip r:embed="rId2"/>
          <a:srcRect t="12244" b="63870"/>
          <a:stretch/>
        </p:blipFill>
        <p:spPr>
          <a:xfrm>
            <a:off x="0" y="0"/>
            <a:ext cx="9144000" cy="1638096"/>
          </a:xfrm>
          <a:prstGeom prst="rect">
            <a:avLst/>
          </a:prstGeom>
        </p:spPr>
      </p:pic>
      <p:grpSp>
        <p:nvGrpSpPr>
          <p:cNvPr id="11" name="Group 10">
            <a:extLst>
              <a:ext uri="{FF2B5EF4-FFF2-40B4-BE49-F238E27FC236}">
                <a16:creationId xmlns:a16="http://schemas.microsoft.com/office/drawing/2014/main" xmlns="" id="{BF9495AA-1719-C54F-A2B2-87C6465A7079}"/>
              </a:ext>
            </a:extLst>
          </p:cNvPr>
          <p:cNvGrpSpPr/>
          <p:nvPr userDrawn="1"/>
        </p:nvGrpSpPr>
        <p:grpSpPr>
          <a:xfrm>
            <a:off x="269041" y="6187719"/>
            <a:ext cx="2934932" cy="506326"/>
            <a:chOff x="358720" y="6187719"/>
            <a:chExt cx="3913243" cy="506326"/>
          </a:xfrm>
        </p:grpSpPr>
        <p:cxnSp>
          <p:nvCxnSpPr>
            <p:cNvPr id="12" name="Straight Connector 11">
              <a:extLst>
                <a:ext uri="{FF2B5EF4-FFF2-40B4-BE49-F238E27FC236}">
                  <a16:creationId xmlns:a16="http://schemas.microsoft.com/office/drawing/2014/main" xmlns="" id="{26F870BD-9FE5-E147-B1BA-F94A387BF3A3}"/>
                </a:ext>
              </a:extLst>
            </p:cNvPr>
            <p:cNvCxnSpPr>
              <a:cxnSpLocks/>
            </p:cNvCxnSpPr>
            <p:nvPr userDrawn="1"/>
          </p:nvCxnSpPr>
          <p:spPr>
            <a:xfrm>
              <a:off x="865046"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FF6BABF9-7B82-D145-A1D5-BD487BC4353D}"/>
                </a:ext>
              </a:extLst>
            </p:cNvPr>
            <p:cNvSpPr/>
            <p:nvPr userDrawn="1"/>
          </p:nvSpPr>
          <p:spPr>
            <a:xfrm rot="16200000">
              <a:off x="358720" y="6187719"/>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4" name="Rectangle 13">
              <a:extLst>
                <a:ext uri="{FF2B5EF4-FFF2-40B4-BE49-F238E27FC236}">
                  <a16:creationId xmlns:a16="http://schemas.microsoft.com/office/drawing/2014/main" xmlns="" id="{835F94E0-6697-AF4E-BBFD-30ABCB3C4440}"/>
                </a:ext>
              </a:extLst>
            </p:cNvPr>
            <p:cNvSpPr/>
            <p:nvPr userDrawn="1"/>
          </p:nvSpPr>
          <p:spPr>
            <a:xfrm>
              <a:off x="781297" y="6357132"/>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sp>
        <p:nvSpPr>
          <p:cNvPr id="2" name="Title 1">
            <a:extLst>
              <a:ext uri="{FF2B5EF4-FFF2-40B4-BE49-F238E27FC236}">
                <a16:creationId xmlns:a16="http://schemas.microsoft.com/office/drawing/2014/main" xmlns="" id="{3195C777-214E-CC4E-BBAB-5037EB3579FE}"/>
              </a:ext>
            </a:extLst>
          </p:cNvPr>
          <p:cNvSpPr>
            <a:spLocks noGrp="1"/>
          </p:cNvSpPr>
          <p:nvPr>
            <p:ph type="title" hasCustomPrompt="1"/>
          </p:nvPr>
        </p:nvSpPr>
        <p:spPr>
          <a:xfrm>
            <a:off x="2311193" y="663126"/>
            <a:ext cx="6210000" cy="720000"/>
          </a:xfrm>
          <a:solidFill>
            <a:schemeClr val="accent1"/>
          </a:solidFill>
        </p:spPr>
        <p:txBody>
          <a:bodyPr anchor="b"/>
          <a:lstStyle>
            <a:lvl1pPr>
              <a:defRPr>
                <a:solidFill>
                  <a:schemeClr val="bg1"/>
                </a:solidFill>
                <a:latin typeface="Calibri" panose="020F0502020204030204" pitchFamily="34" charset="0"/>
                <a:cs typeface="Calibri" panose="020F0502020204030204" pitchFamily="34" charset="0"/>
              </a:defRPr>
            </a:lvl1pPr>
          </a:lstStyle>
          <a:p>
            <a:r>
              <a:rPr lang="he-IL" sz="4400" dirty="0"/>
              <a:t>הקניית ידע</a:t>
            </a:r>
            <a:endParaRPr lang="x-none" dirty="0"/>
          </a:p>
        </p:txBody>
      </p:sp>
      <p:sp>
        <p:nvSpPr>
          <p:cNvPr id="6" name="Text Placeholder 5">
            <a:extLst>
              <a:ext uri="{FF2B5EF4-FFF2-40B4-BE49-F238E27FC236}">
                <a16:creationId xmlns:a16="http://schemas.microsoft.com/office/drawing/2014/main" xmlns="" id="{35BD9B8B-E13B-EB49-B17F-97A61BE20F46}"/>
              </a:ext>
            </a:extLst>
          </p:cNvPr>
          <p:cNvSpPr>
            <a:spLocks noGrp="1"/>
          </p:cNvSpPr>
          <p:nvPr>
            <p:ph type="body" sz="quarter" idx="10" hasCustomPrompt="1"/>
          </p:nvPr>
        </p:nvSpPr>
        <p:spPr>
          <a:xfrm>
            <a:off x="1253796" y="1928819"/>
            <a:ext cx="7179469" cy="3844925"/>
          </a:xfrm>
        </p:spPr>
        <p:txBody>
          <a:bodyPr>
            <a:normAutofit/>
          </a:bodyPr>
          <a:lstStyle>
            <a:lvl1pPr marL="0" indent="0" algn="ctr">
              <a:buNone/>
              <a:defRPr sz="3600">
                <a:latin typeface="Calibri" panose="020F0502020204030204" pitchFamily="34" charset="0"/>
                <a:cs typeface="Calibri" panose="020F050202020403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r>
              <a:rPr lang="he-IL" dirty="0"/>
              <a:t>לחץ להוסיף סגנון טקסט גדול של תבנית בסיס</a:t>
            </a:r>
            <a:endParaRPr lang="x-none" dirty="0"/>
          </a:p>
        </p:txBody>
      </p:sp>
      <p:sp>
        <p:nvSpPr>
          <p:cNvPr id="16" name="Rectangle 15">
            <a:extLst>
              <a:ext uri="{FF2B5EF4-FFF2-40B4-BE49-F238E27FC236}">
                <a16:creationId xmlns:a16="http://schemas.microsoft.com/office/drawing/2014/main" xmlns="" id="{DF19C3E0-9540-994D-9F88-1AA758EA24E6}"/>
              </a:ext>
            </a:extLst>
          </p:cNvPr>
          <p:cNvSpPr/>
          <p:nvPr userDrawn="1"/>
        </p:nvSpPr>
        <p:spPr>
          <a:xfrm rot="16200000">
            <a:off x="8477580" y="857272"/>
            <a:ext cx="176581" cy="1324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Tree>
    <p:extLst>
      <p:ext uri="{BB962C8B-B14F-4D97-AF65-F5344CB8AC3E}">
        <p14:creationId xmlns:p14="http://schemas.microsoft.com/office/powerpoint/2010/main" val="3287851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הקניית ידע">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xmlns="" id="{6C84C288-45B9-0C4B-BC23-61FEF6C61789}"/>
              </a:ext>
            </a:extLst>
          </p:cNvPr>
          <p:cNvGrpSpPr/>
          <p:nvPr userDrawn="1"/>
        </p:nvGrpSpPr>
        <p:grpSpPr>
          <a:xfrm>
            <a:off x="269041" y="6187719"/>
            <a:ext cx="2934932" cy="506326"/>
            <a:chOff x="358720" y="6187719"/>
            <a:chExt cx="3913243" cy="506326"/>
          </a:xfrm>
        </p:grpSpPr>
        <p:cxnSp>
          <p:nvCxnSpPr>
            <p:cNvPr id="17" name="Straight Connector 16">
              <a:extLst>
                <a:ext uri="{FF2B5EF4-FFF2-40B4-BE49-F238E27FC236}">
                  <a16:creationId xmlns:a16="http://schemas.microsoft.com/office/drawing/2014/main" xmlns="" id="{EDECF7E4-AA12-DD4F-8FBA-6942B07B661F}"/>
                </a:ext>
              </a:extLst>
            </p:cNvPr>
            <p:cNvCxnSpPr>
              <a:cxnSpLocks/>
            </p:cNvCxnSpPr>
            <p:nvPr userDrawn="1"/>
          </p:nvCxnSpPr>
          <p:spPr>
            <a:xfrm>
              <a:off x="865046"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xmlns="" id="{4A824D68-292F-0740-864D-187885A36636}"/>
                </a:ext>
              </a:extLst>
            </p:cNvPr>
            <p:cNvSpPr/>
            <p:nvPr userDrawn="1"/>
          </p:nvSpPr>
          <p:spPr>
            <a:xfrm rot="16200000">
              <a:off x="358720" y="6187719"/>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9" name="Rectangle 18">
              <a:extLst>
                <a:ext uri="{FF2B5EF4-FFF2-40B4-BE49-F238E27FC236}">
                  <a16:creationId xmlns:a16="http://schemas.microsoft.com/office/drawing/2014/main" xmlns="" id="{5CFF00F0-B1E8-5F4E-A07B-F1B92F9D38A6}"/>
                </a:ext>
              </a:extLst>
            </p:cNvPr>
            <p:cNvSpPr/>
            <p:nvPr userDrawn="1"/>
          </p:nvSpPr>
          <p:spPr>
            <a:xfrm>
              <a:off x="781297" y="6357132"/>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sp>
        <p:nvSpPr>
          <p:cNvPr id="21" name="Text Placeholder 5">
            <a:extLst>
              <a:ext uri="{FF2B5EF4-FFF2-40B4-BE49-F238E27FC236}">
                <a16:creationId xmlns:a16="http://schemas.microsoft.com/office/drawing/2014/main" xmlns="" id="{872B4A16-607D-6547-9FD5-D3C9EE1A5211}"/>
              </a:ext>
            </a:extLst>
          </p:cNvPr>
          <p:cNvSpPr>
            <a:spLocks noGrp="1"/>
          </p:cNvSpPr>
          <p:nvPr>
            <p:ph type="body" sz="quarter" idx="10" hasCustomPrompt="1"/>
          </p:nvPr>
        </p:nvSpPr>
        <p:spPr>
          <a:xfrm>
            <a:off x="1253796" y="1928819"/>
            <a:ext cx="7179469" cy="3844925"/>
          </a:xfrm>
        </p:spPr>
        <p:txBody>
          <a:bodyPr>
            <a:normAutofit/>
          </a:bodyPr>
          <a:lstStyle>
            <a:lvl1pPr marL="0" indent="0" algn="ctr">
              <a:lnSpc>
                <a:spcPct val="100000"/>
              </a:lnSpc>
              <a:buNone/>
              <a:defRPr sz="3600">
                <a:latin typeface="Calibri" panose="020F0502020204030204" pitchFamily="34" charset="0"/>
                <a:cs typeface="Calibri" panose="020F050202020403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r>
              <a:rPr lang="he-IL" dirty="0"/>
              <a:t>לחץ להוסיף סגנון טקסט גדול של תבנית בסיס</a:t>
            </a:r>
            <a:endParaRPr lang="x-none" dirty="0"/>
          </a:p>
        </p:txBody>
      </p:sp>
      <p:pic>
        <p:nvPicPr>
          <p:cNvPr id="22" name="Picture 21">
            <a:extLst>
              <a:ext uri="{FF2B5EF4-FFF2-40B4-BE49-F238E27FC236}">
                <a16:creationId xmlns:a16="http://schemas.microsoft.com/office/drawing/2014/main" xmlns="" id="{767E3700-96F7-8449-BFE9-3638DA837676}"/>
              </a:ext>
            </a:extLst>
          </p:cNvPr>
          <p:cNvPicPr>
            <a:picLocks noChangeAspect="1"/>
          </p:cNvPicPr>
          <p:nvPr userDrawn="1"/>
        </p:nvPicPr>
        <p:blipFill rotWithShape="1">
          <a:blip r:embed="rId2"/>
          <a:srcRect t="4861" b="71253"/>
          <a:stretch/>
        </p:blipFill>
        <p:spPr>
          <a:xfrm>
            <a:off x="0" y="0"/>
            <a:ext cx="9144000" cy="1638096"/>
          </a:xfrm>
          <a:prstGeom prst="rect">
            <a:avLst/>
          </a:prstGeom>
        </p:spPr>
      </p:pic>
      <p:sp>
        <p:nvSpPr>
          <p:cNvPr id="23" name="Title 1">
            <a:extLst>
              <a:ext uri="{FF2B5EF4-FFF2-40B4-BE49-F238E27FC236}">
                <a16:creationId xmlns:a16="http://schemas.microsoft.com/office/drawing/2014/main" xmlns="" id="{0A8A744E-77D6-CD40-B413-54A26D5A1891}"/>
              </a:ext>
            </a:extLst>
          </p:cNvPr>
          <p:cNvSpPr>
            <a:spLocks noGrp="1"/>
          </p:cNvSpPr>
          <p:nvPr>
            <p:ph type="title" hasCustomPrompt="1"/>
          </p:nvPr>
        </p:nvSpPr>
        <p:spPr>
          <a:xfrm>
            <a:off x="2311193" y="663126"/>
            <a:ext cx="6210000" cy="720000"/>
          </a:xfrm>
          <a:solidFill>
            <a:schemeClr val="accent1"/>
          </a:solidFill>
        </p:spPr>
        <p:txBody>
          <a:bodyPr anchor="b"/>
          <a:lstStyle>
            <a:lvl1pPr>
              <a:defRPr>
                <a:solidFill>
                  <a:schemeClr val="bg1"/>
                </a:solidFill>
                <a:latin typeface="Calibri" panose="020F0502020204030204" pitchFamily="34" charset="0"/>
                <a:cs typeface="Calibri" panose="020F0502020204030204" pitchFamily="34" charset="0"/>
              </a:defRPr>
            </a:lvl1pPr>
          </a:lstStyle>
          <a:p>
            <a:r>
              <a:rPr lang="he-IL" sz="4400" dirty="0"/>
              <a:t>הקניית ידע</a:t>
            </a:r>
            <a:endParaRPr lang="x-none" dirty="0"/>
          </a:p>
        </p:txBody>
      </p:sp>
      <p:sp>
        <p:nvSpPr>
          <p:cNvPr id="24" name="Rectangle 23">
            <a:extLst>
              <a:ext uri="{FF2B5EF4-FFF2-40B4-BE49-F238E27FC236}">
                <a16:creationId xmlns:a16="http://schemas.microsoft.com/office/drawing/2014/main" xmlns="" id="{6C05C46E-F358-4B4C-A5AF-C1EE892CDA45}"/>
              </a:ext>
            </a:extLst>
          </p:cNvPr>
          <p:cNvSpPr/>
          <p:nvPr userDrawn="1"/>
        </p:nvSpPr>
        <p:spPr>
          <a:xfrm rot="16200000">
            <a:off x="8477580" y="857272"/>
            <a:ext cx="176581" cy="1324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Tree>
    <p:extLst>
      <p:ext uri="{BB962C8B-B14F-4D97-AF65-F5344CB8AC3E}">
        <p14:creationId xmlns:p14="http://schemas.microsoft.com/office/powerpoint/2010/main" val="3089482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סיכום">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xmlns="" id="{BF9495AA-1719-C54F-A2B2-87C6465A7079}"/>
              </a:ext>
            </a:extLst>
          </p:cNvPr>
          <p:cNvGrpSpPr/>
          <p:nvPr userDrawn="1"/>
        </p:nvGrpSpPr>
        <p:grpSpPr>
          <a:xfrm>
            <a:off x="269041" y="6187719"/>
            <a:ext cx="2934932" cy="506326"/>
            <a:chOff x="358720" y="6187719"/>
            <a:chExt cx="3913243" cy="506326"/>
          </a:xfrm>
        </p:grpSpPr>
        <p:cxnSp>
          <p:nvCxnSpPr>
            <p:cNvPr id="12" name="Straight Connector 11">
              <a:extLst>
                <a:ext uri="{FF2B5EF4-FFF2-40B4-BE49-F238E27FC236}">
                  <a16:creationId xmlns:a16="http://schemas.microsoft.com/office/drawing/2014/main" xmlns="" id="{26F870BD-9FE5-E147-B1BA-F94A387BF3A3}"/>
                </a:ext>
              </a:extLst>
            </p:cNvPr>
            <p:cNvCxnSpPr>
              <a:cxnSpLocks/>
            </p:cNvCxnSpPr>
            <p:nvPr userDrawn="1"/>
          </p:nvCxnSpPr>
          <p:spPr>
            <a:xfrm>
              <a:off x="865046"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FF6BABF9-7B82-D145-A1D5-BD487BC4353D}"/>
                </a:ext>
              </a:extLst>
            </p:cNvPr>
            <p:cNvSpPr/>
            <p:nvPr userDrawn="1"/>
          </p:nvSpPr>
          <p:spPr>
            <a:xfrm rot="16200000">
              <a:off x="358720" y="6187719"/>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4" name="Rectangle 13">
              <a:extLst>
                <a:ext uri="{FF2B5EF4-FFF2-40B4-BE49-F238E27FC236}">
                  <a16:creationId xmlns:a16="http://schemas.microsoft.com/office/drawing/2014/main" xmlns="" id="{835F94E0-6697-AF4E-BBFD-30ABCB3C4440}"/>
                </a:ext>
              </a:extLst>
            </p:cNvPr>
            <p:cNvSpPr/>
            <p:nvPr userDrawn="1"/>
          </p:nvSpPr>
          <p:spPr>
            <a:xfrm>
              <a:off x="781297" y="6357132"/>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sp>
        <p:nvSpPr>
          <p:cNvPr id="3" name="Content Placeholder 2">
            <a:extLst>
              <a:ext uri="{FF2B5EF4-FFF2-40B4-BE49-F238E27FC236}">
                <a16:creationId xmlns:a16="http://schemas.microsoft.com/office/drawing/2014/main" xmlns="" id="{DE3919D3-6070-BF4F-BBCA-96749A9742C9}"/>
              </a:ext>
            </a:extLst>
          </p:cNvPr>
          <p:cNvSpPr>
            <a:spLocks noGrp="1"/>
          </p:cNvSpPr>
          <p:nvPr>
            <p:ph sz="half" idx="1" hasCustomPrompt="1"/>
          </p:nvPr>
        </p:nvSpPr>
        <p:spPr>
          <a:xfrm>
            <a:off x="628650" y="1825625"/>
            <a:ext cx="3886200" cy="4351338"/>
          </a:xfrm>
        </p:spPr>
        <p:txBody>
          <a:bodyPr/>
          <a:lstStyle>
            <a:lvl1pPr marL="228600" marR="0" indent="-228600" algn="r" defTabSz="914400" rtl="1"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latin typeface="Calibri" panose="020F0502020204030204" pitchFamily="34" charset="0"/>
                <a:cs typeface="Calibri" panose="020F0502020204030204" pitchFamily="34" charset="0"/>
              </a:defRPr>
            </a:lvl1pPr>
          </a:lstStyle>
          <a:p>
            <a:pPr lvl="0"/>
            <a:r>
              <a:rPr lang="he-IL" dirty="0"/>
              <a:t>מה למדנו היום</a:t>
            </a:r>
            <a:endParaRPr lang="en-US" dirty="0"/>
          </a:p>
        </p:txBody>
      </p:sp>
      <p:sp>
        <p:nvSpPr>
          <p:cNvPr id="4" name="Content Placeholder 3">
            <a:extLst>
              <a:ext uri="{FF2B5EF4-FFF2-40B4-BE49-F238E27FC236}">
                <a16:creationId xmlns:a16="http://schemas.microsoft.com/office/drawing/2014/main" xmlns="" id="{2A2DAA31-6933-314B-860C-C516AAD66558}"/>
              </a:ext>
            </a:extLst>
          </p:cNvPr>
          <p:cNvSpPr>
            <a:spLocks noGrp="1"/>
          </p:cNvSpPr>
          <p:nvPr>
            <p:ph sz="half" idx="2" hasCustomPrompt="1"/>
          </p:nvPr>
        </p:nvSpPr>
        <p:spPr>
          <a:xfrm>
            <a:off x="4629150" y="1825625"/>
            <a:ext cx="3886200" cy="4351338"/>
          </a:xfrm>
        </p:spPr>
        <p:txBody>
          <a:bodyPr/>
          <a:lstStyle>
            <a:lvl1pPr marL="228600" marR="0" indent="-228600" algn="r" defTabSz="914400" rtl="1"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latin typeface="Calibri" panose="020F0502020204030204" pitchFamily="34" charset="0"/>
                <a:cs typeface="Calibri" panose="020F0502020204030204" pitchFamily="34" charset="0"/>
              </a:defRPr>
            </a:lvl1pPr>
          </a:lstStyle>
          <a:p>
            <a:pPr lvl="0"/>
            <a:r>
              <a:rPr lang="he-IL" dirty="0"/>
              <a:t>מה למדנו היום</a:t>
            </a:r>
            <a:endParaRPr lang="en-US" dirty="0"/>
          </a:p>
        </p:txBody>
      </p:sp>
      <p:pic>
        <p:nvPicPr>
          <p:cNvPr id="17" name="Picture 16">
            <a:extLst>
              <a:ext uri="{FF2B5EF4-FFF2-40B4-BE49-F238E27FC236}">
                <a16:creationId xmlns:a16="http://schemas.microsoft.com/office/drawing/2014/main" xmlns="" id="{810FCD1C-9BFA-FD42-804A-9E5198CD8941}"/>
              </a:ext>
            </a:extLst>
          </p:cNvPr>
          <p:cNvPicPr>
            <a:picLocks noChangeAspect="1"/>
          </p:cNvPicPr>
          <p:nvPr userDrawn="1"/>
        </p:nvPicPr>
        <p:blipFill rotWithShape="1">
          <a:blip r:embed="rId2"/>
          <a:srcRect t="45139" b="30975"/>
          <a:stretch/>
        </p:blipFill>
        <p:spPr>
          <a:xfrm>
            <a:off x="0" y="0"/>
            <a:ext cx="9144000" cy="1638096"/>
          </a:xfrm>
          <a:prstGeom prst="rect">
            <a:avLst/>
          </a:prstGeom>
        </p:spPr>
      </p:pic>
      <p:sp>
        <p:nvSpPr>
          <p:cNvPr id="18" name="Title 1">
            <a:extLst>
              <a:ext uri="{FF2B5EF4-FFF2-40B4-BE49-F238E27FC236}">
                <a16:creationId xmlns:a16="http://schemas.microsoft.com/office/drawing/2014/main" xmlns="" id="{4C86F48E-655F-694F-BDCD-C6E0758A82B9}"/>
              </a:ext>
            </a:extLst>
          </p:cNvPr>
          <p:cNvSpPr>
            <a:spLocks noGrp="1"/>
          </p:cNvSpPr>
          <p:nvPr>
            <p:ph type="title" hasCustomPrompt="1"/>
          </p:nvPr>
        </p:nvSpPr>
        <p:spPr>
          <a:xfrm>
            <a:off x="2311193" y="663126"/>
            <a:ext cx="6210000" cy="720000"/>
          </a:xfrm>
          <a:solidFill>
            <a:schemeClr val="accent1"/>
          </a:solidFill>
        </p:spPr>
        <p:txBody>
          <a:bodyPr anchor="b"/>
          <a:lstStyle>
            <a:lvl1pPr>
              <a:defRPr>
                <a:solidFill>
                  <a:schemeClr val="bg1"/>
                </a:solidFill>
                <a:latin typeface="Calibri" panose="020F0502020204030204" pitchFamily="34" charset="0"/>
                <a:cs typeface="Calibri" panose="020F0502020204030204" pitchFamily="34" charset="0"/>
              </a:defRPr>
            </a:lvl1pPr>
          </a:lstStyle>
          <a:p>
            <a:r>
              <a:rPr lang="he-IL" sz="4400" dirty="0"/>
              <a:t>סיכום</a:t>
            </a:r>
            <a:endParaRPr lang="x-none" dirty="0"/>
          </a:p>
        </p:txBody>
      </p:sp>
      <p:sp>
        <p:nvSpPr>
          <p:cNvPr id="19" name="Rectangle 18">
            <a:extLst>
              <a:ext uri="{FF2B5EF4-FFF2-40B4-BE49-F238E27FC236}">
                <a16:creationId xmlns:a16="http://schemas.microsoft.com/office/drawing/2014/main" xmlns="" id="{C751472D-38D8-CC45-AB7A-D96BB6EFB903}"/>
              </a:ext>
            </a:extLst>
          </p:cNvPr>
          <p:cNvSpPr/>
          <p:nvPr userDrawn="1"/>
        </p:nvSpPr>
        <p:spPr>
          <a:xfrm rot="16200000">
            <a:off x="8477580" y="857272"/>
            <a:ext cx="176581" cy="1324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Tree>
    <p:extLst>
      <p:ext uri="{BB962C8B-B14F-4D97-AF65-F5344CB8AC3E}">
        <p14:creationId xmlns:p14="http://schemas.microsoft.com/office/powerpoint/2010/main" val="36307667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משימה באופק">
    <p:spTree>
      <p:nvGrpSpPr>
        <p:cNvPr id="1" name=""/>
        <p:cNvGrpSpPr/>
        <p:nvPr/>
      </p:nvGrpSpPr>
      <p:grpSpPr>
        <a:xfrm>
          <a:off x="0" y="0"/>
          <a:ext cx="0" cy="0"/>
          <a:chOff x="0" y="0"/>
          <a:chExt cx="0" cy="0"/>
        </a:xfrm>
      </p:grpSpPr>
      <p:sp>
        <p:nvSpPr>
          <p:cNvPr id="3" name="מציין מיקום של תמונה 2"/>
          <p:cNvSpPr>
            <a:spLocks noGrp="1"/>
          </p:cNvSpPr>
          <p:nvPr>
            <p:ph type="pic" idx="1" hasCustomPrompt="1"/>
          </p:nvPr>
        </p:nvSpPr>
        <p:spPr>
          <a:xfrm>
            <a:off x="743211" y="1541767"/>
            <a:ext cx="7692184" cy="4519533"/>
          </a:xfrm>
          <a:prstGeom prst="rect">
            <a:avLst/>
          </a:prstGeom>
        </p:spPr>
        <p:txBody>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lang="he-IL" dirty="0"/>
              <a:t>  לחץ כאן להוסיף תמונה</a:t>
            </a:r>
          </a:p>
        </p:txBody>
      </p:sp>
      <p:grpSp>
        <p:nvGrpSpPr>
          <p:cNvPr id="2" name="Group 1">
            <a:extLst>
              <a:ext uri="{FF2B5EF4-FFF2-40B4-BE49-F238E27FC236}">
                <a16:creationId xmlns:a16="http://schemas.microsoft.com/office/drawing/2014/main" xmlns="" id="{6E2EBC84-43F8-574B-B641-E38F11E343AF}"/>
              </a:ext>
            </a:extLst>
          </p:cNvPr>
          <p:cNvGrpSpPr/>
          <p:nvPr userDrawn="1"/>
        </p:nvGrpSpPr>
        <p:grpSpPr>
          <a:xfrm>
            <a:off x="-1785936" y="158428"/>
            <a:ext cx="10909092" cy="6541144"/>
            <a:chOff x="-2455150" y="146499"/>
            <a:chExt cx="14545456" cy="6541144"/>
          </a:xfrm>
        </p:grpSpPr>
        <p:sp>
          <p:nvSpPr>
            <p:cNvPr id="10" name="Rectangle 9">
              <a:extLst>
                <a:ext uri="{FF2B5EF4-FFF2-40B4-BE49-F238E27FC236}">
                  <a16:creationId xmlns:a16="http://schemas.microsoft.com/office/drawing/2014/main" xmlns="" id="{B5DB5F7D-0835-C146-BC9D-B30515AA8B6A}"/>
                </a:ext>
              </a:extLst>
            </p:cNvPr>
            <p:cNvSpPr/>
            <p:nvPr userDrawn="1"/>
          </p:nvSpPr>
          <p:spPr>
            <a:xfrm>
              <a:off x="11517522" y="146499"/>
              <a:ext cx="503306" cy="503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cxnSp>
          <p:nvCxnSpPr>
            <p:cNvPr id="11" name="Straight Connector 10">
              <a:extLst>
                <a:ext uri="{FF2B5EF4-FFF2-40B4-BE49-F238E27FC236}">
                  <a16:creationId xmlns:a16="http://schemas.microsoft.com/office/drawing/2014/main" xmlns="" id="{C0EA71EF-79A8-3646-BBDE-A1B8320FAEFB}"/>
                </a:ext>
              </a:extLst>
            </p:cNvPr>
            <p:cNvCxnSpPr>
              <a:cxnSpLocks/>
            </p:cNvCxnSpPr>
            <p:nvPr userDrawn="1"/>
          </p:nvCxnSpPr>
          <p:spPr>
            <a:xfrm>
              <a:off x="-2455150"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xmlns="" id="{4FFAC583-20CC-AD46-AF43-64CD61DC3D58}"/>
                </a:ext>
              </a:extLst>
            </p:cNvPr>
            <p:cNvGrpSpPr/>
            <p:nvPr userDrawn="1"/>
          </p:nvGrpSpPr>
          <p:grpSpPr>
            <a:xfrm rot="10800000">
              <a:off x="8177063" y="6181317"/>
              <a:ext cx="3913243" cy="506326"/>
              <a:chOff x="358720" y="6187719"/>
              <a:chExt cx="3913243" cy="506326"/>
            </a:xfrm>
          </p:grpSpPr>
          <p:cxnSp>
            <p:nvCxnSpPr>
              <p:cNvPr id="17" name="Straight Connector 16">
                <a:extLst>
                  <a:ext uri="{FF2B5EF4-FFF2-40B4-BE49-F238E27FC236}">
                    <a16:creationId xmlns:a16="http://schemas.microsoft.com/office/drawing/2014/main" xmlns="" id="{7FFC6B5D-55D1-324B-B8E3-F96F62F3AA18}"/>
                  </a:ext>
                </a:extLst>
              </p:cNvPr>
              <p:cNvCxnSpPr>
                <a:cxnSpLocks/>
              </p:cNvCxnSpPr>
              <p:nvPr userDrawn="1"/>
            </p:nvCxnSpPr>
            <p:spPr>
              <a:xfrm>
                <a:off x="865046"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xmlns="" id="{F8AA9893-4A9A-FB4F-BC48-9141DC495FE4}"/>
                  </a:ext>
                </a:extLst>
              </p:cNvPr>
              <p:cNvSpPr/>
              <p:nvPr userDrawn="1"/>
            </p:nvSpPr>
            <p:spPr>
              <a:xfrm rot="16200000">
                <a:off x="358720" y="6187719"/>
                <a:ext cx="506326" cy="5063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FFFFFF"/>
                  </a:solidFill>
                </a:endParaRPr>
              </a:p>
            </p:txBody>
          </p:sp>
          <p:sp>
            <p:nvSpPr>
              <p:cNvPr id="19" name="Rectangle 18">
                <a:extLst>
                  <a:ext uri="{FF2B5EF4-FFF2-40B4-BE49-F238E27FC236}">
                    <a16:creationId xmlns:a16="http://schemas.microsoft.com/office/drawing/2014/main" xmlns="" id="{5BBF761E-B3AD-8C4C-B469-DEC8A7F1D9C4}"/>
                  </a:ext>
                </a:extLst>
              </p:cNvPr>
              <p:cNvSpPr/>
              <p:nvPr userDrawn="1"/>
            </p:nvSpPr>
            <p:spPr>
              <a:xfrm>
                <a:off x="781297" y="6357132"/>
                <a:ext cx="167498" cy="1674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FFFFFF"/>
                  </a:solidFill>
                </a:endParaRPr>
              </a:p>
            </p:txBody>
          </p:sp>
        </p:grpSp>
        <p:sp>
          <p:nvSpPr>
            <p:cNvPr id="20" name="Rectangle 19">
              <a:extLst>
                <a:ext uri="{FF2B5EF4-FFF2-40B4-BE49-F238E27FC236}">
                  <a16:creationId xmlns:a16="http://schemas.microsoft.com/office/drawing/2014/main" xmlns="" id="{80BB7CC1-E08E-854B-AAC6-1DE02C2A331A}"/>
                </a:ext>
              </a:extLst>
            </p:cNvPr>
            <p:cNvSpPr/>
            <p:nvPr userDrawn="1"/>
          </p:nvSpPr>
          <p:spPr>
            <a:xfrm>
              <a:off x="11646396" y="507951"/>
              <a:ext cx="245558" cy="2455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grpSp>
      <p:sp>
        <p:nvSpPr>
          <p:cNvPr id="5" name="Text Placeholder 4">
            <a:extLst>
              <a:ext uri="{FF2B5EF4-FFF2-40B4-BE49-F238E27FC236}">
                <a16:creationId xmlns:a16="http://schemas.microsoft.com/office/drawing/2014/main" xmlns="" id="{5D6CED5B-1A65-7F4C-8656-A6983C5E1751}"/>
              </a:ext>
            </a:extLst>
          </p:cNvPr>
          <p:cNvSpPr>
            <a:spLocks noGrp="1"/>
          </p:cNvSpPr>
          <p:nvPr>
            <p:ph type="body" sz="quarter" idx="10"/>
          </p:nvPr>
        </p:nvSpPr>
        <p:spPr>
          <a:xfrm>
            <a:off x="320162" y="661710"/>
            <a:ext cx="8215313" cy="687492"/>
          </a:xfrm>
        </p:spPr>
        <p:txBody>
          <a:bodyPr>
            <a:noAutofit/>
          </a:bodyPr>
          <a:lstStyle>
            <a:lvl1pPr marL="0" indent="0">
              <a:buNone/>
              <a:defRPr sz="4800"/>
            </a:lvl1pPr>
            <a:lvl2pPr>
              <a:defRPr sz="4800"/>
            </a:lvl2pPr>
            <a:lvl3pPr>
              <a:defRPr sz="4800"/>
            </a:lvl3pPr>
            <a:lvl4pPr>
              <a:defRPr sz="4800"/>
            </a:lvl4pPr>
            <a:lvl5pPr>
              <a:defRPr sz="4800"/>
            </a:lvl5pPr>
          </a:lstStyle>
          <a:p>
            <a:pPr lvl="0"/>
            <a:r>
              <a:rPr lang="en-US" dirty="0"/>
              <a:t>Click to edit Master text styles</a:t>
            </a:r>
          </a:p>
        </p:txBody>
      </p:sp>
    </p:spTree>
    <p:extLst>
      <p:ext uri="{BB962C8B-B14F-4D97-AF65-F5344CB8AC3E}">
        <p14:creationId xmlns:p14="http://schemas.microsoft.com/office/powerpoint/2010/main" val="4202197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3B52AA-B68F-5F48-BD97-85E1AACA798F}"/>
              </a:ext>
            </a:extLst>
          </p:cNvPr>
          <p:cNvSpPr>
            <a:spLocks noGrp="1"/>
          </p:cNvSpPr>
          <p:nvPr>
            <p:ph type="title" hasCustomPrompt="1"/>
          </p:nvPr>
        </p:nvSpPr>
        <p:spPr>
          <a:xfrm>
            <a:off x="5484021" y="457200"/>
            <a:ext cx="2949178" cy="1600200"/>
          </a:xfrm>
        </p:spPr>
        <p:txBody>
          <a:bodyPr anchor="b">
            <a:normAutofit/>
          </a:bodyPr>
          <a:lstStyle>
            <a:lvl1pPr>
              <a:defRPr sz="2800" b="1">
                <a:latin typeface="Calibri" panose="020F0502020204030204" pitchFamily="34" charset="0"/>
                <a:cs typeface="Calibri" panose="020F0502020204030204" pitchFamily="34" charset="0"/>
              </a:defRPr>
            </a:lvl1pPr>
          </a:lstStyle>
          <a:p>
            <a:r>
              <a:rPr lang="he-IL" dirty="0"/>
              <a:t>לחץ כדי לערוך סגנון </a:t>
            </a:r>
            <a:r>
              <a:rPr lang="en-US" dirty="0"/>
              <a:t/>
            </a:r>
            <a:br>
              <a:rPr lang="en-US" dirty="0"/>
            </a:br>
            <a:r>
              <a:rPr lang="he-IL" dirty="0"/>
              <a:t>כותרת 3</a:t>
            </a:r>
            <a:endParaRPr lang="x-none" dirty="0"/>
          </a:p>
        </p:txBody>
      </p:sp>
      <p:sp>
        <p:nvSpPr>
          <p:cNvPr id="3" name="Picture Placeholder 2">
            <a:extLst>
              <a:ext uri="{FF2B5EF4-FFF2-40B4-BE49-F238E27FC236}">
                <a16:creationId xmlns:a16="http://schemas.microsoft.com/office/drawing/2014/main" xmlns="" id="{6434C056-24D3-4D4F-B71D-0A6FFF91C429}"/>
              </a:ext>
            </a:extLst>
          </p:cNvPr>
          <p:cNvSpPr>
            <a:spLocks noGrp="1"/>
          </p:cNvSpPr>
          <p:nvPr>
            <p:ph type="pic" idx="1"/>
          </p:nvPr>
        </p:nvSpPr>
        <p:spPr>
          <a:xfrm>
            <a:off x="636887" y="987560"/>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indent="0" algn="l" defTabSz="914400" rtl="0" eaLnBrk="1" latinLnBrk="0" hangingPunct="1">
              <a:lnSpc>
                <a:spcPct val="90000"/>
              </a:lnSpc>
              <a:spcBef>
                <a:spcPts val="1000"/>
              </a:spcBef>
              <a:buFont typeface="Arial" panose="020B0604020202020204" pitchFamily="34" charset="0"/>
              <a:buNone/>
            </a:pPr>
            <a:endParaRPr lang="x-none"/>
          </a:p>
        </p:txBody>
      </p:sp>
      <p:grpSp>
        <p:nvGrpSpPr>
          <p:cNvPr id="8" name="Group 7">
            <a:extLst>
              <a:ext uri="{FF2B5EF4-FFF2-40B4-BE49-F238E27FC236}">
                <a16:creationId xmlns:a16="http://schemas.microsoft.com/office/drawing/2014/main" xmlns="" id="{980D92DD-D2C5-574D-9D42-6312801F9656}"/>
              </a:ext>
            </a:extLst>
          </p:cNvPr>
          <p:cNvGrpSpPr/>
          <p:nvPr userDrawn="1"/>
        </p:nvGrpSpPr>
        <p:grpSpPr>
          <a:xfrm>
            <a:off x="8115487" y="6288984"/>
            <a:ext cx="7746404" cy="167498"/>
            <a:chOff x="10668248" y="5893696"/>
            <a:chExt cx="10328539" cy="167498"/>
          </a:xfrm>
        </p:grpSpPr>
        <p:cxnSp>
          <p:nvCxnSpPr>
            <p:cNvPr id="9" name="Straight Connector 8">
              <a:extLst>
                <a:ext uri="{FF2B5EF4-FFF2-40B4-BE49-F238E27FC236}">
                  <a16:creationId xmlns:a16="http://schemas.microsoft.com/office/drawing/2014/main" xmlns="" id="{0EEDDC44-041B-2548-896F-7D3F244033B7}"/>
                </a:ext>
              </a:extLst>
            </p:cNvPr>
            <p:cNvCxnSpPr>
              <a:cxnSpLocks/>
            </p:cNvCxnSpPr>
            <p:nvPr userDrawn="1"/>
          </p:nvCxnSpPr>
          <p:spPr>
            <a:xfrm>
              <a:off x="10751997" y="5977445"/>
              <a:ext cx="10244790" cy="38497"/>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xmlns="" id="{912C7192-3B93-954D-8551-A0AB54EA33AF}"/>
                </a:ext>
              </a:extLst>
            </p:cNvPr>
            <p:cNvSpPr/>
            <p:nvPr userDrawn="1"/>
          </p:nvSpPr>
          <p:spPr>
            <a:xfrm>
              <a:off x="10668248" y="5893696"/>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grpSp>
        <p:nvGrpSpPr>
          <p:cNvPr id="11" name="Group 10">
            <a:extLst>
              <a:ext uri="{FF2B5EF4-FFF2-40B4-BE49-F238E27FC236}">
                <a16:creationId xmlns:a16="http://schemas.microsoft.com/office/drawing/2014/main" xmlns="" id="{7AFCFFBE-CA3C-4545-A48D-BF28B4BE9510}"/>
              </a:ext>
            </a:extLst>
          </p:cNvPr>
          <p:cNvGrpSpPr/>
          <p:nvPr userDrawn="1"/>
        </p:nvGrpSpPr>
        <p:grpSpPr>
          <a:xfrm>
            <a:off x="269041" y="67014"/>
            <a:ext cx="2934932" cy="506326"/>
            <a:chOff x="358720" y="6187719"/>
            <a:chExt cx="3913243" cy="506326"/>
          </a:xfrm>
        </p:grpSpPr>
        <p:cxnSp>
          <p:nvCxnSpPr>
            <p:cNvPr id="12" name="Straight Connector 11">
              <a:extLst>
                <a:ext uri="{FF2B5EF4-FFF2-40B4-BE49-F238E27FC236}">
                  <a16:creationId xmlns:a16="http://schemas.microsoft.com/office/drawing/2014/main" xmlns="" id="{2CCCA527-9EA3-D945-B442-A5A2AE48F039}"/>
                </a:ext>
              </a:extLst>
            </p:cNvPr>
            <p:cNvCxnSpPr>
              <a:cxnSpLocks/>
            </p:cNvCxnSpPr>
            <p:nvPr userDrawn="1"/>
          </p:nvCxnSpPr>
          <p:spPr>
            <a:xfrm>
              <a:off x="865046" y="6434480"/>
              <a:ext cx="3406917"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995CCE9C-95DF-E348-9022-889DF2969112}"/>
                </a:ext>
              </a:extLst>
            </p:cNvPr>
            <p:cNvSpPr/>
            <p:nvPr userDrawn="1"/>
          </p:nvSpPr>
          <p:spPr>
            <a:xfrm rot="16200000">
              <a:off x="358720" y="6187719"/>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4" name="Rectangle 13">
              <a:extLst>
                <a:ext uri="{FF2B5EF4-FFF2-40B4-BE49-F238E27FC236}">
                  <a16:creationId xmlns:a16="http://schemas.microsoft.com/office/drawing/2014/main" xmlns="" id="{1FC30387-F518-A84F-A9D6-7E7AEC6A166E}"/>
                </a:ext>
              </a:extLst>
            </p:cNvPr>
            <p:cNvSpPr/>
            <p:nvPr userDrawn="1"/>
          </p:nvSpPr>
          <p:spPr>
            <a:xfrm>
              <a:off x="781297" y="6357132"/>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sp>
        <p:nvSpPr>
          <p:cNvPr id="15" name="Text Placeholder 5">
            <a:extLst>
              <a:ext uri="{FF2B5EF4-FFF2-40B4-BE49-F238E27FC236}">
                <a16:creationId xmlns:a16="http://schemas.microsoft.com/office/drawing/2014/main" xmlns="" id="{80D7566E-F057-DA40-B83B-F46A0CA495CB}"/>
              </a:ext>
            </a:extLst>
          </p:cNvPr>
          <p:cNvSpPr>
            <a:spLocks noGrp="1"/>
          </p:cNvSpPr>
          <p:nvPr>
            <p:ph type="body" sz="quarter" idx="10" hasCustomPrompt="1"/>
          </p:nvPr>
        </p:nvSpPr>
        <p:spPr>
          <a:xfrm>
            <a:off x="5484021" y="2208857"/>
            <a:ext cx="2949178" cy="3652195"/>
          </a:xfrm>
        </p:spPr>
        <p:txBody>
          <a:bodyPr>
            <a:normAutofit/>
          </a:bodyPr>
          <a:lstStyle>
            <a:lvl1pPr marL="0" indent="0" algn="r">
              <a:lnSpc>
                <a:spcPct val="100000"/>
              </a:lnSpc>
              <a:buNone/>
              <a:defRPr sz="2400">
                <a:latin typeface="Calibri" panose="020F0502020204030204" pitchFamily="34" charset="0"/>
                <a:cs typeface="Calibri" panose="020F050202020403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r>
              <a:rPr lang="he-IL" dirty="0"/>
              <a:t>לחץ להוסיף סגנון טקסט של תבנית בסיס</a:t>
            </a:r>
            <a:endParaRPr lang="x-none" dirty="0"/>
          </a:p>
        </p:txBody>
      </p:sp>
      <p:pic>
        <p:nvPicPr>
          <p:cNvPr id="16" name="Picture 15">
            <a:extLst>
              <a:ext uri="{FF2B5EF4-FFF2-40B4-BE49-F238E27FC236}">
                <a16:creationId xmlns:a16="http://schemas.microsoft.com/office/drawing/2014/main" xmlns="" id="{38C0CA59-A86F-8145-9894-676CEF1F6128}"/>
              </a:ext>
            </a:extLst>
          </p:cNvPr>
          <p:cNvPicPr>
            <a:picLocks noChangeAspect="1"/>
          </p:cNvPicPr>
          <p:nvPr userDrawn="1"/>
        </p:nvPicPr>
        <p:blipFill rotWithShape="1">
          <a:blip r:embed="rId2"/>
          <a:srcRect l="95847" t="70" b="-72"/>
          <a:stretch/>
        </p:blipFill>
        <p:spPr>
          <a:xfrm>
            <a:off x="8764322" y="0"/>
            <a:ext cx="379745" cy="6858000"/>
          </a:xfrm>
          <a:prstGeom prst="rect">
            <a:avLst/>
          </a:prstGeom>
        </p:spPr>
      </p:pic>
    </p:spTree>
    <p:extLst>
      <p:ext uri="{BB962C8B-B14F-4D97-AF65-F5344CB8AC3E}">
        <p14:creationId xmlns:p14="http://schemas.microsoft.com/office/powerpoint/2010/main" val="2440175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תמונה עם טקסט תחתון">
    <p:spTree>
      <p:nvGrpSpPr>
        <p:cNvPr id="1" name=""/>
        <p:cNvGrpSpPr/>
        <p:nvPr/>
      </p:nvGrpSpPr>
      <p:grpSpPr>
        <a:xfrm>
          <a:off x="0" y="0"/>
          <a:ext cx="0" cy="0"/>
          <a:chOff x="0" y="0"/>
          <a:chExt cx="0" cy="0"/>
        </a:xfrm>
      </p:grpSpPr>
      <p:sp>
        <p:nvSpPr>
          <p:cNvPr id="3" name="מציין מיקום של תמונה 2"/>
          <p:cNvSpPr>
            <a:spLocks noGrp="1"/>
          </p:cNvSpPr>
          <p:nvPr>
            <p:ph type="pic" idx="1" hasCustomPrompt="1"/>
          </p:nvPr>
        </p:nvSpPr>
        <p:spPr>
          <a:xfrm>
            <a:off x="762000" y="772622"/>
            <a:ext cx="7692184" cy="4519533"/>
          </a:xfrm>
          <a:prstGeom prst="rect">
            <a:avLst/>
          </a:prstGeom>
        </p:spPr>
        <p:txBody>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lang="he-IL" dirty="0"/>
              <a:t>  לחץ כאן להוסיף תמונה</a:t>
            </a:r>
          </a:p>
        </p:txBody>
      </p:sp>
      <p:sp>
        <p:nvSpPr>
          <p:cNvPr id="8" name="כותרת 1"/>
          <p:cNvSpPr>
            <a:spLocks noGrp="1"/>
          </p:cNvSpPr>
          <p:nvPr>
            <p:ph type="ctrTitle" hasCustomPrompt="1"/>
          </p:nvPr>
        </p:nvSpPr>
        <p:spPr>
          <a:xfrm>
            <a:off x="328177" y="5543673"/>
            <a:ext cx="8564078" cy="968519"/>
          </a:xfrm>
          <a:prstGeom prst="rect">
            <a:avLst/>
          </a:prstGeom>
        </p:spPr>
        <p:txBody>
          <a:bodyPr anchor="b">
            <a:noAutofit/>
          </a:bodyPr>
          <a:lstStyle>
            <a:lvl1pPr algn="ctr">
              <a:defRPr sz="4800">
                <a:latin typeface="Calibri" panose="020F0502020204030204" pitchFamily="34" charset="0"/>
                <a:cs typeface="Calibri" panose="020F0502020204030204" pitchFamily="34" charset="0"/>
              </a:defRPr>
            </a:lvl1pPr>
          </a:lstStyle>
          <a:p>
            <a:r>
              <a:rPr lang="he-IL" dirty="0"/>
              <a:t>לחץ כדי לערוך סגנון כותרת 2 תחתית</a:t>
            </a:r>
          </a:p>
        </p:txBody>
      </p:sp>
      <p:grpSp>
        <p:nvGrpSpPr>
          <p:cNvPr id="13" name="Group 12">
            <a:extLst>
              <a:ext uri="{FF2B5EF4-FFF2-40B4-BE49-F238E27FC236}">
                <a16:creationId xmlns:a16="http://schemas.microsoft.com/office/drawing/2014/main" xmlns="" id="{9A71DC45-F5DE-3647-89D7-00EEC394272E}"/>
              </a:ext>
            </a:extLst>
          </p:cNvPr>
          <p:cNvGrpSpPr/>
          <p:nvPr userDrawn="1"/>
        </p:nvGrpSpPr>
        <p:grpSpPr>
          <a:xfrm>
            <a:off x="648784" y="356936"/>
            <a:ext cx="8266616" cy="506326"/>
            <a:chOff x="865046" y="356936"/>
            <a:chExt cx="11022154" cy="506326"/>
          </a:xfrm>
        </p:grpSpPr>
        <p:cxnSp>
          <p:nvCxnSpPr>
            <p:cNvPr id="14" name="Straight Connector 13">
              <a:extLst>
                <a:ext uri="{FF2B5EF4-FFF2-40B4-BE49-F238E27FC236}">
                  <a16:creationId xmlns:a16="http://schemas.microsoft.com/office/drawing/2014/main" xmlns="" id="{0251AD8C-F052-0A4D-8544-F35BEF541172}"/>
                </a:ext>
              </a:extLst>
            </p:cNvPr>
            <p:cNvCxnSpPr>
              <a:cxnSpLocks/>
            </p:cNvCxnSpPr>
            <p:nvPr userDrawn="1"/>
          </p:nvCxnSpPr>
          <p:spPr>
            <a:xfrm>
              <a:off x="865046" y="573247"/>
              <a:ext cx="10244790" cy="38497"/>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xmlns="" id="{FBD9106F-7FCF-814E-B547-22DB88E10AD6}"/>
                </a:ext>
              </a:extLst>
            </p:cNvPr>
            <p:cNvSpPr/>
            <p:nvPr userDrawn="1"/>
          </p:nvSpPr>
          <p:spPr>
            <a:xfrm rot="16200000">
              <a:off x="11380874" y="356936"/>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grpSp>
      <p:sp>
        <p:nvSpPr>
          <p:cNvPr id="9" name="Rectangle 8">
            <a:extLst>
              <a:ext uri="{FF2B5EF4-FFF2-40B4-BE49-F238E27FC236}">
                <a16:creationId xmlns:a16="http://schemas.microsoft.com/office/drawing/2014/main" xmlns="" id="{1B9B5FED-02E7-474D-B6B7-AF695B5A45B0}"/>
              </a:ext>
            </a:extLst>
          </p:cNvPr>
          <p:cNvSpPr/>
          <p:nvPr userDrawn="1"/>
        </p:nvSpPr>
        <p:spPr>
          <a:xfrm rot="10800000">
            <a:off x="8836144" y="489498"/>
            <a:ext cx="158516" cy="2113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spTree>
    <p:extLst>
      <p:ext uri="{BB962C8B-B14F-4D97-AF65-F5344CB8AC3E}">
        <p14:creationId xmlns:p14="http://schemas.microsoft.com/office/powerpoint/2010/main" val="9155694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השיעור הבא יתחיל">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17735FA8-E872-6D4B-B736-9D885CF8FF10}"/>
              </a:ext>
            </a:extLst>
          </p:cNvPr>
          <p:cNvSpPr/>
          <p:nvPr userDrawn="1"/>
        </p:nvSpPr>
        <p:spPr>
          <a:xfrm>
            <a:off x="807297" y="1757556"/>
            <a:ext cx="7529483" cy="33838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cxnSp>
        <p:nvCxnSpPr>
          <p:cNvPr id="18" name="Straight Connector 17">
            <a:extLst>
              <a:ext uri="{FF2B5EF4-FFF2-40B4-BE49-F238E27FC236}">
                <a16:creationId xmlns:a16="http://schemas.microsoft.com/office/drawing/2014/main" xmlns="" id="{3740DB9B-9ABC-1E4F-9E76-DE21BB134995}"/>
              </a:ext>
            </a:extLst>
          </p:cNvPr>
          <p:cNvCxnSpPr>
            <a:cxnSpLocks/>
          </p:cNvCxnSpPr>
          <p:nvPr userDrawn="1"/>
        </p:nvCxnSpPr>
        <p:spPr>
          <a:xfrm>
            <a:off x="648786" y="532257"/>
            <a:ext cx="2555188" cy="1280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xmlns="" id="{3AC0021A-4563-F644-839C-3313EE112D9E}"/>
              </a:ext>
            </a:extLst>
          </p:cNvPr>
          <p:cNvSpPr/>
          <p:nvPr userDrawn="1"/>
        </p:nvSpPr>
        <p:spPr>
          <a:xfrm rot="16200000">
            <a:off x="205749" y="348921"/>
            <a:ext cx="506326" cy="3797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6" name="Rectangle 15">
            <a:extLst>
              <a:ext uri="{FF2B5EF4-FFF2-40B4-BE49-F238E27FC236}">
                <a16:creationId xmlns:a16="http://schemas.microsoft.com/office/drawing/2014/main" xmlns="" id="{3984F002-0837-5347-8BEB-C54BD7228FB1}"/>
              </a:ext>
            </a:extLst>
          </p:cNvPr>
          <p:cNvSpPr/>
          <p:nvPr userDrawn="1"/>
        </p:nvSpPr>
        <p:spPr>
          <a:xfrm>
            <a:off x="585973" y="454909"/>
            <a:ext cx="125624"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sp>
        <p:nvSpPr>
          <p:cNvPr id="4" name="Text Placeholder 3">
            <a:extLst>
              <a:ext uri="{FF2B5EF4-FFF2-40B4-BE49-F238E27FC236}">
                <a16:creationId xmlns:a16="http://schemas.microsoft.com/office/drawing/2014/main" xmlns="" id="{AA27E2A2-BC31-804E-BB02-2D2086ECA9AB}"/>
              </a:ext>
            </a:extLst>
          </p:cNvPr>
          <p:cNvSpPr>
            <a:spLocks noGrp="1"/>
          </p:cNvSpPr>
          <p:nvPr>
            <p:ph type="body" sz="quarter" idx="11" hasCustomPrompt="1"/>
          </p:nvPr>
        </p:nvSpPr>
        <p:spPr>
          <a:xfrm>
            <a:off x="1377853" y="1657495"/>
            <a:ext cx="6388298" cy="3476060"/>
          </a:xfrm>
          <a:prstGeom prst="rect">
            <a:avLst/>
          </a:prstGeom>
        </p:spPr>
        <p:txBody>
          <a:bodyPr anchor="ctr"/>
          <a:lstStyle>
            <a:lvl1pPr marL="0" indent="0" algn="r">
              <a:lnSpc>
                <a:spcPts val="8000"/>
              </a:lnSpc>
              <a:buNone/>
              <a:defRPr sz="7500">
                <a:solidFill>
                  <a:schemeClr val="bg1"/>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he-IL" dirty="0"/>
              <a:t>השיעור הבא יתחיל בשעה 09:00</a:t>
            </a:r>
            <a:endParaRPr lang="x-none" dirty="0"/>
          </a:p>
        </p:txBody>
      </p:sp>
      <p:cxnSp>
        <p:nvCxnSpPr>
          <p:cNvPr id="15" name="Straight Connector 14">
            <a:extLst>
              <a:ext uri="{FF2B5EF4-FFF2-40B4-BE49-F238E27FC236}">
                <a16:creationId xmlns:a16="http://schemas.microsoft.com/office/drawing/2014/main" xmlns="" id="{40473E13-CEF0-6945-8210-1865616E9834}"/>
              </a:ext>
            </a:extLst>
          </p:cNvPr>
          <p:cNvCxnSpPr>
            <a:cxnSpLocks/>
          </p:cNvCxnSpPr>
          <p:nvPr userDrawn="1"/>
        </p:nvCxnSpPr>
        <p:spPr>
          <a:xfrm>
            <a:off x="594813" y="5506727"/>
            <a:ext cx="103941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xmlns="" id="{F5893CC5-0B99-AA48-8797-A1AE8B9BB25D}"/>
              </a:ext>
            </a:extLst>
          </p:cNvPr>
          <p:cNvSpPr/>
          <p:nvPr userDrawn="1"/>
        </p:nvSpPr>
        <p:spPr>
          <a:xfrm rot="10800000">
            <a:off x="8179249" y="2286221"/>
            <a:ext cx="315119" cy="42015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cxnSp>
        <p:nvCxnSpPr>
          <p:cNvPr id="11" name="Straight Connector 10">
            <a:extLst>
              <a:ext uri="{FF2B5EF4-FFF2-40B4-BE49-F238E27FC236}">
                <a16:creationId xmlns:a16="http://schemas.microsoft.com/office/drawing/2014/main" xmlns="" id="{FFB79051-D1F8-DB4C-8CE2-B840C1367395}"/>
              </a:ext>
            </a:extLst>
          </p:cNvPr>
          <p:cNvCxnSpPr>
            <a:cxnSpLocks/>
          </p:cNvCxnSpPr>
          <p:nvPr userDrawn="1"/>
        </p:nvCxnSpPr>
        <p:spPr>
          <a:xfrm>
            <a:off x="306371" y="6252973"/>
            <a:ext cx="211160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AE418D07-B679-C54B-9CD1-5F261DF50C67}"/>
              </a:ext>
            </a:extLst>
          </p:cNvPr>
          <p:cNvCxnSpPr>
            <a:cxnSpLocks/>
          </p:cNvCxnSpPr>
          <p:nvPr userDrawn="1"/>
        </p:nvCxnSpPr>
        <p:spPr>
          <a:xfrm>
            <a:off x="-509046" y="6456415"/>
            <a:ext cx="25915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105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תמונה">
    <p:spTree>
      <p:nvGrpSpPr>
        <p:cNvPr id="1" name=""/>
        <p:cNvGrpSpPr/>
        <p:nvPr/>
      </p:nvGrpSpPr>
      <p:grpSpPr>
        <a:xfrm>
          <a:off x="0" y="0"/>
          <a:ext cx="0" cy="0"/>
          <a:chOff x="0" y="0"/>
          <a:chExt cx="0" cy="0"/>
        </a:xfrm>
      </p:grpSpPr>
      <p:sp>
        <p:nvSpPr>
          <p:cNvPr id="3" name="מציין מיקום של תמונה 2"/>
          <p:cNvSpPr>
            <a:spLocks noGrp="1"/>
          </p:cNvSpPr>
          <p:nvPr>
            <p:ph type="pic" idx="1" hasCustomPrompt="1"/>
          </p:nvPr>
        </p:nvSpPr>
        <p:spPr>
          <a:xfrm>
            <a:off x="540843" y="901765"/>
            <a:ext cx="7939985" cy="5681719"/>
          </a:xfrm>
          <a:prstGeom prst="rect">
            <a:avLst/>
          </a:prstGeom>
        </p:spPr>
        <p:txBody>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lang="he-IL" dirty="0"/>
              <a:t>  לחץ כאן להוסיף תמונה</a:t>
            </a:r>
          </a:p>
        </p:txBody>
      </p:sp>
      <p:grpSp>
        <p:nvGrpSpPr>
          <p:cNvPr id="6" name="Group 5">
            <a:extLst>
              <a:ext uri="{FF2B5EF4-FFF2-40B4-BE49-F238E27FC236}">
                <a16:creationId xmlns:a16="http://schemas.microsoft.com/office/drawing/2014/main" xmlns="" id="{F11EE242-3A2B-9B46-87B2-AC191ECB6960}"/>
              </a:ext>
            </a:extLst>
          </p:cNvPr>
          <p:cNvGrpSpPr/>
          <p:nvPr userDrawn="1"/>
        </p:nvGrpSpPr>
        <p:grpSpPr>
          <a:xfrm>
            <a:off x="586035" y="356936"/>
            <a:ext cx="8329427" cy="506326"/>
            <a:chOff x="781297" y="356936"/>
            <a:chExt cx="11105903" cy="506326"/>
          </a:xfrm>
        </p:grpSpPr>
        <p:cxnSp>
          <p:nvCxnSpPr>
            <p:cNvPr id="7" name="Straight Connector 6">
              <a:extLst>
                <a:ext uri="{FF2B5EF4-FFF2-40B4-BE49-F238E27FC236}">
                  <a16:creationId xmlns:a16="http://schemas.microsoft.com/office/drawing/2014/main" xmlns="" id="{C0C7E103-ACCC-DA43-9E9D-6FB906FA4F2D}"/>
                </a:ext>
              </a:extLst>
            </p:cNvPr>
            <p:cNvCxnSpPr>
              <a:cxnSpLocks/>
            </p:cNvCxnSpPr>
            <p:nvPr userDrawn="1"/>
          </p:nvCxnSpPr>
          <p:spPr>
            <a:xfrm>
              <a:off x="865046" y="573247"/>
              <a:ext cx="10244790" cy="38497"/>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xmlns="" id="{54E9F80F-CF67-664D-B4F4-0CA7DCACB628}"/>
                </a:ext>
              </a:extLst>
            </p:cNvPr>
            <p:cNvSpPr/>
            <p:nvPr userDrawn="1"/>
          </p:nvSpPr>
          <p:spPr>
            <a:xfrm rot="16200000">
              <a:off x="11380874" y="356936"/>
              <a:ext cx="506326" cy="506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dirty="0">
                <a:solidFill>
                  <a:srgbClr val="FFFFFF"/>
                </a:solidFill>
              </a:endParaRPr>
            </a:p>
          </p:txBody>
        </p:sp>
        <p:sp>
          <p:nvSpPr>
            <p:cNvPr id="11" name="Rectangle 10">
              <a:extLst>
                <a:ext uri="{FF2B5EF4-FFF2-40B4-BE49-F238E27FC236}">
                  <a16:creationId xmlns:a16="http://schemas.microsoft.com/office/drawing/2014/main" xmlns="" id="{B1FEACB6-175B-044B-8C0D-3451E638ABE1}"/>
                </a:ext>
              </a:extLst>
            </p:cNvPr>
            <p:cNvSpPr/>
            <p:nvPr userDrawn="1"/>
          </p:nvSpPr>
          <p:spPr>
            <a:xfrm>
              <a:off x="781297" y="489498"/>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grpSp>
        <p:nvGrpSpPr>
          <p:cNvPr id="13" name="Group 12">
            <a:extLst>
              <a:ext uri="{FF2B5EF4-FFF2-40B4-BE49-F238E27FC236}">
                <a16:creationId xmlns:a16="http://schemas.microsoft.com/office/drawing/2014/main" xmlns="" id="{DFC3CB68-EE0C-7E46-A86B-DBBE43BD0866}"/>
              </a:ext>
            </a:extLst>
          </p:cNvPr>
          <p:cNvGrpSpPr/>
          <p:nvPr userDrawn="1"/>
        </p:nvGrpSpPr>
        <p:grpSpPr>
          <a:xfrm>
            <a:off x="-6117147" y="6042094"/>
            <a:ext cx="7746404" cy="167498"/>
            <a:chOff x="10668248" y="5893696"/>
            <a:chExt cx="10328539" cy="167498"/>
          </a:xfrm>
        </p:grpSpPr>
        <p:cxnSp>
          <p:nvCxnSpPr>
            <p:cNvPr id="14" name="Straight Connector 13">
              <a:extLst>
                <a:ext uri="{FF2B5EF4-FFF2-40B4-BE49-F238E27FC236}">
                  <a16:creationId xmlns:a16="http://schemas.microsoft.com/office/drawing/2014/main" xmlns="" id="{128185FB-96F6-194C-96FC-5664DB14E13D}"/>
                </a:ext>
              </a:extLst>
            </p:cNvPr>
            <p:cNvCxnSpPr>
              <a:cxnSpLocks/>
            </p:cNvCxnSpPr>
            <p:nvPr userDrawn="1"/>
          </p:nvCxnSpPr>
          <p:spPr>
            <a:xfrm>
              <a:off x="10751997" y="5977445"/>
              <a:ext cx="10244790" cy="38497"/>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xmlns="" id="{81E94E79-9670-0743-916C-74F7BDE1C276}"/>
                </a:ext>
              </a:extLst>
            </p:cNvPr>
            <p:cNvSpPr/>
            <p:nvPr userDrawn="1"/>
          </p:nvSpPr>
          <p:spPr>
            <a:xfrm>
              <a:off x="10668248" y="5893696"/>
              <a:ext cx="167498" cy="167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grpSp>
      <p:sp>
        <p:nvSpPr>
          <p:cNvPr id="10" name="Rectangle 9">
            <a:extLst>
              <a:ext uri="{FF2B5EF4-FFF2-40B4-BE49-F238E27FC236}">
                <a16:creationId xmlns:a16="http://schemas.microsoft.com/office/drawing/2014/main" xmlns="" id="{EEAD82FA-6CD0-454D-9BDB-225121E5526F}"/>
              </a:ext>
            </a:extLst>
          </p:cNvPr>
          <p:cNvSpPr/>
          <p:nvPr userDrawn="1"/>
        </p:nvSpPr>
        <p:spPr>
          <a:xfrm rot="10800000">
            <a:off x="8635161" y="721474"/>
            <a:ext cx="176789" cy="23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spTree>
    <p:extLst>
      <p:ext uri="{BB962C8B-B14F-4D97-AF65-F5344CB8AC3E}">
        <p14:creationId xmlns:p14="http://schemas.microsoft.com/office/powerpoint/2010/main" val="587758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כותרת ראשית">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xmlns="" id="{AED3F5E7-9570-CB48-AE95-15E23DB4E0ED}"/>
              </a:ext>
            </a:extLst>
          </p:cNvPr>
          <p:cNvPicPr>
            <a:picLocks noChangeAspect="1"/>
          </p:cNvPicPr>
          <p:nvPr userDrawn="1"/>
        </p:nvPicPr>
        <p:blipFill>
          <a:blip r:embed="rId2">
            <a:alphaModFix amt="54000"/>
          </a:blip>
          <a:stretch>
            <a:fillRect/>
          </a:stretch>
        </p:blipFill>
        <p:spPr>
          <a:xfrm>
            <a:off x="-5515925" y="2026642"/>
            <a:ext cx="3784257" cy="5028913"/>
          </a:xfrm>
          <a:prstGeom prst="rect">
            <a:avLst/>
          </a:prstGeom>
        </p:spPr>
      </p:pic>
      <p:pic>
        <p:nvPicPr>
          <p:cNvPr id="19" name="Picture 18">
            <a:extLst>
              <a:ext uri="{FF2B5EF4-FFF2-40B4-BE49-F238E27FC236}">
                <a16:creationId xmlns:a16="http://schemas.microsoft.com/office/drawing/2014/main" xmlns="" id="{C37C3AE3-8A3A-6F4C-BDEA-D0F74E286323}"/>
              </a:ext>
            </a:extLst>
          </p:cNvPr>
          <p:cNvPicPr>
            <a:picLocks noChangeAspect="1"/>
          </p:cNvPicPr>
          <p:nvPr userDrawn="1"/>
        </p:nvPicPr>
        <p:blipFill>
          <a:blip r:embed="rId2">
            <a:alphaModFix amt="54000"/>
          </a:blip>
          <a:stretch>
            <a:fillRect/>
          </a:stretch>
        </p:blipFill>
        <p:spPr>
          <a:xfrm>
            <a:off x="9710438" y="-3969273"/>
            <a:ext cx="3784257" cy="5028913"/>
          </a:xfrm>
          <a:prstGeom prst="rect">
            <a:avLst/>
          </a:prstGeom>
        </p:spPr>
      </p:pic>
      <p:pic>
        <p:nvPicPr>
          <p:cNvPr id="20" name="Picture 19">
            <a:extLst>
              <a:ext uri="{FF2B5EF4-FFF2-40B4-BE49-F238E27FC236}">
                <a16:creationId xmlns:a16="http://schemas.microsoft.com/office/drawing/2014/main" xmlns="" id="{F7DA0ACC-AD37-394A-BBD5-F3DDF6DC4C43}"/>
              </a:ext>
            </a:extLst>
          </p:cNvPr>
          <p:cNvPicPr>
            <a:picLocks noChangeAspect="1"/>
          </p:cNvPicPr>
          <p:nvPr userDrawn="1"/>
        </p:nvPicPr>
        <p:blipFill>
          <a:blip r:embed="rId3"/>
          <a:stretch>
            <a:fillRect/>
          </a:stretch>
        </p:blipFill>
        <p:spPr>
          <a:xfrm>
            <a:off x="0" y="0"/>
            <a:ext cx="9144000" cy="6858000"/>
          </a:xfrm>
          <a:prstGeom prst="rect">
            <a:avLst/>
          </a:prstGeom>
        </p:spPr>
      </p:pic>
      <p:cxnSp>
        <p:nvCxnSpPr>
          <p:cNvPr id="22" name="Straight Connector 21">
            <a:extLst>
              <a:ext uri="{FF2B5EF4-FFF2-40B4-BE49-F238E27FC236}">
                <a16:creationId xmlns:a16="http://schemas.microsoft.com/office/drawing/2014/main" xmlns="" id="{6402BFFB-4B13-124B-81F5-2F78B7F80473}"/>
              </a:ext>
            </a:extLst>
          </p:cNvPr>
          <p:cNvCxnSpPr>
            <a:cxnSpLocks/>
          </p:cNvCxnSpPr>
          <p:nvPr userDrawn="1"/>
        </p:nvCxnSpPr>
        <p:spPr>
          <a:xfrm>
            <a:off x="5367132" y="1639956"/>
            <a:ext cx="300410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xmlns="" id="{3E484577-483E-7242-917A-00D38BA8736E}"/>
              </a:ext>
            </a:extLst>
          </p:cNvPr>
          <p:cNvSpPr/>
          <p:nvPr userDrawn="1"/>
        </p:nvSpPr>
        <p:spPr>
          <a:xfrm rot="16200000">
            <a:off x="5765180" y="1562745"/>
            <a:ext cx="205896" cy="1544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cxnSp>
        <p:nvCxnSpPr>
          <p:cNvPr id="24" name="Straight Connector 23">
            <a:extLst>
              <a:ext uri="{FF2B5EF4-FFF2-40B4-BE49-F238E27FC236}">
                <a16:creationId xmlns:a16="http://schemas.microsoft.com/office/drawing/2014/main" xmlns="" id="{F7764D93-0F65-9B4D-B215-60B665F73BD2}"/>
              </a:ext>
            </a:extLst>
          </p:cNvPr>
          <p:cNvCxnSpPr>
            <a:cxnSpLocks/>
          </p:cNvCxnSpPr>
          <p:nvPr userDrawn="1"/>
        </p:nvCxnSpPr>
        <p:spPr>
          <a:xfrm>
            <a:off x="3069951" y="4984979"/>
            <a:ext cx="300410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7DBA308-BCDE-054D-8D29-1334C40E70E5}"/>
              </a:ext>
            </a:extLst>
          </p:cNvPr>
          <p:cNvCxnSpPr>
            <a:cxnSpLocks/>
          </p:cNvCxnSpPr>
          <p:nvPr userDrawn="1"/>
        </p:nvCxnSpPr>
        <p:spPr>
          <a:xfrm>
            <a:off x="3069951" y="2035982"/>
            <a:ext cx="300410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xmlns="" id="{9CC1E3B8-6F51-6E4F-A503-AD965CF82D0A}"/>
              </a:ext>
            </a:extLst>
          </p:cNvPr>
          <p:cNvGrpSpPr/>
          <p:nvPr userDrawn="1"/>
        </p:nvGrpSpPr>
        <p:grpSpPr>
          <a:xfrm>
            <a:off x="-83128" y="110839"/>
            <a:ext cx="1147573" cy="1525930"/>
            <a:chOff x="8374611" y="4283110"/>
            <a:chExt cx="2300578" cy="2294314"/>
          </a:xfrm>
        </p:grpSpPr>
        <p:pic>
          <p:nvPicPr>
            <p:cNvPr id="36" name="Picture 35">
              <a:extLst>
                <a:ext uri="{FF2B5EF4-FFF2-40B4-BE49-F238E27FC236}">
                  <a16:creationId xmlns:a16="http://schemas.microsoft.com/office/drawing/2014/main" xmlns="" id="{269DA8D3-076A-4742-AC7A-9EB5E69C7E1E}"/>
                </a:ext>
              </a:extLst>
            </p:cNvPr>
            <p:cNvPicPr>
              <a:picLocks noChangeAspect="1"/>
            </p:cNvPicPr>
            <p:nvPr/>
          </p:nvPicPr>
          <p:blipFill rotWithShape="1">
            <a:blip r:embed="rId4"/>
            <a:srcRect l="62938"/>
            <a:stretch/>
          </p:blipFill>
          <p:spPr>
            <a:xfrm>
              <a:off x="8873684" y="4283110"/>
              <a:ext cx="1227785" cy="1519621"/>
            </a:xfrm>
            <a:prstGeom prst="rect">
              <a:avLst/>
            </a:prstGeom>
          </p:spPr>
        </p:pic>
        <p:sp>
          <p:nvSpPr>
            <p:cNvPr id="37" name="Rectangle 36">
              <a:extLst>
                <a:ext uri="{FF2B5EF4-FFF2-40B4-BE49-F238E27FC236}">
                  <a16:creationId xmlns:a16="http://schemas.microsoft.com/office/drawing/2014/main" xmlns="" id="{4F361B1A-C9AC-6944-8861-226D06E2FC9C}"/>
                </a:ext>
              </a:extLst>
            </p:cNvPr>
            <p:cNvSpPr/>
            <p:nvPr/>
          </p:nvSpPr>
          <p:spPr>
            <a:xfrm>
              <a:off x="8374611" y="5883287"/>
              <a:ext cx="2300578" cy="694137"/>
            </a:xfrm>
            <a:prstGeom prst="rect">
              <a:avLst/>
            </a:prstGeom>
          </p:spPr>
          <p:txBody>
            <a:bodyPr wrap="square">
              <a:spAutoFit/>
            </a:bodyPr>
            <a:lstStyle/>
            <a:p>
              <a:pPr algn="ctr" rtl="0"/>
              <a:r>
                <a:rPr lang="x-none" sz="1200" dirty="0">
                  <a:solidFill>
                    <a:srgbClr val="FFFFFF"/>
                  </a:solidFill>
                  <a:latin typeface="Arial" panose="020B0604020202020204" pitchFamily="34" charset="0"/>
                  <a:cs typeface="Arial" panose="020B0604020202020204" pitchFamily="34" charset="0"/>
                </a:rPr>
                <a:t>מדינת ישראל</a:t>
              </a:r>
            </a:p>
            <a:p>
              <a:pPr algn="ctr" rtl="0"/>
              <a:r>
                <a:rPr lang="x-none" sz="1200" dirty="0">
                  <a:solidFill>
                    <a:srgbClr val="FFFFFF"/>
                  </a:solidFill>
                  <a:latin typeface="Arial" panose="020B0604020202020204" pitchFamily="34" charset="0"/>
                  <a:cs typeface="Arial" panose="020B0604020202020204" pitchFamily="34" charset="0"/>
                </a:rPr>
                <a:t>משרד החינוך</a:t>
              </a:r>
            </a:p>
          </p:txBody>
        </p:sp>
      </p:grpSp>
      <p:sp>
        <p:nvSpPr>
          <p:cNvPr id="38" name="TextBox 37">
            <a:extLst>
              <a:ext uri="{FF2B5EF4-FFF2-40B4-BE49-F238E27FC236}">
                <a16:creationId xmlns:a16="http://schemas.microsoft.com/office/drawing/2014/main" xmlns="" id="{4050E382-46BD-EC4A-9255-342AEA607793}"/>
              </a:ext>
            </a:extLst>
          </p:cNvPr>
          <p:cNvSpPr txBox="1"/>
          <p:nvPr userDrawn="1"/>
        </p:nvSpPr>
        <p:spPr>
          <a:xfrm>
            <a:off x="1658030" y="2020382"/>
            <a:ext cx="5828017" cy="2817244"/>
          </a:xfrm>
          <a:prstGeom prst="rect">
            <a:avLst/>
          </a:prstGeom>
          <a:solidFill>
            <a:schemeClr val="accent1"/>
          </a:solidFill>
        </p:spPr>
        <p:txBody>
          <a:bodyPr wrap="square" lIns="251999" tIns="251999" rIns="251999" bIns="251999" rtlCol="0" anchor="ctr">
            <a:spAutoFit/>
          </a:bodyPr>
          <a:lstStyle/>
          <a:p>
            <a:pPr algn="ctr">
              <a:lnSpc>
                <a:spcPts val="6000"/>
              </a:lnSpc>
            </a:pPr>
            <a:r>
              <a:rPr lang="he-IL" sz="6600" dirty="0">
                <a:solidFill>
                  <a:srgbClr val="FFFFFF"/>
                </a:solidFill>
                <a:cs typeface="Calibri" panose="020F0502020204030204" pitchFamily="34" charset="0"/>
              </a:rPr>
              <a:t>תודה שצפיתם בשידור</a:t>
            </a:r>
          </a:p>
          <a:p>
            <a:pPr algn="ctr">
              <a:lnSpc>
                <a:spcPts val="6000"/>
              </a:lnSpc>
            </a:pPr>
            <a:r>
              <a:rPr lang="he-IL" sz="3200" dirty="0">
                <a:solidFill>
                  <a:srgbClr val="FFFFFF"/>
                </a:solidFill>
                <a:cs typeface="Calibri" panose="020F0502020204030204" pitchFamily="34" charset="0"/>
              </a:rPr>
              <a:t>הופק עבור משרד החינוך ע״י מטח</a:t>
            </a:r>
            <a:endParaRPr lang="x-none" sz="3200" dirty="0">
              <a:solidFill>
                <a:srgbClr val="FFFFFF"/>
              </a:solidFill>
              <a:cs typeface="Calibri" panose="020F0502020204030204" pitchFamily="34" charset="0"/>
            </a:endParaRPr>
          </a:p>
        </p:txBody>
      </p:sp>
      <p:sp>
        <p:nvSpPr>
          <p:cNvPr id="39" name="Rectangle 38">
            <a:extLst>
              <a:ext uri="{FF2B5EF4-FFF2-40B4-BE49-F238E27FC236}">
                <a16:creationId xmlns:a16="http://schemas.microsoft.com/office/drawing/2014/main" xmlns="" id="{45824BB1-2435-734E-9266-80D63D1B886A}"/>
              </a:ext>
            </a:extLst>
          </p:cNvPr>
          <p:cNvSpPr/>
          <p:nvPr userDrawn="1"/>
        </p:nvSpPr>
        <p:spPr>
          <a:xfrm>
            <a:off x="5019677" y="4828833"/>
            <a:ext cx="257175"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x-none">
              <a:solidFill>
                <a:srgbClr val="FFFFFF"/>
              </a:solidFill>
            </a:endParaRPr>
          </a:p>
        </p:txBody>
      </p:sp>
      <p:sp>
        <p:nvSpPr>
          <p:cNvPr id="40" name="Rectangle 39">
            <a:extLst>
              <a:ext uri="{FF2B5EF4-FFF2-40B4-BE49-F238E27FC236}">
                <a16:creationId xmlns:a16="http://schemas.microsoft.com/office/drawing/2014/main" xmlns="" id="{4476D12D-01A7-2349-AE0C-06DFFC8E4DB0}"/>
              </a:ext>
            </a:extLst>
          </p:cNvPr>
          <p:cNvSpPr/>
          <p:nvPr userDrawn="1"/>
        </p:nvSpPr>
        <p:spPr>
          <a:xfrm>
            <a:off x="1823507" y="2371058"/>
            <a:ext cx="114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sp>
        <p:nvSpPr>
          <p:cNvPr id="41" name="Rectangle 40">
            <a:extLst>
              <a:ext uri="{FF2B5EF4-FFF2-40B4-BE49-F238E27FC236}">
                <a16:creationId xmlns:a16="http://schemas.microsoft.com/office/drawing/2014/main" xmlns="" id="{19C6A9FB-5F47-9545-B448-B2E7B3B286C7}"/>
              </a:ext>
            </a:extLst>
          </p:cNvPr>
          <p:cNvSpPr/>
          <p:nvPr userDrawn="1"/>
        </p:nvSpPr>
        <p:spPr>
          <a:xfrm>
            <a:off x="7428858" y="4005877"/>
            <a:ext cx="114300" cy="152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FFFFFF"/>
              </a:solidFill>
            </a:endParaRPr>
          </a:p>
        </p:txBody>
      </p:sp>
      <p:sp>
        <p:nvSpPr>
          <p:cNvPr id="2" name="TextBox 1">
            <a:extLst>
              <a:ext uri="{FF2B5EF4-FFF2-40B4-BE49-F238E27FC236}">
                <a16:creationId xmlns:a16="http://schemas.microsoft.com/office/drawing/2014/main" xmlns="" id="{0A92D1B0-6B63-F440-9F8D-BFFEC1F100C2}"/>
              </a:ext>
            </a:extLst>
          </p:cNvPr>
          <p:cNvSpPr txBox="1"/>
          <p:nvPr userDrawn="1"/>
        </p:nvSpPr>
        <p:spPr>
          <a:xfrm>
            <a:off x="2902782" y="6424861"/>
            <a:ext cx="3338436" cy="323165"/>
          </a:xfrm>
          <a:prstGeom prst="rect">
            <a:avLst/>
          </a:prstGeom>
          <a:noFill/>
        </p:spPr>
        <p:txBody>
          <a:bodyPr wrap="square" rtlCol="0">
            <a:spAutoFit/>
          </a:bodyPr>
          <a:lstStyle/>
          <a:p>
            <a:pPr algn="ctr" rtl="0"/>
            <a:r>
              <a:rPr lang="en-US" sz="1500" dirty="0" err="1">
                <a:solidFill>
                  <a:srgbClr val="FFFFFF"/>
                </a:solidFill>
                <a:latin typeface="Arial" panose="020B0604020202020204" pitchFamily="34" charset="0"/>
                <a:cs typeface="Arial" panose="020B0604020202020204" pitchFamily="34" charset="0"/>
              </a:rPr>
              <a:t>shutterstock</a:t>
            </a:r>
            <a:r>
              <a:rPr lang="en-US" sz="1500" dirty="0">
                <a:solidFill>
                  <a:srgbClr val="FFFFFF"/>
                </a:solidFill>
                <a:latin typeface="Arial" panose="020B0604020202020204" pitchFamily="34" charset="0"/>
                <a:cs typeface="Arial" panose="020B0604020202020204" pitchFamily="34" charset="0"/>
              </a:rPr>
              <a:t>/com</a:t>
            </a:r>
            <a:r>
              <a:rPr lang="he-IL" sz="1500" dirty="0">
                <a:solidFill>
                  <a:srgbClr val="FFFFFF"/>
                </a:solidFill>
                <a:latin typeface="Arial" panose="020B0604020202020204" pitchFamily="34" charset="0"/>
              </a:rPr>
              <a:t> איורים: </a:t>
            </a:r>
            <a:endParaRPr lang="x-none" sz="150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1430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פריסה מותאמת אישית">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xmlns="" id="{BF9AFC55-D643-47A1-90F5-FD4A7EBE98CE}"/>
              </a:ext>
            </a:extLst>
          </p:cNvPr>
          <p:cNvSpPr/>
          <p:nvPr userDrawn="1"/>
        </p:nvSpPr>
        <p:spPr>
          <a:xfrm>
            <a:off x="228599" y="593748"/>
            <a:ext cx="1702341" cy="3046988"/>
          </a:xfrm>
          <a:prstGeom prst="rect">
            <a:avLst/>
          </a:prstGeom>
        </p:spPr>
        <p:txBody>
          <a:bodyPr wrap="square">
            <a:spAutoFit/>
          </a:bodyPr>
          <a:lstStyle/>
          <a:p>
            <a:pPr>
              <a:spcBef>
                <a:spcPts val="1067"/>
              </a:spcBef>
            </a:pPr>
            <a:r>
              <a:rPr lang="he-IL" sz="2400" b="1" dirty="0">
                <a:solidFill>
                  <a:srgbClr val="FF0000"/>
                </a:solidFill>
                <a:latin typeface="Alef"/>
                <a:ea typeface="Alef"/>
                <a:sym typeface="Alef"/>
              </a:rPr>
              <a:t>*השקופית הזו מיועדת למורה בלבד יש למחוק אותה בסיום הכנת המצגת</a:t>
            </a:r>
          </a:p>
        </p:txBody>
      </p:sp>
      <p:cxnSp>
        <p:nvCxnSpPr>
          <p:cNvPr id="4" name="מחבר ישר 3">
            <a:extLst>
              <a:ext uri="{FF2B5EF4-FFF2-40B4-BE49-F238E27FC236}">
                <a16:creationId xmlns:a16="http://schemas.microsoft.com/office/drawing/2014/main" xmlns="" id="{EBBC6B57-C174-4CC5-9E63-745CA44C4846}"/>
              </a:ext>
            </a:extLst>
          </p:cNvPr>
          <p:cNvCxnSpPr/>
          <p:nvPr userDrawn="1"/>
        </p:nvCxnSpPr>
        <p:spPr>
          <a:xfrm>
            <a:off x="2038350" y="101441"/>
            <a:ext cx="0" cy="6655095"/>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61818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10/24/2023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814494420"/>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681" r:id="rId13"/>
    <p:sldLayoutId id="2147483682" r:id="rId14"/>
    <p:sldLayoutId id="2147483685" r:id="rId15"/>
    <p:sldLayoutId id="2147483689" r:id="rId16"/>
    <p:sldLayoutId id="2147483691" r:id="rId17"/>
    <p:sldLayoutId id="2147483692" r:id="rId18"/>
    <p:sldLayoutId id="2147483693" r:id="rId19"/>
    <p:sldLayoutId id="2147483694" r:id="rId20"/>
    <p:sldLayoutId id="2147483695" r:id="rId21"/>
    <p:sldLayoutId id="2147483697" r:id="rId22"/>
    <p:sldLayoutId id="2147483698" r:id="rId23"/>
    <p:sldLayoutId id="2147483699" r:id="rId24"/>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083" userDrawn="1">
          <p15:clr>
            <a:srgbClr val="F26B43"/>
          </p15:clr>
        </p15:guide>
        <p15:guide id="2" orient="horz" pos="75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youtu.be/Qrzy4blh9PQ"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idz2rq6fAws"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hyperlink" Target="https://de.wiktionary.org/wiki/L%C3%B6ffel" TargetMode="Externa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5"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youtu.be/3B7KLstUZbI"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hyperlink" Target="https://artzi-y.lms.education.gov.il/enrol/index.php?id=46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idz2rq6fAws"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hyperlink" Target="https://artzi-y.lms.education.gov.il/enrol/index.php?id=466" TargetMode="External"/><Relationship Id="rId5" Type="http://schemas.openxmlformats.org/officeDocument/2006/relationships/hyperlink" Target="https://youtu.be/NtHK_oKLUPU" TargetMode="External"/><Relationship Id="rId4" Type="http://schemas.openxmlformats.org/officeDocument/2006/relationships/hyperlink" Target="https://pop.education.gov.il/sherutey-tiksuv-bachinuch/vod-broadcasts/no-date-records/science-6-grade-19-4/"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NtHK_oKLUPU"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 xmlns:a16="http://schemas.microsoft.com/office/drawing/2014/main" id="{35A53DAC-0403-1C15-239E-5DAC4D5FF04E}"/>
              </a:ext>
            </a:extLst>
          </p:cNvPr>
          <p:cNvSpPr>
            <a:spLocks noGrp="1"/>
          </p:cNvSpPr>
          <p:nvPr>
            <p:ph type="ctrTitle"/>
          </p:nvPr>
        </p:nvSpPr>
        <p:spPr>
          <a:xfrm>
            <a:off x="1259632" y="726348"/>
            <a:ext cx="6858000" cy="411587"/>
          </a:xfrm>
        </p:spPr>
        <p:txBody>
          <a:bodyPr>
            <a:normAutofit fontScale="90000"/>
          </a:bodyPr>
          <a:lstStyle/>
          <a:p>
            <a:pPr algn="ctr"/>
            <a:r>
              <a:rPr lang="he-IL" sz="3000" dirty="0" smtClean="0">
                <a:latin typeface="David" panose="020E0502060401010101" pitchFamily="34" charset="-79"/>
                <a:cs typeface="+mn-cs"/>
              </a:rPr>
              <a:t>תכונות האור- מהו צל?</a:t>
            </a:r>
            <a:endParaRPr lang="he-IL" sz="3000" dirty="0">
              <a:latin typeface="David" panose="020E0502060401010101" pitchFamily="34" charset="-79"/>
              <a:cs typeface="+mn-cs"/>
            </a:endParaRPr>
          </a:p>
        </p:txBody>
      </p:sp>
      <p:sp>
        <p:nvSpPr>
          <p:cNvPr id="3" name="כותרת משנה 2">
            <a:extLst>
              <a:ext uri="{FF2B5EF4-FFF2-40B4-BE49-F238E27FC236}">
                <a16:creationId xmlns="" xmlns:a16="http://schemas.microsoft.com/office/drawing/2014/main" id="{10A038DE-97C2-046D-EB5E-A2EBEF1DF85F}"/>
              </a:ext>
            </a:extLst>
          </p:cNvPr>
          <p:cNvSpPr>
            <a:spLocks noGrp="1"/>
          </p:cNvSpPr>
          <p:nvPr>
            <p:ph type="subTitle" idx="1"/>
          </p:nvPr>
        </p:nvSpPr>
        <p:spPr>
          <a:xfrm>
            <a:off x="198087" y="1507148"/>
            <a:ext cx="8554350" cy="4909615"/>
          </a:xfrm>
        </p:spPr>
        <p:txBody>
          <a:bodyPr>
            <a:normAutofit fontScale="85000" lnSpcReduction="20000"/>
          </a:bodyPr>
          <a:lstStyle/>
          <a:p>
            <a:pPr algn="r">
              <a:lnSpc>
                <a:spcPct val="120000"/>
              </a:lnSpc>
              <a:spcAft>
                <a:spcPts val="600"/>
              </a:spcAft>
            </a:pPr>
            <a:r>
              <a:rPr lang="he-IL" sz="1600" b="1" u="sng" dirty="0">
                <a:ea typeface="David" panose="020E0502060401010101" pitchFamily="34" charset="-79"/>
                <a:cs typeface="+mn-cs"/>
              </a:rPr>
              <a:t>כיתה </a:t>
            </a:r>
            <a:r>
              <a:rPr lang="he-IL" sz="1600" b="1" u="sng" dirty="0" smtClean="0">
                <a:ea typeface="David" panose="020E0502060401010101" pitchFamily="34" charset="-79"/>
                <a:cs typeface="+mn-cs"/>
              </a:rPr>
              <a:t> ו</a:t>
            </a:r>
            <a:endParaRPr lang="en-US" sz="1600" dirty="0">
              <a:ea typeface="Calibri" panose="020F0502020204030204" pitchFamily="34" charset="0"/>
              <a:cs typeface="+mn-cs"/>
            </a:endParaRPr>
          </a:p>
          <a:p>
            <a:pPr algn="r">
              <a:lnSpc>
                <a:spcPct val="120000"/>
              </a:lnSpc>
              <a:spcAft>
                <a:spcPts val="600"/>
              </a:spcAft>
            </a:pPr>
            <a:r>
              <a:rPr lang="he-IL" sz="1600" b="1" dirty="0">
                <a:ea typeface="David" panose="020E0502060401010101" pitchFamily="34" charset="-79"/>
                <a:cs typeface="+mn-cs"/>
              </a:rPr>
              <a:t>תחום תוכן</a:t>
            </a:r>
            <a:r>
              <a:rPr lang="he-IL" sz="1600" dirty="0">
                <a:ea typeface="David" panose="020E0502060401010101" pitchFamily="34" charset="-79"/>
                <a:cs typeface="+mn-cs"/>
              </a:rPr>
              <a:t>: </a:t>
            </a:r>
            <a:r>
              <a:rPr lang="he-IL" sz="1600" b="1" dirty="0">
                <a:cs typeface="+mn-cs"/>
              </a:rPr>
              <a:t>מדעי החומר – כימיה, פיזיקה</a:t>
            </a:r>
            <a:endParaRPr lang="he-IL" sz="1600" dirty="0">
              <a:ea typeface="David" panose="020E0502060401010101" pitchFamily="34" charset="-79"/>
              <a:cs typeface="+mn-cs"/>
            </a:endParaRPr>
          </a:p>
          <a:p>
            <a:pPr algn="r">
              <a:lnSpc>
                <a:spcPct val="120000"/>
              </a:lnSpc>
              <a:spcAft>
                <a:spcPts val="600"/>
              </a:spcAft>
            </a:pPr>
            <a:r>
              <a:rPr lang="he-IL" sz="1600" b="1" dirty="0" smtClean="0">
                <a:ea typeface="David" panose="020E0502060401010101" pitchFamily="34" charset="-79"/>
                <a:cs typeface="+mn-cs"/>
              </a:rPr>
              <a:t>נושא </a:t>
            </a:r>
            <a:r>
              <a:rPr lang="he-IL" sz="1600" b="1" dirty="0">
                <a:ea typeface="David" panose="020E0502060401010101" pitchFamily="34" charset="-79"/>
                <a:cs typeface="+mn-cs"/>
              </a:rPr>
              <a:t>מרכזי</a:t>
            </a:r>
            <a:r>
              <a:rPr lang="he-IL" sz="1600" dirty="0">
                <a:ea typeface="David" panose="020E0502060401010101" pitchFamily="34" charset="-79"/>
                <a:cs typeface="+mn-cs"/>
              </a:rPr>
              <a:t>: </a:t>
            </a:r>
            <a:r>
              <a:rPr lang="he-IL" sz="1600" b="1" dirty="0">
                <a:cs typeface="+mn-cs"/>
              </a:rPr>
              <a:t>אנרגיה (פיזיקה</a:t>
            </a:r>
            <a:r>
              <a:rPr lang="he-IL" sz="1600" b="1" dirty="0" smtClean="0">
                <a:cs typeface="+mn-cs"/>
              </a:rPr>
              <a:t>)</a:t>
            </a:r>
          </a:p>
          <a:p>
            <a:pPr algn="r">
              <a:lnSpc>
                <a:spcPct val="120000"/>
              </a:lnSpc>
              <a:spcAft>
                <a:spcPts val="600"/>
              </a:spcAft>
            </a:pPr>
            <a:r>
              <a:rPr lang="he-IL" sz="1600" b="1" dirty="0" smtClean="0">
                <a:ea typeface="David" panose="020E0502060401010101" pitchFamily="34" charset="-79"/>
                <a:cs typeface="+mn-cs"/>
              </a:rPr>
              <a:t>נושא משנה</a:t>
            </a:r>
            <a:r>
              <a:rPr lang="he-IL" sz="1600" dirty="0" smtClean="0">
                <a:ea typeface="David" panose="020E0502060401010101" pitchFamily="34" charset="-79"/>
                <a:cs typeface="+mn-cs"/>
              </a:rPr>
              <a:t>: </a:t>
            </a:r>
            <a:r>
              <a:rPr lang="he-IL" sz="1600" b="1" dirty="0">
                <a:cs typeface="+mn-cs"/>
              </a:rPr>
              <a:t>סוגי אנרגיה – היבטים </a:t>
            </a:r>
            <a:r>
              <a:rPr lang="he-IL" sz="1600" b="1" dirty="0" smtClean="0">
                <a:cs typeface="+mn-cs"/>
              </a:rPr>
              <a:t>טכנולוגיים</a:t>
            </a:r>
            <a:endParaRPr lang="he-IL" sz="1600" dirty="0" smtClean="0">
              <a:ea typeface="David" panose="020E0502060401010101" pitchFamily="34" charset="-79"/>
              <a:cs typeface="+mn-cs"/>
            </a:endParaRPr>
          </a:p>
          <a:p>
            <a:pPr lvl="0" algn="r"/>
            <a:r>
              <a:rPr lang="he-IL" sz="1600" b="1" dirty="0" smtClean="0">
                <a:ea typeface="David" panose="020E0502060401010101" pitchFamily="34" charset="-79"/>
                <a:cs typeface="+mn-cs"/>
              </a:rPr>
              <a:t>ציוני דרך</a:t>
            </a:r>
            <a:r>
              <a:rPr lang="he-IL" sz="1600" dirty="0" smtClean="0">
                <a:ea typeface="David" panose="020E0502060401010101" pitchFamily="34" charset="-79"/>
                <a:cs typeface="+mn-cs"/>
              </a:rPr>
              <a:t>: </a:t>
            </a:r>
            <a:r>
              <a:rPr lang="he-IL" sz="1600" b="1" dirty="0" smtClean="0">
                <a:cs typeface="+mn-cs"/>
              </a:rPr>
              <a:t>בליעת </a:t>
            </a:r>
            <a:r>
              <a:rPr lang="he-IL" sz="1600" b="1" dirty="0">
                <a:cs typeface="+mn-cs"/>
              </a:rPr>
              <a:t>אור, החזרת אור, מעבר אור</a:t>
            </a:r>
            <a:endParaRPr lang="en-US" sz="1600" dirty="0">
              <a:cs typeface="+mn-cs"/>
            </a:endParaRPr>
          </a:p>
          <a:p>
            <a:pPr lvl="0" algn="r"/>
            <a:r>
              <a:rPr lang="he-IL" sz="1600" dirty="0">
                <a:cs typeface="+mn-cs"/>
              </a:rPr>
              <a:t>גוף כהה</a:t>
            </a:r>
            <a:endParaRPr lang="en-US" sz="1600" dirty="0">
              <a:cs typeface="+mn-cs"/>
            </a:endParaRPr>
          </a:p>
          <a:p>
            <a:pPr lvl="0" algn="r"/>
            <a:r>
              <a:rPr lang="he-IL" sz="1600" dirty="0">
                <a:cs typeface="+mn-cs"/>
              </a:rPr>
              <a:t>גוף בהיר</a:t>
            </a:r>
            <a:endParaRPr lang="en-US" sz="1600" dirty="0">
              <a:cs typeface="+mn-cs"/>
            </a:endParaRPr>
          </a:p>
          <a:p>
            <a:pPr lvl="0" algn="r"/>
            <a:r>
              <a:rPr lang="he-IL" sz="1600" b="1" dirty="0" smtClean="0">
                <a:cs typeface="+mn-cs"/>
              </a:rPr>
              <a:t>צל</a:t>
            </a:r>
            <a:endParaRPr lang="he-IL" sz="1600" dirty="0" smtClean="0">
              <a:ea typeface="David" panose="020E0502060401010101" pitchFamily="34" charset="-79"/>
              <a:cs typeface="+mn-cs"/>
            </a:endParaRPr>
          </a:p>
          <a:p>
            <a:pPr algn="r">
              <a:lnSpc>
                <a:spcPct val="120000"/>
              </a:lnSpc>
              <a:spcAft>
                <a:spcPts val="600"/>
              </a:spcAft>
            </a:pPr>
            <a:r>
              <a:rPr lang="he-IL" sz="1600" b="1" dirty="0" smtClean="0">
                <a:ea typeface="David" panose="020E0502060401010101" pitchFamily="34" charset="-79"/>
                <a:cs typeface="+mn-cs"/>
              </a:rPr>
              <a:t>ידע </a:t>
            </a:r>
            <a:r>
              <a:rPr lang="he-IL" sz="1600" b="1" dirty="0">
                <a:ea typeface="David" panose="020E0502060401010101" pitchFamily="34" charset="-79"/>
                <a:cs typeface="+mn-cs"/>
              </a:rPr>
              <a:t>קודם נדרש</a:t>
            </a:r>
            <a:r>
              <a:rPr lang="he-IL" sz="1600" dirty="0">
                <a:ea typeface="David" panose="020E0502060401010101" pitchFamily="34" charset="-79"/>
                <a:cs typeface="+mn-cs"/>
              </a:rPr>
              <a:t> : </a:t>
            </a:r>
            <a:r>
              <a:rPr lang="he-IL" sz="1600" dirty="0" smtClean="0">
                <a:ea typeface="David" panose="020E0502060401010101" pitchFamily="34" charset="-79"/>
                <a:cs typeface="+mn-cs"/>
              </a:rPr>
              <a:t> אור הוא סוג של אנרגיה, מקורות אור, התקדמות האור, גוף אטום וגוף שקוף</a:t>
            </a:r>
          </a:p>
          <a:p>
            <a:pPr algn="r">
              <a:lnSpc>
                <a:spcPct val="120000"/>
              </a:lnSpc>
              <a:spcAft>
                <a:spcPts val="600"/>
              </a:spcAft>
            </a:pPr>
            <a:r>
              <a:rPr lang="he-IL" sz="1600" b="1" dirty="0" smtClean="0">
                <a:ea typeface="Calibri" panose="020F0502020204030204" pitchFamily="34" charset="0"/>
                <a:cs typeface="+mn-cs"/>
              </a:rPr>
              <a:t>מטרות </a:t>
            </a:r>
            <a:r>
              <a:rPr lang="he-IL" sz="1600" b="1" dirty="0">
                <a:ea typeface="Calibri" panose="020F0502020204030204" pitchFamily="34" charset="0"/>
                <a:cs typeface="+mn-cs"/>
              </a:rPr>
              <a:t>הפעילות</a:t>
            </a:r>
            <a:r>
              <a:rPr lang="he-IL" sz="1600" dirty="0">
                <a:ea typeface="Calibri" panose="020F0502020204030204" pitchFamily="34" charset="0"/>
                <a:cs typeface="+mn-cs"/>
              </a:rPr>
              <a:t>: </a:t>
            </a:r>
            <a:endParaRPr lang="he-IL" sz="1600" dirty="0" smtClean="0">
              <a:ea typeface="Calibri" panose="020F0502020204030204" pitchFamily="34" charset="0"/>
              <a:cs typeface="+mn-cs"/>
            </a:endParaRPr>
          </a:p>
          <a:p>
            <a:pPr algn="r">
              <a:lnSpc>
                <a:spcPct val="120000"/>
              </a:lnSpc>
              <a:spcAft>
                <a:spcPts val="600"/>
              </a:spcAft>
            </a:pPr>
            <a:r>
              <a:rPr lang="he-IL" sz="1600" dirty="0" smtClean="0">
                <a:ea typeface="Calibri" panose="020F0502020204030204" pitchFamily="34" charset="0"/>
                <a:cs typeface="+mn-cs"/>
              </a:rPr>
              <a:t>-התלמידים יסבירו  את ההבדל במעבר אור בגופים אטומים ובגופים שקופים.</a:t>
            </a:r>
          </a:p>
          <a:p>
            <a:pPr algn="r">
              <a:lnSpc>
                <a:spcPct val="120000"/>
              </a:lnSpc>
              <a:spcAft>
                <a:spcPts val="600"/>
              </a:spcAft>
            </a:pPr>
            <a:r>
              <a:rPr lang="he-IL" sz="1600" dirty="0" smtClean="0">
                <a:ea typeface="Calibri" panose="020F0502020204030204" pitchFamily="34" charset="0"/>
                <a:cs typeface="+mn-cs"/>
              </a:rPr>
              <a:t>-התלמידים יתנסו ויסבירו כיצד נוצר צל?</a:t>
            </a:r>
          </a:p>
          <a:p>
            <a:pPr algn="r">
              <a:lnSpc>
                <a:spcPct val="120000"/>
              </a:lnSpc>
              <a:spcAft>
                <a:spcPts val="600"/>
              </a:spcAft>
            </a:pPr>
            <a:r>
              <a:rPr lang="he-IL" sz="1600" dirty="0" smtClean="0">
                <a:ea typeface="Calibri" panose="020F0502020204030204" pitchFamily="34" charset="0"/>
                <a:cs typeface="+mn-cs"/>
              </a:rPr>
              <a:t>-התלמידים יתכננו ניסוי  מדעי לבדיקת השפעת גורמים שונים  אורך הצל</a:t>
            </a:r>
            <a:r>
              <a:rPr lang="he-IL" sz="1600" dirty="0">
                <a:ea typeface="Calibri" panose="020F0502020204030204" pitchFamily="34" charset="0"/>
                <a:cs typeface="+mn-cs"/>
              </a:rPr>
              <a:t> </a:t>
            </a:r>
            <a:r>
              <a:rPr lang="he-IL" sz="1600" dirty="0" smtClean="0">
                <a:ea typeface="Calibri" panose="020F0502020204030204" pitchFamily="34" charset="0"/>
                <a:cs typeface="+mn-cs"/>
              </a:rPr>
              <a:t>,</a:t>
            </a:r>
            <a:r>
              <a:rPr lang="he-IL" sz="1600" dirty="0" smtClean="0">
                <a:cs typeface="+mn-cs"/>
              </a:rPr>
              <a:t>יסיקו </a:t>
            </a:r>
            <a:r>
              <a:rPr lang="he-IL" sz="1600" dirty="0">
                <a:cs typeface="+mn-cs"/>
              </a:rPr>
              <a:t>מסקנות ויבחנו מסקנות של </a:t>
            </a:r>
            <a:r>
              <a:rPr lang="he-IL" sz="1600" dirty="0" smtClean="0">
                <a:cs typeface="+mn-cs"/>
              </a:rPr>
              <a:t>עמיתים.</a:t>
            </a:r>
            <a:endParaRPr lang="he-IL" sz="1600" dirty="0" smtClean="0">
              <a:ea typeface="Calibri" panose="020F0502020204030204" pitchFamily="34" charset="0"/>
              <a:cs typeface="+mn-cs"/>
            </a:endParaRPr>
          </a:p>
          <a:p>
            <a:pPr algn="r">
              <a:lnSpc>
                <a:spcPct val="120000"/>
              </a:lnSpc>
              <a:spcAft>
                <a:spcPts val="600"/>
              </a:spcAft>
            </a:pPr>
            <a:endParaRPr lang="he-IL" sz="1400" dirty="0">
              <a:latin typeface="Calibri" panose="020F0502020204030204" pitchFamily="34" charset="0"/>
              <a:ea typeface="Calibri" panose="020F0502020204030204" pitchFamily="34" charset="0"/>
            </a:endParaRPr>
          </a:p>
          <a:p>
            <a:pPr lvl="0" algn="r"/>
            <a:endParaRPr lang="en-US" sz="2000" dirty="0"/>
          </a:p>
          <a:p>
            <a:pPr lvl="0" algn="r"/>
            <a:endParaRPr lang="en-US" sz="1400" dirty="0"/>
          </a:p>
          <a:p>
            <a:pPr lvl="0" algn="r"/>
            <a:endParaRPr lang="he-IL" dirty="0"/>
          </a:p>
        </p:txBody>
      </p:sp>
      <p:pic>
        <p:nvPicPr>
          <p:cNvPr id="5" name="תמונה 4">
            <a:extLst>
              <a:ext uri="{FF2B5EF4-FFF2-40B4-BE49-F238E27FC236}">
                <a16:creationId xmlns="" xmlns:a16="http://schemas.microsoft.com/office/drawing/2014/main" id="{380A3E17-4C99-797F-94D4-8655C05097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03754" y="419394"/>
            <a:ext cx="2120027" cy="718541"/>
          </a:xfrm>
          <a:prstGeom prst="rect">
            <a:avLst/>
          </a:prstGeom>
          <a:noFill/>
        </p:spPr>
      </p:pic>
      <p:pic>
        <p:nvPicPr>
          <p:cNvPr id="9" name="תמונה 8">
            <a:extLst>
              <a:ext uri="{FF2B5EF4-FFF2-40B4-BE49-F238E27FC236}">
                <a16:creationId xmlns="" xmlns:a16="http://schemas.microsoft.com/office/drawing/2014/main" id="{D4C4DF1A-C59C-F4B3-DF06-2C31477198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087" y="459031"/>
            <a:ext cx="1129580" cy="741163"/>
          </a:xfrm>
          <a:prstGeom prst="rect">
            <a:avLst/>
          </a:prstGeom>
          <a:noFill/>
        </p:spPr>
      </p:pic>
    </p:spTree>
    <p:extLst>
      <p:ext uri="{BB962C8B-B14F-4D97-AF65-F5344CB8AC3E}">
        <p14:creationId xmlns:p14="http://schemas.microsoft.com/office/powerpoint/2010/main" val="31920923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a:xfrm>
            <a:off x="611560" y="620688"/>
            <a:ext cx="8614362" cy="1325563"/>
          </a:xfrm>
        </p:spPr>
        <p:txBody>
          <a:bodyPr>
            <a:normAutofit/>
          </a:bodyPr>
          <a:lstStyle/>
          <a:p>
            <a:pPr algn="r"/>
            <a:r>
              <a:rPr lang="he-IL" dirty="0"/>
              <a:t> </a:t>
            </a:r>
            <a:r>
              <a:rPr lang="he-IL" dirty="0" smtClean="0"/>
              <a:t/>
            </a:r>
            <a:br>
              <a:rPr lang="he-IL" dirty="0" smtClean="0"/>
            </a:br>
            <a:r>
              <a:rPr lang="he-IL" dirty="0" smtClean="0"/>
              <a:t>חידה: </a:t>
            </a:r>
            <a:r>
              <a:rPr lang="he-IL" b="1" dirty="0" smtClean="0"/>
              <a:t>מה </a:t>
            </a:r>
            <a:r>
              <a:rPr lang="he-IL" b="1" dirty="0"/>
              <a:t>משותף לכל התמונות?</a:t>
            </a:r>
            <a:endParaRPr lang="x-none" dirty="0"/>
          </a:p>
        </p:txBody>
      </p:sp>
      <p:pic>
        <p:nvPicPr>
          <p:cNvPr id="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5988" y="2135360"/>
            <a:ext cx="2765425" cy="1954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2168548"/>
            <a:ext cx="2634836" cy="169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650" y="4445762"/>
            <a:ext cx="3915118" cy="221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תמונה 12"/>
          <p:cNvPicPr>
            <a:picLocks noChangeAspect="1"/>
          </p:cNvPicPr>
          <p:nvPr/>
        </p:nvPicPr>
        <p:blipFill>
          <a:blip r:embed="rId6"/>
          <a:stretch>
            <a:fillRect/>
          </a:stretch>
        </p:blipFill>
        <p:spPr>
          <a:xfrm>
            <a:off x="5300662" y="4409769"/>
            <a:ext cx="2457793" cy="1908703"/>
          </a:xfrm>
          <a:prstGeom prst="rect">
            <a:avLst/>
          </a:prstGeom>
        </p:spPr>
      </p:pic>
      <p:sp>
        <p:nvSpPr>
          <p:cNvPr id="14" name="מלבן 13"/>
          <p:cNvSpPr/>
          <p:nvPr/>
        </p:nvSpPr>
        <p:spPr>
          <a:xfrm>
            <a:off x="5427333" y="6393812"/>
            <a:ext cx="1638590"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e-IL" sz="1800" b="0" i="0" u="none" strike="noStrike" kern="0" cap="none" spc="0" normalizeH="0" baseline="0" noProof="0" dirty="0" smtClean="0">
                <a:ln>
                  <a:noFill/>
                </a:ln>
                <a:solidFill>
                  <a:srgbClr val="424242"/>
                </a:solidFill>
                <a:effectLst/>
                <a:uLnTx/>
                <a:uFillTx/>
                <a:hlinkClick r:id="rId7"/>
              </a:rPr>
              <a:t>סרטון ליקוי חמה</a:t>
            </a:r>
            <a:endParaRPr kumimoji="0" lang="he-IL" sz="1800" b="0" i="0" u="none" strike="noStrike" kern="0" cap="none" spc="0" normalizeH="0" baseline="0" noProof="0" dirty="0">
              <a:ln>
                <a:noFill/>
              </a:ln>
              <a:solidFill>
                <a:srgbClr val="424242"/>
              </a:solidFill>
              <a:effectLst/>
              <a:uLnTx/>
              <a:uFillTx/>
            </a:endParaRPr>
          </a:p>
        </p:txBody>
      </p:sp>
    </p:spTree>
    <p:extLst>
      <p:ext uri="{BB962C8B-B14F-4D97-AF65-F5344CB8AC3E}">
        <p14:creationId xmlns:p14="http://schemas.microsoft.com/office/powerpoint/2010/main" val="72876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p:txBody>
          <a:bodyPr>
            <a:normAutofit fontScale="90000"/>
          </a:bodyPr>
          <a:lstStyle/>
          <a:p>
            <a:r>
              <a:rPr lang="he-IL" dirty="0"/>
              <a:t> </a:t>
            </a:r>
            <a:r>
              <a:rPr lang="he-IL" dirty="0" smtClean="0"/>
              <a:t/>
            </a:r>
            <a:br>
              <a:rPr lang="he-IL" dirty="0" smtClean="0"/>
            </a:br>
            <a:r>
              <a:rPr lang="he-IL" dirty="0" smtClean="0"/>
              <a:t> </a:t>
            </a:r>
            <a:r>
              <a:rPr lang="he-IL" b="1" dirty="0"/>
              <a:t>ומה הקשר של התמונות ל</a:t>
            </a:r>
            <a:r>
              <a:rPr lang="he-IL" b="1" dirty="0">
                <a:hlinkClick r:id="rId3"/>
              </a:rPr>
              <a:t>סרטון</a:t>
            </a:r>
            <a:r>
              <a:rPr lang="he-IL" b="1" dirty="0"/>
              <a:t> הזה?</a:t>
            </a:r>
            <a:endParaRPr lang="x-none" dirty="0"/>
          </a:p>
        </p:txBody>
      </p:sp>
      <p:pic>
        <p:nvPicPr>
          <p:cNvPr id="9" name="תמונה 8">
            <a:hlinkClick r:id="rId3"/>
          </p:cNvPr>
          <p:cNvPicPr>
            <a:picLocks noChangeAspect="1"/>
          </p:cNvPicPr>
          <p:nvPr/>
        </p:nvPicPr>
        <p:blipFill>
          <a:blip r:embed="rId4"/>
          <a:stretch>
            <a:fillRect/>
          </a:stretch>
        </p:blipFill>
        <p:spPr>
          <a:xfrm>
            <a:off x="1403648" y="2276871"/>
            <a:ext cx="5487166" cy="4163006"/>
          </a:xfrm>
          <a:prstGeom prst="rect">
            <a:avLst/>
          </a:prstGeom>
        </p:spPr>
      </p:pic>
    </p:spTree>
    <p:extLst>
      <p:ext uri="{BB962C8B-B14F-4D97-AF65-F5344CB8AC3E}">
        <p14:creationId xmlns:p14="http://schemas.microsoft.com/office/powerpoint/2010/main" val="1139453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68CDB7D-7B3E-EF45-982F-5AD116333E56}"/>
              </a:ext>
            </a:extLst>
          </p:cNvPr>
          <p:cNvSpPr>
            <a:spLocks noGrp="1"/>
          </p:cNvSpPr>
          <p:nvPr>
            <p:ph type="title"/>
          </p:nvPr>
        </p:nvSpPr>
        <p:spPr>
          <a:xfrm>
            <a:off x="605867" y="736932"/>
            <a:ext cx="7886700" cy="646294"/>
          </a:xfrm>
        </p:spPr>
        <p:txBody>
          <a:bodyPr>
            <a:normAutofit fontScale="90000"/>
          </a:bodyPr>
          <a:lstStyle/>
          <a:p>
            <a:pPr algn="r"/>
            <a:r>
              <a:rPr lang="he-IL" dirty="0" smtClean="0"/>
              <a:t>              קודם </a:t>
            </a:r>
            <a:r>
              <a:rPr lang="he-IL" dirty="0" smtClean="0"/>
              <a:t>חוקרים </a:t>
            </a:r>
            <a:r>
              <a:rPr lang="he-IL" dirty="0" smtClean="0"/>
              <a:t>כיצד נוצר צל?</a:t>
            </a:r>
            <a:br>
              <a:rPr lang="he-IL" dirty="0" smtClean="0"/>
            </a:br>
            <a:endParaRPr lang="x-none"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3333" t="-1223" b="1223"/>
          <a:stretch/>
        </p:blipFill>
        <p:spPr bwMode="auto">
          <a:xfrm>
            <a:off x="3491880" y="1383226"/>
            <a:ext cx="1633631" cy="1733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6408" y="3140968"/>
            <a:ext cx="1329848" cy="172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920" y="3140968"/>
            <a:ext cx="1524000" cy="172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9562" y="3140968"/>
            <a:ext cx="1561780" cy="172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546408" y="1956738"/>
            <a:ext cx="1417611" cy="646331"/>
          </a:xfrm>
          <a:prstGeom prst="rect">
            <a:avLst/>
          </a:prstGeom>
          <a:noFill/>
        </p:spPr>
        <p:txBody>
          <a:bodyPr wrap="square" rtlCol="1">
            <a:spAutoFit/>
          </a:bodyPr>
          <a:lstStyle/>
          <a:p>
            <a:r>
              <a:rPr lang="he-IL" b="1" dirty="0" smtClean="0"/>
              <a:t>פנס רגיל או של הנייד</a:t>
            </a:r>
            <a:endParaRPr lang="he-IL" b="1" dirty="0"/>
          </a:p>
        </p:txBody>
      </p:sp>
      <p:sp>
        <p:nvSpPr>
          <p:cNvPr id="5" name="TextBox 4"/>
          <p:cNvSpPr txBox="1"/>
          <p:nvPr/>
        </p:nvSpPr>
        <p:spPr>
          <a:xfrm>
            <a:off x="5546410" y="5291979"/>
            <a:ext cx="1545872" cy="646331"/>
          </a:xfrm>
          <a:prstGeom prst="rect">
            <a:avLst/>
          </a:prstGeom>
          <a:noFill/>
        </p:spPr>
        <p:txBody>
          <a:bodyPr wrap="square" rtlCol="1">
            <a:spAutoFit/>
          </a:bodyPr>
          <a:lstStyle/>
          <a:p>
            <a:r>
              <a:rPr lang="he-IL" b="1" dirty="0" smtClean="0"/>
              <a:t>כוס זכוכית עם מים</a:t>
            </a:r>
            <a:endParaRPr lang="he-IL" b="1" dirty="0"/>
          </a:p>
        </p:txBody>
      </p:sp>
      <p:sp>
        <p:nvSpPr>
          <p:cNvPr id="6" name="TextBox 5"/>
          <p:cNvSpPr txBox="1"/>
          <p:nvPr/>
        </p:nvSpPr>
        <p:spPr>
          <a:xfrm>
            <a:off x="3995938" y="5413866"/>
            <a:ext cx="1379984" cy="369332"/>
          </a:xfrm>
          <a:prstGeom prst="rect">
            <a:avLst/>
          </a:prstGeom>
          <a:noFill/>
        </p:spPr>
        <p:txBody>
          <a:bodyPr wrap="square" rtlCol="1">
            <a:spAutoFit/>
          </a:bodyPr>
          <a:lstStyle/>
          <a:p>
            <a:r>
              <a:rPr lang="he-IL" b="1" dirty="0" smtClean="0"/>
              <a:t>ספל קרמיקה</a:t>
            </a:r>
            <a:endParaRPr lang="he-IL" b="1" dirty="0"/>
          </a:p>
        </p:txBody>
      </p:sp>
      <p:sp>
        <p:nvSpPr>
          <p:cNvPr id="13" name="TextBox 12"/>
          <p:cNvSpPr txBox="1"/>
          <p:nvPr/>
        </p:nvSpPr>
        <p:spPr>
          <a:xfrm>
            <a:off x="2109562" y="5413866"/>
            <a:ext cx="1561780" cy="369332"/>
          </a:xfrm>
          <a:prstGeom prst="rect">
            <a:avLst/>
          </a:prstGeom>
          <a:noFill/>
        </p:spPr>
        <p:txBody>
          <a:bodyPr wrap="square" rtlCol="1">
            <a:spAutoFit/>
          </a:bodyPr>
          <a:lstStyle/>
          <a:p>
            <a:r>
              <a:rPr lang="he-IL" b="1" dirty="0"/>
              <a:t> </a:t>
            </a:r>
            <a:r>
              <a:rPr lang="he-IL" b="1" dirty="0" smtClean="0"/>
              <a:t>        ספר</a:t>
            </a:r>
            <a:endParaRPr lang="he-IL" b="1" dirty="0"/>
          </a:p>
        </p:txBody>
      </p:sp>
      <p:sp>
        <p:nvSpPr>
          <p:cNvPr id="14" name="TextBox 13"/>
          <p:cNvSpPr txBox="1"/>
          <p:nvPr/>
        </p:nvSpPr>
        <p:spPr>
          <a:xfrm>
            <a:off x="557234" y="5413866"/>
            <a:ext cx="1227731" cy="369332"/>
          </a:xfrm>
          <a:prstGeom prst="rect">
            <a:avLst/>
          </a:prstGeom>
          <a:noFill/>
        </p:spPr>
        <p:txBody>
          <a:bodyPr wrap="square" rtlCol="1">
            <a:spAutoFit/>
          </a:bodyPr>
          <a:lstStyle/>
          <a:p>
            <a:r>
              <a:rPr lang="he-IL" b="1" dirty="0" smtClean="0"/>
              <a:t>כפית</a:t>
            </a:r>
            <a:endParaRPr lang="he-IL" b="1" dirty="0"/>
          </a:p>
        </p:txBody>
      </p:sp>
      <p:pic>
        <p:nvPicPr>
          <p:cNvPr id="2" name="תמונה 1"/>
          <p:cNvPicPr>
            <a:picLocks noChangeAspect="1"/>
          </p:cNvPicPr>
          <p:nvPr/>
        </p:nvPicPr>
        <p:blipFill>
          <a:blip r:embed="rId7"/>
          <a:stretch>
            <a:fillRect/>
          </a:stretch>
        </p:blipFill>
        <p:spPr>
          <a:xfrm>
            <a:off x="7262410" y="2990434"/>
            <a:ext cx="1280244" cy="1872078"/>
          </a:xfrm>
          <a:prstGeom prst="rect">
            <a:avLst/>
          </a:prstGeom>
        </p:spPr>
      </p:pic>
      <p:sp>
        <p:nvSpPr>
          <p:cNvPr id="9" name="TextBox 8"/>
          <p:cNvSpPr txBox="1"/>
          <p:nvPr/>
        </p:nvSpPr>
        <p:spPr>
          <a:xfrm>
            <a:off x="7081635" y="5316777"/>
            <a:ext cx="1569660" cy="369332"/>
          </a:xfrm>
          <a:prstGeom prst="rect">
            <a:avLst/>
          </a:prstGeom>
          <a:noFill/>
        </p:spPr>
        <p:txBody>
          <a:bodyPr wrap="none" rtlCol="1">
            <a:spAutoFit/>
          </a:bodyPr>
          <a:lstStyle/>
          <a:p>
            <a:r>
              <a:rPr lang="he-IL" b="1" dirty="0" smtClean="0"/>
              <a:t>בקבוק פלסטיק</a:t>
            </a:r>
            <a:endParaRPr lang="he-IL" b="1" dirty="0"/>
          </a:p>
        </p:txBody>
      </p:sp>
      <p:pic>
        <p:nvPicPr>
          <p:cNvPr id="10" name="תמונה 9"/>
          <p:cNvPicPr>
            <a:picLocks noChangeAspect="1"/>
          </p:cNvPicPr>
          <p:nvPr/>
        </p:nvPicPr>
        <p:blipFill>
          <a:blip r:embed="rId8"/>
          <a:stretch>
            <a:fillRect/>
          </a:stretch>
        </p:blipFill>
        <p:spPr>
          <a:xfrm>
            <a:off x="685467" y="3140969"/>
            <a:ext cx="1091279" cy="1721544"/>
          </a:xfrm>
          <a:prstGeom prst="rect">
            <a:avLst/>
          </a:prstGeom>
        </p:spPr>
      </p:pic>
      <p:sp>
        <p:nvSpPr>
          <p:cNvPr id="8" name="מלבן 7"/>
          <p:cNvSpPr/>
          <p:nvPr/>
        </p:nvSpPr>
        <p:spPr>
          <a:xfrm>
            <a:off x="5949914" y="1178057"/>
            <a:ext cx="2701381" cy="523220"/>
          </a:xfrm>
          <a:prstGeom prst="rect">
            <a:avLst/>
          </a:prstGeom>
        </p:spPr>
        <p:txBody>
          <a:bodyPr wrap="none">
            <a:spAutoFit/>
          </a:bodyPr>
          <a:lstStyle/>
          <a:p>
            <a:r>
              <a:rPr lang="he-IL" sz="2800" b="1" dirty="0">
                <a:solidFill>
                  <a:prstClr val="black"/>
                </a:solidFill>
                <a:latin typeface="Calibri" panose="020F0502020204030204" pitchFamily="34" charset="0"/>
                <a:cs typeface="Calibri" panose="020F0502020204030204" pitchFamily="34" charset="0"/>
              </a:rPr>
              <a:t>מה להביא לשיעור?</a:t>
            </a:r>
            <a:endParaRPr lang="he-IL" sz="2800" b="1" dirty="0"/>
          </a:p>
        </p:txBody>
      </p:sp>
    </p:spTree>
    <p:extLst>
      <p:ext uri="{BB962C8B-B14F-4D97-AF65-F5344CB8AC3E}">
        <p14:creationId xmlns:p14="http://schemas.microsoft.com/office/powerpoint/2010/main" val="77577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0" y="365129"/>
            <a:ext cx="8964488" cy="1325563"/>
          </a:xfrm>
        </p:spPr>
        <p:txBody>
          <a:bodyPr>
            <a:normAutofit fontScale="90000"/>
          </a:bodyPr>
          <a:lstStyle/>
          <a:p>
            <a:pPr algn="ctr"/>
            <a:r>
              <a:rPr lang="he-IL" sz="4000" dirty="0">
                <a:solidFill>
                  <a:srgbClr val="FFFFFF"/>
                </a:solidFill>
              </a:rPr>
              <a:t>שאלת החקר :אז מה קורה לקרן אור </a:t>
            </a:r>
            <a:r>
              <a:rPr lang="he-IL" sz="4000" dirty="0" smtClean="0">
                <a:solidFill>
                  <a:srgbClr val="FFFFFF"/>
                </a:solidFill>
              </a:rPr>
              <a:t>ש</a:t>
            </a:r>
            <a:br>
              <a:rPr lang="he-IL" sz="4000" dirty="0" smtClean="0">
                <a:solidFill>
                  <a:srgbClr val="FFFFFF"/>
                </a:solidFill>
              </a:rPr>
            </a:br>
            <a:r>
              <a:rPr lang="he-IL" sz="4000" dirty="0" smtClean="0"/>
              <a:t>שאלת </a:t>
            </a:r>
            <a:r>
              <a:rPr lang="he-IL" sz="4000" dirty="0"/>
              <a:t>החקר </a:t>
            </a:r>
            <a:r>
              <a:rPr lang="he-IL" sz="4000" dirty="0" smtClean="0"/>
              <a:t>: כיצד נוצר צל של </a:t>
            </a:r>
            <a:r>
              <a:rPr lang="he-IL" sz="4000" dirty="0" err="1" smtClean="0"/>
              <a:t>גוף?</a:t>
            </a:r>
            <a:r>
              <a:rPr lang="he-IL" sz="4000" dirty="0" err="1" smtClean="0">
                <a:solidFill>
                  <a:srgbClr val="FFFFFF"/>
                </a:solidFill>
              </a:rPr>
              <a:t>בגופים</a:t>
            </a:r>
            <a:r>
              <a:rPr lang="he-IL" sz="4000" dirty="0" smtClean="0">
                <a:solidFill>
                  <a:srgbClr val="FFFFFF"/>
                </a:solidFill>
              </a:rPr>
              <a:t> </a:t>
            </a:r>
            <a:r>
              <a:rPr lang="he-IL" sz="4000" dirty="0">
                <a:solidFill>
                  <a:srgbClr val="FFFFFF"/>
                </a:solidFill>
              </a:rPr>
              <a:t>שונים?</a:t>
            </a:r>
            <a:endParaRPr lang="he-IL" dirty="0"/>
          </a:p>
        </p:txBody>
      </p:sp>
      <p:sp>
        <p:nvSpPr>
          <p:cNvPr id="6" name="Text Placeholder 5">
            <a:extLst>
              <a:ext uri="{FF2B5EF4-FFF2-40B4-BE49-F238E27FC236}">
                <a16:creationId xmlns:a16="http://schemas.microsoft.com/office/drawing/2014/main" xmlns="" id="{23447C36-6132-374D-A58E-2AEC5E22D03D}"/>
              </a:ext>
            </a:extLst>
          </p:cNvPr>
          <p:cNvSpPr txBox="1">
            <a:spLocks/>
          </p:cNvSpPr>
          <p:nvPr/>
        </p:nvSpPr>
        <p:spPr>
          <a:xfrm>
            <a:off x="1253788" y="1928816"/>
            <a:ext cx="7179469" cy="4929184"/>
          </a:xfrm>
          <a:prstGeom prst="rect">
            <a:avLst/>
          </a:prstGeom>
        </p:spPr>
        <p:txBody>
          <a:bodyPr vert="horz" lIns="91440" tIns="45720" rIns="91440" bIns="45720" rtlCol="0">
            <a:normAutofit fontScale="92500" lnSpcReduction="100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מהלך ההתנסות</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1. הדליקו את הפנס( רגיל או נייד)</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2.הציבו את כל החפצים שהכנתם כ5 ס"מ לפני קיר לבן- ספר, כוס זכוכית, כפית, ספל</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3. כבו את האור  ו/או הגיפו את התריס</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4.האירו בכל פעם על אחד מהחפצים ממרחק</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5. התבוננו ותארו מה קורה על הקיר כשמאירים על כל חפץ?</a:t>
            </a: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ניתן להוסיף חפצים נוספים: גליל ניר </a:t>
            </a:r>
            <a:r>
              <a:rPr kumimoji="0" lang="he-IL" sz="3600" b="0" i="0" u="none" strike="noStrike" kern="1200" cap="none" spc="0" normalizeH="0" baseline="0" noProof="0" dirty="0" err="1" smtClean="0">
                <a:ln>
                  <a:noFill/>
                </a:ln>
                <a:solidFill>
                  <a:srgbClr val="424242"/>
                </a:solidFill>
                <a:effectLst/>
                <a:uLnTx/>
                <a:uFillTx/>
                <a:latin typeface="Calibri" panose="020F0502020204030204" pitchFamily="34" charset="0"/>
                <a:cs typeface="Calibri" panose="020F0502020204030204" pitchFamily="34" charset="0"/>
              </a:rPr>
              <a:t>טוולט</a:t>
            </a: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בקבוק פלסטיק, כפית מתכת ועוד</a:t>
            </a:r>
          </a:p>
          <a:p>
            <a:pPr marL="0" marR="0" lvl="0" indent="0" algn="just"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ctr"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endPar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87" y="1952513"/>
            <a:ext cx="1067721" cy="115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8333" y="3140968"/>
            <a:ext cx="1014097"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801" y="4155790"/>
            <a:ext cx="1081987" cy="713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תמונה 9" descr="תמונה שמכילה כלי שולחן, כף, חוץ, כדור&#10;&#10;התיאור נוצר באופן אוטומטי">
            <a:extLst>
              <a:ext uri="{FF2B5EF4-FFF2-40B4-BE49-F238E27FC236}">
                <a16:creationId xmlns:a16="http://schemas.microsoft.com/office/drawing/2014/main" xmlns="" id="{FBEFEF2A-034E-4515-9A49-7499C554474F}"/>
              </a:ext>
            </a:extLst>
          </p:cNvPr>
          <p:cNvPicPr>
            <a:picLocks noChangeAspect="1"/>
          </p:cNvPicPr>
          <p:nvPr/>
        </p:nvPicPr>
        <p:blipFill>
          <a:blip r:embed="rId5">
            <a:extLst>
              <a:ext uri="{837473B0-CC2E-450A-ABE3-18F120FF3D39}">
                <a1611:picAttrSrcUrl xmlns:a1611="http://schemas.microsoft.com/office/drawing/2016/11/main" xmlns="" r:id="rId8"/>
              </a:ext>
            </a:extLst>
          </a:blip>
          <a:stretch>
            <a:fillRect/>
          </a:stretch>
        </p:blipFill>
        <p:spPr>
          <a:xfrm>
            <a:off x="162921" y="5099373"/>
            <a:ext cx="1090867" cy="1497979"/>
          </a:xfrm>
          <a:prstGeom prst="rect">
            <a:avLst/>
          </a:prstGeom>
        </p:spPr>
      </p:pic>
      <p:pic>
        <p:nvPicPr>
          <p:cNvPr id="11"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3192131">
            <a:off x="1957576" y="1554260"/>
            <a:ext cx="1465639" cy="113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3741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a:r>
              <a:rPr lang="he-IL" sz="3600" dirty="0"/>
              <a:t>מה קרה? </a:t>
            </a:r>
            <a:r>
              <a:rPr lang="he-IL" sz="3600" dirty="0" smtClean="0"/>
              <a:t>רישום תוצאות</a:t>
            </a:r>
            <a:endParaRPr lang="he-IL" sz="3600"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fontScale="25000" lnSpcReduction="200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r>
              <a:rPr kumimoji="0" lang="he-IL" sz="9600" b="0" i="0" u="none" strike="noStrike" kern="1200" cap="none" spc="0" normalizeH="0" baseline="0" noProof="0" dirty="0" smtClean="0">
                <a:ln>
                  <a:noFill/>
                </a:ln>
                <a:solidFill>
                  <a:srgbClr val="424242"/>
                </a:solidFill>
                <a:effectLst/>
                <a:uLnTx/>
                <a:uFillTx/>
                <a:latin typeface="Calibri" panose="020F0502020204030204" pitchFamily="34" charset="0"/>
                <a:cs typeface="+mn-cs"/>
              </a:rPr>
              <a:t>א. כאשר הארנו את כוס הזכוכית :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נוצר </a:t>
            </a:r>
            <a:r>
              <a:rPr kumimoji="0" lang="he-IL" sz="9600" b="1" i="0" u="none" strike="noStrike" kern="1200" cap="none" spc="0" normalizeH="0" baseline="0" noProof="0" dirty="0" smtClean="0">
                <a:ln>
                  <a:noFill/>
                </a:ln>
                <a:solidFill>
                  <a:srgbClr val="424242"/>
                </a:solidFill>
                <a:effectLst>
                  <a:outerShdw blurRad="38100" dist="38100" dir="2700000" algn="tl">
                    <a:srgbClr val="000000">
                      <a:alpha val="43137"/>
                    </a:srgbClr>
                  </a:outerShdw>
                </a:effectLst>
                <a:uLnTx/>
                <a:uFillTx/>
                <a:latin typeface="Calibri" panose="020F0502020204030204" pitchFamily="34" charset="0"/>
                <a:cs typeface="+mn-cs"/>
              </a:rPr>
              <a:t>צל  /  לא נוצר צל</a:t>
            </a:r>
          </a:p>
          <a:p>
            <a:pPr marL="0" marR="0" lvl="0" indent="0" algn="just" defTabSz="914400" rtl="1" eaLnBrk="1" fontAlgn="auto" latinLnBrk="0" hangingPunct="1">
              <a:lnSpc>
                <a:spcPct val="150000"/>
              </a:lnSpc>
              <a:spcBef>
                <a:spcPts val="800"/>
              </a:spcBef>
              <a:spcAft>
                <a:spcPts val="0"/>
              </a:spcAft>
              <a:buClrTx/>
              <a:buSzTx/>
              <a:buFont typeface="+mj-lt"/>
              <a:buNone/>
              <a:tabLst/>
              <a:defRPr/>
            </a:pPr>
            <a:r>
              <a:rPr kumimoji="0" lang="he-IL" sz="9600" b="0" i="0" u="none" strike="noStrike" kern="1200" cap="none" spc="0" normalizeH="0" baseline="0" noProof="0" dirty="0" smtClean="0">
                <a:ln>
                  <a:noFill/>
                </a:ln>
                <a:solidFill>
                  <a:srgbClr val="424242"/>
                </a:solidFill>
                <a:effectLst/>
                <a:uLnTx/>
                <a:uFillTx/>
                <a:latin typeface="Calibri" panose="020F0502020204030204" pitchFamily="34" charset="0"/>
                <a:cs typeface="+mn-cs"/>
              </a:rPr>
              <a:t>ב. כאשר הארנו את הספל :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נוצר צל     / לא נוצר צל</a:t>
            </a:r>
          </a:p>
          <a:p>
            <a:pPr marL="0" marR="0" lvl="0" indent="0" algn="just" defTabSz="914400" rtl="1" eaLnBrk="1" fontAlgn="auto" latinLnBrk="0" hangingPunct="1">
              <a:lnSpc>
                <a:spcPct val="150000"/>
              </a:lnSpc>
              <a:spcBef>
                <a:spcPts val="800"/>
              </a:spcBef>
              <a:spcAft>
                <a:spcPts val="0"/>
              </a:spcAft>
              <a:buClrTx/>
              <a:buSzTx/>
              <a:buFont typeface="+mj-lt"/>
              <a:buNone/>
              <a:tabLst/>
              <a:defRPr/>
            </a:pPr>
            <a:r>
              <a:rPr kumimoji="0" lang="he-IL" sz="9600" b="0" i="0" u="none" strike="noStrike" kern="1200" cap="none" spc="0" normalizeH="0" baseline="0" noProof="0" dirty="0" smtClean="0">
                <a:ln>
                  <a:noFill/>
                </a:ln>
                <a:solidFill>
                  <a:srgbClr val="424242"/>
                </a:solidFill>
                <a:effectLst/>
                <a:uLnTx/>
                <a:uFillTx/>
                <a:latin typeface="Calibri" panose="020F0502020204030204" pitchFamily="34" charset="0"/>
                <a:cs typeface="+mn-cs"/>
              </a:rPr>
              <a:t>ג. כאשר הארנו את בקבוק הפלסטיק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   נוצר צל / לא נוצר צל</a:t>
            </a:r>
            <a:endParaRPr kumimoji="0" lang="he-IL" sz="9600" b="0" i="0" u="sng" strike="noStrike" kern="1200" cap="none" spc="0" normalizeH="0" baseline="0" noProof="0" dirty="0" smtClean="0">
              <a:ln>
                <a:noFill/>
              </a:ln>
              <a:solidFill>
                <a:srgbClr val="424242"/>
              </a:solidFill>
              <a:effectLst/>
              <a:uLnTx/>
              <a:uFillTx/>
              <a:latin typeface="Calibri" panose="020F0502020204030204" pitchFamily="34" charset="0"/>
              <a:cs typeface="+mn-cs"/>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r>
              <a:rPr kumimoji="0" lang="he-IL" sz="9600" b="0" i="0" u="none" strike="noStrike" kern="1200" cap="none" spc="0" normalizeH="0" baseline="0" noProof="0" dirty="0" smtClean="0">
                <a:ln>
                  <a:noFill/>
                </a:ln>
                <a:solidFill>
                  <a:srgbClr val="424242"/>
                </a:solidFill>
                <a:effectLst/>
                <a:uLnTx/>
                <a:uFillTx/>
                <a:latin typeface="Calibri" panose="020F0502020204030204" pitchFamily="34" charset="0"/>
                <a:cs typeface="+mn-cs"/>
              </a:rPr>
              <a:t>ד. כאשר הארנו את הספר :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נוצר צל / לא נוצר צל</a:t>
            </a:r>
          </a:p>
          <a:p>
            <a:pPr marL="0" marR="0" lvl="0" indent="0" algn="just" defTabSz="914400" rtl="1" eaLnBrk="1" fontAlgn="auto" latinLnBrk="0" hangingPunct="1">
              <a:lnSpc>
                <a:spcPct val="150000"/>
              </a:lnSpc>
              <a:spcBef>
                <a:spcPts val="800"/>
              </a:spcBef>
              <a:spcAft>
                <a:spcPts val="0"/>
              </a:spcAft>
              <a:buClrTx/>
              <a:buSzTx/>
              <a:buFont typeface="+mj-lt"/>
              <a:buNone/>
              <a:tabLst/>
              <a:defRPr/>
            </a:pPr>
            <a:r>
              <a:rPr kumimoji="0" lang="he-IL" sz="9600" b="0" i="0" u="none" strike="noStrike" kern="1200" cap="none" spc="0" normalizeH="0" baseline="0" noProof="0" dirty="0" smtClean="0">
                <a:ln>
                  <a:noFill/>
                </a:ln>
                <a:solidFill>
                  <a:srgbClr val="424242"/>
                </a:solidFill>
                <a:effectLst/>
                <a:uLnTx/>
                <a:uFillTx/>
                <a:latin typeface="Calibri" panose="020F0502020204030204" pitchFamily="34" charset="0"/>
                <a:cs typeface="+mn-cs"/>
              </a:rPr>
              <a:t>ה. כאשר הארנו את הכפית :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נוצר צל /   לא נוצר צל</a:t>
            </a: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2860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סיכום  התוצאות</a:t>
            </a: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pic>
        <p:nvPicPr>
          <p:cNvPr id="3" name="תמונה 2"/>
          <p:cNvPicPr>
            <a:picLocks noChangeAspect="1"/>
          </p:cNvPicPr>
          <p:nvPr/>
        </p:nvPicPr>
        <p:blipFill>
          <a:blip r:embed="rId3"/>
          <a:stretch>
            <a:fillRect/>
          </a:stretch>
        </p:blipFill>
        <p:spPr>
          <a:xfrm>
            <a:off x="1303449" y="1690692"/>
            <a:ext cx="6419633" cy="3888432"/>
          </a:xfrm>
          <a:prstGeom prst="rect">
            <a:avLst/>
          </a:prstGeom>
        </p:spPr>
      </p:pic>
      <p:sp>
        <p:nvSpPr>
          <p:cNvPr id="4" name="מלבן 3"/>
          <p:cNvSpPr/>
          <p:nvPr/>
        </p:nvSpPr>
        <p:spPr>
          <a:xfrm>
            <a:off x="597958" y="5909657"/>
            <a:ext cx="7830616" cy="577850"/>
          </a:xfrm>
          <a:prstGeom prst="rect">
            <a:avLst/>
          </a:prstGeom>
        </p:spPr>
        <p:txBody>
          <a:bodyPr wrap="square">
            <a:spAutoFit/>
          </a:bodyPr>
          <a:lstStyle/>
          <a:p>
            <a:pPr lvl="0" algn="just">
              <a:lnSpc>
                <a:spcPct val="150000"/>
              </a:lnSpc>
              <a:spcBef>
                <a:spcPts val="800"/>
              </a:spcBef>
              <a:defRPr/>
            </a:pPr>
            <a:r>
              <a:rPr lang="he-IL" sz="2400" b="1" u="sng" dirty="0">
                <a:solidFill>
                  <a:srgbClr val="424242"/>
                </a:solidFill>
                <a:latin typeface="Calibri" panose="020F0502020204030204" pitchFamily="34" charset="0"/>
              </a:rPr>
              <a:t>מה ניתן ללמוד מהתוצאות?</a:t>
            </a:r>
          </a:p>
        </p:txBody>
      </p:sp>
    </p:spTree>
    <p:extLst>
      <p:ext uri="{BB962C8B-B14F-4D97-AF65-F5344CB8AC3E}">
        <p14:creationId xmlns:p14="http://schemas.microsoft.com/office/powerpoint/2010/main" val="559469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מעבר האור בגופים-מסקנות</a:t>
            </a: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6" name="Text Placeholder 5">
            <a:extLst>
              <a:ext uri="{FF2B5EF4-FFF2-40B4-BE49-F238E27FC236}">
                <a16:creationId xmlns:a16="http://schemas.microsoft.com/office/drawing/2014/main" xmlns="" id="{23447C36-6132-374D-A58E-2AEC5E22D03D}"/>
              </a:ext>
            </a:extLst>
          </p:cNvPr>
          <p:cNvSpPr txBox="1">
            <a:spLocks/>
          </p:cNvSpPr>
          <p:nvPr/>
        </p:nvSpPr>
        <p:spPr>
          <a:xfrm>
            <a:off x="87173" y="1738211"/>
            <a:ext cx="8528179" cy="4824536"/>
          </a:xfrm>
          <a:prstGeom prst="rect">
            <a:avLst/>
          </a:prstGeom>
        </p:spPr>
        <p:txBody>
          <a:bodyPr vert="horz" lIns="91440" tIns="45720" rIns="91440" bIns="45720" rtlCol="0">
            <a:normAutofit fontScale="925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r">
              <a:buFont typeface="Arial" pitchFamily="34" charset="0"/>
              <a:buChar char="•"/>
            </a:pPr>
            <a:r>
              <a:rPr lang="he-IL" dirty="0" smtClean="0"/>
              <a:t>הספר, הכפית והספל הם </a:t>
            </a:r>
            <a:r>
              <a:rPr lang="he-IL" u="sng" dirty="0" smtClean="0"/>
              <a:t>גופים אטומים</a:t>
            </a:r>
          </a:p>
          <a:p>
            <a:pPr algn="r"/>
            <a:r>
              <a:rPr lang="he-IL" b="1" dirty="0" smtClean="0"/>
              <a:t>האור אינו עובר דרך גוף אטום - ומאחוריו נוצר צל כהה</a:t>
            </a:r>
          </a:p>
          <a:p>
            <a:pPr marL="571500" indent="-571500" algn="r">
              <a:buFont typeface="Arial" pitchFamily="34" charset="0"/>
              <a:buChar char="•"/>
            </a:pPr>
            <a:r>
              <a:rPr lang="he-IL" dirty="0" smtClean="0"/>
              <a:t>כוס הזכוכית והבקבוק  הם </a:t>
            </a:r>
            <a:r>
              <a:rPr lang="he-IL" u="sng" dirty="0" smtClean="0"/>
              <a:t>גופים שקופים</a:t>
            </a:r>
          </a:p>
          <a:p>
            <a:pPr algn="r"/>
            <a:r>
              <a:rPr lang="he-IL" b="1" dirty="0" smtClean="0"/>
              <a:t>האור </a:t>
            </a:r>
            <a:r>
              <a:rPr lang="he-IL" b="1" dirty="0" smtClean="0"/>
              <a:t>עובר </a:t>
            </a:r>
            <a:r>
              <a:rPr lang="he-IL" b="1" dirty="0"/>
              <a:t>דרך גוף </a:t>
            </a:r>
            <a:r>
              <a:rPr lang="he-IL" b="1" dirty="0" smtClean="0"/>
              <a:t>שקוף </a:t>
            </a:r>
            <a:r>
              <a:rPr lang="he-IL" b="1" dirty="0" smtClean="0"/>
              <a:t>– ומאחוריו לא </a:t>
            </a:r>
            <a:r>
              <a:rPr lang="he-IL" b="1" dirty="0"/>
              <a:t>נוצר צל כהה</a:t>
            </a:r>
          </a:p>
          <a:p>
            <a:pPr marL="571500" indent="-571500" algn="r">
              <a:buFont typeface="Arial" pitchFamily="34" charset="0"/>
              <a:buChar char="•"/>
            </a:pPr>
            <a:endParaRPr lang="he-IL" dirty="0" smtClean="0"/>
          </a:p>
          <a:p>
            <a:endParaRPr lang="he-IL" b="1" dirty="0" smtClean="0"/>
          </a:p>
          <a:p>
            <a:r>
              <a:rPr lang="he-IL" b="1" dirty="0" smtClean="0"/>
              <a:t/>
            </a:r>
            <a:br>
              <a:rPr lang="he-IL" b="1" dirty="0" smtClean="0"/>
            </a:br>
            <a:endParaRPr lang="he-IL" b="1" dirty="0"/>
          </a:p>
        </p:txBody>
      </p:sp>
      <p:pic>
        <p:nvPicPr>
          <p:cNvPr id="7" name="תמונה 6"/>
          <p:cNvPicPr>
            <a:picLocks noChangeAspect="1"/>
          </p:cNvPicPr>
          <p:nvPr/>
        </p:nvPicPr>
        <p:blipFill>
          <a:blip r:embed="rId3"/>
          <a:stretch>
            <a:fillRect/>
          </a:stretch>
        </p:blipFill>
        <p:spPr>
          <a:xfrm>
            <a:off x="1259632" y="4150479"/>
            <a:ext cx="4104456" cy="2053627"/>
          </a:xfrm>
          <a:prstGeom prst="rect">
            <a:avLst/>
          </a:prstGeom>
        </p:spPr>
      </p:pic>
    </p:spTree>
    <p:extLst>
      <p:ext uri="{BB962C8B-B14F-4D97-AF65-F5344CB8AC3E}">
        <p14:creationId xmlns:p14="http://schemas.microsoft.com/office/powerpoint/2010/main" val="117985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smtClean="0"/>
              <a:t>כיצד נוצר צל?</a:t>
            </a: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8" name="Rectangle 2"/>
          <p:cNvSpPr/>
          <p:nvPr/>
        </p:nvSpPr>
        <p:spPr>
          <a:xfrm>
            <a:off x="251520" y="1720840"/>
            <a:ext cx="8568952" cy="3108543"/>
          </a:xfrm>
          <a:prstGeom prst="rect">
            <a:avLst/>
          </a:prstGeom>
        </p:spPr>
        <p:txBody>
          <a:bodyPr wrap="square">
            <a:spAutoFit/>
          </a:bodyPr>
          <a:lstStyle/>
          <a:p>
            <a:r>
              <a:rPr lang="he-IL" sz="3200" b="1" i="0" dirty="0" smtClean="0">
                <a:solidFill>
                  <a:srgbClr val="636363"/>
                </a:solidFill>
                <a:effectLst/>
                <a:latin typeface="Arial"/>
              </a:rPr>
              <a:t>האור אינו יכול לעבור דרך גוף אטום. גוף אטום הוא מכשול בדרכו של האור. </a:t>
            </a:r>
          </a:p>
          <a:p>
            <a:r>
              <a:rPr lang="he-IL" sz="3200" b="1" dirty="0" smtClean="0">
                <a:solidFill>
                  <a:srgbClr val="636363"/>
                </a:solidFill>
                <a:latin typeface="Arial"/>
              </a:rPr>
              <a:t>כיון שהאור מתקדם במסלולים ישרים, הוא עובר רק מהצדדים של הגופים ולכן מאחוריהם נוצר אזור חשוך, כהה ומוצל- זהו הצל..</a:t>
            </a:r>
            <a:endParaRPr lang="he-IL" sz="3200" b="1" i="0" dirty="0" smtClean="0">
              <a:solidFill>
                <a:srgbClr val="636363"/>
              </a:solidFill>
              <a:effectLst/>
              <a:latin typeface="Arial"/>
            </a:endParaRPr>
          </a:p>
          <a:p>
            <a:endParaRPr lang="he-IL" sz="3600" b="1" dirty="0"/>
          </a:p>
        </p:txBody>
      </p:sp>
      <p:pic>
        <p:nvPicPr>
          <p:cNvPr id="9" name="תמונה 8"/>
          <p:cNvPicPr>
            <a:picLocks noChangeAspect="1"/>
          </p:cNvPicPr>
          <p:nvPr/>
        </p:nvPicPr>
        <p:blipFill>
          <a:blip r:embed="rId3"/>
          <a:stretch>
            <a:fillRect/>
          </a:stretch>
        </p:blipFill>
        <p:spPr>
          <a:xfrm>
            <a:off x="2311193" y="4725144"/>
            <a:ext cx="3553524" cy="2012660"/>
          </a:xfrm>
          <a:prstGeom prst="rect">
            <a:avLst/>
          </a:prstGeom>
        </p:spPr>
      </p:pic>
    </p:spTree>
    <p:extLst>
      <p:ext uri="{BB962C8B-B14F-4D97-AF65-F5344CB8AC3E}">
        <p14:creationId xmlns:p14="http://schemas.microsoft.com/office/powerpoint/2010/main" val="4258054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a:t>כיצד בני האדם משתמשים </a:t>
            </a:r>
            <a:r>
              <a:rPr lang="he-IL" dirty="0" smtClean="0"/>
              <a:t>בהיטלים של </a:t>
            </a:r>
            <a:r>
              <a:rPr lang="he-IL" dirty="0"/>
              <a:t>צל?</a:t>
            </a:r>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7" name="Rectangle 2"/>
          <p:cNvSpPr/>
          <p:nvPr/>
        </p:nvSpPr>
        <p:spPr>
          <a:xfrm>
            <a:off x="288715" y="2516798"/>
            <a:ext cx="8568952" cy="1569660"/>
          </a:xfrm>
          <a:prstGeom prst="rect">
            <a:avLst/>
          </a:prstGeom>
        </p:spPr>
        <p:txBody>
          <a:bodyPr wrap="square">
            <a:spAutoFit/>
          </a:bodyPr>
          <a:lstStyle/>
          <a:p>
            <a:r>
              <a:rPr lang="he-IL" sz="3200" dirty="0" smtClean="0"/>
              <a:t>חקרו  בבית וברשת האינטרנט והציגו תמונות</a:t>
            </a:r>
          </a:p>
          <a:p>
            <a:r>
              <a:rPr lang="he-IL" sz="3200" dirty="0" smtClean="0"/>
              <a:t>היכן </a:t>
            </a:r>
            <a:r>
              <a:rPr lang="he-IL" sz="3200" dirty="0"/>
              <a:t>בחיי היום יום שלנו אנו נעזרים בגופים </a:t>
            </a:r>
            <a:r>
              <a:rPr lang="he-IL" sz="3200" dirty="0" smtClean="0"/>
              <a:t>שגורמים להיווצרות של צל?</a:t>
            </a:r>
            <a:endParaRPr lang="he-IL" sz="3200" dirty="0"/>
          </a:p>
        </p:txBody>
      </p:sp>
    </p:spTree>
    <p:extLst>
      <p:ext uri="{BB962C8B-B14F-4D97-AF65-F5344CB8AC3E}">
        <p14:creationId xmlns:p14="http://schemas.microsoft.com/office/powerpoint/2010/main" val="259515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0" y="365129"/>
            <a:ext cx="8820472" cy="1325563"/>
          </a:xfrm>
        </p:spPr>
        <p:txBody>
          <a:bodyPr>
            <a:normAutofit/>
          </a:bodyPr>
          <a:lstStyle/>
          <a:p>
            <a:pPr algn="r"/>
            <a:r>
              <a:rPr lang="he-IL" sz="3600" dirty="0"/>
              <a:t>כיצד בני האדם משתמשים </a:t>
            </a:r>
            <a:r>
              <a:rPr lang="he-IL" sz="3600" dirty="0" smtClean="0"/>
              <a:t>בהיטלים של  </a:t>
            </a:r>
            <a:r>
              <a:rPr lang="he-IL" sz="3600" dirty="0"/>
              <a:t>צל?</a:t>
            </a:r>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1" y="1690692"/>
            <a:ext cx="851654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pic>
        <p:nvPicPr>
          <p:cNvPr id="6" name="Picture 2" descr="בית ספר ביאליק פתח תקוה‎ - Petah Tiqwa, Israel - School | Facebo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423" y="2492896"/>
            <a:ext cx="2182924" cy="1944641"/>
          </a:xfrm>
          <a:prstGeom prst="rect">
            <a:avLst/>
          </a:prstGeom>
          <a:noFill/>
          <a:extLst>
            <a:ext uri="{909E8E84-426E-40DD-AFC4-6F175D3DCCD1}">
              <a14:hiddenFill xmlns:a14="http://schemas.microsoft.com/office/drawing/2010/main">
                <a:solidFill>
                  <a:srgbClr val="FFFFFF"/>
                </a:solidFill>
              </a14:hiddenFill>
            </a:ext>
          </a:extLst>
        </p:spPr>
      </p:pic>
      <p:pic>
        <p:nvPicPr>
          <p:cNvPr id="8" name="תמונה 7"/>
          <p:cNvPicPr>
            <a:picLocks noChangeAspect="1"/>
          </p:cNvPicPr>
          <p:nvPr/>
        </p:nvPicPr>
        <p:blipFill>
          <a:blip r:embed="rId4"/>
          <a:stretch>
            <a:fillRect/>
          </a:stretch>
        </p:blipFill>
        <p:spPr>
          <a:xfrm>
            <a:off x="3591172" y="4245051"/>
            <a:ext cx="2641617" cy="2242456"/>
          </a:xfrm>
          <a:prstGeom prst="rect">
            <a:avLst/>
          </a:prstGeom>
        </p:spPr>
      </p:pic>
      <p:pic>
        <p:nvPicPr>
          <p:cNvPr id="3" name="תמונה 2"/>
          <p:cNvPicPr>
            <a:picLocks noChangeAspect="1"/>
          </p:cNvPicPr>
          <p:nvPr/>
        </p:nvPicPr>
        <p:blipFill>
          <a:blip r:embed="rId5"/>
          <a:stretch>
            <a:fillRect/>
          </a:stretch>
        </p:blipFill>
        <p:spPr>
          <a:xfrm>
            <a:off x="395536" y="2106915"/>
            <a:ext cx="3112871" cy="1818679"/>
          </a:xfrm>
          <a:prstGeom prst="rect">
            <a:avLst/>
          </a:prstGeom>
        </p:spPr>
      </p:pic>
      <p:sp>
        <p:nvSpPr>
          <p:cNvPr id="4" name="TextBox 3"/>
          <p:cNvSpPr txBox="1"/>
          <p:nvPr/>
        </p:nvSpPr>
        <p:spPr>
          <a:xfrm>
            <a:off x="635130" y="4120096"/>
            <a:ext cx="1709911" cy="369332"/>
          </a:xfrm>
          <a:prstGeom prst="rect">
            <a:avLst/>
          </a:prstGeom>
          <a:noFill/>
        </p:spPr>
        <p:txBody>
          <a:bodyPr wrap="square" rtlCol="1">
            <a:spAutoFit/>
          </a:bodyPr>
          <a:lstStyle/>
          <a:p>
            <a:r>
              <a:rPr lang="he-IL" dirty="0" smtClean="0">
                <a:hlinkClick r:id="rId6"/>
              </a:rPr>
              <a:t>סרטון שעון שמש</a:t>
            </a:r>
            <a:endParaRPr lang="he-IL" dirty="0"/>
          </a:p>
        </p:txBody>
      </p:sp>
    </p:spTree>
    <p:extLst>
      <p:ext uri="{BB962C8B-B14F-4D97-AF65-F5344CB8AC3E}">
        <p14:creationId xmlns:p14="http://schemas.microsoft.com/office/powerpoint/2010/main" val="335642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4141684-0310-9045-8FE5-875F7B59C73A}"/>
              </a:ext>
            </a:extLst>
          </p:cNvPr>
          <p:cNvSpPr>
            <a:spLocks noGrp="1"/>
          </p:cNvSpPr>
          <p:nvPr>
            <p:ph type="title"/>
          </p:nvPr>
        </p:nvSpPr>
        <p:spPr>
          <a:xfrm>
            <a:off x="179512" y="346790"/>
            <a:ext cx="8534772" cy="1325563"/>
          </a:xfrm>
        </p:spPr>
        <p:txBody>
          <a:bodyPr>
            <a:normAutofit fontScale="90000"/>
          </a:bodyPr>
          <a:lstStyle/>
          <a:p>
            <a:pPr algn="ctr"/>
            <a:r>
              <a:rPr lang="he-IL" dirty="0" smtClean="0"/>
              <a:t> </a:t>
            </a:r>
            <a:r>
              <a:rPr lang="he-IL" dirty="0"/>
              <a:t/>
            </a:r>
            <a:br>
              <a:rPr lang="he-IL" dirty="0"/>
            </a:br>
            <a:r>
              <a:rPr lang="he-IL" dirty="0"/>
              <a:t>בשיעור זה ניתן לשלב את קורס </a:t>
            </a:r>
            <a:r>
              <a:rPr lang="he-IL" dirty="0" smtClean="0"/>
              <a:t>דיגיטלי ללומד העצמאי: אנרגיית אור</a:t>
            </a:r>
            <a:br>
              <a:rPr lang="he-IL" dirty="0" smtClean="0"/>
            </a:br>
            <a:r>
              <a:rPr lang="he-IL" dirty="0" smtClean="0">
                <a:hlinkClick r:id="rId3"/>
              </a:rPr>
              <a:t>שעור 4 – מעבר אור </a:t>
            </a:r>
            <a:endParaRPr lang="x-none" dirty="0"/>
          </a:p>
        </p:txBody>
      </p:sp>
      <p:sp>
        <p:nvSpPr>
          <p:cNvPr id="5" name="Content Placeholder 4">
            <a:extLst>
              <a:ext uri="{FF2B5EF4-FFF2-40B4-BE49-F238E27FC236}">
                <a16:creationId xmlns:a16="http://schemas.microsoft.com/office/drawing/2014/main" xmlns="" id="{2D29BB97-9D9B-B04B-A130-6148BC78DF1C}"/>
              </a:ext>
            </a:extLst>
          </p:cNvPr>
          <p:cNvSpPr>
            <a:spLocks noGrp="1"/>
          </p:cNvSpPr>
          <p:nvPr>
            <p:ph idx="1"/>
          </p:nvPr>
        </p:nvSpPr>
        <p:spPr>
          <a:xfrm>
            <a:off x="179512" y="1690692"/>
            <a:ext cx="8678788" cy="4399869"/>
          </a:xfrm>
        </p:spPr>
        <p:txBody>
          <a:bodyPr/>
          <a:lstStyle/>
          <a:p>
            <a:pPr marL="457200" indent="-457200">
              <a:buFont typeface="Arial" panose="020B0604020202020204" pitchFamily="34" charset="0"/>
              <a:buChar char="•"/>
            </a:pPr>
            <a:endParaRPr lang="he-IL" dirty="0" smtClean="0"/>
          </a:p>
          <a:p>
            <a:pPr marL="457200" indent="-457200">
              <a:buFont typeface="Arial" panose="020B0604020202020204" pitchFamily="34" charset="0"/>
              <a:buChar char="•"/>
            </a:pPr>
            <a:endParaRPr lang="he-IL" dirty="0"/>
          </a:p>
        </p:txBody>
      </p:sp>
      <p:pic>
        <p:nvPicPr>
          <p:cNvPr id="3" name="תמונה 2"/>
          <p:cNvPicPr>
            <a:picLocks noChangeAspect="1"/>
          </p:cNvPicPr>
          <p:nvPr/>
        </p:nvPicPr>
        <p:blipFill>
          <a:blip r:embed="rId4"/>
          <a:stretch>
            <a:fillRect/>
          </a:stretch>
        </p:blipFill>
        <p:spPr>
          <a:xfrm>
            <a:off x="755576" y="2492896"/>
            <a:ext cx="6984776" cy="3845558"/>
          </a:xfrm>
          <a:prstGeom prst="rect">
            <a:avLst/>
          </a:prstGeom>
        </p:spPr>
      </p:pic>
    </p:spTree>
    <p:extLst>
      <p:ext uri="{BB962C8B-B14F-4D97-AF65-F5344CB8AC3E}">
        <p14:creationId xmlns:p14="http://schemas.microsoft.com/office/powerpoint/2010/main" val="26872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p:txBody>
          <a:bodyPr>
            <a:normAutofit fontScale="90000"/>
          </a:bodyPr>
          <a:lstStyle/>
          <a:p>
            <a:r>
              <a:rPr lang="he-IL" dirty="0"/>
              <a:t> </a:t>
            </a:r>
            <a:r>
              <a:rPr lang="he-IL" dirty="0" smtClean="0"/>
              <a:t/>
            </a:r>
            <a:br>
              <a:rPr lang="he-IL" dirty="0" smtClean="0"/>
            </a:br>
            <a:r>
              <a:rPr lang="he-IL" dirty="0" smtClean="0"/>
              <a:t> משימת </a:t>
            </a:r>
            <a:r>
              <a:rPr lang="en-US" dirty="0" smtClean="0"/>
              <a:t>STEM</a:t>
            </a:r>
            <a:r>
              <a:rPr lang="he-IL" b="1" dirty="0" smtClean="0"/>
              <a:t>: </a:t>
            </a:r>
            <a:r>
              <a:rPr lang="en-US" b="1" dirty="0" smtClean="0"/>
              <a:t> </a:t>
            </a:r>
            <a:r>
              <a:rPr lang="he-IL" b="1" dirty="0" smtClean="0"/>
              <a:t>מכינים תאטרון צלליות</a:t>
            </a:r>
            <a:endParaRPr lang="x-none" dirty="0"/>
          </a:p>
        </p:txBody>
      </p:sp>
      <p:sp>
        <p:nvSpPr>
          <p:cNvPr id="7" name="מלבן 6"/>
          <p:cNvSpPr/>
          <p:nvPr/>
        </p:nvSpPr>
        <p:spPr>
          <a:xfrm>
            <a:off x="395536" y="1988840"/>
            <a:ext cx="8119814" cy="1569660"/>
          </a:xfrm>
          <a:prstGeom prst="rect">
            <a:avLst/>
          </a:prstGeom>
        </p:spPr>
        <p:txBody>
          <a:bodyPr wrap="square">
            <a:spAutoFit/>
          </a:bodyPr>
          <a:lstStyle/>
          <a:p>
            <a:r>
              <a:rPr lang="he-IL" sz="2400" b="1" dirty="0" smtClean="0">
                <a:solidFill>
                  <a:prstClr val="black"/>
                </a:solidFill>
              </a:rPr>
              <a:t>מהו צל?</a:t>
            </a:r>
          </a:p>
          <a:p>
            <a:r>
              <a:rPr lang="he-IL" sz="2400" b="1" dirty="0" smtClean="0">
                <a:solidFill>
                  <a:prstClr val="black"/>
                </a:solidFill>
              </a:rPr>
              <a:t> כיצד נוצר צל?</a:t>
            </a:r>
          </a:p>
          <a:p>
            <a:r>
              <a:rPr lang="he-IL" sz="2400" b="1" dirty="0" smtClean="0">
                <a:solidFill>
                  <a:prstClr val="black"/>
                </a:solidFill>
              </a:rPr>
              <a:t>נתנסה ביצירת צלליות מחפצים וחומרים הזמינים בבית  ובבניית תאטרון צלליות.</a:t>
            </a:r>
            <a:endParaRPr lang="he-IL" sz="2400" b="1" dirty="0">
              <a:solidFill>
                <a:prstClr val="black"/>
              </a:solidFill>
            </a:endParaRPr>
          </a:p>
        </p:txBody>
      </p:sp>
      <p:pic>
        <p:nvPicPr>
          <p:cNvPr id="8" name="Picture 2" descr="http://kotarimagesstg.cet.ac.il/CropDownload.ashx?gPageToken=46482955-6bfd-402d-9a47-3254f7d1d04a&amp;v=11&amp;nSizeStep=5&amp;nTop=789&amp;nLeft=0&amp;nWidth=772&amp;nHeight=2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541" y="3645024"/>
            <a:ext cx="7353300"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084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p:txBody>
          <a:bodyPr>
            <a:normAutofit/>
          </a:bodyPr>
          <a:lstStyle/>
          <a:p>
            <a:pPr algn="ctr"/>
            <a:r>
              <a:rPr lang="he-IL" dirty="0"/>
              <a:t> </a:t>
            </a:r>
            <a:r>
              <a:rPr lang="he-IL" dirty="0" smtClean="0"/>
              <a:t/>
            </a:r>
            <a:br>
              <a:rPr lang="he-IL" dirty="0" smtClean="0"/>
            </a:br>
            <a:r>
              <a:rPr lang="he-IL" b="1" dirty="0" smtClean="0"/>
              <a:t>מהו תאטרון צלליות?</a:t>
            </a:r>
            <a:endParaRPr lang="x-none" b="1" dirty="0"/>
          </a:p>
        </p:txBody>
      </p:sp>
      <p:sp>
        <p:nvSpPr>
          <p:cNvPr id="2" name="מלבן 1"/>
          <p:cNvSpPr/>
          <p:nvPr/>
        </p:nvSpPr>
        <p:spPr>
          <a:xfrm>
            <a:off x="3030901" y="1655916"/>
            <a:ext cx="6102424" cy="4893647"/>
          </a:xfrm>
          <a:prstGeom prst="rect">
            <a:avLst/>
          </a:prstGeom>
        </p:spPr>
        <p:txBody>
          <a:bodyPr wrap="square">
            <a:spAutoFit/>
          </a:bodyPr>
          <a:lstStyle/>
          <a:p>
            <a:pPr lvl="0"/>
            <a:r>
              <a:rPr lang="he-IL" sz="2400" b="1" dirty="0">
                <a:solidFill>
                  <a:srgbClr val="4D5156"/>
                </a:solidFill>
                <a:latin typeface="arial" panose="020B0604020202020204" pitchFamily="34" charset="0"/>
              </a:rPr>
              <a:t>תיאטרון צלליות הוא סוג של תיאטרון בובות, המתקיים אלפי שנים במסורות עתיקות של פולחן ומספרי סיפורים, שמקורן במזרח ומתחדש בימינו.</a:t>
            </a:r>
          </a:p>
          <a:p>
            <a:pPr lvl="0"/>
            <a:r>
              <a:rPr lang="he-IL" sz="2400" dirty="0">
                <a:solidFill>
                  <a:srgbClr val="424242"/>
                </a:solidFill>
              </a:rPr>
              <a:t>בתיאטרון צלליות הבובות מופיעות מאחורי מסך ואור שמאיר מאחוריהן מטיל את הצללים שלהן על המסך שאותו רואים הצופים.</a:t>
            </a:r>
            <a:br>
              <a:rPr lang="he-IL" sz="2400" dirty="0">
                <a:solidFill>
                  <a:srgbClr val="424242"/>
                </a:solidFill>
              </a:rPr>
            </a:br>
            <a:endParaRPr lang="he-IL" sz="2400" b="1" dirty="0">
              <a:solidFill>
                <a:srgbClr val="4D5156"/>
              </a:solidFill>
              <a:latin typeface="arial" panose="020B0604020202020204" pitchFamily="34" charset="0"/>
            </a:endParaRPr>
          </a:p>
          <a:p>
            <a:pPr lvl="0"/>
            <a:r>
              <a:rPr lang="he-IL" sz="2400" b="1" dirty="0">
                <a:solidFill>
                  <a:srgbClr val="4D5156"/>
                </a:solidFill>
                <a:latin typeface="arial" panose="020B0604020202020204" pitchFamily="34" charset="0"/>
              </a:rPr>
              <a:t>אז איך נוצר צל? מה הקשר לאור ? ואיך יוצרים תאטרון צלליות?</a:t>
            </a:r>
          </a:p>
          <a:p>
            <a:pPr lvl="0"/>
            <a:r>
              <a:rPr lang="he-IL" sz="2400" b="1" dirty="0">
                <a:solidFill>
                  <a:srgbClr val="4D5156"/>
                </a:solidFill>
                <a:latin typeface="arial" panose="020B0604020202020204" pitchFamily="34" charset="0"/>
              </a:rPr>
              <a:t> </a:t>
            </a:r>
          </a:p>
          <a:p>
            <a:pPr lvl="0"/>
            <a:r>
              <a:rPr lang="he-IL" sz="2400" dirty="0">
                <a:solidFill>
                  <a:prstClr val="black"/>
                </a:solidFill>
              </a:rPr>
              <a:t>סרטון: </a:t>
            </a:r>
            <a:r>
              <a:rPr lang="he-IL" sz="2400" dirty="0">
                <a:solidFill>
                  <a:prstClr val="black"/>
                </a:solidFill>
                <a:hlinkClick r:id="rId3"/>
              </a:rPr>
              <a:t>אגדה יפנית בתיאטרון צלליות</a:t>
            </a:r>
            <a:endParaRPr lang="he-IL" sz="2400" dirty="0">
              <a:solidFill>
                <a:prstClr val="black"/>
              </a:solidFill>
            </a:endParaRPr>
          </a:p>
          <a:p>
            <a:pPr lvl="0"/>
            <a:endParaRPr lang="he-IL" sz="2400" b="1" dirty="0">
              <a:solidFill>
                <a:srgbClr val="424242"/>
              </a:solidFill>
            </a:endParaRPr>
          </a:p>
        </p:txBody>
      </p:sp>
      <p:pic>
        <p:nvPicPr>
          <p:cNvPr id="9" name="תמונה 8">
            <a:hlinkClick r:id="rId3"/>
          </p:cNvPr>
          <p:cNvPicPr>
            <a:picLocks noChangeAspect="1"/>
          </p:cNvPicPr>
          <p:nvPr/>
        </p:nvPicPr>
        <p:blipFill>
          <a:blip r:embed="rId4"/>
          <a:stretch>
            <a:fillRect/>
          </a:stretch>
        </p:blipFill>
        <p:spPr>
          <a:xfrm>
            <a:off x="0" y="4467961"/>
            <a:ext cx="3131840" cy="2390039"/>
          </a:xfrm>
          <a:prstGeom prst="rect">
            <a:avLst/>
          </a:prstGeom>
        </p:spPr>
      </p:pic>
    </p:spTree>
    <p:extLst>
      <p:ext uri="{BB962C8B-B14F-4D97-AF65-F5344CB8AC3E}">
        <p14:creationId xmlns:p14="http://schemas.microsoft.com/office/powerpoint/2010/main" val="53468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p:txBody>
          <a:bodyPr>
            <a:normAutofit/>
          </a:bodyPr>
          <a:lstStyle/>
          <a:p>
            <a:pPr algn="ctr"/>
            <a:r>
              <a:rPr lang="he-IL" dirty="0"/>
              <a:t> </a:t>
            </a:r>
            <a:r>
              <a:rPr lang="he-IL" dirty="0" smtClean="0"/>
              <a:t/>
            </a:r>
            <a:br>
              <a:rPr lang="he-IL" dirty="0" smtClean="0"/>
            </a:br>
            <a:r>
              <a:rPr lang="he-IL" dirty="0"/>
              <a:t> </a:t>
            </a:r>
            <a:r>
              <a:rPr lang="he-IL" b="1" dirty="0"/>
              <a:t>מכינים תאטרון צלליות</a:t>
            </a:r>
            <a:endParaRPr lang="x-none" b="1"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8549" y="3140968"/>
            <a:ext cx="9144000" cy="3049820"/>
          </a:xfrm>
          <a:prstGeom prst="rect">
            <a:avLst/>
          </a:prstGeom>
        </p:spPr>
        <p:txBody>
          <a:bodyPr vert="horz" lIns="91440" tIns="45720" rIns="91440" bIns="45720" rtlCol="0">
            <a:normAutofit fontScale="62500" lnSpcReduction="200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ctr" defTabSz="914400" rtl="1" eaLnBrk="1" fontAlgn="auto" latinLnBrk="0" hangingPunct="1">
              <a:lnSpc>
                <a:spcPct val="90000"/>
              </a:lnSpc>
              <a:spcBef>
                <a:spcPts val="800"/>
              </a:spcBef>
              <a:spcAft>
                <a:spcPts val="0"/>
              </a:spcAft>
              <a:buClrTx/>
              <a:buSzTx/>
              <a:buFontTx/>
              <a:buChar char="-"/>
              <a:tabLst/>
              <a:defRPr/>
            </a:pPr>
            <a:endParaRPr kumimoji="0" lang="en-US" sz="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457200" marR="0" lvl="0" indent="-457200" algn="ctr" defTabSz="914400" rtl="1" eaLnBrk="1" fontAlgn="auto" latinLnBrk="0" hangingPunct="1">
              <a:lnSpc>
                <a:spcPct val="90000"/>
              </a:lnSpc>
              <a:spcBef>
                <a:spcPts val="800"/>
              </a:spcBef>
              <a:spcAft>
                <a:spcPts val="0"/>
              </a:spcAft>
              <a:buClrTx/>
              <a:buSzTx/>
              <a:buFontTx/>
              <a:buChar char="-"/>
              <a:tabLst/>
              <a:defRPr/>
            </a:pPr>
            <a:endParaRPr kumimoji="0" lang="he-IL" sz="1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R="0" lvl="0" algn="ctr" defTabSz="914400" rtl="1" eaLnBrk="1" fontAlgn="auto" latinLnBrk="0" hangingPunct="1">
              <a:lnSpc>
                <a:spcPct val="90000"/>
              </a:lnSpc>
              <a:spcBef>
                <a:spcPts val="800"/>
              </a:spcBef>
              <a:spcAft>
                <a:spcPts val="0"/>
              </a:spcAft>
              <a:buClrTx/>
              <a:buSzTx/>
              <a:tabLst/>
              <a:defRPr/>
            </a:pPr>
            <a:endParaRPr kumimoji="0" lang="he-IL" sz="1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90000"/>
              </a:lnSpc>
              <a:spcBef>
                <a:spcPts val="800"/>
              </a:spcBef>
              <a:spcAft>
                <a:spcPts val="0"/>
              </a:spcAft>
              <a:buClrTx/>
              <a:buSzTx/>
              <a:buFont typeface="+mj-lt"/>
              <a:buNone/>
              <a:tabLst/>
              <a:defRPr/>
            </a:pPr>
            <a:r>
              <a:rPr kumimoji="0" lang="en-US" sz="3600" b="1"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en-US" sz="3600" b="1"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pic>
        <p:nvPicPr>
          <p:cNvPr id="3" name="תמונה 2"/>
          <p:cNvPicPr>
            <a:picLocks noChangeAspect="1"/>
          </p:cNvPicPr>
          <p:nvPr/>
        </p:nvPicPr>
        <p:blipFill>
          <a:blip r:embed="rId3"/>
          <a:stretch>
            <a:fillRect/>
          </a:stretch>
        </p:blipFill>
        <p:spPr>
          <a:xfrm>
            <a:off x="5364088" y="1643925"/>
            <a:ext cx="2304488" cy="2274005"/>
          </a:xfrm>
          <a:prstGeom prst="rect">
            <a:avLst/>
          </a:prstGeom>
        </p:spPr>
      </p:pic>
      <p:sp>
        <p:nvSpPr>
          <p:cNvPr id="7" name="Text Placeholder 5">
            <a:extLst>
              <a:ext uri="{FF2B5EF4-FFF2-40B4-BE49-F238E27FC236}">
                <a16:creationId xmlns:a16="http://schemas.microsoft.com/office/drawing/2014/main" xmlns="" id="{23447C36-6132-374D-A58E-2AEC5E22D03D}"/>
              </a:ext>
            </a:extLst>
          </p:cNvPr>
          <p:cNvSpPr txBox="1">
            <a:spLocks/>
          </p:cNvSpPr>
          <p:nvPr/>
        </p:nvSpPr>
        <p:spPr>
          <a:xfrm>
            <a:off x="1" y="3501008"/>
            <a:ext cx="9144000" cy="3049820"/>
          </a:xfrm>
          <a:prstGeom prst="rect">
            <a:avLst/>
          </a:prstGeom>
        </p:spPr>
        <p:txBody>
          <a:bodyPr vert="horz" lIns="91440" tIns="45720" rIns="91440" bIns="45720" rtlCol="0">
            <a:normAutofit fontScale="25000" lnSpcReduction="200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Char char="-"/>
            </a:pPr>
            <a:endParaRPr lang="en-US" sz="2800" dirty="0" smtClean="0">
              <a:solidFill>
                <a:srgbClr val="424242"/>
              </a:solidFill>
            </a:endParaRPr>
          </a:p>
          <a:p>
            <a:pPr marL="457200" indent="-457200">
              <a:buFontTx/>
              <a:buChar char="-"/>
            </a:pPr>
            <a:endParaRPr lang="he-IL" sz="12800" dirty="0" smtClean="0">
              <a:solidFill>
                <a:srgbClr val="424242"/>
              </a:solidFill>
            </a:endParaRPr>
          </a:p>
          <a:p>
            <a:pPr marL="457200" indent="-457200">
              <a:buFontTx/>
              <a:buChar char="-"/>
            </a:pPr>
            <a:r>
              <a:rPr lang="he-IL" sz="12800" dirty="0" smtClean="0">
                <a:solidFill>
                  <a:srgbClr val="424242"/>
                </a:solidFill>
              </a:rPr>
              <a:t> לתכנן ולהכין תאטרון צלליות, להכין סרטון ולשלוח למורה</a:t>
            </a:r>
          </a:p>
          <a:p>
            <a:pPr algn="r"/>
            <a:r>
              <a:rPr lang="he-IL" sz="12800" u="sng" dirty="0" smtClean="0">
                <a:solidFill>
                  <a:srgbClr val="424242"/>
                </a:solidFill>
              </a:rPr>
              <a:t>חומרי עזר: </a:t>
            </a:r>
          </a:p>
          <a:p>
            <a:pPr marL="457200" indent="-457200" algn="r">
              <a:buFontTx/>
              <a:buChar char="-"/>
            </a:pPr>
            <a:r>
              <a:rPr lang="he-IL" sz="12800" dirty="0" smtClean="0">
                <a:solidFill>
                  <a:srgbClr val="424242"/>
                </a:solidFill>
                <a:hlinkClick r:id="rId4"/>
              </a:rPr>
              <a:t>שעור מצולם מייקרים: צלליות אור וצל</a:t>
            </a:r>
            <a:endParaRPr lang="he-IL" sz="12800" dirty="0" smtClean="0">
              <a:solidFill>
                <a:srgbClr val="424242"/>
              </a:solidFill>
            </a:endParaRPr>
          </a:p>
          <a:p>
            <a:pPr marL="457200" indent="-457200" algn="r">
              <a:buFontTx/>
              <a:buChar char="-"/>
            </a:pPr>
            <a:r>
              <a:rPr lang="he-IL" sz="12800" dirty="0" smtClean="0">
                <a:solidFill>
                  <a:srgbClr val="424242"/>
                </a:solidFill>
                <a:hlinkClick r:id="rId5"/>
              </a:rPr>
              <a:t>סרטון להכנת תיאטרון צלליות</a:t>
            </a:r>
            <a:endParaRPr lang="he-IL" sz="12800" dirty="0" smtClean="0">
              <a:solidFill>
                <a:srgbClr val="424242"/>
              </a:solidFill>
            </a:endParaRPr>
          </a:p>
          <a:p>
            <a:pPr marL="457200" indent="-457200" algn="r">
              <a:buFontTx/>
              <a:buChar char="-"/>
            </a:pPr>
            <a:r>
              <a:rPr lang="he-IL" sz="12800" dirty="0" smtClean="0">
                <a:solidFill>
                  <a:srgbClr val="424242"/>
                </a:solidFill>
                <a:hlinkClick r:id="rId6"/>
              </a:rPr>
              <a:t>קורס דיגיטלי ללומד העצמאי : שעור 4 -מעבר אור ,עמוד 5</a:t>
            </a:r>
            <a:endParaRPr lang="he-IL" sz="12800" dirty="0" smtClean="0">
              <a:solidFill>
                <a:srgbClr val="424242"/>
              </a:solidFill>
            </a:endParaRPr>
          </a:p>
          <a:p>
            <a:pPr marL="457200" indent="-457200">
              <a:buFontTx/>
              <a:buChar char="-"/>
            </a:pPr>
            <a:endParaRPr lang="he-IL" sz="2800" dirty="0" smtClean="0">
              <a:solidFill>
                <a:srgbClr val="424242"/>
              </a:solidFill>
            </a:endParaRPr>
          </a:p>
          <a:p>
            <a:pPr marL="457200" indent="-457200">
              <a:buFontTx/>
              <a:buChar char="-"/>
            </a:pPr>
            <a:endParaRPr lang="he-IL" sz="12800" dirty="0" smtClean="0">
              <a:solidFill>
                <a:srgbClr val="424242"/>
              </a:solidFill>
            </a:endParaRPr>
          </a:p>
          <a:p>
            <a:pPr marL="457200" indent="-457200">
              <a:buFontTx/>
              <a:buChar char="-"/>
            </a:pPr>
            <a:endParaRPr lang="he-IL" sz="12800" dirty="0" smtClean="0">
              <a:solidFill>
                <a:srgbClr val="424242"/>
              </a:solidFill>
            </a:endParaRPr>
          </a:p>
          <a:p>
            <a:pPr marL="457200" indent="-457200">
              <a:buFontTx/>
              <a:buChar char="-"/>
            </a:pPr>
            <a:endParaRPr lang="he-IL" sz="12800" dirty="0" smtClean="0">
              <a:solidFill>
                <a:srgbClr val="424242"/>
              </a:solidFill>
            </a:endParaRPr>
          </a:p>
          <a:p>
            <a:pPr algn="r"/>
            <a:r>
              <a:rPr lang="en-US" b="1" dirty="0" smtClean="0">
                <a:solidFill>
                  <a:srgbClr val="424242"/>
                </a:solidFill>
              </a:rPr>
              <a:t/>
            </a:r>
            <a:br>
              <a:rPr lang="en-US" b="1" dirty="0" smtClean="0">
                <a:solidFill>
                  <a:srgbClr val="424242"/>
                </a:solidFill>
              </a:rPr>
            </a:br>
            <a:endParaRPr lang="he-IL" dirty="0">
              <a:solidFill>
                <a:srgbClr val="424242"/>
              </a:solidFill>
            </a:endParaRPr>
          </a:p>
        </p:txBody>
      </p:sp>
      <p:pic>
        <p:nvPicPr>
          <p:cNvPr id="8" name="תמונה 7"/>
          <p:cNvPicPr>
            <a:picLocks noChangeAspect="1"/>
          </p:cNvPicPr>
          <p:nvPr/>
        </p:nvPicPr>
        <p:blipFill>
          <a:blip r:embed="rId7"/>
          <a:stretch>
            <a:fillRect/>
          </a:stretch>
        </p:blipFill>
        <p:spPr>
          <a:xfrm>
            <a:off x="1562225" y="1662727"/>
            <a:ext cx="2808312" cy="2236399"/>
          </a:xfrm>
          <a:prstGeom prst="rect">
            <a:avLst/>
          </a:prstGeom>
        </p:spPr>
      </p:pic>
    </p:spTree>
    <p:extLst>
      <p:ext uri="{BB962C8B-B14F-4D97-AF65-F5344CB8AC3E}">
        <p14:creationId xmlns:p14="http://schemas.microsoft.com/office/powerpoint/2010/main" val="1066239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xmlns="" id="{34141684-0310-9045-8FE5-875F7B59C73A}"/>
              </a:ext>
            </a:extLst>
          </p:cNvPr>
          <p:cNvSpPr>
            <a:spLocks noGrp="1"/>
          </p:cNvSpPr>
          <p:nvPr>
            <p:ph type="title"/>
          </p:nvPr>
        </p:nvSpPr>
        <p:spPr/>
        <p:txBody>
          <a:bodyPr>
            <a:normAutofit/>
          </a:bodyPr>
          <a:lstStyle/>
          <a:p>
            <a:pPr algn="ctr"/>
            <a:r>
              <a:rPr lang="he-IL" dirty="0"/>
              <a:t> </a:t>
            </a:r>
            <a:r>
              <a:rPr lang="he-IL" dirty="0" smtClean="0"/>
              <a:t/>
            </a:r>
            <a:br>
              <a:rPr lang="he-IL" dirty="0" smtClean="0"/>
            </a:br>
            <a:r>
              <a:rPr lang="he-IL" dirty="0"/>
              <a:t>הוראות הכנה של תאטרון צלליות</a:t>
            </a:r>
            <a:endParaRPr lang="x-none" b="1" dirty="0"/>
          </a:p>
        </p:txBody>
      </p:sp>
      <p:sp>
        <p:nvSpPr>
          <p:cNvPr id="11" name="Text Placeholder 5">
            <a:extLst>
              <a:ext uri="{FF2B5EF4-FFF2-40B4-BE49-F238E27FC236}">
                <a16:creationId xmlns:a16="http://schemas.microsoft.com/office/drawing/2014/main" xmlns="" id="{23447C36-6132-374D-A58E-2AEC5E22D03D}"/>
              </a:ext>
            </a:extLst>
          </p:cNvPr>
          <p:cNvSpPr txBox="1">
            <a:spLocks/>
          </p:cNvSpPr>
          <p:nvPr/>
        </p:nvSpPr>
        <p:spPr>
          <a:xfrm>
            <a:off x="3647452" y="1340769"/>
            <a:ext cx="5236838" cy="5473110"/>
          </a:xfrm>
          <a:prstGeom prst="rect">
            <a:avLst/>
          </a:prstGeom>
        </p:spPr>
        <p:txBody>
          <a:bodyPr vert="horz" lIns="91440" tIns="45720" rIns="91440" bIns="45720" rtlCol="0">
            <a:normAutofit fontScale="25000" lnSpcReduction="20000"/>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ctr" defTabSz="914400" rtl="1" eaLnBrk="1" fontAlgn="auto" latinLnBrk="0" hangingPunct="1">
              <a:lnSpc>
                <a:spcPct val="90000"/>
              </a:lnSpc>
              <a:spcBef>
                <a:spcPts val="800"/>
              </a:spcBef>
              <a:spcAft>
                <a:spcPts val="0"/>
              </a:spcAft>
              <a:buClrTx/>
              <a:buSzTx/>
              <a:buFontTx/>
              <a:buChar char="-"/>
              <a:tabLst/>
              <a:defRPr/>
            </a:pPr>
            <a:endParaRPr kumimoji="0" lang="en-US" sz="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342900" marR="0" lvl="0" indent="-342900" algn="r" defTabSz="914400" rtl="1" eaLnBrk="1" fontAlgn="auto" latinLnBrk="0" hangingPunct="1">
              <a:lnSpc>
                <a:spcPct val="90000"/>
              </a:lnSpc>
              <a:spcBef>
                <a:spcPts val="800"/>
              </a:spcBef>
              <a:spcAft>
                <a:spcPts val="0"/>
              </a:spcAft>
              <a:buClrTx/>
              <a:buSzTx/>
              <a:buFontTx/>
              <a:buChar char="-"/>
              <a:tabLst/>
              <a:defRPr/>
            </a:pPr>
            <a:endParaRPr kumimoji="0" lang="he-IL" sz="8000" b="0" i="0" u="none" strike="noStrike" kern="1200" cap="none" spc="0" normalizeH="0" baseline="0" noProof="0" dirty="0" smtClean="0">
              <a:ln>
                <a:noFill/>
              </a:ln>
              <a:solidFill>
                <a:srgbClr val="424242"/>
              </a:solidFill>
              <a:effectLst/>
              <a:uLnTx/>
              <a:uFillTx/>
              <a:latin typeface="Calibri" panose="020F0502020204030204" pitchFamily="34" charset="0"/>
              <a:cs typeface="+mn-cs"/>
            </a:endParaRPr>
          </a:p>
          <a:p>
            <a:pPr marL="342900" marR="0" lvl="0" indent="-342900" algn="r" defTabSz="914400" rtl="1" eaLnBrk="1" fontAlgn="auto" latinLnBrk="0" hangingPunct="1">
              <a:lnSpc>
                <a:spcPct val="90000"/>
              </a:lnSpc>
              <a:spcBef>
                <a:spcPts val="800"/>
              </a:spcBef>
              <a:spcAft>
                <a:spcPts val="0"/>
              </a:spcAft>
              <a:buClrTx/>
              <a:buSzTx/>
              <a:buFontTx/>
              <a:buChar char="-"/>
              <a:tabLst/>
              <a:defRPr/>
            </a:pPr>
            <a:endParaRPr kumimoji="0" lang="he-IL" sz="8000" b="1" i="0" u="none" strike="noStrike" kern="1200" cap="none" spc="0" normalizeH="0" baseline="0" noProof="0" dirty="0" smtClean="0">
              <a:ln>
                <a:noFill/>
              </a:ln>
              <a:solidFill>
                <a:srgbClr val="424242"/>
              </a:solidFill>
              <a:effectLst/>
              <a:uLnTx/>
              <a:uFillTx/>
              <a:latin typeface="Calibri" panose="020F0502020204030204" pitchFamily="34" charset="0"/>
              <a:cs typeface="+mn-cs"/>
            </a:endParaRP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ציוד: בריסטול שחור, מספריים, שיפודי עץ, נייר דבק, פנס</a:t>
            </a:r>
          </a:p>
          <a:p>
            <a:pPr marL="342900" marR="0" lvl="0" indent="-342900" algn="r" defTabSz="914400" rtl="1" eaLnBrk="1" fontAlgn="auto" latinLnBrk="0" hangingPunct="1">
              <a:lnSpc>
                <a:spcPct val="90000"/>
              </a:lnSpc>
              <a:spcBef>
                <a:spcPts val="800"/>
              </a:spcBef>
              <a:spcAft>
                <a:spcPts val="0"/>
              </a:spcAft>
              <a:buClrTx/>
              <a:buSzTx/>
              <a:buFontTx/>
              <a:buChar char="-"/>
              <a:tabLst/>
              <a:defRPr/>
            </a:pPr>
            <a:endPar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endParaRP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מכינים סיפור למופע צלליות</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משרטטים כל  דמות על בריסטול שחור</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 גוזרים את הדמויות </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מדביקים כל דמות על שיפוד</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 מכבים את האור</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מאירים בעזרת מנורת שולחן את הדמויות על קיר לבן וממחיזים את הסיפור</a:t>
            </a:r>
          </a:p>
          <a:p>
            <a:pPr marL="342900" marR="0" lvl="0" indent="-342900" algn="r" defTabSz="914400" rtl="1" eaLnBrk="1" fontAlgn="auto" latinLnBrk="0" hangingPunct="1">
              <a:lnSpc>
                <a:spcPct val="90000"/>
              </a:lnSpc>
              <a:spcBef>
                <a:spcPts val="800"/>
              </a:spcBef>
              <a:spcAft>
                <a:spcPts val="0"/>
              </a:spcAft>
              <a:buClrTx/>
              <a:buSzTx/>
              <a:buFontTx/>
              <a:buChar char="-"/>
              <a:tabLst/>
              <a:defRPr/>
            </a:pP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rPr>
              <a:t>ניתן להכין מסגרת  גדולה ובמה מקרטון - </a:t>
            </a:r>
            <a:r>
              <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hlinkClick r:id="rId3"/>
              </a:rPr>
              <a:t>סרטון</a:t>
            </a:r>
            <a:endParaRPr kumimoji="0" lang="he-IL" sz="9600" b="1" i="0" u="none" strike="noStrike" kern="1200" cap="none" spc="0" normalizeH="0" baseline="0" noProof="0" dirty="0" smtClean="0">
              <a:ln>
                <a:noFill/>
              </a:ln>
              <a:solidFill>
                <a:srgbClr val="424242"/>
              </a:solidFill>
              <a:effectLst/>
              <a:uLnTx/>
              <a:uFillTx/>
              <a:latin typeface="Calibri" panose="020F0502020204030204" pitchFamily="34" charset="0"/>
              <a:cs typeface="+mn-cs"/>
            </a:endParaRPr>
          </a:p>
          <a:p>
            <a:pPr marL="457200" marR="0" lvl="0" indent="-457200" algn="ctr" defTabSz="914400" rtl="1" eaLnBrk="1" fontAlgn="auto" latinLnBrk="0" hangingPunct="1">
              <a:lnSpc>
                <a:spcPct val="90000"/>
              </a:lnSpc>
              <a:spcBef>
                <a:spcPts val="800"/>
              </a:spcBef>
              <a:spcAft>
                <a:spcPts val="0"/>
              </a:spcAft>
              <a:buClrTx/>
              <a:buSzTx/>
              <a:buFontTx/>
              <a:buChar char="-"/>
              <a:tabLst/>
              <a:defRPr/>
            </a:pPr>
            <a:endParaRPr kumimoji="0" lang="he-IL" sz="1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457200" marR="0" lvl="0" indent="-457200" algn="ctr" defTabSz="914400" rtl="1" eaLnBrk="1" fontAlgn="auto" latinLnBrk="0" hangingPunct="1">
              <a:lnSpc>
                <a:spcPct val="90000"/>
              </a:lnSpc>
              <a:spcBef>
                <a:spcPts val="800"/>
              </a:spcBef>
              <a:spcAft>
                <a:spcPts val="0"/>
              </a:spcAft>
              <a:buClrTx/>
              <a:buSzTx/>
              <a:buFontTx/>
              <a:buChar char="-"/>
              <a:tabLst/>
              <a:defRPr/>
            </a:pPr>
            <a:endParaRPr kumimoji="0" lang="he-IL" sz="128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90000"/>
              </a:lnSpc>
              <a:spcBef>
                <a:spcPts val="800"/>
              </a:spcBef>
              <a:spcAft>
                <a:spcPts val="0"/>
              </a:spcAft>
              <a:buClrTx/>
              <a:buSzTx/>
              <a:buFont typeface="+mj-lt"/>
              <a:buNone/>
              <a:tabLst/>
              <a:defRPr/>
            </a:pPr>
            <a:r>
              <a:rPr kumimoji="0" lang="en-US" sz="3600" b="1"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en-US" sz="3600" b="1"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pic>
        <p:nvPicPr>
          <p:cNvPr id="12" name="תמונה 11"/>
          <p:cNvPicPr>
            <a:picLocks noChangeAspect="1"/>
          </p:cNvPicPr>
          <p:nvPr/>
        </p:nvPicPr>
        <p:blipFill>
          <a:blip r:embed="rId4"/>
          <a:stretch>
            <a:fillRect/>
          </a:stretch>
        </p:blipFill>
        <p:spPr>
          <a:xfrm>
            <a:off x="728980" y="1636880"/>
            <a:ext cx="2808312" cy="2236399"/>
          </a:xfrm>
          <a:prstGeom prst="rect">
            <a:avLst/>
          </a:prstGeom>
        </p:spPr>
      </p:pic>
      <p:pic>
        <p:nvPicPr>
          <p:cNvPr id="13" name="תמונה 12"/>
          <p:cNvPicPr>
            <a:picLocks noChangeAspect="1"/>
          </p:cNvPicPr>
          <p:nvPr/>
        </p:nvPicPr>
        <p:blipFill>
          <a:blip r:embed="rId5"/>
          <a:stretch>
            <a:fillRect/>
          </a:stretch>
        </p:blipFill>
        <p:spPr>
          <a:xfrm>
            <a:off x="761354" y="3976709"/>
            <a:ext cx="2658518" cy="2579303"/>
          </a:xfrm>
          <a:prstGeom prst="rect">
            <a:avLst/>
          </a:prstGeom>
        </p:spPr>
      </p:pic>
    </p:spTree>
    <p:extLst>
      <p:ext uri="{BB962C8B-B14F-4D97-AF65-F5344CB8AC3E}">
        <p14:creationId xmlns:p14="http://schemas.microsoft.com/office/powerpoint/2010/main" val="4139232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3729" y="365129"/>
            <a:ext cx="8202812" cy="1325563"/>
          </a:xfrm>
        </p:spPr>
        <p:txBody>
          <a:bodyPr/>
          <a:lstStyle/>
          <a:p>
            <a:pPr algn="ctr"/>
            <a:r>
              <a:rPr lang="he-IL" dirty="0"/>
              <a:t>הצעה </a:t>
            </a:r>
            <a:r>
              <a:rPr lang="he-IL" dirty="0" smtClean="0"/>
              <a:t>למשימת המשך </a:t>
            </a:r>
            <a:br>
              <a:rPr lang="he-IL" dirty="0" smtClean="0"/>
            </a:br>
            <a:r>
              <a:rPr lang="he-IL" dirty="0" smtClean="0"/>
              <a:t>הרחבת החקר מדעי</a:t>
            </a: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313729" y="2107782"/>
            <a:ext cx="883027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6" name="מלבן 5"/>
          <p:cNvSpPr/>
          <p:nvPr/>
        </p:nvSpPr>
        <p:spPr>
          <a:xfrm>
            <a:off x="17099" y="1484784"/>
            <a:ext cx="9144000" cy="5693866"/>
          </a:xfrm>
          <a:prstGeom prst="rect">
            <a:avLst/>
          </a:prstGeom>
        </p:spPr>
        <p:txBody>
          <a:bodyPr wrap="square">
            <a:spAutoFit/>
          </a:bodyPr>
          <a:lstStyle/>
          <a:p>
            <a:endParaRPr lang="he-IL" sz="2400" dirty="0" smtClean="0"/>
          </a:p>
          <a:p>
            <a:r>
              <a:rPr lang="he-IL" sz="2400" dirty="0" smtClean="0"/>
              <a:t>תלמידי </a:t>
            </a:r>
            <a:r>
              <a:rPr lang="he-IL" sz="2400" dirty="0"/>
              <a:t>הכיתה קיבלו משימה להכין הצגה בתיאטרון צלליות. הכול כבר היה מוכן: המסך, הבובות ומקור האור. </a:t>
            </a:r>
            <a:r>
              <a:rPr lang="he-IL" sz="2400" dirty="0" smtClean="0"/>
              <a:t>הם </a:t>
            </a:r>
            <a:r>
              <a:rPr lang="he-IL" sz="2400" dirty="0"/>
              <a:t>החשיכו את החדר, וכאשר הדליקו את הפנס התקבלו על המסך צלליות קטנות מאוד. </a:t>
            </a:r>
          </a:p>
          <a:p>
            <a:r>
              <a:rPr lang="he-IL" sz="2400" dirty="0"/>
              <a:t>דור: "הצלליות קטנות מדי. אני רוצה צלליות גדולות. מה אני צריך לעשות? אין לי כוח להכין בובות גדולות</a:t>
            </a:r>
            <a:r>
              <a:rPr lang="he-IL" sz="2400" dirty="0" smtClean="0"/>
              <a:t>"</a:t>
            </a:r>
          </a:p>
          <a:p>
            <a:r>
              <a:rPr lang="he-IL" sz="2400" u="sng" dirty="0" smtClean="0"/>
              <a:t>העלו רעיונות  לפתרון הבעיה:</a:t>
            </a:r>
            <a:endParaRPr lang="he-IL" sz="2400" u="sng" dirty="0"/>
          </a:p>
          <a:p>
            <a:r>
              <a:rPr lang="he-IL" sz="2400" dirty="0"/>
              <a:t>כיצד אפשר לגרום לצלליות להיות גדולות יותר ‏(מבלי לשנות את גודל הגוף האטום)</a:t>
            </a:r>
            <a:r>
              <a:rPr lang="he-IL" sz="2400" dirty="0" smtClean="0"/>
              <a:t>‏?</a:t>
            </a:r>
          </a:p>
          <a:p>
            <a:endParaRPr lang="he-IL" sz="2400" dirty="0"/>
          </a:p>
          <a:p>
            <a:r>
              <a:rPr lang="he-IL" sz="2400" dirty="0" smtClean="0"/>
              <a:t>כדי </a:t>
            </a:r>
            <a:r>
              <a:rPr lang="he-IL" sz="2400" dirty="0"/>
              <a:t>לפתור את הבעיה, על התלמידים להשתמש בתהליך החקר המדעי</a:t>
            </a:r>
            <a:r>
              <a:rPr lang="he-IL" sz="2400" dirty="0" smtClean="0"/>
              <a:t>.</a:t>
            </a:r>
            <a:endParaRPr lang="he-IL" sz="2400" dirty="0"/>
          </a:p>
          <a:p>
            <a:r>
              <a:rPr lang="he-IL" sz="2400" dirty="0"/>
              <a:t>על איזו שאלת חקר רחבה צריכים התלמידים לענות? </a:t>
            </a:r>
            <a:endParaRPr lang="he-IL" sz="2400" dirty="0" smtClean="0"/>
          </a:p>
          <a:p>
            <a:r>
              <a:rPr lang="he-IL" sz="2400" dirty="0" smtClean="0"/>
              <a:t>***נסחו </a:t>
            </a:r>
            <a:r>
              <a:rPr lang="he-IL" sz="2400" dirty="0"/>
              <a:t>את השאלה.</a:t>
            </a:r>
          </a:p>
          <a:p>
            <a:r>
              <a:rPr lang="he-IL" sz="2400" dirty="0"/>
              <a:t>השתמשו במילות שאלה כגון: מה הם? אילו</a:t>
            </a:r>
            <a:r>
              <a:rPr lang="he-IL" sz="2400" dirty="0" smtClean="0"/>
              <a:t>?</a:t>
            </a:r>
            <a:endParaRPr lang="he-IL" sz="2400" dirty="0"/>
          </a:p>
          <a:p>
            <a:endParaRPr lang="he-IL" sz="2800" dirty="0" smtClean="0"/>
          </a:p>
        </p:txBody>
      </p:sp>
    </p:spTree>
    <p:extLst>
      <p:ext uri="{BB962C8B-B14F-4D97-AF65-F5344CB8AC3E}">
        <p14:creationId xmlns:p14="http://schemas.microsoft.com/office/powerpoint/2010/main" val="1790869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28650" y="782219"/>
            <a:ext cx="7886700" cy="1325563"/>
          </a:xfrm>
        </p:spPr>
        <p:txBody>
          <a:bodyPr>
            <a:normAutofit fontScale="90000"/>
          </a:bodyPr>
          <a:lstStyle/>
          <a:p>
            <a:pPr algn="ctr"/>
            <a:r>
              <a:rPr lang="he-IL" dirty="0" smtClean="0"/>
              <a:t/>
            </a:r>
            <a:br>
              <a:rPr lang="he-IL" dirty="0" smtClean="0"/>
            </a:br>
            <a:r>
              <a:rPr lang="he-IL" dirty="0" smtClean="0"/>
              <a:t>הצעת תכנון ניסוי לשאלת החקר : </a:t>
            </a:r>
            <a:br>
              <a:rPr lang="he-IL" dirty="0" smtClean="0"/>
            </a:br>
            <a:r>
              <a:rPr lang="he-IL" dirty="0" smtClean="0"/>
              <a:t>כיצד המרחק של  מקור האור משפיע על גודל הצללית?</a:t>
            </a:r>
            <a:r>
              <a:rPr lang="he-IL" dirty="0"/>
              <a:t/>
            </a:r>
            <a:br>
              <a:rPr lang="he-IL" dirty="0"/>
            </a:b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313729" y="2107782"/>
            <a:ext cx="883027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6" name="מלבן 5"/>
          <p:cNvSpPr/>
          <p:nvPr/>
        </p:nvSpPr>
        <p:spPr>
          <a:xfrm>
            <a:off x="0" y="2072505"/>
            <a:ext cx="9144000" cy="4832092"/>
          </a:xfrm>
          <a:prstGeom prst="rect">
            <a:avLst/>
          </a:prstGeom>
        </p:spPr>
        <p:txBody>
          <a:bodyPr wrap="square">
            <a:spAutoFit/>
          </a:bodyPr>
          <a:lstStyle/>
          <a:p>
            <a:endParaRPr lang="he-IL" sz="2800" dirty="0" smtClean="0"/>
          </a:p>
          <a:p>
            <a:pPr marL="457200" indent="-457200">
              <a:buFont typeface="Arial" panose="020B0604020202020204" pitchFamily="34" charset="0"/>
              <a:buChar char="•"/>
            </a:pPr>
            <a:endParaRPr lang="he-IL" sz="2800" dirty="0" smtClean="0"/>
          </a:p>
          <a:p>
            <a:pPr marL="457200" indent="-457200">
              <a:buFont typeface="Arial" panose="020B0604020202020204" pitchFamily="34" charset="0"/>
              <a:buChar char="•"/>
            </a:pPr>
            <a:r>
              <a:rPr lang="he-IL" sz="2800" dirty="0" smtClean="0"/>
              <a:t>נסחו השערה לשאלת החקר</a:t>
            </a:r>
          </a:p>
          <a:p>
            <a:pPr marL="457200" indent="-457200">
              <a:buFont typeface="Arial" panose="020B0604020202020204" pitchFamily="34" charset="0"/>
              <a:buChar char="•"/>
            </a:pPr>
            <a:r>
              <a:rPr lang="he-IL" sz="2800" dirty="0" smtClean="0"/>
              <a:t>רשימת כלים </a:t>
            </a:r>
            <a:r>
              <a:rPr lang="he-IL" sz="2800" dirty="0"/>
              <a:t>וחומרים</a:t>
            </a:r>
            <a:r>
              <a:rPr lang="he-IL" sz="2800" dirty="0" smtClean="0"/>
              <a:t>:</a:t>
            </a:r>
          </a:p>
          <a:p>
            <a:pPr marL="457200" indent="-457200">
              <a:buFont typeface="Arial" panose="020B0604020202020204" pitchFamily="34" charset="0"/>
              <a:buChar char="•"/>
            </a:pPr>
            <a:r>
              <a:rPr lang="he-IL" sz="2800" dirty="0" smtClean="0"/>
              <a:t>מהלך </a:t>
            </a:r>
            <a:r>
              <a:rPr lang="he-IL" sz="2800" dirty="0"/>
              <a:t>הניסוי</a:t>
            </a:r>
            <a:r>
              <a:rPr lang="he-IL" sz="2800" dirty="0" smtClean="0"/>
              <a:t>: תכננו </a:t>
            </a:r>
            <a:r>
              <a:rPr lang="he-IL" sz="2800" dirty="0"/>
              <a:t>ניסוי שבו ניתן יהיה למדוד את אורך הצל באחד </a:t>
            </a:r>
            <a:r>
              <a:rPr lang="he-IL" sz="2800" dirty="0" smtClean="0"/>
              <a:t>הגופים שבדקתם בהתנסות(כפית</a:t>
            </a:r>
            <a:r>
              <a:rPr lang="he-IL" sz="2800" dirty="0"/>
              <a:t>, ספר, ספל קרמיקה, בובה </a:t>
            </a:r>
            <a:r>
              <a:rPr lang="he-IL" sz="2800" dirty="0" smtClean="0"/>
              <a:t>וכו')</a:t>
            </a:r>
            <a:endParaRPr lang="he-IL" sz="2800" dirty="0" smtClean="0"/>
          </a:p>
          <a:p>
            <a:pPr marL="457200" indent="-457200">
              <a:buFont typeface="Arial" panose="020B0604020202020204" pitchFamily="34" charset="0"/>
              <a:buChar char="•"/>
            </a:pPr>
            <a:r>
              <a:rPr lang="he-IL" sz="2800" dirty="0" smtClean="0"/>
              <a:t>רישום תוצאות בטבלה ובמילים</a:t>
            </a:r>
            <a:endParaRPr lang="he-IL" sz="2800" dirty="0" smtClean="0"/>
          </a:p>
          <a:p>
            <a:pPr marL="457200" indent="-457200">
              <a:buFont typeface="Arial" panose="020B0604020202020204" pitchFamily="34" charset="0"/>
              <a:buChar char="•"/>
            </a:pPr>
            <a:r>
              <a:rPr lang="he-IL" sz="2800" dirty="0" smtClean="0"/>
              <a:t>הסקת מסקנות</a:t>
            </a:r>
            <a:endParaRPr lang="he-IL" sz="2800" dirty="0" smtClean="0"/>
          </a:p>
          <a:p>
            <a:pPr marL="457200" indent="-457200">
              <a:buFont typeface="Arial" panose="020B0604020202020204" pitchFamily="34" charset="0"/>
              <a:buChar char="•"/>
            </a:pPr>
            <a:r>
              <a:rPr lang="he-IL" sz="2800" dirty="0" smtClean="0"/>
              <a:t>הסבר מדעי</a:t>
            </a:r>
          </a:p>
          <a:p>
            <a:endParaRPr lang="he-IL" sz="2800" dirty="0" smtClean="0"/>
          </a:p>
        </p:txBody>
      </p:sp>
    </p:spTree>
    <p:extLst>
      <p:ext uri="{BB962C8B-B14F-4D97-AF65-F5344CB8AC3E}">
        <p14:creationId xmlns:p14="http://schemas.microsoft.com/office/powerpoint/2010/main" val="402498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a:r>
              <a:rPr lang="he-IL" dirty="0"/>
              <a:t>הצעה לטבלה לתיעוד הממצאים</a:t>
            </a:r>
          </a:p>
        </p:txBody>
      </p:sp>
      <p:sp>
        <p:nvSpPr>
          <p:cNvPr id="6" name="מלבן 5"/>
          <p:cNvSpPr/>
          <p:nvPr/>
        </p:nvSpPr>
        <p:spPr>
          <a:xfrm>
            <a:off x="0" y="2072505"/>
            <a:ext cx="9144000" cy="523220"/>
          </a:xfrm>
          <a:prstGeom prst="rect">
            <a:avLst/>
          </a:prstGeom>
        </p:spPr>
        <p:txBody>
          <a:bodyPr wrap="square">
            <a:spAutoFit/>
          </a:bodyPr>
          <a:lstStyle/>
          <a:p>
            <a:endParaRPr lang="he-IL" sz="2800" dirty="0" smtClean="0"/>
          </a:p>
        </p:txBody>
      </p:sp>
      <p:sp>
        <p:nvSpPr>
          <p:cNvPr id="8" name="מציין מיקום תוכן 2"/>
          <p:cNvSpPr txBox="1">
            <a:spLocks/>
          </p:cNvSpPr>
          <p:nvPr/>
        </p:nvSpPr>
        <p:spPr>
          <a:xfrm>
            <a:off x="628650" y="1825625"/>
            <a:ext cx="7886700" cy="4351338"/>
          </a:xfrm>
          <a:prstGeom prst="rect">
            <a:avLst/>
          </a:prstGeom>
        </p:spPr>
        <p:txBody>
          <a:bodyPr vert="horz" lIns="91440" tIns="45720" rIns="91440" bIns="45720" rtlCol="0">
            <a:normAutofit/>
          </a:bodyPr>
          <a:lstStyle>
            <a:lvl1pPr marL="0" indent="0" algn="r" defTabSz="914400" rtl="1" eaLnBrk="1" latinLnBrk="0" hangingPunct="1">
              <a:lnSpc>
                <a:spcPct val="90000"/>
              </a:lnSpc>
              <a:spcBef>
                <a:spcPts val="800"/>
              </a:spcBef>
              <a:spcAft>
                <a:spcPts val="0"/>
              </a:spcAft>
              <a:buClr>
                <a:schemeClr val="accent2"/>
              </a:buClr>
              <a:buFont typeface="+mj-lt"/>
              <a:buNone/>
              <a:defRPr sz="2800" b="0" i="0" kern="1200">
                <a:solidFill>
                  <a:schemeClr val="tx1"/>
                </a:solidFill>
                <a:latin typeface="Calibri" panose="020F0502020204030204" pitchFamily="34" charset="0"/>
                <a:ea typeface="+mn-ea"/>
                <a:cs typeface="Calibri" panose="020F0502020204030204" pitchFamily="34" charset="0"/>
              </a:defRPr>
            </a:lvl1pPr>
            <a:lvl2pPr marL="800100" indent="-342900" algn="r" defTabSz="914400" rtl="1" eaLnBrk="1" latinLnBrk="0" hangingPunct="1">
              <a:lnSpc>
                <a:spcPct val="90000"/>
              </a:lnSpc>
              <a:spcBef>
                <a:spcPts val="800"/>
              </a:spcBef>
              <a:buFont typeface="Arial" panose="020B0604020202020204" pitchFamily="34" charset="0"/>
              <a:buChar char="•"/>
              <a:defRPr sz="2400" b="0" i="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b="0" i="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1" eaLnBrk="1" fontAlgn="t" latinLnBrk="0" hangingPunct="1">
              <a:lnSpc>
                <a:spcPct val="90000"/>
              </a:lnSpc>
              <a:spcBef>
                <a:spcPts val="0"/>
              </a:spcBef>
              <a:spcAft>
                <a:spcPts val="0"/>
              </a:spcAft>
              <a:buClr>
                <a:srgbClr val="FB2265"/>
              </a:buClr>
              <a:buSzTx/>
              <a:buFont typeface="+mj-lt"/>
              <a:buNone/>
              <a:tabLst/>
              <a:defRPr/>
            </a:pPr>
            <a:endParaRPr kumimoji="0" lang="he-IL" sz="2800" b="0" i="0" u="none" strike="noStrike" kern="1200" cap="none" spc="0" normalizeH="0" baseline="0" noProof="0" smtClean="0">
              <a:ln>
                <a:noFill/>
              </a:ln>
              <a:solidFill>
                <a:srgbClr val="424242"/>
              </a:solidFill>
              <a:effectLst/>
              <a:uLnTx/>
              <a:uFillTx/>
              <a:latin typeface="Arial" panose="020B0604020202020204" pitchFamily="34" charset="0"/>
              <a:cs typeface="Calibri" panose="020F0502020204030204" pitchFamily="34" charset="0"/>
            </a:endParaRPr>
          </a:p>
          <a:p>
            <a:pPr marL="0" marR="0" lvl="0" indent="0" algn="r" defTabSz="914400" rtl="1" eaLnBrk="1" fontAlgn="auto" latinLnBrk="0" hangingPunct="1">
              <a:lnSpc>
                <a:spcPct val="90000"/>
              </a:lnSpc>
              <a:spcBef>
                <a:spcPts val="800"/>
              </a:spcBef>
              <a:spcAft>
                <a:spcPts val="0"/>
              </a:spcAft>
              <a:buClr>
                <a:srgbClr val="FB2265"/>
              </a:buClr>
              <a:buSzTx/>
              <a:buFont typeface="+mj-lt"/>
              <a:buNone/>
              <a:tabLst/>
              <a:defRPr/>
            </a:pPr>
            <a:endParaRPr kumimoji="0" lang="he-IL" sz="28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9" name="מציין מיקום תוכן 2"/>
          <p:cNvSpPr txBox="1">
            <a:spLocks/>
          </p:cNvSpPr>
          <p:nvPr/>
        </p:nvSpPr>
        <p:spPr>
          <a:xfrm>
            <a:off x="781050" y="1978025"/>
            <a:ext cx="7886700" cy="4351338"/>
          </a:xfrm>
          <a:prstGeom prst="rect">
            <a:avLst/>
          </a:prstGeom>
        </p:spPr>
        <p:txBody>
          <a:bodyPr vert="horz" lIns="91440" tIns="45720" rIns="91440" bIns="45720" rtlCol="0">
            <a:normAutofit/>
          </a:bodyPr>
          <a:lstStyle>
            <a:lvl1pPr marL="0" indent="0" algn="r" defTabSz="914400" rtl="1" eaLnBrk="1" latinLnBrk="0" hangingPunct="1">
              <a:lnSpc>
                <a:spcPct val="90000"/>
              </a:lnSpc>
              <a:spcBef>
                <a:spcPts val="800"/>
              </a:spcBef>
              <a:spcAft>
                <a:spcPts val="0"/>
              </a:spcAft>
              <a:buClr>
                <a:schemeClr val="accent2"/>
              </a:buClr>
              <a:buFont typeface="+mj-lt"/>
              <a:buNone/>
              <a:defRPr sz="2800" b="0" i="0" kern="1200">
                <a:solidFill>
                  <a:schemeClr val="tx1"/>
                </a:solidFill>
                <a:latin typeface="Calibri" panose="020F0502020204030204" pitchFamily="34" charset="0"/>
                <a:ea typeface="+mn-ea"/>
                <a:cs typeface="Calibri" panose="020F0502020204030204" pitchFamily="34" charset="0"/>
              </a:defRPr>
            </a:lvl1pPr>
            <a:lvl2pPr marL="800100" indent="-342900" algn="r" defTabSz="914400" rtl="1" eaLnBrk="1" latinLnBrk="0" hangingPunct="1">
              <a:lnSpc>
                <a:spcPct val="90000"/>
              </a:lnSpc>
              <a:spcBef>
                <a:spcPts val="800"/>
              </a:spcBef>
              <a:buFont typeface="Arial" panose="020B0604020202020204" pitchFamily="34" charset="0"/>
              <a:buChar char="•"/>
              <a:defRPr sz="2400" b="0" i="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b="0" i="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1" eaLnBrk="1" fontAlgn="t" latinLnBrk="0" hangingPunct="1">
              <a:lnSpc>
                <a:spcPct val="90000"/>
              </a:lnSpc>
              <a:spcBef>
                <a:spcPts val="0"/>
              </a:spcBef>
              <a:spcAft>
                <a:spcPts val="0"/>
              </a:spcAft>
              <a:buClr>
                <a:srgbClr val="FB2265"/>
              </a:buClr>
              <a:buSzTx/>
              <a:buFont typeface="+mj-lt"/>
              <a:buNone/>
              <a:tabLst/>
              <a:defRPr/>
            </a:pPr>
            <a:endParaRPr kumimoji="0" lang="he-IL" sz="2800" b="0" i="0" u="none" strike="noStrike" kern="1200" cap="none" spc="0" normalizeH="0" baseline="0" noProof="0" dirty="0" smtClean="0">
              <a:ln>
                <a:noFill/>
              </a:ln>
              <a:solidFill>
                <a:srgbClr val="424242"/>
              </a:solidFill>
              <a:effectLst/>
              <a:uLnTx/>
              <a:uFillTx/>
              <a:latin typeface="Arial" panose="020B0604020202020204" pitchFamily="34" charset="0"/>
              <a:cs typeface="Calibri" panose="020F0502020204030204" pitchFamily="34" charset="0"/>
            </a:endParaRPr>
          </a:p>
          <a:p>
            <a:pPr marL="0" marR="0" lvl="0" indent="0" algn="r" defTabSz="914400" rtl="1" eaLnBrk="1" fontAlgn="auto" latinLnBrk="0" hangingPunct="1">
              <a:lnSpc>
                <a:spcPct val="90000"/>
              </a:lnSpc>
              <a:spcBef>
                <a:spcPts val="800"/>
              </a:spcBef>
              <a:spcAft>
                <a:spcPts val="0"/>
              </a:spcAft>
              <a:buClr>
                <a:srgbClr val="FB2265"/>
              </a:buClr>
              <a:buSzTx/>
              <a:buFont typeface="+mj-lt"/>
              <a:buNone/>
              <a:tabLst/>
              <a:defRPr/>
            </a:pPr>
            <a:endParaRPr kumimoji="0" lang="he-IL" sz="28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10" name="מציין מיקום תוכן 2"/>
          <p:cNvSpPr>
            <a:spLocks noGrp="1"/>
          </p:cNvSpPr>
          <p:nvPr>
            <p:ph idx="4294967295"/>
          </p:nvPr>
        </p:nvSpPr>
        <p:spPr>
          <a:xfrm>
            <a:off x="933450" y="21304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1" name="מציין מיקום תוכן 2"/>
          <p:cNvSpPr>
            <a:spLocks noGrp="1"/>
          </p:cNvSpPr>
          <p:nvPr>
            <p:ph idx="4294967295"/>
          </p:nvPr>
        </p:nvSpPr>
        <p:spPr>
          <a:xfrm>
            <a:off x="1085850" y="22828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2" name="מציין מיקום תוכן 2"/>
          <p:cNvSpPr>
            <a:spLocks noGrp="1"/>
          </p:cNvSpPr>
          <p:nvPr>
            <p:ph idx="4294967295"/>
          </p:nvPr>
        </p:nvSpPr>
        <p:spPr>
          <a:xfrm>
            <a:off x="1238250" y="24352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3" name="מציין מיקום תוכן 2"/>
          <p:cNvSpPr>
            <a:spLocks noGrp="1"/>
          </p:cNvSpPr>
          <p:nvPr>
            <p:ph idx="4294967295"/>
          </p:nvPr>
        </p:nvSpPr>
        <p:spPr>
          <a:xfrm>
            <a:off x="1390650" y="25876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4" name="מציין מיקום תוכן 2"/>
          <p:cNvSpPr>
            <a:spLocks noGrp="1"/>
          </p:cNvSpPr>
          <p:nvPr>
            <p:ph idx="4294967295"/>
          </p:nvPr>
        </p:nvSpPr>
        <p:spPr>
          <a:xfrm>
            <a:off x="1543050" y="27400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5" name="מציין מיקום תוכן 2"/>
          <p:cNvSpPr>
            <a:spLocks noGrp="1"/>
          </p:cNvSpPr>
          <p:nvPr>
            <p:ph idx="4294967295"/>
          </p:nvPr>
        </p:nvSpPr>
        <p:spPr>
          <a:xfrm>
            <a:off x="1695450" y="28924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sp>
        <p:nvSpPr>
          <p:cNvPr id="16" name="מציין מיקום תוכן 2"/>
          <p:cNvSpPr>
            <a:spLocks noGrp="1"/>
          </p:cNvSpPr>
          <p:nvPr>
            <p:ph idx="4294967295"/>
          </p:nvPr>
        </p:nvSpPr>
        <p:spPr>
          <a:xfrm>
            <a:off x="1847850" y="3044825"/>
            <a:ext cx="7886700" cy="4351338"/>
          </a:xfrm>
          <a:prstGeom prst="rect">
            <a:avLst/>
          </a:prstGeom>
        </p:spPr>
        <p:txBody>
          <a:bodyPr/>
          <a:lstStyle/>
          <a:p>
            <a:pPr algn="l" fontAlgn="t">
              <a:spcBef>
                <a:spcPts val="0"/>
              </a:spcBef>
            </a:pPr>
            <a:endParaRPr lang="he-IL" dirty="0">
              <a:latin typeface="Arial" panose="020B0604020202020204" pitchFamily="34" charset="0"/>
            </a:endParaRPr>
          </a:p>
          <a:p>
            <a:endParaRPr lang="he-IL" dirty="0"/>
          </a:p>
        </p:txBody>
      </p:sp>
      <p:graphicFrame>
        <p:nvGraphicFramePr>
          <p:cNvPr id="21" name="טבלה 20"/>
          <p:cNvGraphicFramePr>
            <a:graphicFrameLocks noGrp="1"/>
          </p:cNvGraphicFramePr>
          <p:nvPr>
            <p:extLst>
              <p:ext uri="{D42A27DB-BD31-4B8C-83A1-F6EECF244321}">
                <p14:modId xmlns:p14="http://schemas.microsoft.com/office/powerpoint/2010/main" val="2050929167"/>
              </p:ext>
            </p:extLst>
          </p:nvPr>
        </p:nvGraphicFramePr>
        <p:xfrm>
          <a:off x="1543050" y="1825624"/>
          <a:ext cx="6096000" cy="2971528"/>
        </p:xfrm>
        <a:graphic>
          <a:graphicData uri="http://schemas.openxmlformats.org/drawingml/2006/table">
            <a:tbl>
              <a:tblPr rtl="1" firstRow="1" bandRow="1">
                <a:tableStyleId>{5C22544A-7EE6-4342-B048-85BDC9FD1C3A}</a:tableStyleId>
              </a:tblPr>
              <a:tblGrid>
                <a:gridCol w="3048000"/>
                <a:gridCol w="3048000"/>
              </a:tblGrid>
              <a:tr h="11256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FFFFFF"/>
                          </a:solidFill>
                          <a:effectLst/>
                          <a:uLnTx/>
                          <a:uFillTx/>
                          <a:latin typeface="+mn-lt"/>
                          <a:cs typeface="+mn-cs"/>
                        </a:rPr>
                        <a:t>מרחק  מקור האור מהגוף בס"מ</a:t>
                      </a:r>
                    </a:p>
                    <a:p>
                      <a:pPr rtl="1"/>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FFFFFF"/>
                          </a:solidFill>
                          <a:effectLst/>
                          <a:uLnTx/>
                          <a:uFillTx/>
                          <a:latin typeface="+mn-lt"/>
                          <a:cs typeface="+mn-cs"/>
                        </a:rPr>
                        <a:t>אורך הצללית בס"מ</a:t>
                      </a:r>
                    </a:p>
                    <a:p>
                      <a:pPr rtl="1"/>
                      <a:endParaRPr lang="he-IL" dirty="0"/>
                    </a:p>
                  </a:txBody>
                  <a:tcPr/>
                </a:tc>
              </a:tr>
              <a:tr h="615296">
                <a:tc>
                  <a:txBody>
                    <a:bodyPr/>
                    <a:lstStyle/>
                    <a:p>
                      <a:pPr rtl="1"/>
                      <a:endParaRPr lang="he-IL" dirty="0"/>
                    </a:p>
                  </a:txBody>
                  <a:tcPr/>
                </a:tc>
                <a:tc>
                  <a:txBody>
                    <a:bodyPr/>
                    <a:lstStyle/>
                    <a:p>
                      <a:pPr rtl="1"/>
                      <a:endParaRPr lang="he-IL"/>
                    </a:p>
                  </a:txBody>
                  <a:tcPr/>
                </a:tc>
              </a:tr>
              <a:tr h="615296">
                <a:tc>
                  <a:txBody>
                    <a:bodyPr/>
                    <a:lstStyle/>
                    <a:p>
                      <a:pPr rtl="1"/>
                      <a:endParaRPr lang="he-IL"/>
                    </a:p>
                  </a:txBody>
                  <a:tcPr/>
                </a:tc>
                <a:tc>
                  <a:txBody>
                    <a:bodyPr/>
                    <a:lstStyle/>
                    <a:p>
                      <a:pPr rtl="1"/>
                      <a:endParaRPr lang="he-IL"/>
                    </a:p>
                  </a:txBody>
                  <a:tcPr/>
                </a:tc>
              </a:tr>
              <a:tr h="615296">
                <a:tc>
                  <a:txBody>
                    <a:bodyPr/>
                    <a:lstStyle/>
                    <a:p>
                      <a:pPr rtl="1"/>
                      <a:endParaRPr lang="he-IL"/>
                    </a:p>
                  </a:txBody>
                  <a:tcPr/>
                </a:tc>
                <a:tc>
                  <a:txBody>
                    <a:bodyPr/>
                    <a:lstStyle/>
                    <a:p>
                      <a:pPr rtl="1"/>
                      <a:endParaRPr lang="he-IL" dirty="0"/>
                    </a:p>
                  </a:txBody>
                  <a:tcPr/>
                </a:tc>
              </a:tr>
            </a:tbl>
          </a:graphicData>
        </a:graphic>
      </p:graphicFrame>
      <p:sp>
        <p:nvSpPr>
          <p:cNvPr id="22" name="TextBox 21"/>
          <p:cNvSpPr txBox="1"/>
          <p:nvPr/>
        </p:nvSpPr>
        <p:spPr>
          <a:xfrm>
            <a:off x="680195" y="5024591"/>
            <a:ext cx="7920880" cy="2308324"/>
          </a:xfrm>
          <a:prstGeom prst="rect">
            <a:avLst/>
          </a:prstGeom>
          <a:noFill/>
        </p:spPr>
        <p:txBody>
          <a:bodyPr wrap="square" rtlCol="1">
            <a:spAutoFit/>
          </a:bodyPr>
          <a:lstStyle/>
          <a:p>
            <a:r>
              <a:rPr lang="he-IL" sz="2400" b="1" dirty="0" smtClean="0"/>
              <a:t>-תיאור התוצאות במילים</a:t>
            </a:r>
          </a:p>
          <a:p>
            <a:endParaRPr lang="he-IL" sz="2400" b="1" dirty="0" smtClean="0"/>
          </a:p>
          <a:p>
            <a:r>
              <a:rPr lang="he-IL" sz="2400" b="1" dirty="0" smtClean="0"/>
              <a:t>-מה המסקנות מהטבלה?</a:t>
            </a:r>
          </a:p>
          <a:p>
            <a:endParaRPr lang="en-US" sz="2400" b="1" dirty="0" smtClean="0"/>
          </a:p>
          <a:p>
            <a:r>
              <a:rPr lang="he-IL" sz="2400" b="1" dirty="0" smtClean="0"/>
              <a:t>-</a:t>
            </a:r>
            <a:r>
              <a:rPr lang="he-IL" sz="2400" b="1" dirty="0" smtClean="0"/>
              <a:t>מה ההסבר המדעי לתופעה?</a:t>
            </a:r>
            <a:r>
              <a:rPr lang="en-US" sz="2400" b="1" dirty="0" smtClean="0"/>
              <a:t/>
            </a:r>
            <a:br>
              <a:rPr lang="en-US" sz="2400" b="1" dirty="0" smtClean="0"/>
            </a:br>
            <a:endParaRPr lang="he-IL" sz="2400" b="1" dirty="0"/>
          </a:p>
        </p:txBody>
      </p:sp>
    </p:spTree>
    <p:extLst>
      <p:ext uri="{BB962C8B-B14F-4D97-AF65-F5344CB8AC3E}">
        <p14:creationId xmlns:p14="http://schemas.microsoft.com/office/powerpoint/2010/main" val="2309329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3729" y="365129"/>
            <a:ext cx="8202812" cy="1754237"/>
          </a:xfrm>
        </p:spPr>
        <p:txBody>
          <a:bodyPr>
            <a:normAutofit/>
          </a:bodyPr>
          <a:lstStyle/>
          <a:p>
            <a:pPr algn="ctr"/>
            <a:r>
              <a:rPr lang="he-IL" dirty="0" smtClean="0"/>
              <a:t>חוזרים לסיפור המקרה:</a:t>
            </a:r>
            <a:br>
              <a:rPr lang="he-IL" dirty="0" smtClean="0"/>
            </a:br>
            <a:r>
              <a:rPr lang="he-IL" dirty="0" smtClean="0"/>
              <a:t>מה הפתרון לקבלת צלליות  גדולות יותר?</a:t>
            </a:r>
            <a:endParaRPr lang="he-IL" dirty="0"/>
          </a:p>
        </p:txBody>
      </p:sp>
      <p:sp>
        <p:nvSpPr>
          <p:cNvPr id="5" name="Text Placeholder 5">
            <a:extLst>
              <a:ext uri="{FF2B5EF4-FFF2-40B4-BE49-F238E27FC236}">
                <a16:creationId xmlns:a16="http://schemas.microsoft.com/office/drawing/2014/main" xmlns="" id="{23447C36-6132-374D-A58E-2AEC5E22D03D}"/>
              </a:ext>
            </a:extLst>
          </p:cNvPr>
          <p:cNvSpPr txBox="1">
            <a:spLocks/>
          </p:cNvSpPr>
          <p:nvPr/>
        </p:nvSpPr>
        <p:spPr>
          <a:xfrm>
            <a:off x="313729" y="2107782"/>
            <a:ext cx="8830271" cy="4796815"/>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800"/>
              </a:spcBef>
              <a:spcAft>
                <a:spcPts val="0"/>
              </a:spcAft>
              <a:buFont typeface="+mj-lt"/>
              <a:buNone/>
              <a:defRPr sz="3600" b="0" i="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1" eaLnBrk="1" latinLnBrk="0" hangingPunct="1">
              <a:lnSpc>
                <a:spcPct val="90000"/>
              </a:lnSpc>
              <a:spcBef>
                <a:spcPts val="800"/>
              </a:spcBef>
              <a:buFont typeface="Arial" panose="020B0604020202020204" pitchFamily="34" charset="0"/>
              <a:buNone/>
              <a:defRPr sz="2400" b="0" i="0" kern="1200">
                <a:solidFill>
                  <a:schemeClr val="tx1"/>
                </a:solidFill>
                <a:latin typeface="Calibri" panose="020F0502020204030204" pitchFamily="34" charset="0"/>
                <a:ea typeface="+mn-ea"/>
                <a:cs typeface="Calibri" panose="020F0502020204030204" pitchFamily="34" charset="0"/>
              </a:defRPr>
            </a:lvl2pPr>
            <a:lvl3pPr marL="914400" indent="0" algn="ctr" defTabSz="914400" rtl="1" eaLnBrk="1" latinLnBrk="0" hangingPunct="1">
              <a:lnSpc>
                <a:spcPct val="90000"/>
              </a:lnSpc>
              <a:spcBef>
                <a:spcPts val="500"/>
              </a:spcBef>
              <a:buFont typeface="Arial" panose="020B0604020202020204" pitchFamily="34" charset="0"/>
              <a:buNone/>
              <a:defRPr sz="2000" b="0" i="0" kern="1200">
                <a:solidFill>
                  <a:schemeClr val="tx1"/>
                </a:solidFill>
                <a:latin typeface="Calibri" panose="020F0502020204030204" pitchFamily="34" charset="0"/>
                <a:ea typeface="+mn-ea"/>
                <a:cs typeface="Calibri" panose="020F0502020204030204" pitchFamily="34" charset="0"/>
              </a:defRPr>
            </a:lvl3pPr>
            <a:lvl4pPr marL="13716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4pPr>
            <a:lvl5pPr marL="1828800" indent="0" algn="ctr" defTabSz="914400" rtl="1" eaLnBrk="1" latinLnBrk="0" hangingPunct="1">
              <a:lnSpc>
                <a:spcPct val="90000"/>
              </a:lnSpc>
              <a:spcBef>
                <a:spcPts val="500"/>
              </a:spcBef>
              <a:buFont typeface="Arial" panose="020B0604020202020204" pitchFamily="34" charset="0"/>
              <a:buNone/>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0"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150000"/>
              </a:lnSpc>
              <a:spcBef>
                <a:spcPts val="800"/>
              </a:spcBef>
              <a:spcAft>
                <a:spcPts val="0"/>
              </a:spcAft>
              <a:buClrTx/>
              <a:buSzTx/>
              <a:buFont typeface="+mj-lt"/>
              <a:buNone/>
              <a:tabLst/>
              <a:defRPr/>
            </a:pPr>
            <a:endParaRPr kumimoji="0" lang="he-IL" sz="7400" b="1" i="0" u="sng"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endParaRPr>
          </a:p>
          <a:p>
            <a:pPr marL="0" marR="0" lvl="0" indent="0" algn="just" defTabSz="914400" rtl="1" eaLnBrk="1" fontAlgn="auto" latinLnBrk="0" hangingPunct="1">
              <a:lnSpc>
                <a:spcPct val="90000"/>
              </a:lnSpc>
              <a:spcBef>
                <a:spcPts val="800"/>
              </a:spcBef>
              <a:spcAft>
                <a:spcPts val="0"/>
              </a:spcAft>
              <a:buClrTx/>
              <a:buSzTx/>
              <a:buFont typeface="+mj-lt"/>
              <a:buNone/>
              <a:tabLst/>
              <a:defRPr/>
            </a:pPr>
            <a: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t/>
            </a:r>
            <a:br>
              <a:rPr kumimoji="0" lang="he-IL" sz="3600" b="0" i="0" u="none" strike="noStrike" kern="1200" cap="none" spc="0" normalizeH="0" baseline="0" noProof="0" dirty="0" smtClean="0">
                <a:ln>
                  <a:noFill/>
                </a:ln>
                <a:solidFill>
                  <a:srgbClr val="424242"/>
                </a:solidFill>
                <a:effectLst/>
                <a:uLnTx/>
                <a:uFillTx/>
                <a:latin typeface="Calibri" panose="020F0502020204030204" pitchFamily="34" charset="0"/>
                <a:cs typeface="Calibri" panose="020F0502020204030204" pitchFamily="34" charset="0"/>
              </a:rPr>
            </a:br>
            <a:endParaRPr kumimoji="0" lang="he-IL" sz="3600" b="0" i="0" u="none" strike="noStrike" kern="1200" cap="none" spc="0" normalizeH="0" baseline="0" noProof="0" dirty="0">
              <a:ln>
                <a:noFill/>
              </a:ln>
              <a:solidFill>
                <a:srgbClr val="424242"/>
              </a:solidFill>
              <a:effectLst/>
              <a:uLnTx/>
              <a:uFillTx/>
              <a:latin typeface="Calibri" panose="020F0502020204030204" pitchFamily="34" charset="0"/>
              <a:cs typeface="Calibri" panose="020F0502020204030204" pitchFamily="34" charset="0"/>
            </a:endParaRPr>
          </a:p>
        </p:txBody>
      </p:sp>
      <p:sp>
        <p:nvSpPr>
          <p:cNvPr id="6" name="מלבן 5"/>
          <p:cNvSpPr/>
          <p:nvPr/>
        </p:nvSpPr>
        <p:spPr>
          <a:xfrm>
            <a:off x="-252536" y="2119366"/>
            <a:ext cx="9144000" cy="3847207"/>
          </a:xfrm>
          <a:prstGeom prst="rect">
            <a:avLst/>
          </a:prstGeom>
        </p:spPr>
        <p:txBody>
          <a:bodyPr wrap="square">
            <a:spAutoFit/>
          </a:bodyPr>
          <a:lstStyle/>
          <a:p>
            <a:r>
              <a:rPr lang="he-IL" sz="2400" dirty="0" smtClean="0"/>
              <a:t>תלמידי </a:t>
            </a:r>
            <a:r>
              <a:rPr lang="he-IL" sz="2400" dirty="0"/>
              <a:t>הכיתה קיבלו משימה להכין הצגה בתיאטרון צלליות. הכול כבר היה מוכן: המסך, הבובות ומקור האור. </a:t>
            </a:r>
            <a:r>
              <a:rPr lang="he-IL" sz="2400" dirty="0" smtClean="0"/>
              <a:t>הם </a:t>
            </a:r>
            <a:r>
              <a:rPr lang="he-IL" sz="2400" dirty="0"/>
              <a:t>החשיכו את החדר, וכאשר הדליקו את הפנס התקבלו על המסך צלליות קטנות מאוד. </a:t>
            </a:r>
          </a:p>
          <a:p>
            <a:r>
              <a:rPr lang="he-IL" sz="2400" dirty="0"/>
              <a:t>דור: "הצלליות קטנות מדי. אני רוצה צלליות גדולות. מה אני צריך לעשות? אין לי כוח להכין בובות גדולות</a:t>
            </a:r>
            <a:r>
              <a:rPr lang="he-IL" sz="2400" dirty="0" smtClean="0"/>
              <a:t>"</a:t>
            </a:r>
          </a:p>
          <a:p>
            <a:endParaRPr lang="he-IL" sz="2400" dirty="0"/>
          </a:p>
          <a:p>
            <a:endParaRPr lang="he-IL" sz="2400" dirty="0" smtClean="0"/>
          </a:p>
          <a:p>
            <a:r>
              <a:rPr lang="he-IL" sz="2400" dirty="0" smtClean="0"/>
              <a:t>נסחו הצעה לדור ותלמידי הכיתה לפתרון הבעיה.</a:t>
            </a:r>
          </a:p>
          <a:p>
            <a:endParaRPr lang="he-IL" sz="2400" dirty="0" smtClean="0"/>
          </a:p>
          <a:p>
            <a:endParaRPr lang="he-IL" sz="2800" dirty="0" smtClean="0"/>
          </a:p>
        </p:txBody>
      </p:sp>
    </p:spTree>
    <p:extLst>
      <p:ext uri="{BB962C8B-B14F-4D97-AF65-F5344CB8AC3E}">
        <p14:creationId xmlns:p14="http://schemas.microsoft.com/office/powerpoint/2010/main" val="2477565764"/>
      </p:ext>
    </p:extLst>
  </p:cSld>
  <p:clrMapOvr>
    <a:masterClrMapping/>
  </p:clrMapOvr>
</p:sld>
</file>

<file path=ppt/theme/theme1.xml><?xml version="1.0" encoding="utf-8"?>
<a:theme xmlns:a="http://schemas.openxmlformats.org/drawingml/2006/main" name="Office Theme">
  <a:themeElements>
    <a:clrScheme name="ערכת נושא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ערכת נושא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5274</TotalTime>
  <Words>874</Words>
  <Application>Microsoft Office PowerPoint</Application>
  <PresentationFormat>‫הצגה על המסך (4:3)</PresentationFormat>
  <Paragraphs>207</Paragraphs>
  <Slides>20</Slides>
  <Notes>19</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20</vt:i4>
      </vt:variant>
    </vt:vector>
  </HeadingPairs>
  <TitlesOfParts>
    <vt:vector size="28" baseType="lpstr">
      <vt:lpstr>Alef</vt:lpstr>
      <vt:lpstr>Arial</vt:lpstr>
      <vt:lpstr>Arial</vt:lpstr>
      <vt:lpstr>Calibri</vt:lpstr>
      <vt:lpstr>Calibri Light</vt:lpstr>
      <vt:lpstr>David</vt:lpstr>
      <vt:lpstr>Times New Roman</vt:lpstr>
      <vt:lpstr>Office Theme</vt:lpstr>
      <vt:lpstr>תכונות האור- מהו צל?</vt:lpstr>
      <vt:lpstr>  חידה: מה משותף לכל התמונות?</vt:lpstr>
      <vt:lpstr>   ומה הקשר של התמונות לסרטון הזה?</vt:lpstr>
      <vt:lpstr>              קודם חוקרים כיצד נוצר צל? </vt:lpstr>
      <vt:lpstr>שאלת החקר :אז מה קורה לקרן אור ש שאלת החקר : כיצד נוצר צל של גוף?בגופים שונים?</vt:lpstr>
      <vt:lpstr>מה קרה? רישום תוצאות</vt:lpstr>
      <vt:lpstr>סיכום  התוצאות</vt:lpstr>
      <vt:lpstr>מעבר האור בגופים-מסקנות</vt:lpstr>
      <vt:lpstr>כיצד נוצר צל?</vt:lpstr>
      <vt:lpstr>כיצד בני האדם משתמשים בהיטלים של צל?</vt:lpstr>
      <vt:lpstr>כיצד בני האדם משתמשים בהיטלים של  צל?</vt:lpstr>
      <vt:lpstr>  בשיעור זה ניתן לשלב את קורס דיגיטלי ללומד העצמאי: אנרגיית אור שעור 4 – מעבר אור </vt:lpstr>
      <vt:lpstr>   משימת STEM:  מכינים תאטרון צלליות</vt:lpstr>
      <vt:lpstr>  מהו תאטרון צלליות?</vt:lpstr>
      <vt:lpstr>   מכינים תאטרון צלליות</vt:lpstr>
      <vt:lpstr>  הוראות הכנה של תאטרון צלליות</vt:lpstr>
      <vt:lpstr>הצעה למשימת המשך  הרחבת החקר מדעי</vt:lpstr>
      <vt:lpstr> הצעת תכנון ניסוי לשאלת החקר :  כיצד המרחק של  מקור האור משפיע על גודל הצללית? </vt:lpstr>
      <vt:lpstr>הצעה לטבלה לתיעוד הממצאים</vt:lpstr>
      <vt:lpstr>חוזרים לסיפור המקרה: מה הפתרון לקבלת צלליות  גדולות יותר?</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חשבון Microsoft</cp:lastModifiedBy>
  <cp:revision>117</cp:revision>
  <dcterms:created xsi:type="dcterms:W3CDTF">2020-03-26T06:35:19Z</dcterms:created>
  <dcterms:modified xsi:type="dcterms:W3CDTF">2023-10-24T15:16:48Z</dcterms:modified>
</cp:coreProperties>
</file>